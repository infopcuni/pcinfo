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45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96" r:id="rId12"/>
    <p:sldId id="266" r:id="rId13"/>
    <p:sldId id="267" r:id="rId14"/>
    <p:sldId id="268" r:id="rId15"/>
    <p:sldId id="297" r:id="rId16"/>
    <p:sldId id="29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92" r:id="rId38"/>
    <p:sldId id="290" r:id="rId39"/>
    <p:sldId id="289" r:id="rId40"/>
    <p:sldId id="291" r:id="rId41"/>
    <p:sldId id="293" r:id="rId42"/>
    <p:sldId id="294" r:id="rId43"/>
    <p:sldId id="295" r:id="rId44"/>
  </p:sldIdLst>
  <p:sldSz cx="9144000" cy="6858000" type="screen4x3"/>
  <p:notesSz cx="6858000" cy="9144000"/>
  <p:defaultTextStyle>
    <a:defPPr>
      <a:defRPr lang="es-E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333333"/>
    <a:srgbClr val="003300"/>
    <a:srgbClr val="0099CC"/>
    <a:srgbClr val="006666"/>
    <a:srgbClr val="422C16"/>
    <a:srgbClr val="0C788E"/>
    <a:srgbClr val="660066"/>
    <a:srgbClr val="A50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Estilo claro 3 - Acento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A107856-5554-42FB-B03E-39F5DBC370BA}" styleName="Estilo medio 4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23" autoAdjust="0"/>
    <p:restoredTop sz="94652" autoAdjust="0"/>
  </p:normalViewPr>
  <p:slideViewPr>
    <p:cSldViewPr>
      <p:cViewPr varScale="1">
        <p:scale>
          <a:sx n="77" d="100"/>
          <a:sy n="77" d="100"/>
        </p:scale>
        <p:origin x="1541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5" d="100"/>
          <a:sy n="85" d="100"/>
        </p:scale>
        <p:origin x="-3198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NI"/>
          </a:p>
        </p:txBody>
      </p:sp>
      <p:sp>
        <p:nvSpPr>
          <p:cNvPr id="3" name="2 Marcador de fecha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CDBF23-0512-4DCF-9161-8D38F71BB947}" type="datetimeFigureOut">
              <a:rPr lang="es-NI" smtClean="0"/>
              <a:t>14/10/2025</a:t>
            </a:fld>
            <a:endParaRPr lang="es-NI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NI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601F11-C86B-4AEC-935A-FF9FFE2A7A0F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42610233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Pr>
        <a:blipFill dpi="0" rotWithShape="0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es-NI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 lang="es-NI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6525CE-37F5-4739-9613-15622A03B217}" type="slidenum">
              <a:rPr lang="es-ES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34747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Rectángulo"/>
          <p:cNvSpPr/>
          <p:nvPr userDrawn="1"/>
        </p:nvSpPr>
        <p:spPr>
          <a:xfrm>
            <a:off x="-14718" y="0"/>
            <a:ext cx="9144000" cy="1196752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7" name="6 Rectángulo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3500000" scaled="1"/>
            <a:tileRect/>
          </a:gradFill>
          <a:ln>
            <a:noFill/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23528" y="188640"/>
            <a:ext cx="8568952" cy="936104"/>
          </a:xfrm>
        </p:spPr>
        <p:txBody>
          <a:bodyPr/>
          <a:lstStyle>
            <a:lvl1pPr>
              <a:defRPr>
                <a:solidFill>
                  <a:srgbClr val="006666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NI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NI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40E1A5D-5520-4496-A525-DDAA954353E9}" type="slidenum">
              <a:rPr lang="es-ES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03195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DF1384E-7888-441C-92DE-26EF74CC5D89}" type="slidenum">
              <a:rPr lang="es-ES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07119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9DC8E6-7EE6-46B7-BC8B-DC79CCBABD3F}" type="slidenum">
              <a:rPr lang="es-ES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56560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4DAB89C-1E8B-4C4B-83EB-0037240558A0}" type="slidenum">
              <a:rPr lang="es-ES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12274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1CD887B-66EF-4593-9EBD-A4DFAC86E83E}" type="slidenum">
              <a:rPr lang="es-ES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78888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757ED0-9A07-44EC-B7A4-009D29055E11}" type="slidenum">
              <a:rPr lang="es-ES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49200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BEA7CDE-308C-41B7-8C21-A55C9798E92F}" type="slidenum">
              <a:rPr lang="es-ES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82420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NI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E4B173-9AE4-4DB9-8A34-69F6847AF2A2}" type="slidenum">
              <a:rPr lang="es-ES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689613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A9AB47-0AE1-49DE-92BE-E052CFD9A6D0}" type="slidenum">
              <a:rPr lang="es-ES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51314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2611BF-7E9F-4B3D-B411-2822504495F8}" type="slidenum">
              <a:rPr lang="es-ES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8194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cambiar el estilo de título	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s-E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s-E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F0191488-3CBC-401F-99EC-E2EB2FF9D49D}" type="slidenum">
              <a:rPr lang="es-ES"/>
              <a:pPr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s-N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6.w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7.w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8.e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0.w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6.wm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7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18.wmf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21.w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22.wmf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25.w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26.wmf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890" name="Picture 2" descr="http://www1.pldworld.com/@xilinx/html/technote/TOOL/MANUAL/15i_doc/alliance/mtr/figs_sch/alu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5067" y="2782206"/>
            <a:ext cx="4608512" cy="3370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98" name="Rectangle 150"/>
          <p:cNvSpPr>
            <a:spLocks noGrp="1" noChangeArrowheads="1"/>
          </p:cNvSpPr>
          <p:nvPr>
            <p:ph type="ctrTitle"/>
          </p:nvPr>
        </p:nvSpPr>
        <p:spPr>
          <a:xfrm>
            <a:off x="810399" y="1844824"/>
            <a:ext cx="8136904" cy="1295772"/>
          </a:xfrm>
        </p:spPr>
        <p:txBody>
          <a:bodyPr/>
          <a:lstStyle/>
          <a:p>
            <a:pPr algn="l"/>
            <a:r>
              <a:rPr lang="es-UY" sz="3200" b="1" dirty="0">
                <a:solidFill>
                  <a:schemeClr val="accent4">
                    <a:lumMod val="65000"/>
                    <a:lumOff val="35000"/>
                  </a:schemeClr>
                </a:solidFill>
              </a:rPr>
              <a:t>Unidad 4: Unidad de Ejecución</a:t>
            </a:r>
            <a:endParaRPr lang="es-ES" sz="3200" b="1" dirty="0">
              <a:solidFill>
                <a:schemeClr val="accent4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215" name="Rectangle 167"/>
          <p:cNvSpPr>
            <a:spLocks noChangeArrowheads="1"/>
          </p:cNvSpPr>
          <p:nvPr/>
        </p:nvSpPr>
        <p:spPr bwMode="auto">
          <a:xfrm>
            <a:off x="4572000" y="6179517"/>
            <a:ext cx="4537075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/>
            <a:endParaRPr lang="en-US" sz="2000" b="1" dirty="0">
              <a:solidFill>
                <a:srgbClr val="333333"/>
              </a:solidFill>
            </a:endParaRPr>
          </a:p>
        </p:txBody>
      </p:sp>
      <p:sp>
        <p:nvSpPr>
          <p:cNvPr id="6" name="2 Subtítulo"/>
          <p:cNvSpPr>
            <a:spLocks noGrp="1"/>
          </p:cNvSpPr>
          <p:nvPr>
            <p:ph type="subTitle" idx="1"/>
          </p:nvPr>
        </p:nvSpPr>
        <p:spPr>
          <a:xfrm>
            <a:off x="179512" y="199726"/>
            <a:ext cx="8784976" cy="2437186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rgbClr val="000099"/>
                </a:solidFill>
                <a:latin typeface="Candara" pitchFamily="34" charset="0"/>
              </a:rPr>
              <a:t>Universidad </a:t>
            </a:r>
            <a:r>
              <a:rPr lang="en-US" sz="2800" b="1" dirty="0" err="1">
                <a:solidFill>
                  <a:srgbClr val="000099"/>
                </a:solidFill>
                <a:latin typeface="Candara" pitchFamily="34" charset="0"/>
              </a:rPr>
              <a:t>Nacional</a:t>
            </a:r>
            <a:r>
              <a:rPr lang="en-US" sz="2800" b="1" dirty="0">
                <a:solidFill>
                  <a:srgbClr val="000099"/>
                </a:solidFill>
                <a:latin typeface="Candara" pitchFamily="34" charset="0"/>
              </a:rPr>
              <a:t> de </a:t>
            </a:r>
            <a:r>
              <a:rPr lang="en-US" sz="2800" b="1" dirty="0" err="1">
                <a:solidFill>
                  <a:srgbClr val="000099"/>
                </a:solidFill>
                <a:latin typeface="Candara" pitchFamily="34" charset="0"/>
              </a:rPr>
              <a:t>Ingeniería</a:t>
            </a:r>
            <a:endParaRPr lang="en-US" sz="2800" b="1" dirty="0">
              <a:solidFill>
                <a:srgbClr val="000099"/>
              </a:solidFill>
              <a:latin typeface="Candara" pitchFamily="34" charset="0"/>
            </a:endParaRPr>
          </a:p>
          <a:p>
            <a:endParaRPr lang="en-US" sz="1000" b="1" dirty="0">
              <a:solidFill>
                <a:srgbClr val="000099"/>
              </a:solidFill>
              <a:latin typeface="Candara" pitchFamily="34" charset="0"/>
            </a:endParaRPr>
          </a:p>
          <a:p>
            <a:r>
              <a:rPr lang="en-US" sz="2800" b="1" dirty="0" err="1">
                <a:solidFill>
                  <a:srgbClr val="333333"/>
                </a:solidFill>
                <a:latin typeface="Candara" pitchFamily="34" charset="0"/>
              </a:rPr>
              <a:t>Arquitectura</a:t>
            </a:r>
            <a:r>
              <a:rPr lang="en-US" sz="2800" b="1" dirty="0">
                <a:solidFill>
                  <a:srgbClr val="333333"/>
                </a:solidFill>
                <a:latin typeface="Candara" pitchFamily="34" charset="0"/>
              </a:rPr>
              <a:t> de </a:t>
            </a:r>
            <a:r>
              <a:rPr lang="en-US" sz="2800" b="1" dirty="0" err="1">
                <a:solidFill>
                  <a:srgbClr val="333333"/>
                </a:solidFill>
                <a:latin typeface="Candara" pitchFamily="34" charset="0"/>
              </a:rPr>
              <a:t>Máquinas</a:t>
            </a:r>
            <a:r>
              <a:rPr lang="en-US" sz="2800" b="1" dirty="0">
                <a:solidFill>
                  <a:srgbClr val="333333"/>
                </a:solidFill>
                <a:latin typeface="Candara" pitchFamily="34" charset="0"/>
              </a:rPr>
              <a:t> </a:t>
            </a:r>
            <a:r>
              <a:rPr lang="en-US" sz="2800" b="1" dirty="0" err="1">
                <a:solidFill>
                  <a:srgbClr val="333333"/>
                </a:solidFill>
                <a:latin typeface="Candara" pitchFamily="34" charset="0"/>
              </a:rPr>
              <a:t>Computadoras</a:t>
            </a:r>
            <a:r>
              <a:rPr lang="en-US" sz="2800" b="1" dirty="0">
                <a:solidFill>
                  <a:srgbClr val="333333"/>
                </a:solidFill>
                <a:latin typeface="Candara" pitchFamily="34" charset="0"/>
              </a:rPr>
              <a:t> II</a:t>
            </a:r>
            <a:endParaRPr lang="es-NI" sz="2800" b="1" dirty="0">
              <a:solidFill>
                <a:srgbClr val="333333"/>
              </a:solidFill>
              <a:latin typeface="Candara" pitchFamily="34" charset="0"/>
            </a:endParaRPr>
          </a:p>
        </p:txBody>
      </p:sp>
      <p:pic>
        <p:nvPicPr>
          <p:cNvPr id="7" name="6 Imagen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88640"/>
            <a:ext cx="1459914" cy="112647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26988"/>
            <a:ext cx="8229600" cy="1143001"/>
          </a:xfrm>
        </p:spPr>
        <p:txBody>
          <a:bodyPr/>
          <a:lstStyle/>
          <a:p>
            <a:r>
              <a:rPr lang="en-US" dirty="0"/>
              <a:t>La </a:t>
            </a:r>
            <a:r>
              <a:rPr lang="en-US" dirty="0" err="1"/>
              <a:t>función</a:t>
            </a:r>
            <a:r>
              <a:rPr lang="en-US" dirty="0"/>
              <a:t> de </a:t>
            </a:r>
            <a:r>
              <a:rPr lang="en-US" dirty="0" err="1"/>
              <a:t>procesamiento</a:t>
            </a:r>
            <a:endParaRPr lang="es-NI" dirty="0"/>
          </a:p>
        </p:txBody>
      </p:sp>
      <p:sp>
        <p:nvSpPr>
          <p:cNvPr id="143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628775"/>
            <a:ext cx="8229600" cy="4525963"/>
          </a:xfrm>
        </p:spPr>
        <p:txBody>
          <a:bodyPr/>
          <a:lstStyle/>
          <a:p>
            <a:r>
              <a:rPr lang="en-US" dirty="0"/>
              <a:t>La </a:t>
            </a:r>
            <a:r>
              <a:rPr lang="en-US" dirty="0" err="1"/>
              <a:t>función</a:t>
            </a:r>
            <a:r>
              <a:rPr lang="en-US" dirty="0"/>
              <a:t> de </a:t>
            </a:r>
            <a:r>
              <a:rPr lang="en-US" dirty="0" err="1"/>
              <a:t>procesamiento</a:t>
            </a:r>
            <a:r>
              <a:rPr lang="en-US" dirty="0"/>
              <a:t> la </a:t>
            </a:r>
            <a:r>
              <a:rPr lang="en-US" dirty="0" err="1"/>
              <a:t>realiza</a:t>
            </a:r>
            <a:r>
              <a:rPr lang="en-US" dirty="0"/>
              <a:t> la </a:t>
            </a:r>
            <a:r>
              <a:rPr lang="en-US" dirty="0" err="1"/>
              <a:t>Unidad</a:t>
            </a:r>
            <a:r>
              <a:rPr lang="en-US" dirty="0"/>
              <a:t> de </a:t>
            </a:r>
            <a:r>
              <a:rPr lang="en-US" dirty="0" err="1"/>
              <a:t>Ejecución</a:t>
            </a:r>
            <a:r>
              <a:rPr lang="en-US" dirty="0"/>
              <a:t>.</a:t>
            </a:r>
          </a:p>
          <a:p>
            <a:r>
              <a:rPr lang="en-US" dirty="0" err="1"/>
              <a:t>Corresponde</a:t>
            </a:r>
            <a:r>
              <a:rPr lang="en-US" dirty="0"/>
              <a:t> al </a:t>
            </a:r>
            <a:r>
              <a:rPr lang="en-US" dirty="0" err="1"/>
              <a:t>órgano</a:t>
            </a:r>
            <a:r>
              <a:rPr lang="en-US" dirty="0"/>
              <a:t> de </a:t>
            </a:r>
            <a:r>
              <a:rPr lang="en-US" dirty="0" err="1"/>
              <a:t>cálculo</a:t>
            </a:r>
            <a:r>
              <a:rPr lang="en-US" dirty="0"/>
              <a:t> de la </a:t>
            </a:r>
            <a:r>
              <a:rPr lang="en-US" dirty="0" err="1"/>
              <a:t>Arquitectura</a:t>
            </a:r>
            <a:r>
              <a:rPr lang="en-US" dirty="0"/>
              <a:t> ASPA de Von </a:t>
            </a:r>
            <a:r>
              <a:rPr lang="en-US" dirty="0" err="1"/>
              <a:t>Neuman</a:t>
            </a:r>
            <a:r>
              <a:rPr lang="en-US" dirty="0"/>
              <a:t>.</a:t>
            </a:r>
          </a:p>
          <a:p>
            <a:r>
              <a:rPr lang="en-US" dirty="0" err="1"/>
              <a:t>Integrada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la ALU y </a:t>
            </a:r>
            <a:r>
              <a:rPr lang="en-US" dirty="0" err="1"/>
              <a:t>sus</a:t>
            </a:r>
            <a:r>
              <a:rPr lang="en-US" dirty="0"/>
              <a:t> </a:t>
            </a:r>
            <a:r>
              <a:rPr lang="en-US" dirty="0" err="1"/>
              <a:t>registros</a:t>
            </a:r>
            <a:r>
              <a:rPr lang="en-US" dirty="0"/>
              <a:t>, los </a:t>
            </a:r>
            <a:r>
              <a:rPr lang="en-US" dirty="0" err="1"/>
              <a:t>Registros</a:t>
            </a:r>
            <a:r>
              <a:rPr lang="en-US" dirty="0"/>
              <a:t> de </a:t>
            </a:r>
            <a:r>
              <a:rPr lang="en-US" dirty="0" err="1"/>
              <a:t>Propósito</a:t>
            </a:r>
            <a:r>
              <a:rPr lang="en-US" dirty="0"/>
              <a:t> General (GPR) y </a:t>
            </a:r>
            <a:r>
              <a:rPr lang="en-US" dirty="0" err="1"/>
              <a:t>toda</a:t>
            </a:r>
            <a:r>
              <a:rPr lang="en-US" dirty="0"/>
              <a:t> </a:t>
            </a:r>
            <a:r>
              <a:rPr lang="en-US" dirty="0" err="1"/>
              <a:t>circuitería</a:t>
            </a:r>
            <a:r>
              <a:rPr lang="en-US" dirty="0"/>
              <a:t> de </a:t>
            </a:r>
            <a:r>
              <a:rPr lang="en-US" dirty="0" err="1"/>
              <a:t>cálculo</a:t>
            </a:r>
            <a:r>
              <a:rPr lang="en-US" dirty="0"/>
              <a:t> </a:t>
            </a:r>
            <a:r>
              <a:rPr lang="en-US" dirty="0" err="1"/>
              <a:t>adicional</a:t>
            </a:r>
            <a:r>
              <a:rPr lang="en-US" dirty="0"/>
              <a:t> (La FPU,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ejemplo</a:t>
            </a:r>
            <a:r>
              <a:rPr lang="en-US" dirty="0"/>
              <a:t>).</a:t>
            </a:r>
            <a:endParaRPr lang="es-NI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3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3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3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3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3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3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43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3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3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6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Representación</a:t>
            </a:r>
            <a:r>
              <a:rPr lang="en-US" dirty="0"/>
              <a:t> de </a:t>
            </a:r>
            <a:r>
              <a:rPr lang="en-US" dirty="0" err="1"/>
              <a:t>Datos</a:t>
            </a:r>
            <a:endParaRPr lang="es-NI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Procesador</a:t>
            </a:r>
            <a:r>
              <a:rPr lang="en-US" dirty="0"/>
              <a:t> solo </a:t>
            </a:r>
            <a:r>
              <a:rPr lang="en-US" dirty="0" err="1"/>
              <a:t>procesa</a:t>
            </a:r>
            <a:r>
              <a:rPr lang="en-US" dirty="0"/>
              <a:t> </a:t>
            </a:r>
            <a:r>
              <a:rPr lang="en-US" dirty="0" err="1"/>
              <a:t>patrones</a:t>
            </a:r>
            <a:r>
              <a:rPr lang="en-US" dirty="0"/>
              <a:t> de bits.</a:t>
            </a:r>
          </a:p>
          <a:p>
            <a:r>
              <a:rPr lang="en-US" dirty="0" err="1"/>
              <a:t>Palabra</a:t>
            </a:r>
            <a:r>
              <a:rPr lang="en-US" dirty="0"/>
              <a:t>: </a:t>
            </a:r>
            <a:r>
              <a:rPr lang="en-US" dirty="0" err="1"/>
              <a:t>cantidad</a:t>
            </a:r>
            <a:r>
              <a:rPr lang="en-US" dirty="0"/>
              <a:t> de bits </a:t>
            </a:r>
            <a:r>
              <a:rPr lang="en-US" dirty="0" err="1"/>
              <a:t>que</a:t>
            </a:r>
            <a:r>
              <a:rPr lang="en-US" dirty="0"/>
              <a:t> se </a:t>
            </a:r>
            <a:r>
              <a:rPr lang="en-US" dirty="0" err="1"/>
              <a:t>procesan</a:t>
            </a:r>
            <a:r>
              <a:rPr lang="en-US" dirty="0"/>
              <a:t> en un CPU.</a:t>
            </a:r>
          </a:p>
          <a:p>
            <a:r>
              <a:rPr lang="en-US" dirty="0" err="1"/>
              <a:t>Todos</a:t>
            </a:r>
            <a:r>
              <a:rPr lang="en-US" dirty="0"/>
              <a:t> los </a:t>
            </a:r>
            <a:r>
              <a:rPr lang="en-US" dirty="0" err="1"/>
              <a:t>datos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se </a:t>
            </a:r>
            <a:r>
              <a:rPr lang="en-US" dirty="0" err="1"/>
              <a:t>deban</a:t>
            </a:r>
            <a:r>
              <a:rPr lang="en-US" dirty="0"/>
              <a:t> </a:t>
            </a:r>
            <a:r>
              <a:rPr lang="en-US" dirty="0" err="1"/>
              <a:t>procesar</a:t>
            </a:r>
            <a:r>
              <a:rPr lang="en-US" dirty="0"/>
              <a:t> </a:t>
            </a:r>
            <a:r>
              <a:rPr lang="en-US" dirty="0" err="1"/>
              <a:t>deben</a:t>
            </a:r>
            <a:r>
              <a:rPr lang="en-US" dirty="0"/>
              <a:t> </a:t>
            </a:r>
            <a:r>
              <a:rPr lang="en-US" dirty="0" err="1"/>
              <a:t>estar</a:t>
            </a:r>
            <a:r>
              <a:rPr lang="en-US" dirty="0"/>
              <a:t> </a:t>
            </a:r>
            <a:r>
              <a:rPr lang="en-US" dirty="0" err="1"/>
              <a:t>representados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serie</a:t>
            </a:r>
            <a:r>
              <a:rPr lang="en-US" dirty="0"/>
              <a:t> de bits.</a:t>
            </a:r>
          </a:p>
          <a:p>
            <a:r>
              <a:rPr lang="en-US" dirty="0"/>
              <a:t>¿</a:t>
            </a:r>
            <a:r>
              <a:rPr lang="en-US" dirty="0" err="1"/>
              <a:t>Tipos</a:t>
            </a:r>
            <a:r>
              <a:rPr lang="en-US" dirty="0"/>
              <a:t> de </a:t>
            </a:r>
            <a:r>
              <a:rPr lang="en-US" dirty="0" err="1"/>
              <a:t>datos</a:t>
            </a:r>
            <a:r>
              <a:rPr lang="en-US" dirty="0"/>
              <a:t>?</a:t>
            </a:r>
          </a:p>
          <a:p>
            <a:endParaRPr lang="es-NI" dirty="0"/>
          </a:p>
        </p:txBody>
      </p:sp>
    </p:spTree>
    <p:extLst>
      <p:ext uri="{BB962C8B-B14F-4D97-AF65-F5344CB8AC3E}">
        <p14:creationId xmlns:p14="http://schemas.microsoft.com/office/powerpoint/2010/main" val="3671804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Números</a:t>
            </a:r>
            <a:r>
              <a:rPr lang="en-US" dirty="0"/>
              <a:t> </a:t>
            </a:r>
            <a:r>
              <a:rPr lang="en-US" dirty="0" err="1"/>
              <a:t>Enteros</a:t>
            </a:r>
            <a:endParaRPr lang="es-NI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Empleamos</a:t>
            </a:r>
            <a:r>
              <a:rPr lang="en-US" dirty="0"/>
              <a:t> un </a:t>
            </a:r>
            <a:r>
              <a:rPr lang="en-US" dirty="0" err="1"/>
              <a:t>sistema</a:t>
            </a:r>
            <a:r>
              <a:rPr lang="en-US" dirty="0"/>
              <a:t> </a:t>
            </a:r>
            <a:r>
              <a:rPr lang="en-US" dirty="0" err="1"/>
              <a:t>numérico</a:t>
            </a:r>
            <a:r>
              <a:rPr lang="en-US" dirty="0"/>
              <a:t> </a:t>
            </a:r>
            <a:r>
              <a:rPr lang="en-US" dirty="0" err="1"/>
              <a:t>posicional</a:t>
            </a:r>
            <a:r>
              <a:rPr lang="en-US" dirty="0"/>
              <a:t>.</a:t>
            </a:r>
          </a:p>
          <a:p>
            <a:r>
              <a:rPr lang="en-US" dirty="0" err="1"/>
              <a:t>Sistema</a:t>
            </a:r>
            <a:r>
              <a:rPr lang="en-US" dirty="0"/>
              <a:t> decimal </a:t>
            </a:r>
            <a:r>
              <a:rPr lang="en-US" dirty="0" err="1"/>
              <a:t>vs</a:t>
            </a:r>
            <a:r>
              <a:rPr lang="en-US" dirty="0"/>
              <a:t> </a:t>
            </a:r>
            <a:r>
              <a:rPr lang="en-US" dirty="0" err="1"/>
              <a:t>sistema</a:t>
            </a:r>
            <a:r>
              <a:rPr lang="en-US" dirty="0"/>
              <a:t> </a:t>
            </a:r>
            <a:r>
              <a:rPr lang="en-US" dirty="0" err="1"/>
              <a:t>binario</a:t>
            </a:r>
            <a:r>
              <a:rPr lang="en-US" dirty="0"/>
              <a:t>.</a:t>
            </a:r>
          </a:p>
          <a:p>
            <a:r>
              <a:rPr lang="en-US" dirty="0"/>
              <a:t>Valor de un </a:t>
            </a:r>
            <a:r>
              <a:rPr lang="en-US" dirty="0" err="1"/>
              <a:t>número</a:t>
            </a:r>
            <a:r>
              <a:rPr lang="en-US" dirty="0"/>
              <a:t> en </a:t>
            </a:r>
            <a:r>
              <a:rPr lang="en-US" dirty="0" err="1"/>
              <a:t>cualquier</a:t>
            </a:r>
            <a:r>
              <a:rPr lang="en-US" dirty="0"/>
              <a:t> base o </a:t>
            </a:r>
            <a:r>
              <a:rPr lang="en-US" dirty="0" err="1"/>
              <a:t>rádix</a:t>
            </a:r>
            <a:r>
              <a:rPr lang="en-US" dirty="0"/>
              <a:t>:</a:t>
            </a:r>
            <a:endParaRPr lang="es-NI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NI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5" name="4 Objet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2991697"/>
              </p:ext>
            </p:extLst>
          </p:nvPr>
        </p:nvGraphicFramePr>
        <p:xfrm>
          <a:off x="1907704" y="4365104"/>
          <a:ext cx="5588000" cy="151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444" name="Equation" r:id="rId3" imgW="1587240" imgH="431640" progId="Equation.3">
                  <p:embed/>
                </p:oleObj>
              </mc:Choice>
              <mc:Fallback>
                <p:oleObj name="Equation" r:id="rId3" imgW="1587240" imgH="43164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7704" y="4365104"/>
                        <a:ext cx="5588000" cy="15113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5 CuadroTexto"/>
          <p:cNvSpPr txBox="1"/>
          <p:nvPr/>
        </p:nvSpPr>
        <p:spPr>
          <a:xfrm>
            <a:off x="827584" y="6165304"/>
            <a:ext cx="8208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rgbClr val="0099CC"/>
                </a:solidFill>
              </a:rPr>
              <a:t>*: A </a:t>
            </a:r>
            <a:r>
              <a:rPr lang="en-US" dirty="0" err="1">
                <a:solidFill>
                  <a:srgbClr val="0099CC"/>
                </a:solidFill>
              </a:rPr>
              <a:t>representa</a:t>
            </a:r>
            <a:r>
              <a:rPr lang="en-US" dirty="0">
                <a:solidFill>
                  <a:srgbClr val="0099CC"/>
                </a:solidFill>
              </a:rPr>
              <a:t> el valor del </a:t>
            </a:r>
            <a:r>
              <a:rPr lang="en-US" dirty="0" err="1">
                <a:solidFill>
                  <a:srgbClr val="0099CC"/>
                </a:solidFill>
              </a:rPr>
              <a:t>número</a:t>
            </a:r>
            <a:r>
              <a:rPr lang="en-US" dirty="0">
                <a:solidFill>
                  <a:srgbClr val="0099CC"/>
                </a:solidFill>
              </a:rPr>
              <a:t> en un </a:t>
            </a:r>
            <a:r>
              <a:rPr lang="en-US" dirty="0" err="1">
                <a:solidFill>
                  <a:srgbClr val="0099CC"/>
                </a:solidFill>
              </a:rPr>
              <a:t>sistema</a:t>
            </a:r>
            <a:r>
              <a:rPr lang="en-US" dirty="0">
                <a:solidFill>
                  <a:srgbClr val="0099CC"/>
                </a:solidFill>
              </a:rPr>
              <a:t> natural (sin </a:t>
            </a:r>
            <a:r>
              <a:rPr lang="en-US" dirty="0" err="1">
                <a:solidFill>
                  <a:srgbClr val="0099CC"/>
                </a:solidFill>
              </a:rPr>
              <a:t>signo</a:t>
            </a:r>
            <a:r>
              <a:rPr lang="en-US" dirty="0">
                <a:solidFill>
                  <a:srgbClr val="0099CC"/>
                </a:solidFill>
              </a:rPr>
              <a:t>)</a:t>
            </a:r>
            <a:endParaRPr lang="es-NI" dirty="0">
              <a:solidFill>
                <a:srgbClr val="0099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5867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Enteros</a:t>
            </a:r>
            <a:r>
              <a:rPr lang="en-US" dirty="0"/>
              <a:t> con </a:t>
            </a:r>
            <a:r>
              <a:rPr lang="en-US" dirty="0" err="1"/>
              <a:t>signo</a:t>
            </a:r>
            <a:endParaRPr lang="es-NI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23528" y="1268760"/>
            <a:ext cx="8820472" cy="5069160"/>
          </a:xfrm>
        </p:spPr>
        <p:txBody>
          <a:bodyPr/>
          <a:lstStyle/>
          <a:p>
            <a:r>
              <a:rPr lang="en-US" dirty="0" err="1"/>
              <a:t>Computadora</a:t>
            </a:r>
            <a:r>
              <a:rPr lang="en-US" dirty="0"/>
              <a:t> no </a:t>
            </a:r>
            <a:r>
              <a:rPr lang="en-US" dirty="0" err="1"/>
              <a:t>tiene</a:t>
            </a:r>
            <a:r>
              <a:rPr lang="en-US" dirty="0"/>
              <a:t> forma </a:t>
            </a:r>
            <a:r>
              <a:rPr lang="en-US" dirty="0" err="1"/>
              <a:t>diferenciada</a:t>
            </a:r>
            <a:r>
              <a:rPr lang="en-US" dirty="0"/>
              <a:t> para </a:t>
            </a:r>
            <a:r>
              <a:rPr lang="en-US" dirty="0" err="1"/>
              <a:t>representar</a:t>
            </a:r>
            <a:r>
              <a:rPr lang="en-US" dirty="0"/>
              <a:t> los </a:t>
            </a:r>
            <a:r>
              <a:rPr lang="en-US" dirty="0" err="1"/>
              <a:t>signos</a:t>
            </a:r>
            <a:r>
              <a:rPr lang="en-US" dirty="0"/>
              <a:t> </a:t>
            </a:r>
            <a:r>
              <a:rPr lang="en-US"/>
              <a:t>(+, -), solo bits.</a:t>
            </a:r>
            <a:endParaRPr lang="es-NI" dirty="0"/>
          </a:p>
          <a:p>
            <a:r>
              <a:rPr lang="en-US" dirty="0" err="1"/>
              <a:t>Requerido</a:t>
            </a:r>
            <a:r>
              <a:rPr lang="en-US" dirty="0"/>
              <a:t> </a:t>
            </a:r>
            <a:r>
              <a:rPr lang="en-US" dirty="0" err="1"/>
              <a:t>diferenciar</a:t>
            </a:r>
            <a:r>
              <a:rPr lang="en-US" dirty="0"/>
              <a:t> ambos </a:t>
            </a:r>
            <a:r>
              <a:rPr lang="en-US" dirty="0" err="1"/>
              <a:t>valores</a:t>
            </a:r>
            <a:r>
              <a:rPr lang="en-US" dirty="0"/>
              <a:t> con bits.</a:t>
            </a:r>
          </a:p>
          <a:p>
            <a:r>
              <a:rPr lang="en-US" dirty="0" err="1"/>
              <a:t>Implementar</a:t>
            </a:r>
            <a:r>
              <a:rPr lang="en-US" dirty="0"/>
              <a:t> </a:t>
            </a:r>
            <a:r>
              <a:rPr lang="en-US" dirty="0" err="1"/>
              <a:t>las</a:t>
            </a:r>
            <a:r>
              <a:rPr lang="en-US" dirty="0"/>
              <a:t> </a:t>
            </a:r>
            <a:r>
              <a:rPr lang="en-US" dirty="0" err="1"/>
              <a:t>operaciones</a:t>
            </a:r>
            <a:r>
              <a:rPr lang="en-US" dirty="0"/>
              <a:t> con </a:t>
            </a:r>
            <a:r>
              <a:rPr lang="en-US" dirty="0" err="1"/>
              <a:t>signo</a:t>
            </a:r>
            <a:r>
              <a:rPr lang="en-US" dirty="0"/>
              <a:t>.</a:t>
            </a:r>
          </a:p>
          <a:p>
            <a:r>
              <a:rPr lang="en-US" dirty="0" err="1"/>
              <a:t>Varias</a:t>
            </a:r>
            <a:r>
              <a:rPr lang="en-US" dirty="0"/>
              <a:t> </a:t>
            </a:r>
            <a:r>
              <a:rPr lang="en-US" dirty="0" err="1"/>
              <a:t>técnicas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Signo</a:t>
            </a:r>
            <a:r>
              <a:rPr lang="en-US" dirty="0"/>
              <a:t> – </a:t>
            </a:r>
            <a:r>
              <a:rPr lang="en-US" dirty="0" err="1"/>
              <a:t>magnitud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Complemento</a:t>
            </a:r>
            <a:r>
              <a:rPr lang="en-US" dirty="0"/>
              <a:t> a r-1</a:t>
            </a:r>
          </a:p>
          <a:p>
            <a:pPr lvl="1"/>
            <a:r>
              <a:rPr lang="en-US" dirty="0" err="1"/>
              <a:t>Complemento</a:t>
            </a:r>
            <a:r>
              <a:rPr lang="en-US" dirty="0"/>
              <a:t> a r</a:t>
            </a:r>
          </a:p>
          <a:p>
            <a:pPr lvl="1"/>
            <a:r>
              <a:rPr lang="en-US" dirty="0" err="1"/>
              <a:t>Exceso</a:t>
            </a:r>
            <a:r>
              <a:rPr lang="en-US" dirty="0"/>
              <a:t> a m. </a:t>
            </a:r>
          </a:p>
        </p:txBody>
      </p:sp>
    </p:spTree>
    <p:extLst>
      <p:ext uri="{BB962C8B-B14F-4D97-AF65-F5344CB8AC3E}">
        <p14:creationId xmlns:p14="http://schemas.microsoft.com/office/powerpoint/2010/main" val="3530422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Signo</a:t>
            </a:r>
            <a:r>
              <a:rPr lang="en-US" dirty="0"/>
              <a:t> - </a:t>
            </a:r>
            <a:r>
              <a:rPr lang="en-US" dirty="0" err="1"/>
              <a:t>Magnitud</a:t>
            </a:r>
            <a:endParaRPr lang="es-NI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268760"/>
            <a:ext cx="8507288" cy="5184576"/>
          </a:xfrm>
        </p:spPr>
        <p:txBody>
          <a:bodyPr/>
          <a:lstStyle/>
          <a:p>
            <a:r>
              <a:rPr lang="es-NI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 bit más significativo o MSB se destina para representar el signo: 0 = +, 1 = -.</a:t>
            </a:r>
          </a:p>
          <a:p>
            <a:r>
              <a:rPr lang="en-US" dirty="0" err="1"/>
              <a:t>Resto</a:t>
            </a:r>
            <a:r>
              <a:rPr lang="en-US" dirty="0"/>
              <a:t> de bits </a:t>
            </a:r>
            <a:r>
              <a:rPr lang="en-US" dirty="0" err="1"/>
              <a:t>representa</a:t>
            </a:r>
            <a:r>
              <a:rPr lang="en-US" dirty="0"/>
              <a:t> la </a:t>
            </a:r>
            <a:r>
              <a:rPr lang="en-US" dirty="0" err="1"/>
              <a:t>magnitud</a:t>
            </a:r>
            <a:r>
              <a:rPr lang="en-US" dirty="0"/>
              <a:t>.</a:t>
            </a:r>
          </a:p>
          <a:p>
            <a:r>
              <a:rPr lang="es-NI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 valor del número está dado por: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Nótese</a:t>
            </a:r>
            <a:r>
              <a:rPr lang="en-US" dirty="0"/>
              <a:t> la </a:t>
            </a:r>
            <a:r>
              <a:rPr lang="en-US" dirty="0" err="1"/>
              <a:t>existencia</a:t>
            </a:r>
            <a:r>
              <a:rPr lang="en-US" dirty="0"/>
              <a:t> de 2 ceros (</a:t>
            </a:r>
            <a:r>
              <a:rPr lang="en-US" dirty="0">
                <a:sym typeface="Symbol"/>
              </a:rPr>
              <a:t> 0).</a:t>
            </a:r>
          </a:p>
          <a:p>
            <a:r>
              <a:rPr lang="es-NI" dirty="0">
                <a:solidFill>
                  <a:schemeClr val="tx1"/>
                </a:solidFill>
              </a:rPr>
              <a:t>Rango numérico es: [–(2 </a:t>
            </a:r>
            <a:r>
              <a:rPr lang="es-NI" baseline="30000" dirty="0">
                <a:solidFill>
                  <a:schemeClr val="tx1"/>
                </a:solidFill>
              </a:rPr>
              <a:t>n-1</a:t>
            </a:r>
            <a:r>
              <a:rPr lang="es-NI" dirty="0">
                <a:solidFill>
                  <a:schemeClr val="tx1"/>
                </a:solidFill>
              </a:rPr>
              <a:t> –1), +(2 </a:t>
            </a:r>
            <a:r>
              <a:rPr lang="es-NI" baseline="30000" dirty="0">
                <a:solidFill>
                  <a:schemeClr val="tx1"/>
                </a:solidFill>
              </a:rPr>
              <a:t>n-1</a:t>
            </a:r>
            <a:r>
              <a:rPr lang="es-NI" dirty="0">
                <a:solidFill>
                  <a:schemeClr val="tx1"/>
                </a:solidFill>
              </a:rPr>
              <a:t> –1)]</a:t>
            </a:r>
          </a:p>
          <a:p>
            <a:r>
              <a:rPr lang="en-US" dirty="0" err="1"/>
              <a:t>Operaciones</a:t>
            </a:r>
            <a:r>
              <a:rPr lang="en-US" dirty="0"/>
              <a:t> </a:t>
            </a:r>
            <a:r>
              <a:rPr lang="en-US" dirty="0" err="1"/>
              <a:t>implementan</a:t>
            </a:r>
            <a:r>
              <a:rPr lang="en-US" dirty="0"/>
              <a:t> ley de </a:t>
            </a:r>
            <a:r>
              <a:rPr lang="en-US" dirty="0" err="1"/>
              <a:t>signos</a:t>
            </a:r>
            <a:r>
              <a:rPr lang="en-US" dirty="0"/>
              <a:t>.</a:t>
            </a:r>
          </a:p>
          <a:p>
            <a:endParaRPr lang="es-NI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NI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5" name="4 Objet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7923543"/>
              </p:ext>
            </p:extLst>
          </p:nvPr>
        </p:nvGraphicFramePr>
        <p:xfrm>
          <a:off x="1525588" y="3500438"/>
          <a:ext cx="6092825" cy="109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468" name="Equation" r:id="rId3" imgW="2374560" imgH="431640" progId="Equation.3">
                  <p:embed/>
                </p:oleObj>
              </mc:Choice>
              <mc:Fallback>
                <p:oleObj name="Equation" r:id="rId3" imgW="2374560" imgH="43164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5588" y="3500438"/>
                        <a:ext cx="6092825" cy="10985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03498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Complemento</a:t>
            </a:r>
            <a:r>
              <a:rPr lang="en-US" dirty="0"/>
              <a:t> a r-1</a:t>
            </a:r>
            <a:endParaRPr lang="es-NI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Complemento</a:t>
            </a:r>
            <a:r>
              <a:rPr lang="en-US" dirty="0"/>
              <a:t> a r-1, a 1 (en </a:t>
            </a:r>
            <a:r>
              <a:rPr lang="en-US" dirty="0" err="1"/>
              <a:t>binario</a:t>
            </a:r>
            <a:r>
              <a:rPr lang="en-US" dirty="0"/>
              <a:t>) o </a:t>
            </a:r>
            <a:r>
              <a:rPr lang="en-US" dirty="0" err="1"/>
              <a:t>simplemente</a:t>
            </a:r>
            <a:r>
              <a:rPr lang="en-US" dirty="0"/>
              <a:t> </a:t>
            </a:r>
            <a:r>
              <a:rPr lang="en-US" dirty="0" err="1"/>
              <a:t>complemento</a:t>
            </a:r>
            <a:r>
              <a:rPr lang="en-US" dirty="0"/>
              <a:t>.</a:t>
            </a:r>
          </a:p>
          <a:p>
            <a:r>
              <a:rPr lang="es-NI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Resulta de la complementación (negación) del número bit a bit. </a:t>
            </a:r>
          </a:p>
          <a:p>
            <a:pPr marL="0" indent="0">
              <a:buNone/>
            </a:pPr>
            <a:r>
              <a:rPr lang="en-US" dirty="0"/>
              <a:t>	00001011 </a:t>
            </a:r>
            <a:r>
              <a:rPr lang="en-US" dirty="0">
                <a:sym typeface="Wingdings" pitchFamily="2" charset="2"/>
              </a:rPr>
              <a:t> 11110100</a:t>
            </a:r>
            <a:endParaRPr lang="es-NI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s-NI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 signo está integrado al número, siempre al MSB = 0 si es + y 1 si es -.</a:t>
            </a:r>
          </a:p>
          <a:p>
            <a:pPr marL="0" indent="0">
              <a:buNone/>
            </a:pPr>
            <a:endParaRPr lang="es-NI" dirty="0"/>
          </a:p>
        </p:txBody>
      </p:sp>
    </p:spTree>
    <p:extLst>
      <p:ext uri="{BB962C8B-B14F-4D97-AF65-F5344CB8AC3E}">
        <p14:creationId xmlns:p14="http://schemas.microsoft.com/office/powerpoint/2010/main" val="2436701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Complemento</a:t>
            </a:r>
            <a:r>
              <a:rPr lang="en-US" dirty="0"/>
              <a:t> a 1</a:t>
            </a:r>
            <a:endParaRPr lang="es-NI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NI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Operaciones deben sumar el acarreo al resultado</a:t>
            </a:r>
            <a:r>
              <a:rPr lang="es-NI" dirty="0"/>
              <a:t> para que sea correcto:</a:t>
            </a:r>
          </a:p>
          <a:p>
            <a:pPr marL="400050" lvl="1" indent="0">
              <a:buNone/>
            </a:pPr>
            <a:endParaRPr lang="en-US" sz="1800" dirty="0">
              <a:sym typeface="Wingdings" pitchFamily="2" charset="2"/>
            </a:endParaRPr>
          </a:p>
          <a:p>
            <a:pPr marL="400050" lvl="1" indent="0">
              <a:buNone/>
            </a:pPr>
            <a:endParaRPr lang="en-US" sz="1800" dirty="0">
              <a:sym typeface="Wingdings" pitchFamily="2" charset="2"/>
            </a:endParaRPr>
          </a:p>
          <a:p>
            <a:pPr marL="400050" lvl="1" indent="0">
              <a:buNone/>
            </a:pPr>
            <a:endParaRPr lang="en-US" sz="1800" dirty="0">
              <a:sym typeface="Wingdings" pitchFamily="2" charset="2"/>
            </a:endParaRPr>
          </a:p>
          <a:p>
            <a:pPr marL="400050" lvl="1" indent="0">
              <a:buNone/>
            </a:pPr>
            <a:endParaRPr lang="en-US" sz="1800" dirty="0">
              <a:sym typeface="Wingdings" pitchFamily="2" charset="2"/>
            </a:endParaRPr>
          </a:p>
          <a:p>
            <a:r>
              <a:rPr lang="es-NI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Rango numérico: [– (2 </a:t>
            </a:r>
            <a:r>
              <a:rPr lang="es-NI" baseline="300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n-1</a:t>
            </a:r>
            <a:r>
              <a:rPr lang="es-NI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–1), + (2 </a:t>
            </a:r>
            <a:r>
              <a:rPr lang="es-NI" baseline="300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n-1</a:t>
            </a:r>
            <a:r>
              <a:rPr lang="es-NI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–1)].</a:t>
            </a:r>
          </a:p>
          <a:p>
            <a:r>
              <a:rPr lang="es-NI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También tenemos 2 ceros, uno positivo y otro negativo: </a:t>
            </a:r>
            <a:r>
              <a:rPr lang="en-US" dirty="0"/>
              <a:t>00000000 (+0) y 11111111 (-0)</a:t>
            </a:r>
            <a:endParaRPr lang="es-NI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s-NI" dirty="0"/>
          </a:p>
        </p:txBody>
      </p:sp>
      <p:sp>
        <p:nvSpPr>
          <p:cNvPr id="6" name="5 CuadroTexto"/>
          <p:cNvSpPr txBox="1"/>
          <p:nvPr/>
        </p:nvSpPr>
        <p:spPr>
          <a:xfrm>
            <a:off x="971600" y="2708920"/>
            <a:ext cx="13681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/>
              <a:t>    1100</a:t>
            </a:r>
          </a:p>
          <a:p>
            <a:pPr marL="285750" indent="-285750" algn="r">
              <a:buFontTx/>
              <a:buChar char="-"/>
            </a:pPr>
            <a:r>
              <a:rPr lang="en-US" sz="2400" dirty="0"/>
              <a:t>0110</a:t>
            </a:r>
          </a:p>
        </p:txBody>
      </p:sp>
      <p:cxnSp>
        <p:nvCxnSpPr>
          <p:cNvPr id="8" name="7 Conector recto"/>
          <p:cNvCxnSpPr/>
          <p:nvPr/>
        </p:nvCxnSpPr>
        <p:spPr>
          <a:xfrm>
            <a:off x="971600" y="3539917"/>
            <a:ext cx="1368152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8 CuadroTexto"/>
          <p:cNvSpPr txBox="1"/>
          <p:nvPr/>
        </p:nvSpPr>
        <p:spPr>
          <a:xfrm>
            <a:off x="3376629" y="2698135"/>
            <a:ext cx="13681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/>
              <a:t>1100</a:t>
            </a:r>
          </a:p>
          <a:p>
            <a:pPr algn="r"/>
            <a:r>
              <a:rPr lang="en-US" sz="2400" dirty="0"/>
              <a:t>+ 1001</a:t>
            </a:r>
          </a:p>
          <a:p>
            <a:pPr algn="r"/>
            <a:r>
              <a:rPr lang="en-US" sz="2400" dirty="0"/>
              <a:t>0101</a:t>
            </a:r>
          </a:p>
        </p:txBody>
      </p:sp>
      <p:cxnSp>
        <p:nvCxnSpPr>
          <p:cNvPr id="11" name="10 Conector recto"/>
          <p:cNvCxnSpPr/>
          <p:nvPr/>
        </p:nvCxnSpPr>
        <p:spPr>
          <a:xfrm>
            <a:off x="3417009" y="3493476"/>
            <a:ext cx="1327772" cy="0"/>
          </a:xfrm>
          <a:prstGeom prst="line">
            <a:avLst/>
          </a:prstGeom>
          <a:ln>
            <a:solidFill>
              <a:srgbClr val="422C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11 CuadroTexto"/>
          <p:cNvSpPr txBox="1"/>
          <p:nvPr/>
        </p:nvSpPr>
        <p:spPr>
          <a:xfrm>
            <a:off x="3203848" y="2759415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C=1</a:t>
            </a:r>
            <a:endParaRPr lang="es-NI" dirty="0">
              <a:solidFill>
                <a:srgbClr val="C00000"/>
              </a:solidFill>
            </a:endParaRPr>
          </a:p>
        </p:txBody>
      </p:sp>
      <p:sp>
        <p:nvSpPr>
          <p:cNvPr id="13" name="12 CuadroTexto"/>
          <p:cNvSpPr txBox="1"/>
          <p:nvPr/>
        </p:nvSpPr>
        <p:spPr>
          <a:xfrm>
            <a:off x="5868144" y="2698134"/>
            <a:ext cx="28083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/>
              <a:t>1100</a:t>
            </a:r>
          </a:p>
          <a:p>
            <a:pPr marL="342900" indent="-342900" algn="r">
              <a:buFontTx/>
              <a:buChar char="-"/>
            </a:pPr>
            <a:r>
              <a:rPr lang="en-US" sz="2400" dirty="0"/>
              <a:t>0110 </a:t>
            </a:r>
          </a:p>
          <a:p>
            <a:pPr algn="r"/>
            <a:r>
              <a:rPr lang="en-US" sz="2400" dirty="0">
                <a:sym typeface="Wingdings" pitchFamily="2" charset="2"/>
              </a:rPr>
              <a:t> </a:t>
            </a:r>
            <a:r>
              <a:rPr lang="en-US" sz="2400" dirty="0"/>
              <a:t>0101+1= 0110</a:t>
            </a:r>
          </a:p>
        </p:txBody>
      </p:sp>
      <p:cxnSp>
        <p:nvCxnSpPr>
          <p:cNvPr id="14" name="13 Conector recto"/>
          <p:cNvCxnSpPr/>
          <p:nvPr/>
        </p:nvCxnSpPr>
        <p:spPr>
          <a:xfrm>
            <a:off x="7348684" y="3501008"/>
            <a:ext cx="1327772" cy="0"/>
          </a:xfrm>
          <a:prstGeom prst="line">
            <a:avLst/>
          </a:prstGeom>
          <a:ln>
            <a:solidFill>
              <a:srgbClr val="422C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14 Flecha derecha"/>
          <p:cNvSpPr/>
          <p:nvPr/>
        </p:nvSpPr>
        <p:spPr>
          <a:xfrm>
            <a:off x="5076056" y="3212976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913853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  <p:bldP spid="9" grpId="0"/>
      <p:bldP spid="12" grpId="0"/>
      <p:bldP spid="13" grpId="0"/>
      <p:bldP spid="1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Complemento</a:t>
            </a:r>
            <a:r>
              <a:rPr lang="en-US" dirty="0"/>
              <a:t> a r</a:t>
            </a:r>
            <a:endParaRPr lang="es-NI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67544" y="1628800"/>
            <a:ext cx="8229600" cy="4525963"/>
          </a:xfrm>
        </p:spPr>
        <p:txBody>
          <a:bodyPr/>
          <a:lstStyle/>
          <a:p>
            <a:r>
              <a:rPr lang="en-US" dirty="0" err="1"/>
              <a:t>Complemento</a:t>
            </a:r>
            <a:r>
              <a:rPr lang="en-US" dirty="0"/>
              <a:t> a r o </a:t>
            </a:r>
            <a:r>
              <a:rPr lang="en-US" dirty="0" err="1"/>
              <a:t>complemento</a:t>
            </a:r>
            <a:r>
              <a:rPr lang="en-US" dirty="0"/>
              <a:t> a 2 en </a:t>
            </a:r>
            <a:r>
              <a:rPr lang="en-US" dirty="0" err="1"/>
              <a:t>binario</a:t>
            </a:r>
            <a:r>
              <a:rPr lang="en-US" dirty="0"/>
              <a:t>.</a:t>
            </a:r>
          </a:p>
          <a:p>
            <a:r>
              <a:rPr lang="en-US" dirty="0"/>
              <a:t>Se </a:t>
            </a:r>
            <a:r>
              <a:rPr lang="en-US" dirty="0" err="1"/>
              <a:t>complementa</a:t>
            </a:r>
            <a:r>
              <a:rPr lang="en-US" dirty="0"/>
              <a:t> el </a:t>
            </a:r>
            <a:r>
              <a:rPr lang="en-US" dirty="0" err="1"/>
              <a:t>número</a:t>
            </a:r>
            <a:r>
              <a:rPr lang="en-US" dirty="0"/>
              <a:t> y se le </a:t>
            </a:r>
            <a:r>
              <a:rPr lang="en-US" dirty="0" err="1"/>
              <a:t>suma</a:t>
            </a:r>
            <a:r>
              <a:rPr lang="en-US" dirty="0"/>
              <a:t> 1</a:t>
            </a:r>
          </a:p>
          <a:p>
            <a:r>
              <a:rPr lang="es-NI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 las operaciones se desestima el acarreo sobrante. </a:t>
            </a:r>
          </a:p>
          <a:p>
            <a:r>
              <a:rPr lang="es-NI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 rango es: [–2</a:t>
            </a:r>
            <a:r>
              <a:rPr lang="es-NI" baseline="300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n-1</a:t>
            </a:r>
            <a:r>
              <a:rPr lang="es-NI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+2</a:t>
            </a:r>
            <a:r>
              <a:rPr lang="es-NI" baseline="300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n-1</a:t>
            </a:r>
            <a:r>
              <a:rPr lang="es-NI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–1].</a:t>
            </a:r>
          </a:p>
          <a:p>
            <a:r>
              <a:rPr lang="es-NI" dirty="0"/>
              <a:t>S</a:t>
            </a:r>
            <a:r>
              <a:rPr lang="es-NI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olo existe un cero y es considerado positivo.</a:t>
            </a:r>
          </a:p>
          <a:p>
            <a:endParaRPr lang="es-NI" dirty="0"/>
          </a:p>
        </p:txBody>
      </p:sp>
    </p:spTree>
    <p:extLst>
      <p:ext uri="{BB962C8B-B14F-4D97-AF65-F5344CB8AC3E}">
        <p14:creationId xmlns:p14="http://schemas.microsoft.com/office/powerpoint/2010/main" val="1363174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Complemento</a:t>
            </a:r>
            <a:r>
              <a:rPr lang="en-US" dirty="0"/>
              <a:t> a 2</a:t>
            </a:r>
            <a:endParaRPr lang="es-NI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67544" y="1628800"/>
            <a:ext cx="8229600" cy="4525963"/>
          </a:xfrm>
        </p:spPr>
        <p:txBody>
          <a:bodyPr/>
          <a:lstStyle/>
          <a:p>
            <a:r>
              <a:rPr lang="es-NI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Una técnica muy útil para calcular el valor de un número binario en complemento a  2 es el uso de la caja de valores. </a:t>
            </a:r>
          </a:p>
          <a:p>
            <a:r>
              <a:rPr lang="en-US" dirty="0"/>
              <a:t>La </a:t>
            </a:r>
            <a:r>
              <a:rPr lang="en-US" dirty="0" err="1"/>
              <a:t>posición</a:t>
            </a:r>
            <a:r>
              <a:rPr lang="en-US" dirty="0"/>
              <a:t> MSB se </a:t>
            </a:r>
            <a:r>
              <a:rPr lang="en-US" dirty="0" err="1"/>
              <a:t>representa</a:t>
            </a:r>
            <a:r>
              <a:rPr lang="en-US" dirty="0"/>
              <a:t> </a:t>
            </a:r>
            <a:r>
              <a:rPr lang="en-US" dirty="0" err="1"/>
              <a:t>negativa</a:t>
            </a:r>
            <a:r>
              <a:rPr lang="en-US" dirty="0"/>
              <a:t> y el </a:t>
            </a:r>
            <a:r>
              <a:rPr lang="en-US" dirty="0" err="1"/>
              <a:t>resto</a:t>
            </a:r>
            <a:r>
              <a:rPr lang="en-US" dirty="0"/>
              <a:t> </a:t>
            </a:r>
            <a:r>
              <a:rPr lang="en-US" dirty="0" err="1"/>
              <a:t>positivas</a:t>
            </a:r>
            <a:r>
              <a:rPr lang="en-US" dirty="0"/>
              <a:t>:</a:t>
            </a:r>
            <a:endParaRPr lang="es-NI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s-NI" dirty="0"/>
          </a:p>
        </p:txBody>
      </p:sp>
      <p:graphicFrame>
        <p:nvGraphicFramePr>
          <p:cNvPr id="4" name="3 Objet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404762"/>
              </p:ext>
            </p:extLst>
          </p:nvPr>
        </p:nvGraphicFramePr>
        <p:xfrm>
          <a:off x="1475656" y="4581128"/>
          <a:ext cx="6961152" cy="9361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489" name="Hoja de cálculo" r:id="rId3" imgW="3057635" imgH="409643" progId="Excel.Sheet.8">
                  <p:embed/>
                </p:oleObj>
              </mc:Choice>
              <mc:Fallback>
                <p:oleObj name="Hoja de cálculo" r:id="rId3" imgW="3057635" imgH="409643" progId="Excel.Shee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5656" y="4581128"/>
                        <a:ext cx="6961152" cy="9361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96406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Complemento</a:t>
            </a:r>
            <a:r>
              <a:rPr lang="en-US" dirty="0"/>
              <a:t> a 2</a:t>
            </a:r>
            <a:endParaRPr lang="es-NI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27601" y="1268028"/>
            <a:ext cx="3991015" cy="5112568"/>
          </a:xfrm>
        </p:spPr>
        <p:txBody>
          <a:bodyPr/>
          <a:lstStyle/>
          <a:p>
            <a:r>
              <a:rPr lang="en-US" dirty="0" err="1"/>
              <a:t>Otra</a:t>
            </a:r>
            <a:r>
              <a:rPr lang="en-US" dirty="0"/>
              <a:t> </a:t>
            </a:r>
            <a:r>
              <a:rPr lang="en-US" dirty="0" err="1"/>
              <a:t>técnica</a:t>
            </a:r>
            <a:r>
              <a:rPr lang="en-US" dirty="0"/>
              <a:t> usual de </a:t>
            </a:r>
            <a:r>
              <a:rPr lang="en-US" dirty="0" err="1"/>
              <a:t>apoyo</a:t>
            </a:r>
            <a:r>
              <a:rPr lang="en-US" dirty="0"/>
              <a:t> visual </a:t>
            </a:r>
            <a:r>
              <a:rPr lang="en-US" dirty="0" err="1"/>
              <a:t>es</a:t>
            </a:r>
            <a:r>
              <a:rPr lang="en-US" dirty="0"/>
              <a:t> el “</a:t>
            </a:r>
            <a:r>
              <a:rPr lang="en-US" dirty="0" err="1"/>
              <a:t>reloj</a:t>
            </a:r>
            <a:r>
              <a:rPr lang="en-US" dirty="0"/>
              <a:t>”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además</a:t>
            </a:r>
            <a:r>
              <a:rPr lang="en-US" dirty="0"/>
              <a:t> </a:t>
            </a:r>
            <a:r>
              <a:rPr lang="en-US" dirty="0" err="1"/>
              <a:t>soporta</a:t>
            </a:r>
            <a:r>
              <a:rPr lang="en-US" dirty="0"/>
              <a:t> la </a:t>
            </a:r>
            <a:r>
              <a:rPr lang="en-US" dirty="0" err="1"/>
              <a:t>suma</a:t>
            </a:r>
            <a:r>
              <a:rPr lang="en-US" dirty="0"/>
              <a:t> (</a:t>
            </a:r>
            <a:r>
              <a:rPr lang="en-US" dirty="0" err="1"/>
              <a:t>contar</a:t>
            </a:r>
            <a:r>
              <a:rPr lang="en-US" dirty="0"/>
              <a:t> </a:t>
            </a:r>
            <a:r>
              <a:rPr lang="en-US" dirty="0" err="1"/>
              <a:t>A</a:t>
            </a:r>
            <a:r>
              <a:rPr lang="en-US" baseline="-25000" dirty="0" err="1"/>
              <a:t>b</a:t>
            </a:r>
            <a:r>
              <a:rPr lang="en-US" dirty="0"/>
              <a:t> </a:t>
            </a:r>
            <a:r>
              <a:rPr lang="en-US" dirty="0" err="1"/>
              <a:t>posiciones</a:t>
            </a:r>
            <a:r>
              <a:rPr lang="en-US" dirty="0"/>
              <a:t> a </a:t>
            </a:r>
            <a:r>
              <a:rPr lang="en-US" dirty="0" err="1"/>
              <a:t>partir</a:t>
            </a:r>
            <a:r>
              <a:rPr lang="en-US" dirty="0"/>
              <a:t> de </a:t>
            </a:r>
            <a:r>
              <a:rPr lang="en-US" dirty="0" err="1"/>
              <a:t>A</a:t>
            </a:r>
            <a:r>
              <a:rPr lang="en-US" baseline="-25000" dirty="0" err="1"/>
              <a:t>a</a:t>
            </a:r>
            <a:r>
              <a:rPr lang="en-US" dirty="0"/>
              <a:t>, en el </a:t>
            </a:r>
            <a:r>
              <a:rPr lang="en-US" dirty="0" err="1"/>
              <a:t>sentido</a:t>
            </a:r>
            <a:r>
              <a:rPr lang="en-US" dirty="0"/>
              <a:t> del </a:t>
            </a:r>
            <a:r>
              <a:rPr lang="en-US" dirty="0" err="1"/>
              <a:t>reloj</a:t>
            </a:r>
            <a:r>
              <a:rPr lang="en-US" dirty="0"/>
              <a:t>) y la </a:t>
            </a:r>
            <a:r>
              <a:rPr lang="en-US" dirty="0" err="1"/>
              <a:t>resta</a:t>
            </a:r>
            <a:r>
              <a:rPr lang="en-US" dirty="0"/>
              <a:t> (idem </a:t>
            </a:r>
            <a:r>
              <a:rPr lang="en-US" dirty="0" err="1"/>
              <a:t>pero</a:t>
            </a:r>
            <a:r>
              <a:rPr lang="en-US" dirty="0"/>
              <a:t> en </a:t>
            </a:r>
            <a:r>
              <a:rPr lang="en-US" dirty="0" err="1"/>
              <a:t>sentido</a:t>
            </a:r>
            <a:r>
              <a:rPr lang="en-US" dirty="0"/>
              <a:t> </a:t>
            </a:r>
            <a:r>
              <a:rPr lang="en-US" dirty="0" err="1"/>
              <a:t>inverso</a:t>
            </a:r>
            <a:r>
              <a:rPr lang="en-US" dirty="0"/>
              <a:t>)</a:t>
            </a:r>
            <a:endParaRPr lang="es-NI" dirty="0"/>
          </a:p>
        </p:txBody>
      </p:sp>
      <p:pic>
        <p:nvPicPr>
          <p:cNvPr id="1658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936" y="1628800"/>
            <a:ext cx="5095875" cy="439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CuadroTexto"/>
          <p:cNvSpPr txBox="1"/>
          <p:nvPr/>
        </p:nvSpPr>
        <p:spPr>
          <a:xfrm>
            <a:off x="101586" y="6273225"/>
            <a:ext cx="89843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/>
              <a:t>Ejemplo</a:t>
            </a:r>
            <a:r>
              <a:rPr lang="en-US" sz="1600" dirty="0"/>
              <a:t>: 5 + (-4) =&gt; </a:t>
            </a:r>
            <a:r>
              <a:rPr lang="en-US" sz="1600" dirty="0" err="1"/>
              <a:t>contar</a:t>
            </a:r>
            <a:r>
              <a:rPr lang="en-US" sz="1600" dirty="0"/>
              <a:t> 12 </a:t>
            </a:r>
            <a:r>
              <a:rPr lang="en-US" sz="1600" dirty="0" err="1"/>
              <a:t>posiciones</a:t>
            </a:r>
            <a:r>
              <a:rPr lang="en-US" sz="1600" dirty="0"/>
              <a:t> (-4 = 1100 </a:t>
            </a:r>
            <a:r>
              <a:rPr lang="en-US" sz="1600" dirty="0">
                <a:sym typeface="Symbol"/>
              </a:rPr>
              <a:t> </a:t>
            </a:r>
            <a:r>
              <a:rPr lang="en-US" sz="1600" dirty="0" err="1"/>
              <a:t>A</a:t>
            </a:r>
            <a:r>
              <a:rPr lang="en-US" sz="1600" baseline="-25000" dirty="0" err="1"/>
              <a:t>b</a:t>
            </a:r>
            <a:r>
              <a:rPr lang="en-US" sz="1600" dirty="0"/>
              <a:t> = 12) a </a:t>
            </a:r>
            <a:r>
              <a:rPr lang="en-US" sz="1600" dirty="0" err="1"/>
              <a:t>partir</a:t>
            </a:r>
            <a:r>
              <a:rPr lang="en-US" sz="1600" dirty="0"/>
              <a:t> de 5, se </a:t>
            </a:r>
            <a:r>
              <a:rPr lang="en-US" sz="1600" dirty="0" err="1"/>
              <a:t>llega</a:t>
            </a:r>
            <a:r>
              <a:rPr lang="en-US" sz="1600" dirty="0"/>
              <a:t> a +1.  </a:t>
            </a:r>
          </a:p>
          <a:p>
            <a:r>
              <a:rPr lang="en-US" sz="1600" dirty="0"/>
              <a:t>               3 – 5 =&gt; </a:t>
            </a:r>
            <a:r>
              <a:rPr lang="en-US" sz="1600" dirty="0" err="1"/>
              <a:t>retroceder</a:t>
            </a:r>
            <a:r>
              <a:rPr lang="en-US" sz="1600" dirty="0"/>
              <a:t> 5 </a:t>
            </a:r>
            <a:r>
              <a:rPr lang="en-US" sz="1600" dirty="0" err="1"/>
              <a:t>posiciones</a:t>
            </a:r>
            <a:r>
              <a:rPr lang="en-US" sz="1600" dirty="0"/>
              <a:t> (5 = 0101</a:t>
            </a:r>
            <a:r>
              <a:rPr lang="en-US" sz="1600" dirty="0">
                <a:sym typeface="Symbol"/>
              </a:rPr>
              <a:t>  </a:t>
            </a:r>
            <a:r>
              <a:rPr lang="en-US" sz="1600" dirty="0" err="1"/>
              <a:t>A</a:t>
            </a:r>
            <a:r>
              <a:rPr lang="en-US" sz="1600" baseline="-25000" dirty="0" err="1"/>
              <a:t>b</a:t>
            </a:r>
            <a:r>
              <a:rPr lang="en-US" sz="1600" dirty="0"/>
              <a:t> = 5) a </a:t>
            </a:r>
            <a:r>
              <a:rPr lang="en-US" sz="1600" dirty="0" err="1"/>
              <a:t>partir</a:t>
            </a:r>
            <a:r>
              <a:rPr lang="en-US" sz="1600" dirty="0"/>
              <a:t> de 3, se </a:t>
            </a:r>
            <a:r>
              <a:rPr lang="en-US" sz="1600" dirty="0" err="1"/>
              <a:t>llega</a:t>
            </a:r>
            <a:r>
              <a:rPr lang="en-US" sz="1600" dirty="0"/>
              <a:t> a -2.</a:t>
            </a:r>
            <a:endParaRPr lang="es-NI" sz="1600" dirty="0"/>
          </a:p>
        </p:txBody>
      </p:sp>
    </p:spTree>
    <p:extLst>
      <p:ext uri="{BB962C8B-B14F-4D97-AF65-F5344CB8AC3E}">
        <p14:creationId xmlns:p14="http://schemas.microsoft.com/office/powerpoint/2010/main" val="2128524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Exceso</a:t>
            </a:r>
            <a:r>
              <a:rPr lang="en-US" dirty="0"/>
              <a:t> a M o Bias-m</a:t>
            </a:r>
            <a:endParaRPr lang="es-NI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340768"/>
            <a:ext cx="6779096" cy="4785395"/>
          </a:xfrm>
        </p:spPr>
        <p:txBody>
          <a:bodyPr/>
          <a:lstStyle/>
          <a:p>
            <a:r>
              <a:rPr lang="en-US" dirty="0" err="1"/>
              <a:t>Complemento</a:t>
            </a:r>
            <a:r>
              <a:rPr lang="en-US" dirty="0"/>
              <a:t> a 2 </a:t>
            </a:r>
            <a:r>
              <a:rPr lang="en-US" dirty="0" err="1"/>
              <a:t>apropiado</a:t>
            </a:r>
            <a:r>
              <a:rPr lang="en-US" dirty="0"/>
              <a:t> para </a:t>
            </a:r>
            <a:r>
              <a:rPr lang="en-US" dirty="0" err="1"/>
              <a:t>cálculos</a:t>
            </a:r>
            <a:r>
              <a:rPr lang="en-US" dirty="0"/>
              <a:t> </a:t>
            </a:r>
            <a:r>
              <a:rPr lang="en-US" dirty="0" err="1"/>
              <a:t>aritméticos</a:t>
            </a:r>
            <a:r>
              <a:rPr lang="en-US" dirty="0"/>
              <a:t> </a:t>
            </a:r>
            <a:r>
              <a:rPr lang="en-US" dirty="0" err="1"/>
              <a:t>pero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corrimiento</a:t>
            </a:r>
            <a:r>
              <a:rPr lang="en-US" dirty="0"/>
              <a:t> de </a:t>
            </a:r>
            <a:r>
              <a:rPr lang="en-US" dirty="0" err="1"/>
              <a:t>rango</a:t>
            </a:r>
            <a:r>
              <a:rPr lang="en-US" dirty="0"/>
              <a:t> no lo </a:t>
            </a:r>
            <a:r>
              <a:rPr lang="en-US" dirty="0" err="1"/>
              <a:t>es</a:t>
            </a:r>
            <a:r>
              <a:rPr lang="en-US" dirty="0"/>
              <a:t> para </a:t>
            </a:r>
            <a:r>
              <a:rPr lang="en-US" dirty="0" err="1"/>
              <a:t>comparaciones</a:t>
            </a:r>
            <a:r>
              <a:rPr lang="en-US" dirty="0"/>
              <a:t>.</a:t>
            </a:r>
          </a:p>
          <a:p>
            <a:r>
              <a:rPr lang="es-NI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 valor del número es el  exceso de su valor positivo (A) respecto a una constante M.  </a:t>
            </a:r>
          </a:p>
          <a:p>
            <a:r>
              <a:rPr lang="es-NI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 representa el límite de corrimiento o el cero del sistema.  </a:t>
            </a:r>
            <a:endParaRPr lang="en-US" dirty="0"/>
          </a:p>
          <a:p>
            <a:endParaRPr lang="es-NI" dirty="0"/>
          </a:p>
        </p:txBody>
      </p:sp>
      <p:sp>
        <p:nvSpPr>
          <p:cNvPr id="4" name="3 CuadroTexto"/>
          <p:cNvSpPr txBox="1"/>
          <p:nvPr/>
        </p:nvSpPr>
        <p:spPr>
          <a:xfrm>
            <a:off x="7452320" y="1340768"/>
            <a:ext cx="1584176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0000 = 0</a:t>
            </a:r>
          </a:p>
          <a:p>
            <a:r>
              <a:rPr lang="en-US" sz="2000" dirty="0">
                <a:solidFill>
                  <a:srgbClr val="C00000"/>
                </a:solidFill>
              </a:rPr>
              <a:t>0001 = 1</a:t>
            </a:r>
          </a:p>
          <a:p>
            <a:r>
              <a:rPr lang="en-US" sz="2000" dirty="0">
                <a:solidFill>
                  <a:srgbClr val="C00000"/>
                </a:solidFill>
              </a:rPr>
              <a:t>0010 = 2</a:t>
            </a:r>
          </a:p>
          <a:p>
            <a:r>
              <a:rPr lang="en-US" sz="2000" dirty="0">
                <a:solidFill>
                  <a:srgbClr val="C00000"/>
                </a:solidFill>
              </a:rPr>
              <a:t>0011 = 3 </a:t>
            </a:r>
          </a:p>
          <a:p>
            <a:r>
              <a:rPr lang="en-US" sz="2000" dirty="0">
                <a:solidFill>
                  <a:srgbClr val="C00000"/>
                </a:solidFill>
              </a:rPr>
              <a:t>0100 = 4</a:t>
            </a:r>
          </a:p>
          <a:p>
            <a:r>
              <a:rPr lang="en-US" sz="2000" dirty="0">
                <a:solidFill>
                  <a:srgbClr val="C00000"/>
                </a:solidFill>
              </a:rPr>
              <a:t>0101 = 5</a:t>
            </a:r>
          </a:p>
          <a:p>
            <a:r>
              <a:rPr lang="en-US" sz="2000" dirty="0">
                <a:solidFill>
                  <a:srgbClr val="C00000"/>
                </a:solidFill>
              </a:rPr>
              <a:t>0110 = 6</a:t>
            </a:r>
          </a:p>
          <a:p>
            <a:r>
              <a:rPr lang="en-US" sz="2000" dirty="0">
                <a:solidFill>
                  <a:srgbClr val="C00000"/>
                </a:solidFill>
              </a:rPr>
              <a:t>0111 = 7</a:t>
            </a:r>
          </a:p>
          <a:p>
            <a:r>
              <a:rPr lang="en-US" sz="2000" dirty="0">
                <a:solidFill>
                  <a:srgbClr val="0070C0"/>
                </a:solidFill>
              </a:rPr>
              <a:t>1000 = -8</a:t>
            </a:r>
          </a:p>
          <a:p>
            <a:r>
              <a:rPr lang="en-US" sz="2000" dirty="0">
                <a:solidFill>
                  <a:srgbClr val="0070C0"/>
                </a:solidFill>
              </a:rPr>
              <a:t>1001 = -7</a:t>
            </a:r>
          </a:p>
          <a:p>
            <a:r>
              <a:rPr lang="en-US" sz="2000" dirty="0">
                <a:solidFill>
                  <a:srgbClr val="0070C0"/>
                </a:solidFill>
              </a:rPr>
              <a:t>1010 = -6</a:t>
            </a:r>
          </a:p>
          <a:p>
            <a:r>
              <a:rPr lang="en-US" sz="2000" dirty="0">
                <a:solidFill>
                  <a:srgbClr val="0070C0"/>
                </a:solidFill>
              </a:rPr>
              <a:t>1011 = -5</a:t>
            </a:r>
          </a:p>
          <a:p>
            <a:r>
              <a:rPr lang="en-US" sz="2000" dirty="0">
                <a:solidFill>
                  <a:srgbClr val="0070C0"/>
                </a:solidFill>
              </a:rPr>
              <a:t>1100 = -4</a:t>
            </a:r>
          </a:p>
          <a:p>
            <a:r>
              <a:rPr lang="en-US" sz="2000" dirty="0">
                <a:solidFill>
                  <a:srgbClr val="0070C0"/>
                </a:solidFill>
              </a:rPr>
              <a:t>1101 = -3</a:t>
            </a:r>
          </a:p>
          <a:p>
            <a:r>
              <a:rPr lang="en-US" sz="2000" dirty="0">
                <a:solidFill>
                  <a:srgbClr val="0070C0"/>
                </a:solidFill>
              </a:rPr>
              <a:t>1110 = -2</a:t>
            </a:r>
          </a:p>
          <a:p>
            <a:r>
              <a:rPr lang="en-US" sz="2000" dirty="0">
                <a:solidFill>
                  <a:srgbClr val="0070C0"/>
                </a:solidFill>
              </a:rPr>
              <a:t>1111 = -1</a:t>
            </a:r>
            <a:endParaRPr lang="es-NI" sz="20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5340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Exceso</a:t>
            </a:r>
            <a:r>
              <a:rPr lang="en-US" dirty="0"/>
              <a:t> a M</a:t>
            </a:r>
            <a:endParaRPr lang="es-NI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340768"/>
            <a:ext cx="8291264" cy="4785395"/>
          </a:xfrm>
        </p:spPr>
        <p:txBody>
          <a:bodyPr/>
          <a:lstStyle/>
          <a:p>
            <a:r>
              <a:rPr lang="es-NI" dirty="0"/>
              <a:t>En sistemas simétricos</a:t>
            </a:r>
            <a:r>
              <a:rPr lang="es-NI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 M corresponde a la mitad del alcance del rango : </a:t>
            </a:r>
            <a:endParaRPr lang="es-NI" dirty="0"/>
          </a:p>
          <a:p>
            <a:endParaRPr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457200" indent="-457200"/>
            <a:endParaRPr lang="en-US" dirty="0">
              <a:solidFill>
                <a:schemeClr val="tx1"/>
              </a:solidFill>
              <a:ea typeface="+mn-ea"/>
            </a:endParaRPr>
          </a:p>
          <a:p>
            <a:pPr marL="457200" indent="-457200"/>
            <a:endParaRPr lang="en-US" sz="2000" dirty="0">
              <a:solidFill>
                <a:schemeClr val="tx1"/>
              </a:solidFill>
              <a:ea typeface="+mn-ea"/>
            </a:endParaRPr>
          </a:p>
          <a:p>
            <a:pPr marL="1257300" lvl="3" indent="0">
              <a:buNone/>
            </a:pPr>
            <a:r>
              <a:rPr lang="es-NI" sz="3200" dirty="0">
                <a:solidFill>
                  <a:schemeClr val="tx1"/>
                </a:solidFill>
                <a:ea typeface="+mn-ea"/>
              </a:rPr>
              <a:t>A’ = V(N)</a:t>
            </a:r>
            <a:r>
              <a:rPr lang="es-NI" sz="3200" baseline="-25000" dirty="0">
                <a:solidFill>
                  <a:schemeClr val="tx1"/>
                </a:solidFill>
                <a:ea typeface="+mn-ea"/>
              </a:rPr>
              <a:t>exceso-m</a:t>
            </a:r>
            <a:r>
              <a:rPr lang="es-NI" sz="3200" dirty="0">
                <a:solidFill>
                  <a:schemeClr val="tx1"/>
                </a:solidFill>
                <a:ea typeface="+mn-ea"/>
              </a:rPr>
              <a:t> =  A - M </a:t>
            </a:r>
            <a:endParaRPr lang="en-US" sz="3200" dirty="0"/>
          </a:p>
          <a:p>
            <a:endParaRPr lang="es-NI" sz="14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s-NI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Por ejemplo, en 4 bits, M sería 8. Así 0000 es 0 – 8 = -8 y 1111 = 15 – 8 =  +7.</a:t>
            </a:r>
          </a:p>
          <a:p>
            <a:endParaRPr lang="es-NI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NI"/>
          </a:p>
        </p:txBody>
      </p:sp>
      <p:graphicFrame>
        <p:nvGraphicFramePr>
          <p:cNvPr id="6" name="5 Objet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9143983"/>
              </p:ext>
            </p:extLst>
          </p:nvPr>
        </p:nvGraphicFramePr>
        <p:xfrm>
          <a:off x="1835696" y="2564904"/>
          <a:ext cx="1296144" cy="10369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510" name="Equation" r:id="rId3" imgW="520700" imgH="419100" progId="Equation.3">
                  <p:embed/>
                </p:oleObj>
              </mc:Choice>
              <mc:Fallback>
                <p:oleObj name="Equation" r:id="rId3" imgW="520700" imgH="4191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696" y="2564904"/>
                        <a:ext cx="1296144" cy="103691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29376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Exceso</a:t>
            </a:r>
            <a:r>
              <a:rPr lang="en-US" dirty="0"/>
              <a:t> a M</a:t>
            </a:r>
            <a:endParaRPr lang="es-NI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340768"/>
            <a:ext cx="5842992" cy="4785395"/>
          </a:xfrm>
        </p:spPr>
        <p:txBody>
          <a:bodyPr/>
          <a:lstStyle/>
          <a:p>
            <a:r>
              <a:rPr lang="es-NI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 esta representación, los números quedan ordenados según nuestros ejes coordenados.</a:t>
            </a:r>
          </a:p>
          <a:p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esto</a:t>
            </a:r>
            <a:r>
              <a:rPr lang="en-US" dirty="0"/>
              <a:t>, </a:t>
            </a:r>
            <a:r>
              <a:rPr lang="en-US" dirty="0" err="1"/>
              <a:t>es</a:t>
            </a:r>
            <a:r>
              <a:rPr lang="en-US" dirty="0"/>
              <a:t> la </a:t>
            </a:r>
            <a:r>
              <a:rPr lang="en-US" dirty="0" err="1"/>
              <a:t>representación</a:t>
            </a:r>
            <a:r>
              <a:rPr lang="en-US" dirty="0"/>
              <a:t> </a:t>
            </a:r>
            <a:r>
              <a:rPr lang="en-US" dirty="0" err="1"/>
              <a:t>más</a:t>
            </a:r>
            <a:r>
              <a:rPr lang="en-US" dirty="0"/>
              <a:t> </a:t>
            </a:r>
            <a:r>
              <a:rPr lang="en-US" dirty="0" err="1"/>
              <a:t>adecuada</a:t>
            </a:r>
            <a:r>
              <a:rPr lang="en-US" dirty="0"/>
              <a:t> para </a:t>
            </a:r>
            <a:r>
              <a:rPr lang="en-US" dirty="0" err="1"/>
              <a:t>representar</a:t>
            </a:r>
            <a:r>
              <a:rPr lang="en-US" dirty="0"/>
              <a:t> </a:t>
            </a:r>
            <a:r>
              <a:rPr lang="en-US" dirty="0" err="1"/>
              <a:t>números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serán</a:t>
            </a:r>
            <a:r>
              <a:rPr lang="en-US" dirty="0"/>
              <a:t> </a:t>
            </a:r>
            <a:r>
              <a:rPr lang="en-US" dirty="0" err="1"/>
              <a:t>comparados</a:t>
            </a:r>
            <a:r>
              <a:rPr lang="en-US" dirty="0"/>
              <a:t>.</a:t>
            </a:r>
          </a:p>
          <a:p>
            <a:endParaRPr lang="es-NI" dirty="0"/>
          </a:p>
        </p:txBody>
      </p:sp>
      <p:sp>
        <p:nvSpPr>
          <p:cNvPr id="4" name="3 CuadroTexto"/>
          <p:cNvSpPr txBox="1"/>
          <p:nvPr/>
        </p:nvSpPr>
        <p:spPr>
          <a:xfrm>
            <a:off x="6516216" y="1306157"/>
            <a:ext cx="1584176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0000 = -8</a:t>
            </a:r>
          </a:p>
          <a:p>
            <a:r>
              <a:rPr lang="en-US" sz="2000" dirty="0">
                <a:solidFill>
                  <a:srgbClr val="C00000"/>
                </a:solidFill>
              </a:rPr>
              <a:t>0001 = -7</a:t>
            </a:r>
          </a:p>
          <a:p>
            <a:r>
              <a:rPr lang="en-US" sz="2000" dirty="0">
                <a:solidFill>
                  <a:srgbClr val="C00000"/>
                </a:solidFill>
              </a:rPr>
              <a:t>0010 = -6</a:t>
            </a:r>
          </a:p>
          <a:p>
            <a:r>
              <a:rPr lang="en-US" sz="2000" dirty="0">
                <a:solidFill>
                  <a:srgbClr val="C00000"/>
                </a:solidFill>
              </a:rPr>
              <a:t>0011 = -5 </a:t>
            </a:r>
          </a:p>
          <a:p>
            <a:r>
              <a:rPr lang="en-US" sz="2000" dirty="0">
                <a:solidFill>
                  <a:srgbClr val="C00000"/>
                </a:solidFill>
              </a:rPr>
              <a:t>0100 = -4</a:t>
            </a:r>
          </a:p>
          <a:p>
            <a:r>
              <a:rPr lang="en-US" sz="2000" dirty="0">
                <a:solidFill>
                  <a:srgbClr val="C00000"/>
                </a:solidFill>
              </a:rPr>
              <a:t>0101 = -3</a:t>
            </a:r>
          </a:p>
          <a:p>
            <a:r>
              <a:rPr lang="en-US" sz="2000" dirty="0">
                <a:solidFill>
                  <a:srgbClr val="C00000"/>
                </a:solidFill>
              </a:rPr>
              <a:t>0110 = -2</a:t>
            </a:r>
          </a:p>
          <a:p>
            <a:r>
              <a:rPr lang="en-US" sz="2000" dirty="0">
                <a:solidFill>
                  <a:srgbClr val="C00000"/>
                </a:solidFill>
              </a:rPr>
              <a:t>0111 = -1</a:t>
            </a:r>
          </a:p>
          <a:p>
            <a:r>
              <a:rPr lang="en-US" sz="2000" dirty="0">
                <a:solidFill>
                  <a:srgbClr val="0070C0"/>
                </a:solidFill>
              </a:rPr>
              <a:t>1000 = 0</a:t>
            </a:r>
          </a:p>
          <a:p>
            <a:r>
              <a:rPr lang="en-US" sz="2000" dirty="0">
                <a:solidFill>
                  <a:srgbClr val="0070C0"/>
                </a:solidFill>
              </a:rPr>
              <a:t>1001 = +1</a:t>
            </a:r>
          </a:p>
          <a:p>
            <a:r>
              <a:rPr lang="en-US" sz="2000" dirty="0">
                <a:solidFill>
                  <a:srgbClr val="0070C0"/>
                </a:solidFill>
              </a:rPr>
              <a:t>1010 = +2</a:t>
            </a:r>
          </a:p>
          <a:p>
            <a:r>
              <a:rPr lang="en-US" sz="2000" dirty="0">
                <a:solidFill>
                  <a:srgbClr val="0070C0"/>
                </a:solidFill>
              </a:rPr>
              <a:t>1011 = +3</a:t>
            </a:r>
          </a:p>
          <a:p>
            <a:r>
              <a:rPr lang="en-US" sz="2000" dirty="0">
                <a:solidFill>
                  <a:srgbClr val="0070C0"/>
                </a:solidFill>
              </a:rPr>
              <a:t>1100 = +4</a:t>
            </a:r>
          </a:p>
          <a:p>
            <a:r>
              <a:rPr lang="en-US" sz="2000" dirty="0">
                <a:solidFill>
                  <a:srgbClr val="0070C0"/>
                </a:solidFill>
              </a:rPr>
              <a:t>1101 = +5</a:t>
            </a:r>
          </a:p>
          <a:p>
            <a:r>
              <a:rPr lang="en-US" sz="2000" dirty="0">
                <a:solidFill>
                  <a:srgbClr val="0070C0"/>
                </a:solidFill>
              </a:rPr>
              <a:t>1110 = +6</a:t>
            </a:r>
          </a:p>
          <a:p>
            <a:r>
              <a:rPr lang="en-US" sz="2000" dirty="0">
                <a:solidFill>
                  <a:srgbClr val="0070C0"/>
                </a:solidFill>
              </a:rPr>
              <a:t>1111 = +7</a:t>
            </a:r>
            <a:endParaRPr lang="es-NI" sz="20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7693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Otros</a:t>
            </a:r>
            <a:r>
              <a:rPr lang="en-US" dirty="0"/>
              <a:t> </a:t>
            </a:r>
            <a:r>
              <a:rPr lang="en-US" dirty="0" err="1"/>
              <a:t>sistemas</a:t>
            </a:r>
            <a:r>
              <a:rPr lang="en-US" dirty="0"/>
              <a:t> de </a:t>
            </a:r>
            <a:r>
              <a:rPr lang="en-US" dirty="0" err="1"/>
              <a:t>representación</a:t>
            </a:r>
            <a:endParaRPr lang="es-NI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579296" cy="4525963"/>
          </a:xfrm>
        </p:spPr>
        <p:txBody>
          <a:bodyPr/>
          <a:lstStyle/>
          <a:p>
            <a:r>
              <a:rPr lang="en-US" dirty="0"/>
              <a:t>Binary Coded Decimal (BCD)</a:t>
            </a:r>
          </a:p>
          <a:p>
            <a:pPr lvl="1"/>
            <a:r>
              <a:rPr lang="en-US" dirty="0" err="1"/>
              <a:t>Emplea</a:t>
            </a:r>
            <a:r>
              <a:rPr lang="en-US" dirty="0"/>
              <a:t> 4 bits para </a:t>
            </a:r>
            <a:r>
              <a:rPr lang="en-US" dirty="0" err="1"/>
              <a:t>representar</a:t>
            </a:r>
            <a:r>
              <a:rPr lang="en-US" dirty="0"/>
              <a:t> un </a:t>
            </a:r>
            <a:r>
              <a:rPr lang="en-US" dirty="0" err="1"/>
              <a:t>dígito</a:t>
            </a:r>
            <a:r>
              <a:rPr lang="en-US" dirty="0"/>
              <a:t> decimal </a:t>
            </a:r>
          </a:p>
          <a:p>
            <a:pPr lvl="2"/>
            <a:r>
              <a:rPr lang="en-US" dirty="0"/>
              <a:t>0000=0, 0001=1, 0010=2, 0011=3, 0100=4, </a:t>
            </a:r>
          </a:p>
          <a:p>
            <a:pPr lvl="2"/>
            <a:r>
              <a:rPr lang="en-US" dirty="0"/>
              <a:t>0101=5, 0110=6, 0111=7, 1000=8, 1001=9.</a:t>
            </a:r>
          </a:p>
          <a:p>
            <a:pPr lvl="1"/>
            <a:r>
              <a:rPr lang="en-US" dirty="0" err="1"/>
              <a:t>Signos</a:t>
            </a:r>
            <a:r>
              <a:rPr lang="en-US" dirty="0"/>
              <a:t> se </a:t>
            </a:r>
            <a:r>
              <a:rPr lang="en-US" dirty="0" err="1"/>
              <a:t>representan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otro</a:t>
            </a:r>
            <a:r>
              <a:rPr lang="en-US" dirty="0"/>
              <a:t> </a:t>
            </a:r>
            <a:r>
              <a:rPr lang="en-US" dirty="0" err="1"/>
              <a:t>grupo</a:t>
            </a:r>
            <a:r>
              <a:rPr lang="en-US" dirty="0"/>
              <a:t> de 4 bits.</a:t>
            </a:r>
          </a:p>
          <a:p>
            <a:pPr lvl="2"/>
            <a:r>
              <a:rPr lang="en-US" dirty="0" err="1"/>
              <a:t>Ejemplo</a:t>
            </a:r>
            <a:r>
              <a:rPr lang="en-US" dirty="0"/>
              <a:t>: En la VAX se </a:t>
            </a:r>
            <a:r>
              <a:rPr lang="en-US" dirty="0" err="1"/>
              <a:t>emplea</a:t>
            </a:r>
            <a:r>
              <a:rPr lang="en-US" dirty="0"/>
              <a:t> 1100 para </a:t>
            </a:r>
            <a:r>
              <a:rPr lang="en-US" dirty="0" err="1"/>
              <a:t>representar</a:t>
            </a:r>
            <a:r>
              <a:rPr lang="en-US" dirty="0"/>
              <a:t> el </a:t>
            </a:r>
            <a:r>
              <a:rPr lang="en-US" dirty="0" err="1"/>
              <a:t>signo</a:t>
            </a:r>
            <a:r>
              <a:rPr lang="en-US" dirty="0"/>
              <a:t> + y 1101 para el -</a:t>
            </a:r>
          </a:p>
          <a:p>
            <a:pPr lvl="1"/>
            <a:r>
              <a:rPr lang="en-US" dirty="0"/>
              <a:t>La </a:t>
            </a:r>
            <a:r>
              <a:rPr lang="en-US" dirty="0" err="1"/>
              <a:t>aritmética</a:t>
            </a:r>
            <a:r>
              <a:rPr lang="en-US" dirty="0"/>
              <a:t> se </a:t>
            </a:r>
            <a:r>
              <a:rPr lang="en-US" dirty="0" err="1"/>
              <a:t>implementa</a:t>
            </a:r>
            <a:r>
              <a:rPr lang="en-US" dirty="0"/>
              <a:t> </a:t>
            </a:r>
            <a:r>
              <a:rPr lang="en-US" dirty="0" err="1"/>
              <a:t>dígito</a:t>
            </a:r>
            <a:r>
              <a:rPr lang="en-US" dirty="0"/>
              <a:t> a </a:t>
            </a:r>
            <a:r>
              <a:rPr lang="en-US" dirty="0" err="1"/>
              <a:t>dígito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563593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Otros</a:t>
            </a:r>
            <a:r>
              <a:rPr lang="en-US" dirty="0"/>
              <a:t> </a:t>
            </a:r>
            <a:r>
              <a:rPr lang="en-US" dirty="0" err="1"/>
              <a:t>sistemas</a:t>
            </a:r>
            <a:r>
              <a:rPr lang="en-US" dirty="0"/>
              <a:t> de </a:t>
            </a:r>
            <a:r>
              <a:rPr lang="en-US" dirty="0" err="1"/>
              <a:t>representación</a:t>
            </a:r>
            <a:endParaRPr lang="es-NI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Código</a:t>
            </a:r>
            <a:r>
              <a:rPr lang="en-US" dirty="0"/>
              <a:t> </a:t>
            </a:r>
            <a:r>
              <a:rPr lang="en-US" dirty="0" err="1"/>
              <a:t>Binario</a:t>
            </a:r>
            <a:r>
              <a:rPr lang="en-US" dirty="0"/>
              <a:t> </a:t>
            </a:r>
            <a:r>
              <a:rPr lang="en-US" dirty="0" err="1"/>
              <a:t>Reflejado</a:t>
            </a:r>
            <a:r>
              <a:rPr lang="en-US" dirty="0"/>
              <a:t> o </a:t>
            </a:r>
            <a:r>
              <a:rPr lang="en-US" dirty="0" err="1"/>
              <a:t>código</a:t>
            </a:r>
            <a:r>
              <a:rPr lang="en-US" dirty="0"/>
              <a:t> Gray</a:t>
            </a:r>
          </a:p>
          <a:p>
            <a:pPr lvl="1"/>
            <a:r>
              <a:rPr lang="en-US" dirty="0" err="1"/>
              <a:t>Sistema</a:t>
            </a:r>
            <a:r>
              <a:rPr lang="en-US" dirty="0"/>
              <a:t> </a:t>
            </a:r>
            <a:r>
              <a:rPr lang="en-US" dirty="0" err="1"/>
              <a:t>numérico</a:t>
            </a:r>
            <a:r>
              <a:rPr lang="en-US" dirty="0"/>
              <a:t> en el </a:t>
            </a:r>
            <a:r>
              <a:rPr lang="en-US" dirty="0" err="1"/>
              <a:t>que</a:t>
            </a:r>
            <a:r>
              <a:rPr lang="en-US" dirty="0"/>
              <a:t> dos </a:t>
            </a:r>
            <a:r>
              <a:rPr lang="en-US" dirty="0" err="1"/>
              <a:t>números</a:t>
            </a:r>
            <a:r>
              <a:rPr lang="en-US" dirty="0"/>
              <a:t> </a:t>
            </a:r>
            <a:r>
              <a:rPr lang="en-US" dirty="0" err="1"/>
              <a:t>sucesivos</a:t>
            </a:r>
            <a:r>
              <a:rPr lang="en-US" dirty="0"/>
              <a:t> solo </a:t>
            </a:r>
            <a:r>
              <a:rPr lang="en-US" dirty="0" err="1"/>
              <a:t>difieren</a:t>
            </a:r>
            <a:r>
              <a:rPr lang="en-US" dirty="0"/>
              <a:t> en un bit.</a:t>
            </a:r>
          </a:p>
          <a:p>
            <a:pPr lvl="1"/>
            <a:r>
              <a:rPr lang="en-US" dirty="0" err="1"/>
              <a:t>Conversión</a:t>
            </a:r>
            <a:r>
              <a:rPr lang="en-US" dirty="0"/>
              <a:t> de </a:t>
            </a:r>
            <a:r>
              <a:rPr lang="en-US" dirty="0" err="1"/>
              <a:t>binario</a:t>
            </a:r>
            <a:r>
              <a:rPr lang="en-US" dirty="0"/>
              <a:t> a Gray: Se </a:t>
            </a:r>
            <a:r>
              <a:rPr lang="en-US" dirty="0" err="1"/>
              <a:t>aplica</a:t>
            </a:r>
            <a:r>
              <a:rPr lang="en-US" dirty="0"/>
              <a:t> la </a:t>
            </a:r>
            <a:r>
              <a:rPr lang="en-US" dirty="0" err="1"/>
              <a:t>operación</a:t>
            </a:r>
            <a:r>
              <a:rPr lang="en-US" dirty="0"/>
              <a:t> XOR del </a:t>
            </a:r>
            <a:r>
              <a:rPr lang="en-US" dirty="0" err="1"/>
              <a:t>número</a:t>
            </a:r>
            <a:r>
              <a:rPr lang="en-US" dirty="0"/>
              <a:t> </a:t>
            </a:r>
            <a:r>
              <a:rPr lang="en-US" dirty="0" err="1"/>
              <a:t>binario</a:t>
            </a:r>
            <a:r>
              <a:rPr lang="en-US" dirty="0"/>
              <a:t> </a:t>
            </a:r>
            <a:r>
              <a:rPr lang="en-US" dirty="0" err="1"/>
              <a:t>consigo</a:t>
            </a:r>
            <a:r>
              <a:rPr lang="en-US" dirty="0"/>
              <a:t> </a:t>
            </a:r>
            <a:r>
              <a:rPr lang="en-US" dirty="0" err="1"/>
              <a:t>mismo</a:t>
            </a:r>
            <a:r>
              <a:rPr lang="en-US" dirty="0"/>
              <a:t> </a:t>
            </a:r>
            <a:r>
              <a:rPr lang="en-US" dirty="0" err="1"/>
              <a:t>desplazado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posición</a:t>
            </a:r>
            <a:r>
              <a:rPr lang="en-US" dirty="0"/>
              <a:t> a la </a:t>
            </a:r>
            <a:r>
              <a:rPr lang="en-US" dirty="0" err="1"/>
              <a:t>derecha</a:t>
            </a:r>
            <a:r>
              <a:rPr lang="en-US" dirty="0"/>
              <a:t>:</a:t>
            </a:r>
          </a:p>
          <a:p>
            <a:pPr marL="1771650" lvl="4" indent="0">
              <a:buNone/>
            </a:pPr>
            <a:r>
              <a:rPr lang="es-ES" sz="2800" dirty="0"/>
              <a:t>  1010 </a:t>
            </a:r>
          </a:p>
          <a:p>
            <a:pPr marL="1771650" lvl="4" indent="0">
              <a:buNone/>
            </a:pPr>
            <a:r>
              <a:rPr lang="es-ES" sz="2800" dirty="0">
                <a:sym typeface="Symbol"/>
              </a:rPr>
              <a:t></a:t>
            </a:r>
            <a:r>
              <a:rPr lang="es-ES" sz="2800" dirty="0"/>
              <a:t> 1010 </a:t>
            </a:r>
          </a:p>
          <a:p>
            <a:pPr marL="1771650" lvl="4" indent="0">
              <a:buNone/>
            </a:pPr>
            <a:r>
              <a:rPr lang="es-ES" sz="2800" b="1" dirty="0"/>
              <a:t>  1111</a:t>
            </a:r>
            <a:r>
              <a:rPr lang="es-ES" sz="2800" dirty="0"/>
              <a:t> </a:t>
            </a:r>
            <a:endParaRPr lang="es-NI" sz="2800" dirty="0"/>
          </a:p>
        </p:txBody>
      </p:sp>
      <p:cxnSp>
        <p:nvCxnSpPr>
          <p:cNvPr id="6" name="5 Conector recto"/>
          <p:cNvCxnSpPr/>
          <p:nvPr/>
        </p:nvCxnSpPr>
        <p:spPr>
          <a:xfrm>
            <a:off x="2195736" y="5517232"/>
            <a:ext cx="1224136" cy="0"/>
          </a:xfrm>
          <a:prstGeom prst="line">
            <a:avLst/>
          </a:prstGeom>
          <a:ln>
            <a:solidFill>
              <a:srgbClr val="00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7 Conector recto"/>
          <p:cNvCxnSpPr/>
          <p:nvPr/>
        </p:nvCxnSpPr>
        <p:spPr>
          <a:xfrm flipH="1">
            <a:off x="3306431" y="5030197"/>
            <a:ext cx="144016" cy="4320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5623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Números</a:t>
            </a:r>
            <a:r>
              <a:rPr lang="en-US" dirty="0"/>
              <a:t> en </a:t>
            </a:r>
            <a:r>
              <a:rPr lang="en-US" dirty="0" err="1"/>
              <a:t>punto</a:t>
            </a:r>
            <a:r>
              <a:rPr lang="en-US" dirty="0"/>
              <a:t> </a:t>
            </a:r>
            <a:r>
              <a:rPr lang="en-US" dirty="0" err="1"/>
              <a:t>flotante</a:t>
            </a:r>
            <a:endParaRPr lang="es-NI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Números</a:t>
            </a:r>
            <a:r>
              <a:rPr lang="en-US" dirty="0"/>
              <a:t> </a:t>
            </a:r>
            <a:r>
              <a:rPr lang="en-US" dirty="0" err="1"/>
              <a:t>reales</a:t>
            </a:r>
            <a:r>
              <a:rPr lang="en-US" dirty="0"/>
              <a:t> </a:t>
            </a:r>
            <a:r>
              <a:rPr lang="en-US" dirty="0" err="1"/>
              <a:t>están</a:t>
            </a:r>
            <a:r>
              <a:rPr lang="en-US" dirty="0"/>
              <a:t> </a:t>
            </a:r>
            <a:r>
              <a:rPr lang="en-US" dirty="0" err="1"/>
              <a:t>presentes</a:t>
            </a:r>
            <a:r>
              <a:rPr lang="en-US" dirty="0"/>
              <a:t> en la </a:t>
            </a:r>
            <a:r>
              <a:rPr lang="en-US" dirty="0" err="1"/>
              <a:t>mayoría</a:t>
            </a:r>
            <a:r>
              <a:rPr lang="en-US" dirty="0"/>
              <a:t> de los </a:t>
            </a:r>
            <a:r>
              <a:rPr lang="en-US" dirty="0" err="1"/>
              <a:t>cálculos</a:t>
            </a:r>
            <a:r>
              <a:rPr lang="en-US" dirty="0"/>
              <a:t> </a:t>
            </a:r>
            <a:r>
              <a:rPr lang="en-US" dirty="0" err="1"/>
              <a:t>científicos</a:t>
            </a:r>
            <a:r>
              <a:rPr lang="en-US" dirty="0"/>
              <a:t>.</a:t>
            </a:r>
          </a:p>
          <a:p>
            <a:r>
              <a:rPr lang="en-US" dirty="0" err="1"/>
              <a:t>Compuestos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parte </a:t>
            </a:r>
            <a:r>
              <a:rPr lang="en-US" dirty="0" err="1"/>
              <a:t>entera</a:t>
            </a:r>
            <a:r>
              <a:rPr lang="en-US" dirty="0"/>
              <a:t> y parte decimal.</a:t>
            </a:r>
          </a:p>
          <a:p>
            <a:r>
              <a:rPr lang="en-US" dirty="0" err="1"/>
              <a:t>Formato</a:t>
            </a:r>
            <a:r>
              <a:rPr lang="en-US" dirty="0"/>
              <a:t> en </a:t>
            </a:r>
            <a:r>
              <a:rPr lang="en-US" dirty="0" err="1"/>
              <a:t>computadora</a:t>
            </a:r>
            <a:r>
              <a:rPr lang="en-US" dirty="0"/>
              <a:t> parte de la </a:t>
            </a:r>
            <a:r>
              <a:rPr lang="en-US" dirty="0" err="1"/>
              <a:t>notación</a:t>
            </a:r>
            <a:r>
              <a:rPr lang="en-US" dirty="0"/>
              <a:t> </a:t>
            </a:r>
            <a:r>
              <a:rPr lang="en-US" dirty="0" err="1"/>
              <a:t>científica</a:t>
            </a:r>
            <a:r>
              <a:rPr lang="en-US" dirty="0"/>
              <a:t>:</a:t>
            </a:r>
          </a:p>
          <a:p>
            <a:pPr marL="0" indent="0" algn="ctr">
              <a:buNone/>
            </a:pPr>
            <a:r>
              <a:rPr lang="en-US" dirty="0"/>
              <a:t>0.56 = 56 * 10</a:t>
            </a:r>
            <a:r>
              <a:rPr lang="en-US" baseline="30000" dirty="0"/>
              <a:t>-2</a:t>
            </a:r>
            <a:r>
              <a:rPr lang="en-US" dirty="0"/>
              <a:t> = 56E-2</a:t>
            </a:r>
          </a:p>
          <a:p>
            <a:r>
              <a:rPr lang="en-US" dirty="0" err="1"/>
              <a:t>Número</a:t>
            </a:r>
            <a:r>
              <a:rPr lang="en-US" dirty="0"/>
              <a:t> = </a:t>
            </a:r>
            <a:r>
              <a:rPr lang="es-NI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mantisa*</a:t>
            </a:r>
            <a:r>
              <a:rPr lang="es-NI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BASE</a:t>
            </a:r>
            <a:r>
              <a:rPr lang="es-NI" baseline="300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exponente</a:t>
            </a:r>
            <a:endParaRPr lang="es-NI" baseline="30000" dirty="0"/>
          </a:p>
        </p:txBody>
      </p:sp>
    </p:spTree>
    <p:extLst>
      <p:ext uri="{BB962C8B-B14F-4D97-AF65-F5344CB8AC3E}">
        <p14:creationId xmlns:p14="http://schemas.microsoft.com/office/powerpoint/2010/main" val="1808378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Números</a:t>
            </a:r>
            <a:r>
              <a:rPr lang="en-US" dirty="0"/>
              <a:t> en </a:t>
            </a:r>
            <a:r>
              <a:rPr lang="en-US" dirty="0" err="1"/>
              <a:t>punto</a:t>
            </a:r>
            <a:r>
              <a:rPr lang="en-US" dirty="0"/>
              <a:t> </a:t>
            </a:r>
            <a:r>
              <a:rPr lang="en-US" dirty="0" err="1"/>
              <a:t>flotante</a:t>
            </a:r>
            <a:endParaRPr lang="es-NI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340769"/>
            <a:ext cx="8229600" cy="4176464"/>
          </a:xfrm>
        </p:spPr>
        <p:txBody>
          <a:bodyPr/>
          <a:lstStyle/>
          <a:p>
            <a:r>
              <a:rPr lang="en-US" dirty="0" err="1"/>
              <a:t>Estándar</a:t>
            </a:r>
            <a:r>
              <a:rPr lang="en-US" dirty="0"/>
              <a:t> IEEE </a:t>
            </a:r>
            <a:r>
              <a:rPr lang="es-NI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754 define dos </a:t>
            </a:r>
            <a:r>
              <a:rPr lang="en-US" dirty="0" err="1"/>
              <a:t>formatos</a:t>
            </a:r>
            <a:r>
              <a:rPr lang="en-US" dirty="0"/>
              <a:t> en </a:t>
            </a:r>
            <a:r>
              <a:rPr lang="en-US" dirty="0" err="1"/>
              <a:t>punto</a:t>
            </a:r>
            <a:r>
              <a:rPr lang="en-US" dirty="0"/>
              <a:t> </a:t>
            </a:r>
            <a:r>
              <a:rPr lang="en-US" dirty="0" err="1"/>
              <a:t>flotante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Simple </a:t>
            </a:r>
            <a:r>
              <a:rPr lang="en-US" dirty="0" err="1"/>
              <a:t>precisión</a:t>
            </a:r>
            <a:r>
              <a:rPr lang="en-US" dirty="0"/>
              <a:t> (32 bits)</a:t>
            </a:r>
          </a:p>
          <a:p>
            <a:pPr lvl="1"/>
            <a:r>
              <a:rPr lang="en-US" dirty="0" err="1"/>
              <a:t>Doble</a:t>
            </a:r>
            <a:r>
              <a:rPr lang="en-US" dirty="0"/>
              <a:t> </a:t>
            </a:r>
            <a:r>
              <a:rPr lang="en-US" dirty="0" err="1"/>
              <a:t>precisión</a:t>
            </a:r>
            <a:r>
              <a:rPr lang="en-US" dirty="0"/>
              <a:t> (64 bits)</a:t>
            </a:r>
          </a:p>
          <a:p>
            <a:r>
              <a:rPr lang="es-NI" dirty="0"/>
              <a:t>D</a:t>
            </a:r>
            <a:r>
              <a:rPr lang="es-NI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 campos lógicos: mantisa y exponente (base implícita):</a:t>
            </a:r>
          </a:p>
          <a:p>
            <a:pPr lvl="1"/>
            <a:r>
              <a:rPr lang="es-NI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Mantisa en  representación signo-magnitud y el exponente en exceso a m.</a:t>
            </a:r>
            <a:endParaRPr lang="en-US" dirty="0"/>
          </a:p>
        </p:txBody>
      </p:sp>
      <p:graphicFrame>
        <p:nvGraphicFramePr>
          <p:cNvPr id="5" name="4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4967085"/>
              </p:ext>
            </p:extLst>
          </p:nvPr>
        </p:nvGraphicFramePr>
        <p:xfrm>
          <a:off x="251504" y="5661248"/>
          <a:ext cx="8712992" cy="720080"/>
        </p:xfrm>
        <a:graphic>
          <a:graphicData uri="http://schemas.openxmlformats.org/drawingml/2006/table">
            <a:tbl>
              <a:tblPr/>
              <a:tblGrid>
                <a:gridCol w="2722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2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22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22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228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228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228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228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7228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7228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7228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7228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7228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7228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7228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72281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72281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72281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72281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72281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272281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272281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272281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272281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272281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272281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272281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272281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  <a:gridCol w="272281">
                  <a:extLst>
                    <a:ext uri="{9D8B030D-6E8A-4147-A177-3AD203B41FA5}">
                      <a16:colId xmlns:a16="http://schemas.microsoft.com/office/drawing/2014/main" val="20028"/>
                    </a:ext>
                  </a:extLst>
                </a:gridCol>
                <a:gridCol w="272281">
                  <a:extLst>
                    <a:ext uri="{9D8B030D-6E8A-4147-A177-3AD203B41FA5}">
                      <a16:colId xmlns:a16="http://schemas.microsoft.com/office/drawing/2014/main" val="20029"/>
                    </a:ext>
                  </a:extLst>
                </a:gridCol>
                <a:gridCol w="272281">
                  <a:extLst>
                    <a:ext uri="{9D8B030D-6E8A-4147-A177-3AD203B41FA5}">
                      <a16:colId xmlns:a16="http://schemas.microsoft.com/office/drawing/2014/main" val="20030"/>
                    </a:ext>
                  </a:extLst>
                </a:gridCol>
                <a:gridCol w="272281">
                  <a:extLst>
                    <a:ext uri="{9D8B030D-6E8A-4147-A177-3AD203B41FA5}">
                      <a16:colId xmlns:a16="http://schemas.microsoft.com/office/drawing/2014/main" val="20031"/>
                    </a:ext>
                  </a:extLst>
                </a:gridCol>
              </a:tblGrid>
              <a:tr h="396044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Arial"/>
                          <a:ea typeface="Times New Roman"/>
                          <a:cs typeface="Arial"/>
                        </a:rPr>
                        <a:t>31</a:t>
                      </a:r>
                      <a:endParaRPr lang="es-NI" sz="1000">
                        <a:effectLst/>
                        <a:latin typeface="Garamond"/>
                        <a:ea typeface="Times New Roman"/>
                        <a:cs typeface="Arial"/>
                      </a:endParaRPr>
                    </a:p>
                  </a:txBody>
                  <a:tcPr marL="6985" marR="6985" marT="698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Arial"/>
                          <a:ea typeface="Times New Roman"/>
                          <a:cs typeface="Arial"/>
                        </a:rPr>
                        <a:t>30</a:t>
                      </a:r>
                      <a:endParaRPr lang="es-NI" sz="1000">
                        <a:effectLst/>
                        <a:latin typeface="Garamond"/>
                        <a:ea typeface="Times New Roman"/>
                        <a:cs typeface="Arial"/>
                      </a:endParaRPr>
                    </a:p>
                  </a:txBody>
                  <a:tcPr marL="6985" marR="6985" marT="698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Arial"/>
                          <a:ea typeface="Times New Roman"/>
                          <a:cs typeface="Arial"/>
                        </a:rPr>
                        <a:t>29</a:t>
                      </a:r>
                      <a:endParaRPr lang="es-NI" sz="1000">
                        <a:effectLst/>
                        <a:latin typeface="Garamond"/>
                        <a:ea typeface="Times New Roman"/>
                        <a:cs typeface="Arial"/>
                      </a:endParaRPr>
                    </a:p>
                  </a:txBody>
                  <a:tcPr marL="6985" marR="6985" marT="698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Arial"/>
                          <a:ea typeface="Times New Roman"/>
                          <a:cs typeface="Arial"/>
                        </a:rPr>
                        <a:t>28</a:t>
                      </a:r>
                      <a:endParaRPr lang="es-NI" sz="1000">
                        <a:effectLst/>
                        <a:latin typeface="Garamond"/>
                        <a:ea typeface="Times New Roman"/>
                        <a:cs typeface="Arial"/>
                      </a:endParaRPr>
                    </a:p>
                  </a:txBody>
                  <a:tcPr marL="6985" marR="6985" marT="698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Arial"/>
                          <a:ea typeface="Times New Roman"/>
                          <a:cs typeface="Arial"/>
                        </a:rPr>
                        <a:t>27</a:t>
                      </a:r>
                      <a:endParaRPr lang="es-NI" sz="1000">
                        <a:effectLst/>
                        <a:latin typeface="Garamond"/>
                        <a:ea typeface="Times New Roman"/>
                        <a:cs typeface="Arial"/>
                      </a:endParaRPr>
                    </a:p>
                  </a:txBody>
                  <a:tcPr marL="6985" marR="6985" marT="698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Arial"/>
                          <a:ea typeface="Times New Roman"/>
                          <a:cs typeface="Arial"/>
                        </a:rPr>
                        <a:t>26</a:t>
                      </a:r>
                      <a:endParaRPr lang="es-NI" sz="1000">
                        <a:effectLst/>
                        <a:latin typeface="Garamond"/>
                        <a:ea typeface="Times New Roman"/>
                        <a:cs typeface="Arial"/>
                      </a:endParaRPr>
                    </a:p>
                  </a:txBody>
                  <a:tcPr marL="6985" marR="6985" marT="698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Arial"/>
                          <a:ea typeface="Times New Roman"/>
                          <a:cs typeface="Arial"/>
                        </a:rPr>
                        <a:t>25</a:t>
                      </a:r>
                      <a:endParaRPr lang="es-NI" sz="1000">
                        <a:effectLst/>
                        <a:latin typeface="Garamond"/>
                        <a:ea typeface="Times New Roman"/>
                        <a:cs typeface="Arial"/>
                      </a:endParaRPr>
                    </a:p>
                  </a:txBody>
                  <a:tcPr marL="6985" marR="6985" marT="698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Arial"/>
                          <a:ea typeface="Times New Roman"/>
                          <a:cs typeface="Arial"/>
                        </a:rPr>
                        <a:t>24</a:t>
                      </a:r>
                      <a:endParaRPr lang="es-NI" sz="1000">
                        <a:effectLst/>
                        <a:latin typeface="Garamond"/>
                        <a:ea typeface="Times New Roman"/>
                        <a:cs typeface="Arial"/>
                      </a:endParaRPr>
                    </a:p>
                  </a:txBody>
                  <a:tcPr marL="6985" marR="6985" marT="698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Arial"/>
                          <a:ea typeface="Times New Roman"/>
                          <a:cs typeface="Arial"/>
                        </a:rPr>
                        <a:t>23</a:t>
                      </a:r>
                      <a:endParaRPr lang="es-NI" sz="1000">
                        <a:effectLst/>
                        <a:latin typeface="Garamond"/>
                        <a:ea typeface="Times New Roman"/>
                        <a:cs typeface="Arial"/>
                      </a:endParaRPr>
                    </a:p>
                  </a:txBody>
                  <a:tcPr marL="6985" marR="6985" marT="698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Arial"/>
                          <a:ea typeface="Times New Roman"/>
                          <a:cs typeface="Arial"/>
                        </a:rPr>
                        <a:t>22</a:t>
                      </a:r>
                      <a:endParaRPr lang="es-NI" sz="1000">
                        <a:effectLst/>
                        <a:latin typeface="Garamond"/>
                        <a:ea typeface="Times New Roman"/>
                        <a:cs typeface="Arial"/>
                      </a:endParaRPr>
                    </a:p>
                  </a:txBody>
                  <a:tcPr marL="6985" marR="6985" marT="698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Arial"/>
                          <a:ea typeface="Times New Roman"/>
                          <a:cs typeface="Arial"/>
                        </a:rPr>
                        <a:t>21</a:t>
                      </a:r>
                      <a:endParaRPr lang="es-NI" sz="1000">
                        <a:effectLst/>
                        <a:latin typeface="Garamond"/>
                        <a:ea typeface="Times New Roman"/>
                        <a:cs typeface="Arial"/>
                      </a:endParaRPr>
                    </a:p>
                  </a:txBody>
                  <a:tcPr marL="6985" marR="6985" marT="698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Arial"/>
                          <a:ea typeface="Times New Roman"/>
                          <a:cs typeface="Arial"/>
                        </a:rPr>
                        <a:t>20</a:t>
                      </a:r>
                      <a:endParaRPr lang="es-NI" sz="1000">
                        <a:effectLst/>
                        <a:latin typeface="Garamond"/>
                        <a:ea typeface="Times New Roman"/>
                        <a:cs typeface="Arial"/>
                      </a:endParaRPr>
                    </a:p>
                  </a:txBody>
                  <a:tcPr marL="6985" marR="6985" marT="698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Arial"/>
                          <a:ea typeface="Times New Roman"/>
                          <a:cs typeface="Arial"/>
                        </a:rPr>
                        <a:t>19</a:t>
                      </a:r>
                      <a:endParaRPr lang="es-NI" sz="1000">
                        <a:effectLst/>
                        <a:latin typeface="Garamond"/>
                        <a:ea typeface="Times New Roman"/>
                        <a:cs typeface="Arial"/>
                      </a:endParaRPr>
                    </a:p>
                  </a:txBody>
                  <a:tcPr marL="6985" marR="6985" marT="698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Arial"/>
                          <a:ea typeface="Times New Roman"/>
                          <a:cs typeface="Arial"/>
                        </a:rPr>
                        <a:t>18</a:t>
                      </a:r>
                      <a:endParaRPr lang="es-NI" sz="1000">
                        <a:effectLst/>
                        <a:latin typeface="Garamond"/>
                        <a:ea typeface="Times New Roman"/>
                        <a:cs typeface="Arial"/>
                      </a:endParaRPr>
                    </a:p>
                  </a:txBody>
                  <a:tcPr marL="6985" marR="6985" marT="698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Arial"/>
                          <a:ea typeface="Times New Roman"/>
                          <a:cs typeface="Arial"/>
                        </a:rPr>
                        <a:t>17</a:t>
                      </a:r>
                      <a:endParaRPr lang="es-NI" sz="1000">
                        <a:effectLst/>
                        <a:latin typeface="Garamond"/>
                        <a:ea typeface="Times New Roman"/>
                        <a:cs typeface="Arial"/>
                      </a:endParaRPr>
                    </a:p>
                  </a:txBody>
                  <a:tcPr marL="6985" marR="6985" marT="698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Arial"/>
                          <a:ea typeface="Times New Roman"/>
                          <a:cs typeface="Arial"/>
                        </a:rPr>
                        <a:t>16</a:t>
                      </a:r>
                      <a:endParaRPr lang="es-NI" sz="1000">
                        <a:effectLst/>
                        <a:latin typeface="Garamond"/>
                        <a:ea typeface="Times New Roman"/>
                        <a:cs typeface="Arial"/>
                      </a:endParaRPr>
                    </a:p>
                  </a:txBody>
                  <a:tcPr marL="6985" marR="6985" marT="698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Arial"/>
                          <a:ea typeface="Times New Roman"/>
                          <a:cs typeface="Arial"/>
                        </a:rPr>
                        <a:t>15</a:t>
                      </a:r>
                      <a:endParaRPr lang="es-NI" sz="1000">
                        <a:effectLst/>
                        <a:latin typeface="Garamond"/>
                        <a:ea typeface="Times New Roman"/>
                        <a:cs typeface="Arial"/>
                      </a:endParaRPr>
                    </a:p>
                  </a:txBody>
                  <a:tcPr marL="6985" marR="6985" marT="698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Arial"/>
                          <a:ea typeface="Times New Roman"/>
                          <a:cs typeface="Arial"/>
                        </a:rPr>
                        <a:t>14</a:t>
                      </a:r>
                      <a:endParaRPr lang="es-NI" sz="1000">
                        <a:effectLst/>
                        <a:latin typeface="Garamond"/>
                        <a:ea typeface="Times New Roman"/>
                        <a:cs typeface="Arial"/>
                      </a:endParaRPr>
                    </a:p>
                  </a:txBody>
                  <a:tcPr marL="6985" marR="6985" marT="698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Arial"/>
                          <a:ea typeface="Times New Roman"/>
                          <a:cs typeface="Arial"/>
                        </a:rPr>
                        <a:t>13</a:t>
                      </a:r>
                      <a:endParaRPr lang="es-NI" sz="1000">
                        <a:effectLst/>
                        <a:latin typeface="Garamond"/>
                        <a:ea typeface="Times New Roman"/>
                        <a:cs typeface="Arial"/>
                      </a:endParaRPr>
                    </a:p>
                  </a:txBody>
                  <a:tcPr marL="6985" marR="6985" marT="698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Arial"/>
                          <a:ea typeface="Times New Roman"/>
                          <a:cs typeface="Arial"/>
                        </a:rPr>
                        <a:t>12</a:t>
                      </a:r>
                      <a:endParaRPr lang="es-NI" sz="1000">
                        <a:effectLst/>
                        <a:latin typeface="Garamond"/>
                        <a:ea typeface="Times New Roman"/>
                        <a:cs typeface="Arial"/>
                      </a:endParaRPr>
                    </a:p>
                  </a:txBody>
                  <a:tcPr marL="6985" marR="6985" marT="698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Arial"/>
                          <a:ea typeface="Times New Roman"/>
                          <a:cs typeface="Arial"/>
                        </a:rPr>
                        <a:t>11</a:t>
                      </a:r>
                      <a:endParaRPr lang="es-NI" sz="1000">
                        <a:effectLst/>
                        <a:latin typeface="Garamond"/>
                        <a:ea typeface="Times New Roman"/>
                        <a:cs typeface="Arial"/>
                      </a:endParaRPr>
                    </a:p>
                  </a:txBody>
                  <a:tcPr marL="6985" marR="6985" marT="698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Arial"/>
                          <a:ea typeface="Times New Roman"/>
                          <a:cs typeface="Arial"/>
                        </a:rPr>
                        <a:t>10</a:t>
                      </a:r>
                      <a:endParaRPr lang="es-NI" sz="1000">
                        <a:effectLst/>
                        <a:latin typeface="Garamond"/>
                        <a:ea typeface="Times New Roman"/>
                        <a:cs typeface="Arial"/>
                      </a:endParaRPr>
                    </a:p>
                  </a:txBody>
                  <a:tcPr marL="6985" marR="6985" marT="698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Arial"/>
                          <a:ea typeface="Times New Roman"/>
                          <a:cs typeface="Arial"/>
                        </a:rPr>
                        <a:t>9</a:t>
                      </a:r>
                      <a:endParaRPr lang="es-NI" sz="1000">
                        <a:effectLst/>
                        <a:latin typeface="Garamond"/>
                        <a:ea typeface="Times New Roman"/>
                        <a:cs typeface="Arial"/>
                      </a:endParaRPr>
                    </a:p>
                  </a:txBody>
                  <a:tcPr marL="6985" marR="6985" marT="698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Arial"/>
                          <a:ea typeface="Times New Roman"/>
                          <a:cs typeface="Arial"/>
                        </a:rPr>
                        <a:t>8</a:t>
                      </a:r>
                      <a:endParaRPr lang="es-NI" sz="1000">
                        <a:effectLst/>
                        <a:latin typeface="Garamond"/>
                        <a:ea typeface="Times New Roman"/>
                        <a:cs typeface="Arial"/>
                      </a:endParaRPr>
                    </a:p>
                  </a:txBody>
                  <a:tcPr marL="6985" marR="6985" marT="698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Arial"/>
                          <a:ea typeface="Times New Roman"/>
                          <a:cs typeface="Arial"/>
                        </a:rPr>
                        <a:t>7</a:t>
                      </a:r>
                      <a:endParaRPr lang="es-NI" sz="1000">
                        <a:effectLst/>
                        <a:latin typeface="Garamond"/>
                        <a:ea typeface="Times New Roman"/>
                        <a:cs typeface="Arial"/>
                      </a:endParaRPr>
                    </a:p>
                  </a:txBody>
                  <a:tcPr marL="6985" marR="6985" marT="698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Arial"/>
                          <a:ea typeface="Times New Roman"/>
                          <a:cs typeface="Arial"/>
                        </a:rPr>
                        <a:t>6</a:t>
                      </a:r>
                      <a:endParaRPr lang="es-NI" sz="1000">
                        <a:effectLst/>
                        <a:latin typeface="Garamond"/>
                        <a:ea typeface="Times New Roman"/>
                        <a:cs typeface="Arial"/>
                      </a:endParaRPr>
                    </a:p>
                  </a:txBody>
                  <a:tcPr marL="6985" marR="6985" marT="698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Arial"/>
                          <a:ea typeface="Times New Roman"/>
                          <a:cs typeface="Arial"/>
                        </a:rPr>
                        <a:t>5</a:t>
                      </a:r>
                      <a:endParaRPr lang="es-NI" sz="1000">
                        <a:effectLst/>
                        <a:latin typeface="Garamond"/>
                        <a:ea typeface="Times New Roman"/>
                        <a:cs typeface="Arial"/>
                      </a:endParaRPr>
                    </a:p>
                  </a:txBody>
                  <a:tcPr marL="6985" marR="6985" marT="698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Arial"/>
                          <a:ea typeface="Times New Roman"/>
                          <a:cs typeface="Arial"/>
                        </a:rPr>
                        <a:t>4</a:t>
                      </a:r>
                      <a:endParaRPr lang="es-NI" sz="1000">
                        <a:effectLst/>
                        <a:latin typeface="Garamond"/>
                        <a:ea typeface="Times New Roman"/>
                        <a:cs typeface="Arial"/>
                      </a:endParaRPr>
                    </a:p>
                  </a:txBody>
                  <a:tcPr marL="6985" marR="6985" marT="698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Arial"/>
                          <a:ea typeface="Times New Roman"/>
                          <a:cs typeface="Arial"/>
                        </a:rPr>
                        <a:t>3</a:t>
                      </a:r>
                      <a:endParaRPr lang="es-NI" sz="1000">
                        <a:effectLst/>
                        <a:latin typeface="Garamond"/>
                        <a:ea typeface="Times New Roman"/>
                        <a:cs typeface="Arial"/>
                      </a:endParaRPr>
                    </a:p>
                  </a:txBody>
                  <a:tcPr marL="6985" marR="6985" marT="698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Arial"/>
                          <a:ea typeface="Times New Roman"/>
                          <a:cs typeface="Arial"/>
                        </a:rPr>
                        <a:t>2</a:t>
                      </a:r>
                      <a:endParaRPr lang="es-NI" sz="1000">
                        <a:effectLst/>
                        <a:latin typeface="Garamond"/>
                        <a:ea typeface="Times New Roman"/>
                        <a:cs typeface="Arial"/>
                      </a:endParaRPr>
                    </a:p>
                  </a:txBody>
                  <a:tcPr marL="6985" marR="6985" marT="698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Arial"/>
                          <a:ea typeface="Times New Roman"/>
                          <a:cs typeface="Arial"/>
                        </a:rPr>
                        <a:t>1</a:t>
                      </a:r>
                      <a:endParaRPr lang="es-NI" sz="1000">
                        <a:effectLst/>
                        <a:latin typeface="Garamond"/>
                        <a:ea typeface="Times New Roman"/>
                        <a:cs typeface="Arial"/>
                      </a:endParaRPr>
                    </a:p>
                  </a:txBody>
                  <a:tcPr marL="6985" marR="6985" marT="698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Arial"/>
                          <a:ea typeface="Times New Roman"/>
                          <a:cs typeface="Arial"/>
                        </a:rPr>
                        <a:t>0</a:t>
                      </a:r>
                      <a:endParaRPr lang="es-NI" sz="1000">
                        <a:effectLst/>
                        <a:latin typeface="Garamond"/>
                        <a:ea typeface="Times New Roman"/>
                        <a:cs typeface="Arial"/>
                      </a:endParaRPr>
                    </a:p>
                  </a:txBody>
                  <a:tcPr marL="6985" marR="6985" marT="698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3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Arial"/>
                          <a:ea typeface="Times New Roman"/>
                          <a:cs typeface="Arial"/>
                        </a:rPr>
                        <a:t>S</a:t>
                      </a:r>
                      <a:endParaRPr lang="es-NI" sz="1000">
                        <a:effectLst/>
                        <a:latin typeface="Garamond"/>
                        <a:ea typeface="Times New Roman"/>
                        <a:cs typeface="Arial"/>
                      </a:endParaRPr>
                    </a:p>
                  </a:txBody>
                  <a:tcPr marL="6985" marR="6985" marT="698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Arial"/>
                          <a:ea typeface="Times New Roman"/>
                          <a:cs typeface="Arial"/>
                        </a:rPr>
                        <a:t>Exponente</a:t>
                      </a:r>
                      <a:endParaRPr lang="es-NI" sz="1000">
                        <a:effectLst/>
                        <a:latin typeface="Garamond"/>
                        <a:ea typeface="Times New Roman"/>
                        <a:cs typeface="Arial"/>
                      </a:endParaRPr>
                    </a:p>
                  </a:txBody>
                  <a:tcPr marL="6985" marR="6985" marT="698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 gridSpan="2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b="1" dirty="0" err="1">
                          <a:effectLst/>
                          <a:latin typeface="Arial"/>
                          <a:ea typeface="Times New Roman"/>
                          <a:cs typeface="Arial"/>
                        </a:rPr>
                        <a:t>Mantisa</a:t>
                      </a:r>
                      <a:endParaRPr lang="es-NI" sz="1000" dirty="0">
                        <a:effectLst/>
                        <a:latin typeface="Garamond"/>
                        <a:ea typeface="Times New Roman"/>
                        <a:cs typeface="Arial"/>
                      </a:endParaRPr>
                    </a:p>
                  </a:txBody>
                  <a:tcPr marL="6985" marR="6985" marT="698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041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Otros</a:t>
            </a:r>
            <a:r>
              <a:rPr lang="en-US" dirty="0"/>
              <a:t> </a:t>
            </a:r>
            <a:r>
              <a:rPr lang="en-US" dirty="0" err="1"/>
              <a:t>tipos</a:t>
            </a:r>
            <a:r>
              <a:rPr lang="en-US" dirty="0"/>
              <a:t> de </a:t>
            </a:r>
            <a:r>
              <a:rPr lang="en-US" dirty="0" err="1"/>
              <a:t>datos</a:t>
            </a:r>
            <a:endParaRPr lang="es-NI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112568"/>
          </a:xfrm>
        </p:spPr>
        <p:txBody>
          <a:bodyPr/>
          <a:lstStyle/>
          <a:p>
            <a:r>
              <a:rPr lang="en-US" dirty="0" err="1"/>
              <a:t>Caracteres</a:t>
            </a:r>
            <a:r>
              <a:rPr lang="en-US" dirty="0"/>
              <a:t> (</a:t>
            </a:r>
            <a:r>
              <a:rPr lang="en-US" dirty="0" err="1"/>
              <a:t>datos</a:t>
            </a:r>
            <a:r>
              <a:rPr lang="en-US" dirty="0"/>
              <a:t> </a:t>
            </a:r>
            <a:r>
              <a:rPr lang="en-US" dirty="0" err="1"/>
              <a:t>alfanuméricos</a:t>
            </a:r>
            <a:r>
              <a:rPr lang="en-US" dirty="0"/>
              <a:t>):</a:t>
            </a:r>
          </a:p>
          <a:p>
            <a:pPr lvl="1"/>
            <a:r>
              <a:rPr lang="en-US" dirty="0"/>
              <a:t>ASCII, ASCII </a:t>
            </a:r>
            <a:r>
              <a:rPr lang="en-US" dirty="0" err="1"/>
              <a:t>Extendido</a:t>
            </a:r>
            <a:r>
              <a:rPr lang="en-US" dirty="0"/>
              <a:t> (7 y 8 bits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caracter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UNICODE (16 bits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caracter</a:t>
            </a:r>
            <a:r>
              <a:rPr lang="en-US" dirty="0"/>
              <a:t>)</a:t>
            </a:r>
          </a:p>
          <a:p>
            <a:r>
              <a:rPr lang="en-US" dirty="0" err="1"/>
              <a:t>Fecha</a:t>
            </a:r>
            <a:r>
              <a:rPr lang="en-US" dirty="0"/>
              <a:t> y </a:t>
            </a:r>
            <a:r>
              <a:rPr lang="en-US" dirty="0" err="1"/>
              <a:t>tiempo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Diversos</a:t>
            </a:r>
            <a:r>
              <a:rPr lang="en-US" dirty="0"/>
              <a:t> </a:t>
            </a:r>
            <a:r>
              <a:rPr lang="en-US" dirty="0" err="1"/>
              <a:t>enfoques</a:t>
            </a:r>
            <a:r>
              <a:rPr lang="en-US" dirty="0"/>
              <a:t>: </a:t>
            </a:r>
            <a:r>
              <a:rPr lang="en-US" dirty="0" err="1"/>
              <a:t>números</a:t>
            </a:r>
            <a:r>
              <a:rPr lang="en-US" dirty="0"/>
              <a:t> (YYYYMMDD), </a:t>
            </a:r>
            <a:r>
              <a:rPr lang="en-US" dirty="0" err="1"/>
              <a:t>campos</a:t>
            </a:r>
            <a:r>
              <a:rPr lang="en-US" dirty="0"/>
              <a:t> de bits en </a:t>
            </a:r>
            <a:r>
              <a:rPr lang="en-US" dirty="0" err="1"/>
              <a:t>números</a:t>
            </a:r>
            <a:r>
              <a:rPr lang="en-US" dirty="0"/>
              <a:t>, </a:t>
            </a:r>
            <a:r>
              <a:rPr lang="en-US" dirty="0" err="1"/>
              <a:t>Contador</a:t>
            </a:r>
            <a:r>
              <a:rPr lang="en-US" dirty="0"/>
              <a:t> de </a:t>
            </a:r>
            <a:r>
              <a:rPr lang="en-US" dirty="0" err="1"/>
              <a:t>fracciones</a:t>
            </a:r>
            <a:r>
              <a:rPr lang="en-US" dirty="0"/>
              <a:t> de </a:t>
            </a:r>
            <a:r>
              <a:rPr lang="en-US" dirty="0" err="1"/>
              <a:t>segundo</a:t>
            </a:r>
            <a:r>
              <a:rPr lang="en-US" dirty="0"/>
              <a:t> (</a:t>
            </a:r>
            <a:r>
              <a:rPr lang="en-US" dirty="0" err="1"/>
              <a:t>marco</a:t>
            </a:r>
            <a:r>
              <a:rPr lang="en-US" dirty="0"/>
              <a:t> de </a:t>
            </a:r>
            <a:r>
              <a:rPr lang="en-US" dirty="0" err="1"/>
              <a:t>tiempo</a:t>
            </a:r>
            <a:r>
              <a:rPr lang="en-US" dirty="0"/>
              <a:t>), </a:t>
            </a:r>
            <a:r>
              <a:rPr lang="en-US" dirty="0" err="1"/>
              <a:t>estructuras</a:t>
            </a:r>
            <a:endParaRPr lang="en-US" dirty="0"/>
          </a:p>
          <a:p>
            <a:r>
              <a:rPr lang="en-US" dirty="0" err="1"/>
              <a:t>Estructuras</a:t>
            </a:r>
            <a:r>
              <a:rPr lang="en-US" dirty="0"/>
              <a:t> de </a:t>
            </a:r>
            <a:r>
              <a:rPr lang="en-US" dirty="0" err="1"/>
              <a:t>datos</a:t>
            </a:r>
            <a:r>
              <a:rPr lang="en-US" dirty="0"/>
              <a:t>: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programa</a:t>
            </a:r>
            <a:endParaRPr lang="es-NI" dirty="0"/>
          </a:p>
        </p:txBody>
      </p:sp>
    </p:spTree>
    <p:extLst>
      <p:ext uri="{BB962C8B-B14F-4D97-AF65-F5344CB8AC3E}">
        <p14:creationId xmlns:p14="http://schemas.microsoft.com/office/powerpoint/2010/main" val="4066256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Unidad</a:t>
            </a:r>
            <a:r>
              <a:rPr lang="en-US" dirty="0"/>
              <a:t> </a:t>
            </a:r>
            <a:r>
              <a:rPr lang="en-US" dirty="0" err="1"/>
              <a:t>Aritmética</a:t>
            </a:r>
            <a:r>
              <a:rPr lang="en-US" dirty="0"/>
              <a:t> </a:t>
            </a:r>
            <a:r>
              <a:rPr lang="en-US" dirty="0" err="1"/>
              <a:t>Lógica</a:t>
            </a:r>
            <a:endParaRPr lang="es-NI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Realiza</a:t>
            </a:r>
            <a:r>
              <a:rPr lang="en-US" dirty="0"/>
              <a:t> </a:t>
            </a:r>
            <a:r>
              <a:rPr lang="en-US" dirty="0" err="1"/>
              <a:t>las</a:t>
            </a:r>
            <a:r>
              <a:rPr lang="en-US" dirty="0"/>
              <a:t> </a:t>
            </a:r>
            <a:r>
              <a:rPr lang="en-US" dirty="0" err="1"/>
              <a:t>operaciones</a:t>
            </a:r>
            <a:r>
              <a:rPr lang="en-US" dirty="0"/>
              <a:t> </a:t>
            </a:r>
            <a:r>
              <a:rPr lang="en-US" dirty="0" err="1"/>
              <a:t>aritméticas</a:t>
            </a:r>
            <a:r>
              <a:rPr lang="en-US" dirty="0"/>
              <a:t> y </a:t>
            </a:r>
            <a:r>
              <a:rPr lang="en-US" dirty="0" err="1"/>
              <a:t>lógicas</a:t>
            </a:r>
            <a:r>
              <a:rPr lang="en-US" dirty="0"/>
              <a:t>.</a:t>
            </a:r>
          </a:p>
          <a:p>
            <a:r>
              <a:rPr lang="en-US" dirty="0"/>
              <a:t>¿</a:t>
            </a:r>
            <a:r>
              <a:rPr lang="en-US" dirty="0" err="1"/>
              <a:t>Cómo</a:t>
            </a:r>
            <a:r>
              <a:rPr lang="en-US" dirty="0"/>
              <a:t> se </a:t>
            </a:r>
            <a:r>
              <a:rPr lang="en-US" dirty="0" err="1"/>
              <a:t>implementa</a:t>
            </a:r>
            <a:r>
              <a:rPr lang="en-US" dirty="0"/>
              <a:t> la ALU?</a:t>
            </a:r>
          </a:p>
          <a:p>
            <a:r>
              <a:rPr lang="en-US" dirty="0" err="1"/>
              <a:t>Unidad</a:t>
            </a:r>
            <a:r>
              <a:rPr lang="en-US" dirty="0"/>
              <a:t> </a:t>
            </a:r>
            <a:r>
              <a:rPr lang="en-US" dirty="0" err="1"/>
              <a:t>Aritmética</a:t>
            </a:r>
            <a:r>
              <a:rPr lang="en-US" dirty="0"/>
              <a:t> + </a:t>
            </a:r>
            <a:r>
              <a:rPr lang="en-US" dirty="0" err="1"/>
              <a:t>Unidad</a:t>
            </a:r>
            <a:r>
              <a:rPr lang="en-US" dirty="0"/>
              <a:t> </a:t>
            </a:r>
            <a:r>
              <a:rPr lang="en-US" dirty="0" err="1"/>
              <a:t>Lógica</a:t>
            </a:r>
            <a:endParaRPr lang="en-US" dirty="0"/>
          </a:p>
          <a:p>
            <a:r>
              <a:rPr lang="en-US" dirty="0" err="1"/>
              <a:t>Unidad</a:t>
            </a:r>
            <a:r>
              <a:rPr lang="en-US" dirty="0"/>
              <a:t> </a:t>
            </a:r>
            <a:r>
              <a:rPr lang="en-US" dirty="0" err="1"/>
              <a:t>Aritmética</a:t>
            </a:r>
            <a:r>
              <a:rPr lang="en-US" dirty="0"/>
              <a:t>:</a:t>
            </a:r>
          </a:p>
          <a:p>
            <a:pPr lvl="1"/>
            <a:r>
              <a:rPr lang="es-NI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 suma es la operación aritmética más importante.</a:t>
            </a:r>
          </a:p>
          <a:p>
            <a:pPr lvl="1"/>
            <a:r>
              <a:rPr lang="en-US" dirty="0" err="1">
                <a:ea typeface="+mn-ea"/>
              </a:rPr>
              <a:t>Resto</a:t>
            </a:r>
            <a:r>
              <a:rPr lang="en-US" dirty="0">
                <a:ea typeface="+mn-ea"/>
              </a:rPr>
              <a:t> de </a:t>
            </a:r>
            <a:r>
              <a:rPr lang="en-US" dirty="0" err="1">
                <a:ea typeface="+mn-ea"/>
              </a:rPr>
              <a:t>operaciones</a:t>
            </a:r>
            <a:r>
              <a:rPr lang="en-US" dirty="0">
                <a:ea typeface="+mn-ea"/>
              </a:rPr>
              <a:t> </a:t>
            </a:r>
            <a:r>
              <a:rPr lang="en-US" dirty="0" err="1">
                <a:ea typeface="+mn-ea"/>
              </a:rPr>
              <a:t>derivan</a:t>
            </a:r>
            <a:r>
              <a:rPr lang="en-US" dirty="0">
                <a:ea typeface="+mn-ea"/>
              </a:rPr>
              <a:t> de la </a:t>
            </a:r>
            <a:r>
              <a:rPr lang="en-US" dirty="0" err="1">
                <a:ea typeface="+mn-ea"/>
              </a:rPr>
              <a:t>suma</a:t>
            </a:r>
            <a:r>
              <a:rPr lang="en-US" dirty="0">
                <a:ea typeface="+mn-ea"/>
              </a:rPr>
              <a:t>.</a:t>
            </a:r>
            <a:endParaRPr lang="en-US" dirty="0"/>
          </a:p>
          <a:p>
            <a:endParaRPr lang="es-NI" dirty="0"/>
          </a:p>
        </p:txBody>
      </p:sp>
    </p:spTree>
    <p:extLst>
      <p:ext uri="{BB962C8B-B14F-4D97-AF65-F5344CB8AC3E}">
        <p14:creationId xmlns:p14="http://schemas.microsoft.com/office/powerpoint/2010/main" val="927404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Unidad</a:t>
            </a:r>
            <a:r>
              <a:rPr lang="en-US" dirty="0"/>
              <a:t> </a:t>
            </a:r>
            <a:r>
              <a:rPr lang="en-US" dirty="0" err="1"/>
              <a:t>Aritmética</a:t>
            </a:r>
            <a:endParaRPr lang="es-NI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NI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Una unidad hardware que suma dos números de 1 bit con acarreo, es llamado un </a:t>
            </a:r>
            <a:r>
              <a:rPr lang="es-NI" b="1" i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“sumador completo”</a:t>
            </a:r>
            <a:r>
              <a:rPr lang="es-NI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  <a:endParaRPr lang="es-NI" dirty="0"/>
          </a:p>
        </p:txBody>
      </p:sp>
      <p:pic>
        <p:nvPicPr>
          <p:cNvPr id="14950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3284984"/>
            <a:ext cx="3672408" cy="2941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950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3409035"/>
            <a:ext cx="3312368" cy="2493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51011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95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95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950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49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95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95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950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49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Unidad</a:t>
            </a:r>
            <a:r>
              <a:rPr lang="en-US" dirty="0"/>
              <a:t> </a:t>
            </a:r>
            <a:r>
              <a:rPr lang="en-US" dirty="0" err="1"/>
              <a:t>Aritmética</a:t>
            </a:r>
            <a:endParaRPr lang="es-NI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07504" y="1196752"/>
            <a:ext cx="8928992" cy="4525963"/>
          </a:xfrm>
        </p:spPr>
        <p:txBody>
          <a:bodyPr/>
          <a:lstStyle/>
          <a:p>
            <a:r>
              <a:rPr lang="es-NI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 la tabla de verdad, aplicando términos mínimos, obtenemos las  expresiones lógicas de S</a:t>
            </a:r>
            <a:r>
              <a:rPr lang="es-NI" baseline="-250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</a:t>
            </a:r>
            <a:r>
              <a:rPr lang="es-NI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 C</a:t>
            </a:r>
            <a:r>
              <a:rPr lang="es-NI" baseline="-250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i+1</a:t>
            </a:r>
            <a:r>
              <a:rPr lang="es-NI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</a:p>
          <a:p>
            <a:r>
              <a:rPr lang="es-NI" dirty="0"/>
              <a:t>La suma S</a:t>
            </a:r>
            <a:r>
              <a:rPr lang="es-NI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se obtiene por:</a:t>
            </a:r>
            <a:endParaRPr lang="es-NI" dirty="0"/>
          </a:p>
        </p:txBody>
      </p:sp>
      <p:pic>
        <p:nvPicPr>
          <p:cNvPr id="150580" name="Picture 5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792" y="3356992"/>
            <a:ext cx="6409120" cy="3105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3429000"/>
            <a:ext cx="2516804" cy="20162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32353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0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Unidad</a:t>
            </a:r>
            <a:r>
              <a:rPr lang="en-US" dirty="0"/>
              <a:t> </a:t>
            </a:r>
            <a:r>
              <a:rPr lang="en-US" dirty="0" err="1"/>
              <a:t>Aritmética</a:t>
            </a:r>
            <a:endParaRPr lang="es-NI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NI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Asimismo, la expresión lógica </a:t>
            </a:r>
            <a:r>
              <a:rPr lang="es-NI" dirty="0"/>
              <a:t>para calcular el </a:t>
            </a:r>
            <a:r>
              <a:rPr lang="es-NI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acarreo es:</a:t>
            </a:r>
            <a:endParaRPr lang="es-NI" dirty="0"/>
          </a:p>
        </p:txBody>
      </p:sp>
      <p:pic>
        <p:nvPicPr>
          <p:cNvPr id="151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64" y="2924944"/>
            <a:ext cx="8648700" cy="240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27169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2000"/>
                                        <p:tgtEl>
                                          <p:spTgt spid="151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Unidad</a:t>
            </a:r>
            <a:r>
              <a:rPr lang="en-US" dirty="0"/>
              <a:t> </a:t>
            </a:r>
            <a:r>
              <a:rPr lang="en-US" dirty="0" err="1"/>
              <a:t>Aritmética</a:t>
            </a:r>
            <a:endParaRPr lang="es-NI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95536" y="1268760"/>
            <a:ext cx="8579296" cy="4525963"/>
          </a:xfrm>
        </p:spPr>
        <p:txBody>
          <a:bodyPr/>
          <a:lstStyle/>
          <a:p>
            <a:r>
              <a:rPr lang="es-NI" dirty="0"/>
              <a:t>Construimos los circuitos correspondientes</a:t>
            </a:r>
            <a:r>
              <a:rPr lang="es-NI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</a:t>
            </a:r>
            <a:endParaRPr lang="es-NI" dirty="0"/>
          </a:p>
        </p:txBody>
      </p:sp>
      <p:pic>
        <p:nvPicPr>
          <p:cNvPr id="15257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844824"/>
            <a:ext cx="8626933" cy="32403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992" y="5076831"/>
            <a:ext cx="2160240" cy="1625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52796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52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Unidad</a:t>
            </a:r>
            <a:r>
              <a:rPr lang="en-US" dirty="0"/>
              <a:t> </a:t>
            </a:r>
            <a:r>
              <a:rPr lang="en-US" dirty="0" err="1"/>
              <a:t>Aritmética</a:t>
            </a:r>
            <a:endParaRPr lang="es-NI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95536" y="1556792"/>
            <a:ext cx="8579296" cy="1468760"/>
          </a:xfrm>
        </p:spPr>
        <p:txBody>
          <a:bodyPr/>
          <a:lstStyle/>
          <a:p>
            <a:r>
              <a:rPr lang="es-NI" dirty="0"/>
              <a:t>Interconectando para obtener sumadores de n bits</a:t>
            </a:r>
            <a:r>
              <a:rPr lang="es-NI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</a:t>
            </a:r>
            <a:endParaRPr lang="es-NI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NI"/>
          </a:p>
        </p:txBody>
      </p:sp>
      <p:graphicFrame>
        <p:nvGraphicFramePr>
          <p:cNvPr id="5" name="4 Objet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8017330"/>
              </p:ext>
            </p:extLst>
          </p:nvPr>
        </p:nvGraphicFramePr>
        <p:xfrm>
          <a:off x="179512" y="2780928"/>
          <a:ext cx="8797122" cy="2880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42" name="Visio" r:id="rId3" imgW="6116320" imgH="2021840" progId="Visio.Drawing.11">
                  <p:embed/>
                </p:oleObj>
              </mc:Choice>
              <mc:Fallback>
                <p:oleObj name="Visio" r:id="rId3" imgW="6116320" imgH="2021840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512" y="2780928"/>
                        <a:ext cx="8797122" cy="288032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62810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Unidad</a:t>
            </a:r>
            <a:r>
              <a:rPr lang="en-US" dirty="0"/>
              <a:t> </a:t>
            </a:r>
            <a:r>
              <a:rPr lang="en-US" dirty="0" err="1"/>
              <a:t>Aritmética</a:t>
            </a:r>
            <a:endParaRPr lang="es-NI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95536" y="1556792"/>
            <a:ext cx="8579296" cy="4896544"/>
          </a:xfrm>
        </p:spPr>
        <p:txBody>
          <a:bodyPr/>
          <a:lstStyle/>
          <a:p>
            <a:r>
              <a:rPr lang="es-NI" dirty="0"/>
              <a:t>Problema de retardo con sumadores propagados:</a:t>
            </a:r>
          </a:p>
          <a:p>
            <a:r>
              <a:rPr lang="en-US" dirty="0"/>
              <a:t>No se </a:t>
            </a:r>
            <a:r>
              <a:rPr lang="en-US" dirty="0" err="1"/>
              <a:t>obtiene</a:t>
            </a:r>
            <a:r>
              <a:rPr lang="en-US" dirty="0"/>
              <a:t> la </a:t>
            </a:r>
            <a:r>
              <a:rPr lang="en-US" dirty="0" err="1"/>
              <a:t>suma</a:t>
            </a:r>
            <a:r>
              <a:rPr lang="en-US" dirty="0"/>
              <a:t> S</a:t>
            </a:r>
            <a:r>
              <a:rPr lang="en-US" baseline="-25000" dirty="0"/>
              <a:t>i</a:t>
            </a:r>
            <a:r>
              <a:rPr lang="en-US" dirty="0"/>
              <a:t> hasta </a:t>
            </a:r>
            <a:r>
              <a:rPr lang="en-US" dirty="0" err="1"/>
              <a:t>que</a:t>
            </a:r>
            <a:r>
              <a:rPr lang="en-US" dirty="0"/>
              <a:t> se </a:t>
            </a:r>
            <a:r>
              <a:rPr lang="en-US" dirty="0" err="1"/>
              <a:t>haya</a:t>
            </a:r>
            <a:r>
              <a:rPr lang="en-US" dirty="0"/>
              <a:t> </a:t>
            </a:r>
            <a:r>
              <a:rPr lang="en-US" dirty="0" err="1"/>
              <a:t>calculado</a:t>
            </a:r>
            <a:r>
              <a:rPr lang="en-US" dirty="0"/>
              <a:t> el C</a:t>
            </a:r>
            <a:r>
              <a:rPr lang="en-US" baseline="-25000" dirty="0"/>
              <a:t>i-1</a:t>
            </a:r>
          </a:p>
          <a:p>
            <a:endParaRPr lang="en-US" baseline="-25000" dirty="0"/>
          </a:p>
          <a:p>
            <a:endParaRPr lang="en-US" baseline="-25000" dirty="0"/>
          </a:p>
          <a:p>
            <a:endParaRPr lang="en-US" baseline="-25000" dirty="0"/>
          </a:p>
          <a:p>
            <a:endParaRPr lang="en-US" baseline="-25000" dirty="0"/>
          </a:p>
          <a:p>
            <a:endParaRPr lang="en-US" baseline="-25000" dirty="0"/>
          </a:p>
          <a:p>
            <a:r>
              <a:rPr lang="en-US" dirty="0" err="1"/>
              <a:t>Prohibitivo</a:t>
            </a:r>
            <a:r>
              <a:rPr lang="en-US" dirty="0"/>
              <a:t>, </a:t>
            </a:r>
            <a:r>
              <a:rPr lang="en-US" dirty="0" err="1"/>
              <a:t>tarda</a:t>
            </a:r>
            <a:r>
              <a:rPr lang="en-US" dirty="0"/>
              <a:t> </a:t>
            </a:r>
            <a:r>
              <a:rPr lang="en-US" dirty="0" err="1"/>
              <a:t>demasiado</a:t>
            </a:r>
            <a:r>
              <a:rPr lang="en-US" dirty="0"/>
              <a:t>.</a:t>
            </a:r>
            <a:endParaRPr lang="es-NI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NI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475656" y="3861048"/>
            <a:ext cx="7236804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NI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Times New Roman" pitchFamily="18" charset="0"/>
                <a:cs typeface="Arial" pitchFamily="34" charset="0"/>
              </a:rPr>
              <a:t>15 * 2t (retraso de c</a:t>
            </a:r>
            <a:r>
              <a:rPr kumimoji="0" lang="es-NI" sz="28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Times New Roman" pitchFamily="18" charset="0"/>
                <a:cs typeface="Arial" pitchFamily="34" charset="0"/>
              </a:rPr>
              <a:t>0</a:t>
            </a:r>
            <a:r>
              <a:rPr kumimoji="0" lang="es-NI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Times New Roman" pitchFamily="18" charset="0"/>
                <a:cs typeface="Arial" pitchFamily="34" charset="0"/>
              </a:rPr>
              <a:t> hasta c</a:t>
            </a:r>
            <a:r>
              <a:rPr kumimoji="0" lang="es-NI" sz="28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Times New Roman" pitchFamily="18" charset="0"/>
                <a:cs typeface="Arial" pitchFamily="34" charset="0"/>
              </a:rPr>
              <a:t>15</a:t>
            </a:r>
            <a:r>
              <a:rPr kumimoji="0" lang="es-NI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Times New Roman" pitchFamily="18" charset="0"/>
                <a:cs typeface="Arial" pitchFamily="34" charset="0"/>
              </a:rPr>
              <a:t>) </a:t>
            </a:r>
            <a:endParaRPr kumimoji="0" lang="es-NI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NI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Times New Roman" pitchFamily="18" charset="0"/>
                <a:cs typeface="Arial" pitchFamily="34" charset="0"/>
              </a:rPr>
              <a:t>+     3t (tiempo para generar s</a:t>
            </a:r>
            <a:r>
              <a:rPr kumimoji="0" lang="es-NI" sz="28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Times New Roman" pitchFamily="18" charset="0"/>
                <a:cs typeface="Arial" pitchFamily="34" charset="0"/>
              </a:rPr>
              <a:t>15</a:t>
            </a:r>
            <a:r>
              <a:rPr kumimoji="0" lang="es-NI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Times New Roman" pitchFamily="18" charset="0"/>
                <a:cs typeface="Arial" pitchFamily="34" charset="0"/>
              </a:rPr>
              <a:t> de c</a:t>
            </a:r>
            <a:r>
              <a:rPr kumimoji="0" lang="es-NI" sz="28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Times New Roman" pitchFamily="18" charset="0"/>
                <a:cs typeface="Arial" pitchFamily="34" charset="0"/>
              </a:rPr>
              <a:t>15</a:t>
            </a:r>
            <a:r>
              <a:rPr kumimoji="0" lang="es-NI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Times New Roman" pitchFamily="18" charset="0"/>
                <a:cs typeface="Arial" pitchFamily="34" charset="0"/>
              </a:rPr>
              <a:t>)</a:t>
            </a:r>
            <a:endParaRPr kumimoji="0" lang="es-NI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NI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itchFamily="34" charset="0"/>
            </a:endParaRPr>
          </a:p>
        </p:txBody>
      </p:sp>
      <p:sp>
        <p:nvSpPr>
          <p:cNvPr id="7" name="Line 1"/>
          <p:cNvSpPr>
            <a:spLocks noChangeShapeType="1"/>
          </p:cNvSpPr>
          <p:nvPr/>
        </p:nvSpPr>
        <p:spPr bwMode="auto">
          <a:xfrm>
            <a:off x="1331640" y="4941168"/>
            <a:ext cx="158002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NI"/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907704" y="4922004"/>
            <a:ext cx="114797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NI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Times New Roman" pitchFamily="18" charset="0"/>
                <a:cs typeface="Arial" pitchFamily="34" charset="0"/>
              </a:rPr>
              <a:t> 33t</a:t>
            </a:r>
            <a:endParaRPr kumimoji="0" lang="es-NI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6934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  <p:bldP spid="7" grpId="0" animBg="1"/>
      <p:bldP spid="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Unidad</a:t>
            </a:r>
            <a:r>
              <a:rPr lang="en-US" dirty="0"/>
              <a:t> </a:t>
            </a:r>
            <a:r>
              <a:rPr lang="en-US" dirty="0" err="1"/>
              <a:t>Aritmética</a:t>
            </a:r>
            <a:endParaRPr lang="es-NI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268760"/>
            <a:ext cx="8686800" cy="5184576"/>
          </a:xfrm>
        </p:spPr>
        <p:txBody>
          <a:bodyPr/>
          <a:lstStyle/>
          <a:p>
            <a:r>
              <a:rPr lang="en-US" dirty="0"/>
              <a:t>Un </a:t>
            </a:r>
            <a:r>
              <a:rPr lang="en-US" dirty="0" err="1"/>
              <a:t>enfoque</a:t>
            </a:r>
            <a:r>
              <a:rPr lang="en-US" dirty="0"/>
              <a:t> </a:t>
            </a:r>
            <a:r>
              <a:rPr lang="en-US" dirty="0" err="1"/>
              <a:t>más</a:t>
            </a:r>
            <a:r>
              <a:rPr lang="en-US" dirty="0"/>
              <a:t> </a:t>
            </a:r>
            <a:r>
              <a:rPr lang="en-US" dirty="0" err="1"/>
              <a:t>eficiente</a:t>
            </a:r>
            <a:r>
              <a:rPr lang="en-US" dirty="0"/>
              <a:t> </a:t>
            </a:r>
            <a:r>
              <a:rPr lang="en-US" dirty="0" err="1"/>
              <a:t>es</a:t>
            </a:r>
            <a:r>
              <a:rPr lang="en-US" dirty="0"/>
              <a:t> </a:t>
            </a:r>
            <a:r>
              <a:rPr lang="en-US" dirty="0" err="1"/>
              <a:t>necesario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Conocer</a:t>
            </a:r>
            <a:r>
              <a:rPr lang="en-US" dirty="0"/>
              <a:t> los </a:t>
            </a:r>
            <a:r>
              <a:rPr lang="en-US" dirty="0" err="1"/>
              <a:t>acarreos</a:t>
            </a:r>
            <a:r>
              <a:rPr lang="en-US" dirty="0"/>
              <a:t> de </a:t>
            </a:r>
            <a:r>
              <a:rPr lang="en-US" dirty="0" err="1"/>
              <a:t>adelantado</a:t>
            </a:r>
            <a:r>
              <a:rPr lang="en-US" dirty="0"/>
              <a:t>.</a:t>
            </a:r>
          </a:p>
          <a:p>
            <a:r>
              <a:rPr lang="en-US" dirty="0" err="1"/>
              <a:t>Es</a:t>
            </a:r>
            <a:r>
              <a:rPr lang="en-US" dirty="0"/>
              <a:t> </a:t>
            </a:r>
            <a:r>
              <a:rPr lang="en-US" dirty="0" err="1"/>
              <a:t>posible</a:t>
            </a:r>
            <a:r>
              <a:rPr lang="en-US" dirty="0"/>
              <a:t> </a:t>
            </a:r>
            <a:r>
              <a:rPr lang="en-US" dirty="0" err="1"/>
              <a:t>definir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expresión</a:t>
            </a:r>
            <a:r>
              <a:rPr lang="en-US" dirty="0"/>
              <a:t> </a:t>
            </a:r>
            <a:r>
              <a:rPr lang="en-US" dirty="0" err="1"/>
              <a:t>lógica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dependa</a:t>
            </a:r>
            <a:r>
              <a:rPr lang="en-US" dirty="0"/>
              <a:t> solo de los </a:t>
            </a:r>
            <a:r>
              <a:rPr lang="en-US" dirty="0" err="1"/>
              <a:t>datos</a:t>
            </a:r>
            <a:r>
              <a:rPr lang="en-US" dirty="0"/>
              <a:t> y </a:t>
            </a:r>
            <a:r>
              <a:rPr lang="en-US" dirty="0" err="1"/>
              <a:t>acarreo</a:t>
            </a:r>
            <a:r>
              <a:rPr lang="en-US" dirty="0"/>
              <a:t> de </a:t>
            </a:r>
            <a:r>
              <a:rPr lang="en-US" dirty="0" err="1"/>
              <a:t>entrada</a:t>
            </a:r>
            <a:r>
              <a:rPr lang="en-US" dirty="0"/>
              <a:t> para </a:t>
            </a:r>
            <a:r>
              <a:rPr lang="en-US" dirty="0" err="1"/>
              <a:t>calcular</a:t>
            </a:r>
            <a:r>
              <a:rPr lang="en-US" dirty="0"/>
              <a:t>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uno</a:t>
            </a:r>
            <a:r>
              <a:rPr lang="en-US" dirty="0"/>
              <a:t> de los </a:t>
            </a:r>
            <a:r>
              <a:rPr lang="en-US" dirty="0" err="1"/>
              <a:t>acarreos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adelantado</a:t>
            </a:r>
            <a:endParaRPr lang="en-US" dirty="0"/>
          </a:p>
          <a:p>
            <a:r>
              <a:rPr lang="es-NI" dirty="0"/>
              <a:t>C</a:t>
            </a:r>
            <a:r>
              <a:rPr lang="es-NI" baseline="-25000" dirty="0"/>
              <a:t>i + 1 </a:t>
            </a:r>
            <a:r>
              <a:rPr lang="es-NI" dirty="0"/>
              <a:t>= </a:t>
            </a:r>
            <a:r>
              <a:rPr lang="es-NI" dirty="0" err="1"/>
              <a:t>X</a:t>
            </a:r>
            <a:r>
              <a:rPr lang="es-NI" baseline="-25000" dirty="0" err="1"/>
              <a:t>i</a:t>
            </a:r>
            <a:r>
              <a:rPr lang="es-NI" dirty="0" err="1"/>
              <a:t>Y</a:t>
            </a:r>
            <a:r>
              <a:rPr lang="es-NI" baseline="-25000" dirty="0" err="1"/>
              <a:t>i</a:t>
            </a:r>
            <a:r>
              <a:rPr lang="es-NI" dirty="0"/>
              <a:t> +</a:t>
            </a:r>
            <a:r>
              <a:rPr lang="es-NI" dirty="0" err="1"/>
              <a:t>X</a:t>
            </a:r>
            <a:r>
              <a:rPr lang="es-NI" baseline="-25000" dirty="0" err="1"/>
              <a:t>i</a:t>
            </a:r>
            <a:r>
              <a:rPr lang="es-NI" dirty="0" err="1"/>
              <a:t>C</a:t>
            </a:r>
            <a:r>
              <a:rPr lang="es-NI" baseline="-25000" dirty="0" err="1"/>
              <a:t>i</a:t>
            </a:r>
            <a:r>
              <a:rPr lang="es-NI" dirty="0"/>
              <a:t> +</a:t>
            </a:r>
            <a:r>
              <a:rPr lang="es-NI" dirty="0" err="1"/>
              <a:t>Y</a:t>
            </a:r>
            <a:r>
              <a:rPr lang="es-NI" baseline="-25000" dirty="0" err="1"/>
              <a:t>i</a:t>
            </a:r>
            <a:r>
              <a:rPr lang="es-NI" dirty="0" err="1"/>
              <a:t>C</a:t>
            </a:r>
            <a:r>
              <a:rPr lang="es-NI" baseline="-25000" dirty="0" err="1"/>
              <a:t>i</a:t>
            </a:r>
            <a:endParaRPr lang="es-NI" baseline="-25000" dirty="0"/>
          </a:p>
          <a:p>
            <a:r>
              <a:rPr lang="es-NI" dirty="0"/>
              <a:t>C</a:t>
            </a:r>
            <a:r>
              <a:rPr lang="es-NI" baseline="-25000" dirty="0"/>
              <a:t>i+1</a:t>
            </a:r>
            <a:r>
              <a:rPr lang="es-NI" dirty="0"/>
              <a:t> = G</a:t>
            </a:r>
            <a:r>
              <a:rPr lang="es-NI" baseline="-25000" dirty="0"/>
              <a:t>i</a:t>
            </a:r>
            <a:r>
              <a:rPr lang="es-NI" dirty="0"/>
              <a:t> + </a:t>
            </a:r>
            <a:r>
              <a:rPr lang="es-NI" dirty="0" err="1"/>
              <a:t>P</a:t>
            </a:r>
            <a:r>
              <a:rPr lang="es-NI" baseline="-25000" dirty="0" err="1"/>
              <a:t>i</a:t>
            </a:r>
            <a:r>
              <a:rPr lang="es-NI" dirty="0" err="1"/>
              <a:t>C</a:t>
            </a:r>
            <a:r>
              <a:rPr lang="es-NI" baseline="-25000" dirty="0" err="1"/>
              <a:t>i</a:t>
            </a:r>
            <a:r>
              <a:rPr lang="es-NI" baseline="-25000" dirty="0"/>
              <a:t> </a:t>
            </a:r>
            <a:r>
              <a:rPr lang="es-NI" dirty="0"/>
              <a:t> donde </a:t>
            </a:r>
            <a:r>
              <a:rPr lang="es-NI" dirty="0">
                <a:solidFill>
                  <a:srgbClr val="FF0000"/>
                </a:solidFill>
              </a:rPr>
              <a:t>G</a:t>
            </a:r>
            <a:r>
              <a:rPr lang="es-NI" baseline="-25000" dirty="0">
                <a:solidFill>
                  <a:srgbClr val="FF0000"/>
                </a:solidFill>
              </a:rPr>
              <a:t>i</a:t>
            </a:r>
            <a:r>
              <a:rPr lang="es-NI" dirty="0">
                <a:solidFill>
                  <a:srgbClr val="FF0000"/>
                </a:solidFill>
              </a:rPr>
              <a:t> = </a:t>
            </a:r>
            <a:r>
              <a:rPr lang="es-NI" dirty="0" err="1">
                <a:solidFill>
                  <a:srgbClr val="FF0000"/>
                </a:solidFill>
              </a:rPr>
              <a:t>X</a:t>
            </a:r>
            <a:r>
              <a:rPr lang="es-NI" baseline="-25000" dirty="0" err="1">
                <a:solidFill>
                  <a:srgbClr val="FF0000"/>
                </a:solidFill>
              </a:rPr>
              <a:t>i</a:t>
            </a:r>
            <a:r>
              <a:rPr lang="es-NI" dirty="0" err="1">
                <a:solidFill>
                  <a:srgbClr val="FF0000"/>
                </a:solidFill>
              </a:rPr>
              <a:t>Y</a:t>
            </a:r>
            <a:r>
              <a:rPr lang="es-NI" baseline="-25000" dirty="0" err="1">
                <a:solidFill>
                  <a:srgbClr val="FF0000"/>
                </a:solidFill>
              </a:rPr>
              <a:t>i</a:t>
            </a:r>
            <a:r>
              <a:rPr lang="es-NI" baseline="-25000" dirty="0"/>
              <a:t> </a:t>
            </a:r>
            <a:r>
              <a:rPr lang="es-NI" dirty="0"/>
              <a:t>y </a:t>
            </a:r>
            <a:r>
              <a:rPr lang="es-NI" dirty="0">
                <a:solidFill>
                  <a:srgbClr val="0070C0"/>
                </a:solidFill>
              </a:rPr>
              <a:t>P</a:t>
            </a:r>
            <a:r>
              <a:rPr lang="es-NI" baseline="-25000" dirty="0">
                <a:solidFill>
                  <a:srgbClr val="0070C0"/>
                </a:solidFill>
              </a:rPr>
              <a:t>i</a:t>
            </a:r>
            <a:r>
              <a:rPr lang="es-NI" dirty="0">
                <a:solidFill>
                  <a:srgbClr val="0070C0"/>
                </a:solidFill>
              </a:rPr>
              <a:t> = </a:t>
            </a:r>
            <a:r>
              <a:rPr lang="es-NI" dirty="0" err="1">
                <a:solidFill>
                  <a:srgbClr val="0070C0"/>
                </a:solidFill>
              </a:rPr>
              <a:t>X</a:t>
            </a:r>
            <a:r>
              <a:rPr lang="es-NI" baseline="-25000" dirty="0" err="1">
                <a:solidFill>
                  <a:srgbClr val="0070C0"/>
                </a:solidFill>
              </a:rPr>
              <a:t>i</a:t>
            </a:r>
            <a:r>
              <a:rPr lang="es-NI" dirty="0" err="1">
                <a:solidFill>
                  <a:srgbClr val="0070C0"/>
                </a:solidFill>
              </a:rPr>
              <a:t>+Y</a:t>
            </a:r>
            <a:r>
              <a:rPr lang="es-NI" baseline="-25000" dirty="0" err="1">
                <a:solidFill>
                  <a:srgbClr val="0070C0"/>
                </a:solidFill>
              </a:rPr>
              <a:t>i</a:t>
            </a:r>
            <a:endParaRPr lang="es-NI" dirty="0">
              <a:solidFill>
                <a:srgbClr val="0070C0"/>
              </a:solidFill>
            </a:endParaRPr>
          </a:p>
          <a:p>
            <a:endParaRPr lang="es-NI" dirty="0"/>
          </a:p>
          <a:p>
            <a:endParaRPr lang="es-NI" dirty="0"/>
          </a:p>
        </p:txBody>
      </p:sp>
    </p:spTree>
    <p:extLst>
      <p:ext uri="{BB962C8B-B14F-4D97-AF65-F5344CB8AC3E}">
        <p14:creationId xmlns:p14="http://schemas.microsoft.com/office/powerpoint/2010/main" val="673031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Unidad</a:t>
            </a:r>
            <a:r>
              <a:rPr lang="en-US" dirty="0"/>
              <a:t> </a:t>
            </a:r>
            <a:r>
              <a:rPr lang="en-US" dirty="0" err="1"/>
              <a:t>Aritmética</a:t>
            </a:r>
            <a:endParaRPr lang="es-NI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07504" y="1268760"/>
            <a:ext cx="9036496" cy="5184576"/>
          </a:xfrm>
        </p:spPr>
        <p:txBody>
          <a:bodyPr/>
          <a:lstStyle/>
          <a:p>
            <a:r>
              <a:rPr lang="es-NI" b="1" dirty="0"/>
              <a:t>G</a:t>
            </a:r>
            <a:r>
              <a:rPr lang="es-NI" dirty="0"/>
              <a:t> es llamada la </a:t>
            </a:r>
            <a:r>
              <a:rPr lang="es-NI" b="1" dirty="0"/>
              <a:t>Función Generadora del Acarreo.</a:t>
            </a:r>
          </a:p>
          <a:p>
            <a:r>
              <a:rPr lang="es-NI" b="1" dirty="0"/>
              <a:t>P</a:t>
            </a:r>
            <a:r>
              <a:rPr lang="es-NI" dirty="0"/>
              <a:t>i es referida como</a:t>
            </a:r>
            <a:r>
              <a:rPr lang="es-NI" b="1" dirty="0"/>
              <a:t> Función de Propagación de Acarreo.</a:t>
            </a:r>
          </a:p>
          <a:p>
            <a:r>
              <a:rPr lang="es-NI" dirty="0"/>
              <a:t>Usando G</a:t>
            </a:r>
            <a:r>
              <a:rPr lang="es-NI" baseline="-25000" dirty="0"/>
              <a:t>i</a:t>
            </a:r>
            <a:r>
              <a:rPr lang="es-NI" dirty="0"/>
              <a:t> y P</a:t>
            </a:r>
            <a:r>
              <a:rPr lang="es-NI" baseline="-25000" dirty="0"/>
              <a:t>i</a:t>
            </a:r>
            <a:r>
              <a:rPr lang="es-NI" dirty="0"/>
              <a:t>; C</a:t>
            </a:r>
            <a:r>
              <a:rPr lang="es-NI" baseline="-25000" dirty="0"/>
              <a:t>1</a:t>
            </a:r>
            <a:r>
              <a:rPr lang="es-NI" dirty="0"/>
              <a:t>, C</a:t>
            </a:r>
            <a:r>
              <a:rPr lang="es-NI" baseline="-25000" dirty="0"/>
              <a:t>2</a:t>
            </a:r>
            <a:r>
              <a:rPr lang="es-NI" dirty="0"/>
              <a:t>, C</a:t>
            </a:r>
            <a:r>
              <a:rPr lang="es-NI" baseline="-25000" dirty="0"/>
              <a:t>3</a:t>
            </a:r>
            <a:r>
              <a:rPr lang="es-NI" dirty="0"/>
              <a:t>, y C</a:t>
            </a:r>
            <a:r>
              <a:rPr lang="es-NI" baseline="-25000" dirty="0"/>
              <a:t>4</a:t>
            </a:r>
            <a:r>
              <a:rPr lang="es-NI" dirty="0"/>
              <a:t> pueden ser expresados como sigue:</a:t>
            </a:r>
          </a:p>
          <a:p>
            <a:pPr marL="1257300" lvl="3" indent="0">
              <a:buNone/>
            </a:pPr>
            <a:r>
              <a:rPr lang="en-US" sz="2800" b="1" dirty="0"/>
              <a:t>C</a:t>
            </a:r>
            <a:r>
              <a:rPr lang="en-US" sz="2800" b="1" baseline="-25000" dirty="0"/>
              <a:t>1</a:t>
            </a:r>
            <a:r>
              <a:rPr lang="en-US" sz="2800" b="1" dirty="0"/>
              <a:t> = G</a:t>
            </a:r>
            <a:r>
              <a:rPr lang="en-US" sz="2800" b="1" baseline="-25000" dirty="0"/>
              <a:t>0</a:t>
            </a:r>
            <a:r>
              <a:rPr lang="en-US" sz="2800" b="1" dirty="0"/>
              <a:t> + P</a:t>
            </a:r>
            <a:r>
              <a:rPr lang="en-US" sz="2800" b="1" baseline="-25000" dirty="0"/>
              <a:t>0</a:t>
            </a:r>
            <a:r>
              <a:rPr lang="en-US" sz="2800" b="1" dirty="0"/>
              <a:t>C</a:t>
            </a:r>
            <a:r>
              <a:rPr lang="en-US" sz="2800" b="1" baseline="-25000" dirty="0"/>
              <a:t>0</a:t>
            </a:r>
            <a:endParaRPr lang="es-NI" sz="2800" dirty="0"/>
          </a:p>
          <a:p>
            <a:pPr marL="1257300" lvl="3" indent="0">
              <a:buNone/>
            </a:pPr>
            <a:r>
              <a:rPr lang="en-US" sz="2800" b="1" dirty="0"/>
              <a:t>C</a:t>
            </a:r>
            <a:r>
              <a:rPr lang="en-US" sz="2800" b="1" baseline="-25000" dirty="0"/>
              <a:t>2</a:t>
            </a:r>
            <a:r>
              <a:rPr lang="en-US" sz="2800" b="1" dirty="0"/>
              <a:t> = G</a:t>
            </a:r>
            <a:r>
              <a:rPr lang="en-US" sz="2800" b="1" baseline="-25000" dirty="0"/>
              <a:t>1</a:t>
            </a:r>
            <a:r>
              <a:rPr lang="en-US" sz="2800" b="1" dirty="0"/>
              <a:t> + P</a:t>
            </a:r>
            <a:r>
              <a:rPr lang="en-US" sz="2800" b="1" baseline="-25000" dirty="0"/>
              <a:t>1</a:t>
            </a:r>
            <a:r>
              <a:rPr lang="en-US" sz="2800" b="1" dirty="0"/>
              <a:t>C</a:t>
            </a:r>
            <a:r>
              <a:rPr lang="en-US" sz="2800" b="1" baseline="-25000" dirty="0"/>
              <a:t>1</a:t>
            </a:r>
            <a:endParaRPr lang="es-NI" sz="2800" dirty="0"/>
          </a:p>
          <a:p>
            <a:pPr marL="1257300" lvl="3" indent="0">
              <a:buNone/>
            </a:pPr>
            <a:r>
              <a:rPr lang="en-US" sz="2800" b="1" dirty="0"/>
              <a:t>C</a:t>
            </a:r>
            <a:r>
              <a:rPr lang="en-US" sz="2800" b="1" baseline="-25000" dirty="0"/>
              <a:t>3</a:t>
            </a:r>
            <a:r>
              <a:rPr lang="en-US" sz="2800" b="1" dirty="0"/>
              <a:t> = G</a:t>
            </a:r>
            <a:r>
              <a:rPr lang="en-US" sz="2800" b="1" baseline="-25000" dirty="0"/>
              <a:t>2</a:t>
            </a:r>
            <a:r>
              <a:rPr lang="en-US" sz="2800" b="1" dirty="0"/>
              <a:t> + P</a:t>
            </a:r>
            <a:r>
              <a:rPr lang="en-US" sz="2800" b="1" baseline="-25000" dirty="0"/>
              <a:t>2</a:t>
            </a:r>
            <a:r>
              <a:rPr lang="en-US" sz="2800" b="1" dirty="0"/>
              <a:t>C</a:t>
            </a:r>
            <a:r>
              <a:rPr lang="en-US" sz="2800" b="1" baseline="-25000" dirty="0"/>
              <a:t>2</a:t>
            </a:r>
          </a:p>
          <a:p>
            <a:pPr marL="1257300" lvl="3" indent="0">
              <a:buNone/>
            </a:pPr>
            <a:r>
              <a:rPr lang="en-US" sz="2800" b="1" dirty="0"/>
              <a:t>C</a:t>
            </a:r>
            <a:r>
              <a:rPr lang="en-US" sz="2800" b="1" baseline="-25000" dirty="0"/>
              <a:t>4</a:t>
            </a:r>
            <a:r>
              <a:rPr lang="en-US" sz="2800" b="1" dirty="0"/>
              <a:t> = G</a:t>
            </a:r>
            <a:r>
              <a:rPr lang="en-US" sz="2800" b="1" baseline="-25000" dirty="0"/>
              <a:t>3</a:t>
            </a:r>
            <a:r>
              <a:rPr lang="en-US" sz="2800" b="1" dirty="0"/>
              <a:t> + P</a:t>
            </a:r>
            <a:r>
              <a:rPr lang="en-US" sz="2800" b="1" baseline="-25000" dirty="0"/>
              <a:t>3</a:t>
            </a:r>
            <a:r>
              <a:rPr lang="en-US" sz="2800" b="1" dirty="0"/>
              <a:t>C</a:t>
            </a:r>
            <a:r>
              <a:rPr lang="en-US" sz="2800" b="1" baseline="-25000" dirty="0"/>
              <a:t>3</a:t>
            </a:r>
            <a:endParaRPr lang="es-NI" sz="2800" dirty="0"/>
          </a:p>
          <a:p>
            <a:pPr marL="1257300" lvl="3" indent="0">
              <a:buNone/>
            </a:pPr>
            <a:endParaRPr lang="es-NI" sz="3200" dirty="0"/>
          </a:p>
          <a:p>
            <a:endParaRPr lang="es-NI" dirty="0"/>
          </a:p>
          <a:p>
            <a:endParaRPr lang="es-NI" dirty="0"/>
          </a:p>
        </p:txBody>
      </p:sp>
    </p:spTree>
    <p:extLst>
      <p:ext uri="{BB962C8B-B14F-4D97-AF65-F5344CB8AC3E}">
        <p14:creationId xmlns:p14="http://schemas.microsoft.com/office/powerpoint/2010/main" val="23921436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Unidad</a:t>
            </a:r>
            <a:r>
              <a:rPr lang="en-US" dirty="0"/>
              <a:t> </a:t>
            </a:r>
            <a:r>
              <a:rPr lang="en-US" dirty="0" err="1"/>
              <a:t>Aritmética</a:t>
            </a:r>
            <a:endParaRPr lang="es-NI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07504" y="1268760"/>
            <a:ext cx="9036496" cy="5184576"/>
          </a:xfrm>
        </p:spPr>
        <p:txBody>
          <a:bodyPr/>
          <a:lstStyle/>
          <a:p>
            <a:r>
              <a:rPr lang="es-NI" dirty="0"/>
              <a:t>Estas son funciones recursivas, y la recursión puede der removida de la siguiente manera:</a:t>
            </a:r>
          </a:p>
          <a:p>
            <a:endParaRPr lang="es-NI" sz="1400" b="1" dirty="0"/>
          </a:p>
          <a:p>
            <a:pPr marL="0" indent="0">
              <a:buNone/>
            </a:pPr>
            <a:r>
              <a:rPr lang="es-NI" sz="2400" b="1" dirty="0">
                <a:solidFill>
                  <a:srgbClr val="0070C0"/>
                </a:solidFill>
              </a:rPr>
              <a:t>C</a:t>
            </a:r>
            <a:r>
              <a:rPr lang="es-NI" sz="2400" b="1" baseline="-25000" dirty="0">
                <a:solidFill>
                  <a:srgbClr val="0070C0"/>
                </a:solidFill>
              </a:rPr>
              <a:t>1</a:t>
            </a:r>
            <a:r>
              <a:rPr lang="es-NI" sz="2400" b="1" dirty="0">
                <a:solidFill>
                  <a:srgbClr val="0070C0"/>
                </a:solidFill>
              </a:rPr>
              <a:t> = G</a:t>
            </a:r>
            <a:r>
              <a:rPr lang="es-NI" sz="2400" b="1" baseline="-25000" dirty="0">
                <a:solidFill>
                  <a:srgbClr val="0070C0"/>
                </a:solidFill>
              </a:rPr>
              <a:t>0</a:t>
            </a:r>
            <a:r>
              <a:rPr lang="es-NI" sz="2400" b="1" dirty="0">
                <a:solidFill>
                  <a:srgbClr val="0070C0"/>
                </a:solidFill>
              </a:rPr>
              <a:t> + P</a:t>
            </a:r>
            <a:r>
              <a:rPr lang="es-NI" sz="2400" b="1" baseline="-25000" dirty="0">
                <a:solidFill>
                  <a:srgbClr val="0070C0"/>
                </a:solidFill>
              </a:rPr>
              <a:t>0</a:t>
            </a:r>
            <a:r>
              <a:rPr lang="es-NI" sz="2400" b="1" dirty="0">
                <a:solidFill>
                  <a:srgbClr val="0070C0"/>
                </a:solidFill>
              </a:rPr>
              <a:t>C</a:t>
            </a:r>
            <a:r>
              <a:rPr lang="es-NI" sz="2400" b="1" baseline="-25000" dirty="0">
                <a:solidFill>
                  <a:srgbClr val="0070C0"/>
                </a:solidFill>
              </a:rPr>
              <a:t>0</a:t>
            </a:r>
            <a:endParaRPr lang="es-NI" sz="2400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C</a:t>
            </a:r>
            <a:r>
              <a:rPr lang="en-US" sz="2400" b="1" baseline="-25000" dirty="0">
                <a:solidFill>
                  <a:srgbClr val="FF0000"/>
                </a:solidFill>
              </a:rPr>
              <a:t>2</a:t>
            </a:r>
            <a:r>
              <a:rPr lang="en-US" sz="2400" b="1" dirty="0">
                <a:solidFill>
                  <a:srgbClr val="FF0000"/>
                </a:solidFill>
              </a:rPr>
              <a:t> = G</a:t>
            </a:r>
            <a:r>
              <a:rPr lang="en-US" sz="2400" b="1" baseline="-25000" dirty="0">
                <a:solidFill>
                  <a:srgbClr val="FF0000"/>
                </a:solidFill>
              </a:rPr>
              <a:t>1</a:t>
            </a:r>
            <a:r>
              <a:rPr lang="en-US" sz="2400" b="1" dirty="0">
                <a:solidFill>
                  <a:srgbClr val="FF0000"/>
                </a:solidFill>
              </a:rPr>
              <a:t> + P</a:t>
            </a:r>
            <a:r>
              <a:rPr lang="en-US" sz="2400" b="1" baseline="-25000" dirty="0">
                <a:solidFill>
                  <a:srgbClr val="FF0000"/>
                </a:solidFill>
              </a:rPr>
              <a:t>1</a:t>
            </a:r>
            <a:r>
              <a:rPr lang="en-US" sz="2400" b="1" dirty="0">
                <a:solidFill>
                  <a:srgbClr val="FF0000"/>
                </a:solidFill>
              </a:rPr>
              <a:t>C</a:t>
            </a:r>
            <a:r>
              <a:rPr lang="en-US" sz="2400" b="1" baseline="-25000" dirty="0">
                <a:solidFill>
                  <a:srgbClr val="FF0000"/>
                </a:solidFill>
              </a:rPr>
              <a:t>1</a:t>
            </a:r>
            <a:r>
              <a:rPr lang="en-US" sz="2400" b="1" dirty="0">
                <a:solidFill>
                  <a:srgbClr val="FF0000"/>
                </a:solidFill>
              </a:rPr>
              <a:t> = G</a:t>
            </a:r>
            <a:r>
              <a:rPr lang="en-US" sz="2400" b="1" baseline="-25000" dirty="0">
                <a:solidFill>
                  <a:srgbClr val="FF0000"/>
                </a:solidFill>
              </a:rPr>
              <a:t>1</a:t>
            </a:r>
            <a:r>
              <a:rPr lang="en-US" sz="2400" b="1" dirty="0">
                <a:solidFill>
                  <a:srgbClr val="FF0000"/>
                </a:solidFill>
              </a:rPr>
              <a:t> + P</a:t>
            </a:r>
            <a:r>
              <a:rPr lang="en-US" sz="2400" b="1" baseline="-25000" dirty="0">
                <a:solidFill>
                  <a:srgbClr val="FF0000"/>
                </a:solidFill>
              </a:rPr>
              <a:t>1</a:t>
            </a:r>
            <a:r>
              <a:rPr lang="en-US" sz="2400" b="1" dirty="0">
                <a:solidFill>
                  <a:srgbClr val="FF0000"/>
                </a:solidFill>
              </a:rPr>
              <a:t>(G</a:t>
            </a:r>
            <a:r>
              <a:rPr lang="en-US" sz="2400" b="1" baseline="-25000" dirty="0">
                <a:solidFill>
                  <a:srgbClr val="FF0000"/>
                </a:solidFill>
              </a:rPr>
              <a:t>0</a:t>
            </a:r>
            <a:r>
              <a:rPr lang="en-US" sz="2400" b="1" dirty="0">
                <a:solidFill>
                  <a:srgbClr val="FF0000"/>
                </a:solidFill>
              </a:rPr>
              <a:t> + P</a:t>
            </a:r>
            <a:r>
              <a:rPr lang="en-US" sz="2400" b="1" baseline="-25000" dirty="0">
                <a:solidFill>
                  <a:srgbClr val="FF0000"/>
                </a:solidFill>
              </a:rPr>
              <a:t>0</a:t>
            </a:r>
            <a:r>
              <a:rPr lang="en-US" sz="2400" b="1" dirty="0">
                <a:solidFill>
                  <a:srgbClr val="FF0000"/>
                </a:solidFill>
              </a:rPr>
              <a:t>C</a:t>
            </a:r>
            <a:r>
              <a:rPr lang="en-US" sz="2400" b="1" baseline="-25000" dirty="0">
                <a:solidFill>
                  <a:srgbClr val="FF0000"/>
                </a:solidFill>
              </a:rPr>
              <a:t>0</a:t>
            </a:r>
            <a:r>
              <a:rPr lang="en-US" sz="2400" b="1" dirty="0">
                <a:solidFill>
                  <a:srgbClr val="FF0000"/>
                </a:solidFill>
              </a:rPr>
              <a:t>) = G</a:t>
            </a:r>
            <a:r>
              <a:rPr lang="en-US" sz="2400" b="1" baseline="-25000" dirty="0">
                <a:solidFill>
                  <a:srgbClr val="FF0000"/>
                </a:solidFill>
              </a:rPr>
              <a:t>1</a:t>
            </a:r>
            <a:r>
              <a:rPr lang="en-US" sz="2400" b="1" dirty="0">
                <a:solidFill>
                  <a:srgbClr val="FF0000"/>
                </a:solidFill>
              </a:rPr>
              <a:t> + P</a:t>
            </a:r>
            <a:r>
              <a:rPr lang="en-US" sz="2400" b="1" baseline="-25000" dirty="0">
                <a:solidFill>
                  <a:srgbClr val="FF0000"/>
                </a:solidFill>
              </a:rPr>
              <a:t>1</a:t>
            </a:r>
            <a:r>
              <a:rPr lang="en-US" sz="2400" b="1" dirty="0">
                <a:solidFill>
                  <a:srgbClr val="FF0000"/>
                </a:solidFill>
              </a:rPr>
              <a:t>G</a:t>
            </a:r>
            <a:r>
              <a:rPr lang="en-US" sz="2400" b="1" baseline="-25000" dirty="0">
                <a:solidFill>
                  <a:srgbClr val="FF0000"/>
                </a:solidFill>
              </a:rPr>
              <a:t>0</a:t>
            </a:r>
            <a:r>
              <a:rPr lang="en-US" sz="2400" b="1" dirty="0">
                <a:solidFill>
                  <a:srgbClr val="FF0000"/>
                </a:solidFill>
              </a:rPr>
              <a:t> + P</a:t>
            </a:r>
            <a:r>
              <a:rPr lang="en-US" sz="2400" b="1" baseline="-25000" dirty="0">
                <a:solidFill>
                  <a:srgbClr val="FF0000"/>
                </a:solidFill>
              </a:rPr>
              <a:t>1</a:t>
            </a:r>
            <a:r>
              <a:rPr lang="en-US" sz="2400" b="1" dirty="0">
                <a:solidFill>
                  <a:srgbClr val="FF0000"/>
                </a:solidFill>
              </a:rPr>
              <a:t>P</a:t>
            </a:r>
            <a:r>
              <a:rPr lang="en-US" sz="2400" b="1" baseline="-25000" dirty="0">
                <a:solidFill>
                  <a:srgbClr val="FF0000"/>
                </a:solidFill>
              </a:rPr>
              <a:t>0</a:t>
            </a:r>
            <a:r>
              <a:rPr lang="en-US" sz="2400" b="1" dirty="0">
                <a:solidFill>
                  <a:srgbClr val="FF0000"/>
                </a:solidFill>
              </a:rPr>
              <a:t>C</a:t>
            </a:r>
            <a:r>
              <a:rPr lang="en-US" sz="2400" b="1" baseline="-25000" dirty="0">
                <a:solidFill>
                  <a:srgbClr val="FF0000"/>
                </a:solidFill>
              </a:rPr>
              <a:t>0</a:t>
            </a:r>
            <a:endParaRPr lang="es-NI" sz="24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003300"/>
                </a:solidFill>
              </a:rPr>
              <a:t>C</a:t>
            </a:r>
            <a:r>
              <a:rPr lang="en-US" sz="2400" b="1" baseline="-25000" dirty="0">
                <a:solidFill>
                  <a:srgbClr val="003300"/>
                </a:solidFill>
              </a:rPr>
              <a:t>3</a:t>
            </a:r>
            <a:r>
              <a:rPr lang="en-US" sz="2400" b="1" dirty="0">
                <a:solidFill>
                  <a:srgbClr val="003300"/>
                </a:solidFill>
              </a:rPr>
              <a:t> = G</a:t>
            </a:r>
            <a:r>
              <a:rPr lang="en-US" sz="2400" b="1" baseline="-25000" dirty="0">
                <a:solidFill>
                  <a:srgbClr val="003300"/>
                </a:solidFill>
              </a:rPr>
              <a:t>2</a:t>
            </a:r>
            <a:r>
              <a:rPr lang="en-US" sz="2400" b="1" dirty="0">
                <a:solidFill>
                  <a:srgbClr val="003300"/>
                </a:solidFill>
              </a:rPr>
              <a:t> + P</a:t>
            </a:r>
            <a:r>
              <a:rPr lang="en-US" sz="2400" b="1" baseline="-25000" dirty="0">
                <a:solidFill>
                  <a:srgbClr val="003300"/>
                </a:solidFill>
              </a:rPr>
              <a:t>2</a:t>
            </a:r>
            <a:r>
              <a:rPr lang="en-US" sz="2400" b="1" dirty="0">
                <a:solidFill>
                  <a:srgbClr val="003300"/>
                </a:solidFill>
              </a:rPr>
              <a:t>C</a:t>
            </a:r>
            <a:r>
              <a:rPr lang="en-US" sz="2400" b="1" baseline="-25000" dirty="0">
                <a:solidFill>
                  <a:srgbClr val="003300"/>
                </a:solidFill>
              </a:rPr>
              <a:t>2</a:t>
            </a:r>
            <a:r>
              <a:rPr lang="en-US" sz="2400" b="1" dirty="0">
                <a:solidFill>
                  <a:srgbClr val="003300"/>
                </a:solidFill>
              </a:rPr>
              <a:t> = G</a:t>
            </a:r>
            <a:r>
              <a:rPr lang="en-US" sz="2400" b="1" baseline="-25000" dirty="0">
                <a:solidFill>
                  <a:srgbClr val="003300"/>
                </a:solidFill>
              </a:rPr>
              <a:t>2</a:t>
            </a:r>
            <a:r>
              <a:rPr lang="en-US" sz="2400" b="1" dirty="0">
                <a:solidFill>
                  <a:srgbClr val="003300"/>
                </a:solidFill>
              </a:rPr>
              <a:t> + P</a:t>
            </a:r>
            <a:r>
              <a:rPr lang="en-US" sz="2400" b="1" baseline="-25000" dirty="0">
                <a:solidFill>
                  <a:srgbClr val="003300"/>
                </a:solidFill>
              </a:rPr>
              <a:t>2</a:t>
            </a:r>
            <a:r>
              <a:rPr lang="en-US" sz="2400" b="1" dirty="0">
                <a:solidFill>
                  <a:srgbClr val="003300"/>
                </a:solidFill>
              </a:rPr>
              <a:t>(G</a:t>
            </a:r>
            <a:r>
              <a:rPr lang="en-US" sz="2400" b="1" baseline="-25000" dirty="0">
                <a:solidFill>
                  <a:srgbClr val="003300"/>
                </a:solidFill>
              </a:rPr>
              <a:t>1</a:t>
            </a:r>
            <a:r>
              <a:rPr lang="en-US" sz="2400" b="1" dirty="0">
                <a:solidFill>
                  <a:srgbClr val="003300"/>
                </a:solidFill>
              </a:rPr>
              <a:t> + P</a:t>
            </a:r>
            <a:r>
              <a:rPr lang="en-US" sz="2400" b="1" baseline="-25000" dirty="0">
                <a:solidFill>
                  <a:srgbClr val="003300"/>
                </a:solidFill>
              </a:rPr>
              <a:t>1</a:t>
            </a:r>
            <a:r>
              <a:rPr lang="en-US" sz="2400" b="1" dirty="0">
                <a:solidFill>
                  <a:srgbClr val="003300"/>
                </a:solidFill>
              </a:rPr>
              <a:t>G</a:t>
            </a:r>
            <a:r>
              <a:rPr lang="en-US" sz="2400" b="1" baseline="-25000" dirty="0">
                <a:solidFill>
                  <a:srgbClr val="003300"/>
                </a:solidFill>
              </a:rPr>
              <a:t>0</a:t>
            </a:r>
            <a:r>
              <a:rPr lang="en-US" sz="2400" b="1" dirty="0">
                <a:solidFill>
                  <a:srgbClr val="003300"/>
                </a:solidFill>
              </a:rPr>
              <a:t> + P</a:t>
            </a:r>
            <a:r>
              <a:rPr lang="en-US" sz="2400" b="1" baseline="-25000" dirty="0">
                <a:solidFill>
                  <a:srgbClr val="003300"/>
                </a:solidFill>
              </a:rPr>
              <a:t>1</a:t>
            </a:r>
            <a:r>
              <a:rPr lang="en-US" sz="2400" b="1" dirty="0">
                <a:solidFill>
                  <a:srgbClr val="003300"/>
                </a:solidFill>
              </a:rPr>
              <a:t>P</a:t>
            </a:r>
            <a:r>
              <a:rPr lang="en-US" sz="2400" b="1" baseline="-25000" dirty="0">
                <a:solidFill>
                  <a:srgbClr val="003300"/>
                </a:solidFill>
              </a:rPr>
              <a:t>0</a:t>
            </a:r>
            <a:r>
              <a:rPr lang="en-US" sz="2400" b="1" dirty="0">
                <a:solidFill>
                  <a:srgbClr val="003300"/>
                </a:solidFill>
              </a:rPr>
              <a:t>C</a:t>
            </a:r>
            <a:r>
              <a:rPr lang="en-US" sz="2400" b="1" baseline="-25000" dirty="0">
                <a:solidFill>
                  <a:srgbClr val="003300"/>
                </a:solidFill>
              </a:rPr>
              <a:t>0</a:t>
            </a:r>
            <a:r>
              <a:rPr lang="en-US" sz="2400" b="1" dirty="0">
                <a:solidFill>
                  <a:srgbClr val="003300"/>
                </a:solidFill>
              </a:rPr>
              <a:t>)</a:t>
            </a:r>
            <a:endParaRPr lang="es-NI" sz="2400" dirty="0">
              <a:solidFill>
                <a:srgbClr val="003300"/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003300"/>
                </a:solidFill>
              </a:rPr>
              <a:t>                         </a:t>
            </a:r>
            <a:r>
              <a:rPr lang="es-NI" sz="2400" b="1" dirty="0">
                <a:solidFill>
                  <a:srgbClr val="003300"/>
                </a:solidFill>
              </a:rPr>
              <a:t>= G</a:t>
            </a:r>
            <a:r>
              <a:rPr lang="es-NI" sz="2400" b="1" baseline="-25000" dirty="0">
                <a:solidFill>
                  <a:srgbClr val="003300"/>
                </a:solidFill>
              </a:rPr>
              <a:t>2</a:t>
            </a:r>
            <a:r>
              <a:rPr lang="es-NI" sz="2400" b="1" dirty="0">
                <a:solidFill>
                  <a:srgbClr val="003300"/>
                </a:solidFill>
              </a:rPr>
              <a:t> + P</a:t>
            </a:r>
            <a:r>
              <a:rPr lang="es-NI" sz="2400" b="1" baseline="-25000" dirty="0">
                <a:solidFill>
                  <a:srgbClr val="003300"/>
                </a:solidFill>
              </a:rPr>
              <a:t>2</a:t>
            </a:r>
            <a:r>
              <a:rPr lang="es-NI" sz="2400" b="1" dirty="0">
                <a:solidFill>
                  <a:srgbClr val="003300"/>
                </a:solidFill>
              </a:rPr>
              <a:t>G</a:t>
            </a:r>
            <a:r>
              <a:rPr lang="es-NI" sz="2400" b="1" baseline="-25000" dirty="0">
                <a:solidFill>
                  <a:srgbClr val="003300"/>
                </a:solidFill>
              </a:rPr>
              <a:t>1</a:t>
            </a:r>
            <a:r>
              <a:rPr lang="es-NI" sz="2400" b="1" dirty="0">
                <a:solidFill>
                  <a:srgbClr val="003300"/>
                </a:solidFill>
              </a:rPr>
              <a:t> + P</a:t>
            </a:r>
            <a:r>
              <a:rPr lang="es-NI" sz="2400" b="1" baseline="-25000" dirty="0">
                <a:solidFill>
                  <a:srgbClr val="003300"/>
                </a:solidFill>
              </a:rPr>
              <a:t>2</a:t>
            </a:r>
            <a:r>
              <a:rPr lang="es-NI" sz="2400" b="1" dirty="0">
                <a:solidFill>
                  <a:srgbClr val="003300"/>
                </a:solidFill>
              </a:rPr>
              <a:t>P</a:t>
            </a:r>
            <a:r>
              <a:rPr lang="es-NI" sz="2400" b="1" baseline="-25000" dirty="0">
                <a:solidFill>
                  <a:srgbClr val="003300"/>
                </a:solidFill>
              </a:rPr>
              <a:t>1</a:t>
            </a:r>
            <a:r>
              <a:rPr lang="es-NI" sz="2400" b="1" dirty="0">
                <a:solidFill>
                  <a:srgbClr val="003300"/>
                </a:solidFill>
              </a:rPr>
              <a:t>G</a:t>
            </a:r>
            <a:r>
              <a:rPr lang="es-NI" sz="2400" b="1" baseline="-25000" dirty="0">
                <a:solidFill>
                  <a:srgbClr val="003300"/>
                </a:solidFill>
              </a:rPr>
              <a:t>0</a:t>
            </a:r>
            <a:r>
              <a:rPr lang="es-NI" sz="2400" b="1" dirty="0">
                <a:solidFill>
                  <a:srgbClr val="003300"/>
                </a:solidFill>
              </a:rPr>
              <a:t> + P</a:t>
            </a:r>
            <a:r>
              <a:rPr lang="es-NI" sz="2400" b="1" baseline="-25000" dirty="0">
                <a:solidFill>
                  <a:srgbClr val="003300"/>
                </a:solidFill>
              </a:rPr>
              <a:t>2</a:t>
            </a:r>
            <a:r>
              <a:rPr lang="es-NI" sz="2400" b="1" dirty="0">
                <a:solidFill>
                  <a:srgbClr val="003300"/>
                </a:solidFill>
              </a:rPr>
              <a:t>P</a:t>
            </a:r>
            <a:r>
              <a:rPr lang="es-NI" sz="2400" b="1" baseline="-25000" dirty="0">
                <a:solidFill>
                  <a:srgbClr val="003300"/>
                </a:solidFill>
              </a:rPr>
              <a:t>1</a:t>
            </a:r>
            <a:r>
              <a:rPr lang="es-NI" sz="2400" b="1" dirty="0">
                <a:solidFill>
                  <a:srgbClr val="003300"/>
                </a:solidFill>
              </a:rPr>
              <a:t>P</a:t>
            </a:r>
            <a:r>
              <a:rPr lang="es-NI" sz="2400" b="1" baseline="-25000" dirty="0">
                <a:solidFill>
                  <a:srgbClr val="003300"/>
                </a:solidFill>
              </a:rPr>
              <a:t>0</a:t>
            </a:r>
            <a:r>
              <a:rPr lang="es-NI" sz="2400" b="1" dirty="0">
                <a:solidFill>
                  <a:srgbClr val="003300"/>
                </a:solidFill>
              </a:rPr>
              <a:t>C</a:t>
            </a:r>
            <a:r>
              <a:rPr lang="es-NI" sz="2400" b="1" baseline="-25000" dirty="0">
                <a:solidFill>
                  <a:srgbClr val="003300"/>
                </a:solidFill>
              </a:rPr>
              <a:t>0</a:t>
            </a:r>
            <a:endParaRPr lang="es-NI" sz="2400" dirty="0">
              <a:solidFill>
                <a:srgbClr val="003300"/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7030A0"/>
                </a:solidFill>
              </a:rPr>
              <a:t>C</a:t>
            </a:r>
            <a:r>
              <a:rPr lang="en-US" sz="2400" b="1" baseline="-25000" dirty="0">
                <a:solidFill>
                  <a:srgbClr val="7030A0"/>
                </a:solidFill>
              </a:rPr>
              <a:t>4</a:t>
            </a:r>
            <a:r>
              <a:rPr lang="en-US" sz="2400" b="1" dirty="0">
                <a:solidFill>
                  <a:srgbClr val="7030A0"/>
                </a:solidFill>
              </a:rPr>
              <a:t> =G</a:t>
            </a:r>
            <a:r>
              <a:rPr lang="en-US" sz="2400" b="1" baseline="-25000" dirty="0">
                <a:solidFill>
                  <a:srgbClr val="7030A0"/>
                </a:solidFill>
              </a:rPr>
              <a:t>3</a:t>
            </a:r>
            <a:r>
              <a:rPr lang="en-US" sz="2400" b="1" dirty="0">
                <a:solidFill>
                  <a:srgbClr val="7030A0"/>
                </a:solidFill>
              </a:rPr>
              <a:t> + P</a:t>
            </a:r>
            <a:r>
              <a:rPr lang="en-US" sz="2400" b="1" baseline="-25000" dirty="0">
                <a:solidFill>
                  <a:srgbClr val="7030A0"/>
                </a:solidFill>
              </a:rPr>
              <a:t>3</a:t>
            </a:r>
            <a:r>
              <a:rPr lang="en-US" sz="2400" b="1" dirty="0">
                <a:solidFill>
                  <a:srgbClr val="7030A0"/>
                </a:solidFill>
              </a:rPr>
              <a:t>C</a:t>
            </a:r>
            <a:r>
              <a:rPr lang="en-US" sz="2400" b="1" baseline="-25000" dirty="0">
                <a:solidFill>
                  <a:srgbClr val="7030A0"/>
                </a:solidFill>
              </a:rPr>
              <a:t>3</a:t>
            </a:r>
            <a:r>
              <a:rPr lang="en-US" sz="2400" b="1" dirty="0">
                <a:solidFill>
                  <a:srgbClr val="7030A0"/>
                </a:solidFill>
              </a:rPr>
              <a:t>  = G</a:t>
            </a:r>
            <a:r>
              <a:rPr lang="en-US" sz="2400" b="1" baseline="-25000" dirty="0">
                <a:solidFill>
                  <a:srgbClr val="7030A0"/>
                </a:solidFill>
              </a:rPr>
              <a:t>3</a:t>
            </a:r>
            <a:r>
              <a:rPr lang="en-US" sz="2400" b="1" dirty="0">
                <a:solidFill>
                  <a:srgbClr val="7030A0"/>
                </a:solidFill>
              </a:rPr>
              <a:t> + P</a:t>
            </a:r>
            <a:r>
              <a:rPr lang="en-US" sz="2400" b="1" baseline="-25000" dirty="0">
                <a:solidFill>
                  <a:srgbClr val="7030A0"/>
                </a:solidFill>
              </a:rPr>
              <a:t>3</a:t>
            </a:r>
            <a:r>
              <a:rPr lang="en-US" sz="2400" b="1" dirty="0">
                <a:solidFill>
                  <a:srgbClr val="7030A0"/>
                </a:solidFill>
              </a:rPr>
              <a:t>(G</a:t>
            </a:r>
            <a:r>
              <a:rPr lang="en-US" sz="2400" b="1" baseline="-25000" dirty="0">
                <a:solidFill>
                  <a:srgbClr val="7030A0"/>
                </a:solidFill>
              </a:rPr>
              <a:t>2</a:t>
            </a:r>
            <a:r>
              <a:rPr lang="en-US" sz="2400" b="1" dirty="0">
                <a:solidFill>
                  <a:srgbClr val="7030A0"/>
                </a:solidFill>
              </a:rPr>
              <a:t> + P</a:t>
            </a:r>
            <a:r>
              <a:rPr lang="en-US" sz="2400" b="1" baseline="-25000" dirty="0">
                <a:solidFill>
                  <a:srgbClr val="7030A0"/>
                </a:solidFill>
              </a:rPr>
              <a:t>2</a:t>
            </a:r>
            <a:r>
              <a:rPr lang="en-US" sz="2400" b="1" dirty="0">
                <a:solidFill>
                  <a:srgbClr val="7030A0"/>
                </a:solidFill>
              </a:rPr>
              <a:t>G</a:t>
            </a:r>
            <a:r>
              <a:rPr lang="en-US" sz="2400" b="1" baseline="-25000" dirty="0">
                <a:solidFill>
                  <a:srgbClr val="7030A0"/>
                </a:solidFill>
              </a:rPr>
              <a:t>1</a:t>
            </a:r>
            <a:r>
              <a:rPr lang="en-US" sz="2400" b="1" dirty="0">
                <a:solidFill>
                  <a:srgbClr val="7030A0"/>
                </a:solidFill>
              </a:rPr>
              <a:t> + P</a:t>
            </a:r>
            <a:r>
              <a:rPr lang="en-US" sz="2400" b="1" baseline="-25000" dirty="0">
                <a:solidFill>
                  <a:srgbClr val="7030A0"/>
                </a:solidFill>
              </a:rPr>
              <a:t>2</a:t>
            </a:r>
            <a:r>
              <a:rPr lang="en-US" sz="2400" b="1" dirty="0">
                <a:solidFill>
                  <a:srgbClr val="7030A0"/>
                </a:solidFill>
              </a:rPr>
              <a:t>P</a:t>
            </a:r>
            <a:r>
              <a:rPr lang="en-US" sz="2400" b="1" baseline="-25000" dirty="0">
                <a:solidFill>
                  <a:srgbClr val="7030A0"/>
                </a:solidFill>
              </a:rPr>
              <a:t>1</a:t>
            </a:r>
            <a:r>
              <a:rPr lang="en-US" sz="2400" b="1" dirty="0">
                <a:solidFill>
                  <a:srgbClr val="7030A0"/>
                </a:solidFill>
              </a:rPr>
              <a:t>G</a:t>
            </a:r>
            <a:r>
              <a:rPr lang="en-US" sz="2400" b="1" baseline="-25000" dirty="0">
                <a:solidFill>
                  <a:srgbClr val="7030A0"/>
                </a:solidFill>
              </a:rPr>
              <a:t>0</a:t>
            </a:r>
            <a:r>
              <a:rPr lang="en-US" sz="2400" b="1" dirty="0">
                <a:solidFill>
                  <a:srgbClr val="7030A0"/>
                </a:solidFill>
              </a:rPr>
              <a:t> + P</a:t>
            </a:r>
            <a:r>
              <a:rPr lang="en-US" sz="2400" b="1" baseline="-25000" dirty="0">
                <a:solidFill>
                  <a:srgbClr val="7030A0"/>
                </a:solidFill>
              </a:rPr>
              <a:t>1</a:t>
            </a:r>
            <a:r>
              <a:rPr lang="en-US" sz="2400" b="1" dirty="0">
                <a:solidFill>
                  <a:srgbClr val="7030A0"/>
                </a:solidFill>
              </a:rPr>
              <a:t>P</a:t>
            </a:r>
            <a:r>
              <a:rPr lang="en-US" sz="2400" b="1" baseline="-25000" dirty="0">
                <a:solidFill>
                  <a:srgbClr val="7030A0"/>
                </a:solidFill>
              </a:rPr>
              <a:t>1</a:t>
            </a:r>
            <a:r>
              <a:rPr lang="en-US" sz="2400" b="1" dirty="0">
                <a:solidFill>
                  <a:srgbClr val="7030A0"/>
                </a:solidFill>
              </a:rPr>
              <a:t>P</a:t>
            </a:r>
            <a:r>
              <a:rPr lang="en-US" sz="2400" b="1" baseline="-25000" dirty="0">
                <a:solidFill>
                  <a:srgbClr val="7030A0"/>
                </a:solidFill>
              </a:rPr>
              <a:t>0</a:t>
            </a:r>
            <a:r>
              <a:rPr lang="en-US" sz="2400" b="1" dirty="0">
                <a:solidFill>
                  <a:srgbClr val="7030A0"/>
                </a:solidFill>
              </a:rPr>
              <a:t>C</a:t>
            </a:r>
            <a:r>
              <a:rPr lang="en-US" sz="2400" b="1" baseline="-25000" dirty="0">
                <a:solidFill>
                  <a:srgbClr val="7030A0"/>
                </a:solidFill>
              </a:rPr>
              <a:t>0</a:t>
            </a:r>
            <a:r>
              <a:rPr lang="en-US" sz="2400" b="1" dirty="0">
                <a:solidFill>
                  <a:srgbClr val="7030A0"/>
                </a:solidFill>
              </a:rPr>
              <a:t>)</a:t>
            </a:r>
            <a:endParaRPr lang="es-NI" sz="2400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7030A0"/>
                </a:solidFill>
              </a:rPr>
              <a:t>                          </a:t>
            </a:r>
            <a:r>
              <a:rPr lang="es-NI" sz="2400" b="1" dirty="0">
                <a:solidFill>
                  <a:srgbClr val="7030A0"/>
                </a:solidFill>
              </a:rPr>
              <a:t>= G</a:t>
            </a:r>
            <a:r>
              <a:rPr lang="es-NI" sz="2400" b="1" baseline="-25000" dirty="0">
                <a:solidFill>
                  <a:srgbClr val="7030A0"/>
                </a:solidFill>
              </a:rPr>
              <a:t>3</a:t>
            </a:r>
            <a:r>
              <a:rPr lang="es-NI" sz="2400" b="1" dirty="0">
                <a:solidFill>
                  <a:srgbClr val="7030A0"/>
                </a:solidFill>
              </a:rPr>
              <a:t> + P</a:t>
            </a:r>
            <a:r>
              <a:rPr lang="es-NI" sz="2400" b="1" baseline="-25000" dirty="0">
                <a:solidFill>
                  <a:srgbClr val="7030A0"/>
                </a:solidFill>
              </a:rPr>
              <a:t>3</a:t>
            </a:r>
            <a:r>
              <a:rPr lang="es-NI" sz="2400" b="1" dirty="0">
                <a:solidFill>
                  <a:srgbClr val="7030A0"/>
                </a:solidFill>
              </a:rPr>
              <a:t>G</a:t>
            </a:r>
            <a:r>
              <a:rPr lang="es-NI" sz="2400" b="1" baseline="-25000" dirty="0">
                <a:solidFill>
                  <a:srgbClr val="7030A0"/>
                </a:solidFill>
              </a:rPr>
              <a:t>2</a:t>
            </a:r>
            <a:r>
              <a:rPr lang="es-NI" sz="2400" b="1" dirty="0">
                <a:solidFill>
                  <a:srgbClr val="7030A0"/>
                </a:solidFill>
              </a:rPr>
              <a:t> + P</a:t>
            </a:r>
            <a:r>
              <a:rPr lang="es-NI" sz="2400" b="1" baseline="-25000" dirty="0">
                <a:solidFill>
                  <a:srgbClr val="7030A0"/>
                </a:solidFill>
              </a:rPr>
              <a:t>3</a:t>
            </a:r>
            <a:r>
              <a:rPr lang="es-NI" sz="2400" b="1" dirty="0">
                <a:solidFill>
                  <a:srgbClr val="7030A0"/>
                </a:solidFill>
              </a:rPr>
              <a:t>P</a:t>
            </a:r>
            <a:r>
              <a:rPr lang="es-NI" sz="2400" b="1" baseline="-25000" dirty="0">
                <a:solidFill>
                  <a:srgbClr val="7030A0"/>
                </a:solidFill>
              </a:rPr>
              <a:t>2</a:t>
            </a:r>
            <a:r>
              <a:rPr lang="es-NI" sz="2400" b="1" dirty="0">
                <a:solidFill>
                  <a:srgbClr val="7030A0"/>
                </a:solidFill>
              </a:rPr>
              <a:t>G</a:t>
            </a:r>
            <a:r>
              <a:rPr lang="es-NI" sz="2400" b="1" baseline="-25000" dirty="0">
                <a:solidFill>
                  <a:srgbClr val="7030A0"/>
                </a:solidFill>
              </a:rPr>
              <a:t>1</a:t>
            </a:r>
            <a:r>
              <a:rPr lang="es-NI" sz="2400" b="1" dirty="0">
                <a:solidFill>
                  <a:srgbClr val="7030A0"/>
                </a:solidFill>
              </a:rPr>
              <a:t> + P</a:t>
            </a:r>
            <a:r>
              <a:rPr lang="es-NI" sz="2400" b="1" baseline="-25000" dirty="0">
                <a:solidFill>
                  <a:srgbClr val="7030A0"/>
                </a:solidFill>
              </a:rPr>
              <a:t>3</a:t>
            </a:r>
            <a:r>
              <a:rPr lang="es-NI" sz="2400" b="1" dirty="0">
                <a:solidFill>
                  <a:srgbClr val="7030A0"/>
                </a:solidFill>
              </a:rPr>
              <a:t>P</a:t>
            </a:r>
            <a:r>
              <a:rPr lang="es-NI" sz="2400" b="1" baseline="-25000" dirty="0">
                <a:solidFill>
                  <a:srgbClr val="7030A0"/>
                </a:solidFill>
              </a:rPr>
              <a:t>2</a:t>
            </a:r>
            <a:r>
              <a:rPr lang="es-NI" sz="2400" b="1" dirty="0">
                <a:solidFill>
                  <a:srgbClr val="7030A0"/>
                </a:solidFill>
              </a:rPr>
              <a:t>P</a:t>
            </a:r>
            <a:r>
              <a:rPr lang="es-NI" sz="2400" b="1" baseline="-25000" dirty="0">
                <a:solidFill>
                  <a:srgbClr val="7030A0"/>
                </a:solidFill>
              </a:rPr>
              <a:t>1</a:t>
            </a:r>
            <a:r>
              <a:rPr lang="es-NI" sz="2400" b="1" dirty="0">
                <a:solidFill>
                  <a:srgbClr val="7030A0"/>
                </a:solidFill>
              </a:rPr>
              <a:t>G</a:t>
            </a:r>
            <a:r>
              <a:rPr lang="es-NI" sz="2400" b="1" baseline="-25000" dirty="0">
                <a:solidFill>
                  <a:srgbClr val="7030A0"/>
                </a:solidFill>
              </a:rPr>
              <a:t>0</a:t>
            </a:r>
            <a:r>
              <a:rPr lang="es-NI" sz="2400" b="1" dirty="0">
                <a:solidFill>
                  <a:srgbClr val="7030A0"/>
                </a:solidFill>
              </a:rPr>
              <a:t> + P</a:t>
            </a:r>
            <a:r>
              <a:rPr lang="es-NI" sz="2400" b="1" baseline="-25000" dirty="0">
                <a:solidFill>
                  <a:srgbClr val="7030A0"/>
                </a:solidFill>
              </a:rPr>
              <a:t>3</a:t>
            </a:r>
            <a:r>
              <a:rPr lang="es-NI" sz="2400" b="1" dirty="0">
                <a:solidFill>
                  <a:srgbClr val="7030A0"/>
                </a:solidFill>
              </a:rPr>
              <a:t>P</a:t>
            </a:r>
            <a:r>
              <a:rPr lang="es-NI" sz="2400" b="1" baseline="-25000" dirty="0">
                <a:solidFill>
                  <a:srgbClr val="7030A0"/>
                </a:solidFill>
              </a:rPr>
              <a:t>2</a:t>
            </a:r>
            <a:r>
              <a:rPr lang="es-NI" sz="2400" b="1" dirty="0">
                <a:solidFill>
                  <a:srgbClr val="7030A0"/>
                </a:solidFill>
              </a:rPr>
              <a:t>P</a:t>
            </a:r>
            <a:r>
              <a:rPr lang="es-NI" sz="2400" b="1" baseline="-25000" dirty="0">
                <a:solidFill>
                  <a:srgbClr val="7030A0"/>
                </a:solidFill>
              </a:rPr>
              <a:t>1</a:t>
            </a:r>
            <a:r>
              <a:rPr lang="es-NI" sz="2400" b="1" dirty="0">
                <a:solidFill>
                  <a:srgbClr val="7030A0"/>
                </a:solidFill>
              </a:rPr>
              <a:t>P</a:t>
            </a:r>
            <a:r>
              <a:rPr lang="es-NI" sz="2400" b="1" baseline="-25000" dirty="0">
                <a:solidFill>
                  <a:srgbClr val="7030A0"/>
                </a:solidFill>
              </a:rPr>
              <a:t>0</a:t>
            </a:r>
            <a:r>
              <a:rPr lang="es-NI" sz="2400" b="1" dirty="0">
                <a:solidFill>
                  <a:srgbClr val="7030A0"/>
                </a:solidFill>
              </a:rPr>
              <a:t>C</a:t>
            </a:r>
            <a:r>
              <a:rPr lang="es-NI" sz="2400" b="1" baseline="-25000" dirty="0">
                <a:solidFill>
                  <a:srgbClr val="7030A0"/>
                </a:solidFill>
              </a:rPr>
              <a:t>0</a:t>
            </a:r>
            <a:endParaRPr lang="es-NI" sz="2400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s-NI" dirty="0"/>
          </a:p>
          <a:p>
            <a:endParaRPr lang="es-NI" dirty="0"/>
          </a:p>
        </p:txBody>
      </p:sp>
    </p:spTree>
    <p:extLst>
      <p:ext uri="{BB962C8B-B14F-4D97-AF65-F5344CB8AC3E}">
        <p14:creationId xmlns:p14="http://schemas.microsoft.com/office/powerpoint/2010/main" val="3351423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Unidad</a:t>
            </a:r>
            <a:r>
              <a:rPr lang="en-US" dirty="0"/>
              <a:t> </a:t>
            </a:r>
            <a:r>
              <a:rPr lang="en-US" dirty="0" err="1"/>
              <a:t>Aritmética</a:t>
            </a:r>
            <a:endParaRPr lang="es-NI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07504" y="1268760"/>
            <a:ext cx="9036496" cy="5184576"/>
          </a:xfrm>
        </p:spPr>
        <p:txBody>
          <a:bodyPr/>
          <a:lstStyle/>
          <a:p>
            <a:r>
              <a:rPr lang="es-NI" dirty="0"/>
              <a:t>Se pueden implementar estas ecuaciones en un circuito, acelerando la ejecución del sumador: CLA (</a:t>
            </a:r>
            <a:r>
              <a:rPr lang="es-NI" dirty="0" err="1"/>
              <a:t>Carry</a:t>
            </a:r>
            <a:r>
              <a:rPr lang="es-NI" dirty="0"/>
              <a:t> </a:t>
            </a:r>
            <a:r>
              <a:rPr lang="es-NI" dirty="0" err="1"/>
              <a:t>Lookahead</a:t>
            </a:r>
            <a:r>
              <a:rPr lang="es-NI" dirty="0"/>
              <a:t> </a:t>
            </a:r>
            <a:r>
              <a:rPr lang="es-NI" dirty="0" err="1"/>
              <a:t>Adder</a:t>
            </a:r>
            <a:r>
              <a:rPr lang="es-NI" dirty="0"/>
              <a:t>)</a:t>
            </a:r>
          </a:p>
          <a:p>
            <a:endParaRPr lang="es-NI" b="1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NI"/>
          </a:p>
        </p:txBody>
      </p:sp>
      <p:graphicFrame>
        <p:nvGraphicFramePr>
          <p:cNvPr id="5" name="4 Objet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5349557"/>
              </p:ext>
            </p:extLst>
          </p:nvPr>
        </p:nvGraphicFramePr>
        <p:xfrm>
          <a:off x="1187624" y="2996952"/>
          <a:ext cx="6336704" cy="34836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660" name="Visio" r:id="rId3" imgW="3824478" imgH="2104263" progId="Visio.Drawing.11">
                  <p:embed/>
                </p:oleObj>
              </mc:Choice>
              <mc:Fallback>
                <p:oleObj name="Visio" r:id="rId3" imgW="3824478" imgH="2104263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624" y="2996952"/>
                        <a:ext cx="6336704" cy="348361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92915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Unidad</a:t>
            </a:r>
            <a:r>
              <a:rPr lang="en-US" dirty="0"/>
              <a:t> </a:t>
            </a:r>
            <a:r>
              <a:rPr lang="en-US" dirty="0" err="1"/>
              <a:t>Aritmética</a:t>
            </a:r>
            <a:endParaRPr lang="es-NI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07504" y="1268760"/>
            <a:ext cx="9036496" cy="5184576"/>
          </a:xfrm>
        </p:spPr>
        <p:txBody>
          <a:bodyPr/>
          <a:lstStyle/>
          <a:p>
            <a:r>
              <a:rPr lang="es-NI" dirty="0"/>
              <a:t>Con base en un CLA podemos implementar una unidad aritmética de suma y resta: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Flags? – Carry, Zero, </a:t>
            </a:r>
            <a:r>
              <a:rPr lang="en-US" dirty="0" err="1"/>
              <a:t>Signo</a:t>
            </a:r>
            <a:r>
              <a:rPr lang="en-US" dirty="0"/>
              <a:t> (S o N)</a:t>
            </a:r>
            <a:endParaRPr lang="es-NI" dirty="0"/>
          </a:p>
          <a:p>
            <a:endParaRPr lang="es-NI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NI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NI"/>
          </a:p>
        </p:txBody>
      </p:sp>
      <p:graphicFrame>
        <p:nvGraphicFramePr>
          <p:cNvPr id="7" name="6 Objet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8406743"/>
              </p:ext>
            </p:extLst>
          </p:nvPr>
        </p:nvGraphicFramePr>
        <p:xfrm>
          <a:off x="1475656" y="2564904"/>
          <a:ext cx="5832648" cy="31512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684" name="Visio" r:id="rId3" imgW="3720084" imgH="2016252" progId="Visio.Drawing.11">
                  <p:embed/>
                </p:oleObj>
              </mc:Choice>
              <mc:Fallback>
                <p:oleObj name="Visio" r:id="rId3" imgW="3720084" imgH="2016252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5656" y="2564904"/>
                        <a:ext cx="5832648" cy="315128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17885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Unidad</a:t>
            </a:r>
            <a:r>
              <a:rPr lang="en-US" dirty="0"/>
              <a:t> </a:t>
            </a:r>
            <a:r>
              <a:rPr lang="en-US" dirty="0" err="1"/>
              <a:t>Lógica</a:t>
            </a:r>
            <a:endParaRPr lang="es-NI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unidad</a:t>
            </a:r>
            <a:r>
              <a:rPr lang="en-US" dirty="0"/>
              <a:t> </a:t>
            </a:r>
            <a:r>
              <a:rPr lang="en-US" dirty="0" err="1"/>
              <a:t>lógica</a:t>
            </a:r>
            <a:r>
              <a:rPr lang="en-US" dirty="0"/>
              <a:t> </a:t>
            </a:r>
            <a:r>
              <a:rPr lang="en-US" dirty="0" err="1"/>
              <a:t>debe</a:t>
            </a:r>
            <a:r>
              <a:rPr lang="en-US" dirty="0"/>
              <a:t> </a:t>
            </a:r>
            <a:r>
              <a:rPr lang="en-US" dirty="0" err="1"/>
              <a:t>integrar</a:t>
            </a:r>
            <a:r>
              <a:rPr lang="en-US" dirty="0"/>
              <a:t> la </a:t>
            </a:r>
            <a:r>
              <a:rPr lang="en-US" dirty="0" err="1"/>
              <a:t>capacidad</a:t>
            </a:r>
            <a:r>
              <a:rPr lang="en-US" dirty="0"/>
              <a:t> de </a:t>
            </a:r>
            <a:r>
              <a:rPr lang="en-US" dirty="0" err="1"/>
              <a:t>realizar</a:t>
            </a:r>
            <a:r>
              <a:rPr lang="en-US" dirty="0"/>
              <a:t> </a:t>
            </a:r>
            <a:r>
              <a:rPr lang="en-US" dirty="0" err="1"/>
              <a:t>operaciones</a:t>
            </a:r>
            <a:r>
              <a:rPr lang="en-US" dirty="0"/>
              <a:t> </a:t>
            </a:r>
            <a:r>
              <a:rPr lang="en-US" dirty="0" err="1"/>
              <a:t>lógicas</a:t>
            </a:r>
            <a:r>
              <a:rPr lang="en-US" dirty="0"/>
              <a:t>.</a:t>
            </a:r>
          </a:p>
          <a:p>
            <a:r>
              <a:rPr lang="en-US" dirty="0"/>
              <a:t>Se </a:t>
            </a:r>
            <a:r>
              <a:rPr lang="en-US" dirty="0" err="1"/>
              <a:t>implementan</a:t>
            </a:r>
            <a:r>
              <a:rPr lang="en-US" dirty="0"/>
              <a:t> </a:t>
            </a:r>
            <a:r>
              <a:rPr lang="en-US" dirty="0" err="1"/>
              <a:t>mediante</a:t>
            </a:r>
            <a:r>
              <a:rPr lang="en-US" dirty="0"/>
              <a:t> </a:t>
            </a:r>
            <a:r>
              <a:rPr lang="en-US" dirty="0" err="1"/>
              <a:t>las</a:t>
            </a:r>
            <a:r>
              <a:rPr lang="en-US" dirty="0"/>
              <a:t> </a:t>
            </a:r>
            <a:r>
              <a:rPr lang="en-US" dirty="0" err="1"/>
              <a:t>compuertas</a:t>
            </a:r>
            <a:r>
              <a:rPr lang="en-US" dirty="0"/>
              <a:t> </a:t>
            </a:r>
            <a:r>
              <a:rPr lang="en-US" dirty="0" err="1"/>
              <a:t>lógicas</a:t>
            </a:r>
            <a:r>
              <a:rPr lang="en-US" dirty="0"/>
              <a:t>.</a:t>
            </a:r>
          </a:p>
          <a:p>
            <a:r>
              <a:rPr lang="en-US" dirty="0" err="1"/>
              <a:t>Algunas</a:t>
            </a:r>
            <a:r>
              <a:rPr lang="en-US" dirty="0"/>
              <a:t> de </a:t>
            </a:r>
            <a:r>
              <a:rPr lang="en-US" dirty="0" err="1"/>
              <a:t>corrimientos</a:t>
            </a:r>
            <a:r>
              <a:rPr lang="en-US" dirty="0"/>
              <a:t> de bits </a:t>
            </a:r>
            <a:r>
              <a:rPr lang="en-US" dirty="0" err="1"/>
              <a:t>también</a:t>
            </a:r>
            <a:r>
              <a:rPr lang="en-US" dirty="0"/>
              <a:t> </a:t>
            </a:r>
            <a:r>
              <a:rPr lang="en-US" dirty="0" err="1"/>
              <a:t>pueden</a:t>
            </a:r>
            <a:r>
              <a:rPr lang="en-US" dirty="0"/>
              <a:t> </a:t>
            </a:r>
            <a:r>
              <a:rPr lang="en-US" dirty="0" err="1"/>
              <a:t>implementarse</a:t>
            </a:r>
            <a:r>
              <a:rPr lang="en-US" dirty="0"/>
              <a:t> en el </a:t>
            </a:r>
            <a:r>
              <a:rPr lang="en-US" dirty="0" err="1"/>
              <a:t>seno</a:t>
            </a:r>
            <a:r>
              <a:rPr lang="en-US" dirty="0"/>
              <a:t> de los </a:t>
            </a:r>
            <a:r>
              <a:rPr lang="en-US" dirty="0" err="1"/>
              <a:t>registros</a:t>
            </a:r>
            <a:r>
              <a:rPr lang="en-US" dirty="0"/>
              <a:t> de </a:t>
            </a:r>
            <a:r>
              <a:rPr lang="en-US" dirty="0" err="1"/>
              <a:t>propósito</a:t>
            </a:r>
            <a:r>
              <a:rPr lang="en-US" dirty="0"/>
              <a:t> general.</a:t>
            </a:r>
            <a:endParaRPr lang="es-NI" dirty="0"/>
          </a:p>
        </p:txBody>
      </p:sp>
    </p:spTree>
    <p:extLst>
      <p:ext uri="{BB962C8B-B14F-4D97-AF65-F5344CB8AC3E}">
        <p14:creationId xmlns:p14="http://schemas.microsoft.com/office/powerpoint/2010/main" val="2413774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Unidad</a:t>
            </a:r>
            <a:r>
              <a:rPr lang="en-US" dirty="0"/>
              <a:t> </a:t>
            </a:r>
            <a:r>
              <a:rPr lang="en-US" dirty="0" err="1"/>
              <a:t>Lógica</a:t>
            </a:r>
            <a:endParaRPr lang="es-NI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79512" y="1412776"/>
            <a:ext cx="4032448" cy="5184576"/>
          </a:xfrm>
        </p:spPr>
        <p:txBody>
          <a:bodyPr/>
          <a:lstStyle/>
          <a:p>
            <a:r>
              <a:rPr lang="en-US" dirty="0"/>
              <a:t>La </a:t>
            </a:r>
            <a:r>
              <a:rPr lang="en-US" dirty="0" err="1"/>
              <a:t>figura</a:t>
            </a:r>
            <a:r>
              <a:rPr lang="en-US" dirty="0"/>
              <a:t> </a:t>
            </a:r>
            <a:r>
              <a:rPr lang="en-US" dirty="0" err="1"/>
              <a:t>muestra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unidad</a:t>
            </a:r>
            <a:r>
              <a:rPr lang="en-US" dirty="0"/>
              <a:t> </a:t>
            </a:r>
            <a:r>
              <a:rPr lang="en-US" dirty="0" err="1"/>
              <a:t>lógica</a:t>
            </a:r>
            <a:r>
              <a:rPr lang="en-US" dirty="0"/>
              <a:t> de 4 bits </a:t>
            </a:r>
            <a:r>
              <a:rPr lang="en-US" dirty="0" err="1"/>
              <a:t>capaz</a:t>
            </a:r>
            <a:r>
              <a:rPr lang="en-US" dirty="0"/>
              <a:t> de </a:t>
            </a:r>
            <a:r>
              <a:rPr lang="en-US" dirty="0" err="1"/>
              <a:t>realizar</a:t>
            </a:r>
            <a:r>
              <a:rPr lang="en-US" dirty="0"/>
              <a:t> 2 </a:t>
            </a:r>
            <a:r>
              <a:rPr lang="en-US" dirty="0" err="1"/>
              <a:t>operaciones</a:t>
            </a:r>
            <a:r>
              <a:rPr lang="en-US" dirty="0"/>
              <a:t>:</a:t>
            </a:r>
          </a:p>
          <a:p>
            <a:pPr marL="800100" lvl="2" indent="0">
              <a:buNone/>
            </a:pPr>
            <a:r>
              <a:rPr lang="en-US" sz="3200" dirty="0"/>
              <a:t>AND: X </a:t>
            </a:r>
            <a:r>
              <a:rPr lang="en-US" sz="3200" dirty="0">
                <a:sym typeface="Symbol"/>
              </a:rPr>
              <a:t> Y</a:t>
            </a:r>
          </a:p>
          <a:p>
            <a:pPr marL="800100" lvl="2" indent="0">
              <a:buNone/>
            </a:pPr>
            <a:r>
              <a:rPr lang="en-US" sz="3200" dirty="0">
                <a:sym typeface="Symbol"/>
              </a:rPr>
              <a:t>OR:   X  Y</a:t>
            </a:r>
          </a:p>
        </p:txBody>
      </p:sp>
      <p:pic>
        <p:nvPicPr>
          <p:cNvPr id="1566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960" y="1435346"/>
            <a:ext cx="4608512" cy="5089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30912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66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66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6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Unidad</a:t>
            </a:r>
            <a:r>
              <a:rPr lang="en-US" dirty="0"/>
              <a:t> </a:t>
            </a:r>
            <a:r>
              <a:rPr lang="en-US" dirty="0" err="1"/>
              <a:t>Lógica</a:t>
            </a:r>
            <a:endParaRPr lang="es-NI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79512" y="1412776"/>
            <a:ext cx="3672408" cy="5184576"/>
          </a:xfrm>
        </p:spPr>
        <p:txBody>
          <a:bodyPr/>
          <a:lstStyle/>
          <a:p>
            <a:pPr marL="571500" indent="-571500"/>
            <a:r>
              <a:rPr lang="en-US" dirty="0"/>
              <a:t>Un Mux </a:t>
            </a:r>
            <a:r>
              <a:rPr lang="en-US" dirty="0" err="1"/>
              <a:t>nos</a:t>
            </a:r>
            <a:r>
              <a:rPr lang="en-US" dirty="0"/>
              <a:t> </a:t>
            </a:r>
            <a:r>
              <a:rPr lang="en-US" dirty="0" err="1"/>
              <a:t>permite</a:t>
            </a:r>
            <a:r>
              <a:rPr lang="en-US" dirty="0"/>
              <a:t> </a:t>
            </a:r>
            <a:r>
              <a:rPr lang="en-US" dirty="0" err="1"/>
              <a:t>seleccionar</a:t>
            </a:r>
            <a:r>
              <a:rPr lang="en-US" dirty="0"/>
              <a:t> la </a:t>
            </a:r>
            <a:r>
              <a:rPr lang="en-US" dirty="0" err="1"/>
              <a:t>salida</a:t>
            </a:r>
            <a:r>
              <a:rPr lang="en-US" dirty="0"/>
              <a:t> </a:t>
            </a:r>
            <a:r>
              <a:rPr lang="en-US" dirty="0" err="1"/>
              <a:t>adecuada</a:t>
            </a:r>
            <a:endParaRPr lang="es-NI" sz="3600" dirty="0"/>
          </a:p>
        </p:txBody>
      </p:sp>
      <p:pic>
        <p:nvPicPr>
          <p:cNvPr id="1576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9610" y="1556792"/>
            <a:ext cx="4699328" cy="4752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21241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76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76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76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769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769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769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769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769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769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769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769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Unidad</a:t>
            </a:r>
            <a:r>
              <a:rPr lang="en-US" dirty="0"/>
              <a:t> </a:t>
            </a:r>
            <a:r>
              <a:rPr lang="en-US" dirty="0" err="1"/>
              <a:t>Lógica</a:t>
            </a:r>
            <a:endParaRPr lang="es-NI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79512" y="1412776"/>
            <a:ext cx="8784976" cy="576064"/>
          </a:xfrm>
        </p:spPr>
        <p:txBody>
          <a:bodyPr/>
          <a:lstStyle/>
          <a:p>
            <a:pPr marL="571500" indent="-571500"/>
            <a:r>
              <a:rPr lang="en-US" dirty="0" err="1"/>
              <a:t>Puesto</a:t>
            </a:r>
            <a:r>
              <a:rPr lang="en-US" dirty="0"/>
              <a:t> en </a:t>
            </a:r>
            <a:r>
              <a:rPr lang="en-US" dirty="0" err="1"/>
              <a:t>diagrama</a:t>
            </a:r>
            <a:r>
              <a:rPr lang="en-US" dirty="0"/>
              <a:t> de </a:t>
            </a:r>
            <a:r>
              <a:rPr lang="en-US" dirty="0" err="1"/>
              <a:t>bloques</a:t>
            </a:r>
            <a:endParaRPr lang="es-NI" sz="3600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NI"/>
          </a:p>
        </p:txBody>
      </p:sp>
      <p:graphicFrame>
        <p:nvGraphicFramePr>
          <p:cNvPr id="5" name="4 Objet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0911252"/>
              </p:ext>
            </p:extLst>
          </p:nvPr>
        </p:nvGraphicFramePr>
        <p:xfrm>
          <a:off x="1115616" y="2276872"/>
          <a:ext cx="7474247" cy="4320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747" name="Visio" r:id="rId3" imgW="4592320" imgH="2667000" progId="Visio.Drawing.11">
                  <p:embed/>
                </p:oleObj>
              </mc:Choice>
              <mc:Fallback>
                <p:oleObj name="Visio" r:id="rId3" imgW="4592320" imgH="2667000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5616" y="2276872"/>
                        <a:ext cx="7474247" cy="432048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14726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Unidad</a:t>
            </a:r>
            <a:r>
              <a:rPr lang="en-US" dirty="0"/>
              <a:t> </a:t>
            </a:r>
            <a:r>
              <a:rPr lang="en-US" dirty="0" err="1"/>
              <a:t>Aritmética</a:t>
            </a:r>
            <a:r>
              <a:rPr lang="en-US" dirty="0"/>
              <a:t> - </a:t>
            </a:r>
            <a:r>
              <a:rPr lang="en-US" dirty="0" err="1"/>
              <a:t>Lógica</a:t>
            </a:r>
            <a:endParaRPr lang="es-NI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79512" y="1412776"/>
            <a:ext cx="8784976" cy="576064"/>
          </a:xfrm>
        </p:spPr>
        <p:txBody>
          <a:bodyPr/>
          <a:lstStyle/>
          <a:p>
            <a:pPr marL="571500" indent="-571500"/>
            <a:r>
              <a:rPr lang="en-US" dirty="0" err="1"/>
              <a:t>Integrando</a:t>
            </a:r>
            <a:r>
              <a:rPr lang="en-US" dirty="0"/>
              <a:t> </a:t>
            </a:r>
            <a:r>
              <a:rPr lang="en-US" dirty="0" err="1"/>
              <a:t>ambas</a:t>
            </a:r>
            <a:r>
              <a:rPr lang="en-US" dirty="0"/>
              <a:t> </a:t>
            </a:r>
            <a:r>
              <a:rPr lang="en-US" dirty="0" err="1"/>
              <a:t>unidades</a:t>
            </a:r>
            <a:endParaRPr lang="es-NI" sz="3600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NI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NI"/>
          </a:p>
        </p:txBody>
      </p:sp>
      <p:graphicFrame>
        <p:nvGraphicFramePr>
          <p:cNvPr id="7" name="6 Objet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2551619"/>
              </p:ext>
            </p:extLst>
          </p:nvPr>
        </p:nvGraphicFramePr>
        <p:xfrm>
          <a:off x="2123728" y="2060848"/>
          <a:ext cx="6336704" cy="426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771" name="Visio" r:id="rId3" imgW="4821936" imgH="3240024" progId="Visio.Drawing.11">
                  <p:embed/>
                </p:oleObj>
              </mc:Choice>
              <mc:Fallback>
                <p:oleObj name="Visio" r:id="rId3" imgW="4821936" imgH="3240024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3728" y="2060848"/>
                        <a:ext cx="6336704" cy="42645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72902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Unidad</a:t>
            </a:r>
            <a:r>
              <a:rPr lang="en-US" dirty="0"/>
              <a:t> </a:t>
            </a:r>
            <a:r>
              <a:rPr lang="en-US" dirty="0" err="1"/>
              <a:t>Aritmética</a:t>
            </a:r>
            <a:r>
              <a:rPr lang="en-US" dirty="0"/>
              <a:t> - </a:t>
            </a:r>
            <a:r>
              <a:rPr lang="en-US" dirty="0" err="1"/>
              <a:t>Lógica</a:t>
            </a:r>
            <a:endParaRPr lang="es-NI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79512" y="1412776"/>
            <a:ext cx="8784976" cy="1872208"/>
          </a:xfrm>
        </p:spPr>
        <p:txBody>
          <a:bodyPr/>
          <a:lstStyle/>
          <a:p>
            <a:pPr marL="571500" indent="-571500"/>
            <a:r>
              <a:rPr lang="en-US" sz="3600" dirty="0"/>
              <a:t>En </a:t>
            </a:r>
            <a:r>
              <a:rPr lang="en-US" sz="3600" dirty="0" err="1"/>
              <a:t>nuestro</a:t>
            </a:r>
            <a:r>
              <a:rPr lang="en-US" sz="3600" dirty="0"/>
              <a:t> </a:t>
            </a:r>
            <a:r>
              <a:rPr lang="en-US" sz="3600" dirty="0" err="1"/>
              <a:t>diagrama</a:t>
            </a:r>
            <a:r>
              <a:rPr lang="en-US" sz="3600" dirty="0"/>
              <a:t> de </a:t>
            </a:r>
            <a:r>
              <a:rPr lang="en-US" sz="3600" dirty="0" err="1"/>
              <a:t>estructura</a:t>
            </a:r>
            <a:r>
              <a:rPr lang="en-US" sz="3600" dirty="0"/>
              <a:t> la </a:t>
            </a:r>
            <a:r>
              <a:rPr lang="en-US" sz="3600" dirty="0" err="1"/>
              <a:t>representamos</a:t>
            </a:r>
            <a:r>
              <a:rPr lang="en-US" sz="3600" dirty="0"/>
              <a:t> con el </a:t>
            </a:r>
            <a:r>
              <a:rPr lang="en-US" sz="3600" dirty="0" err="1"/>
              <a:t>siguiente</a:t>
            </a:r>
            <a:r>
              <a:rPr lang="en-US" sz="3600" dirty="0"/>
              <a:t> </a:t>
            </a:r>
            <a:r>
              <a:rPr lang="en-US" sz="3600" dirty="0" err="1"/>
              <a:t>símbolo</a:t>
            </a:r>
            <a:r>
              <a:rPr lang="en-US" sz="3600" dirty="0"/>
              <a:t>: </a:t>
            </a:r>
            <a:endParaRPr lang="es-NI" sz="3600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NI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NI"/>
          </a:p>
        </p:txBody>
      </p:sp>
      <p:pic>
        <p:nvPicPr>
          <p:cNvPr id="1617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9952" y="2780928"/>
            <a:ext cx="3600400" cy="31046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8" name="7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5496913"/>
              </p:ext>
            </p:extLst>
          </p:nvPr>
        </p:nvGraphicFramePr>
        <p:xfrm>
          <a:off x="611561" y="3717032"/>
          <a:ext cx="3024336" cy="222504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7920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41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Tabla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de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Funciones</a:t>
                      </a:r>
                      <a:endParaRPr lang="es-NI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NI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NI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S</a:t>
                      </a:r>
                      <a:r>
                        <a:rPr lang="en-US" baseline="-250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s-NI" baseline="-25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S</a:t>
                      </a:r>
                      <a:r>
                        <a:rPr lang="en-US" baseline="-25000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s-NI" baseline="-25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Z</a:t>
                      </a:r>
                      <a:endParaRPr lang="es-NI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s-NI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s-NI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 + Y</a:t>
                      </a:r>
                      <a:endParaRPr lang="es-NI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s-NI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s-NI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 - Y</a:t>
                      </a:r>
                      <a:endParaRPr lang="es-NI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s-NI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s-NI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 </a:t>
                      </a:r>
                      <a:r>
                        <a:rPr lang="en-US" dirty="0">
                          <a:sym typeface="Symbol"/>
                        </a:rPr>
                        <a:t> Y</a:t>
                      </a:r>
                      <a:endParaRPr lang="es-NI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s-NI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s-NI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 </a:t>
                      </a:r>
                      <a:r>
                        <a:rPr lang="en-US" dirty="0">
                          <a:sym typeface="Symbol"/>
                        </a:rPr>
                        <a:t> Y</a:t>
                      </a:r>
                      <a:endParaRPr lang="es-NI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7809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2000"/>
                                        <p:tgtEl>
                                          <p:spTgt spid="161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Unidad</a:t>
            </a:r>
            <a:r>
              <a:rPr lang="en-US" dirty="0"/>
              <a:t> </a:t>
            </a:r>
            <a:r>
              <a:rPr lang="en-US" dirty="0" err="1"/>
              <a:t>Aritmética</a:t>
            </a:r>
            <a:r>
              <a:rPr lang="en-US" dirty="0"/>
              <a:t> - </a:t>
            </a:r>
            <a:r>
              <a:rPr lang="en-US" dirty="0" err="1"/>
              <a:t>Lógica</a:t>
            </a:r>
            <a:endParaRPr lang="es-NI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79512" y="1412776"/>
            <a:ext cx="8784976" cy="1152128"/>
          </a:xfrm>
        </p:spPr>
        <p:txBody>
          <a:bodyPr/>
          <a:lstStyle/>
          <a:p>
            <a:pPr marL="571500" indent="-571500"/>
            <a:r>
              <a:rPr lang="en-US" dirty="0" err="1"/>
              <a:t>Implementación</a:t>
            </a:r>
            <a:r>
              <a:rPr lang="en-US" dirty="0"/>
              <a:t> de la </a:t>
            </a:r>
            <a:r>
              <a:rPr lang="en-US" dirty="0" err="1"/>
              <a:t>multiplicación</a:t>
            </a:r>
            <a:r>
              <a:rPr lang="en-US" dirty="0"/>
              <a:t> y </a:t>
            </a:r>
            <a:r>
              <a:rPr lang="en-US" dirty="0" err="1"/>
              <a:t>división</a:t>
            </a:r>
            <a:endParaRPr lang="en-US" dirty="0"/>
          </a:p>
          <a:p>
            <a:pPr marL="0" indent="0">
              <a:buNone/>
            </a:pPr>
            <a:endParaRPr lang="es-NI" sz="3600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NI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NI"/>
          </a:p>
        </p:txBody>
      </p:sp>
      <p:graphicFrame>
        <p:nvGraphicFramePr>
          <p:cNvPr id="5" name="4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5310235"/>
              </p:ext>
            </p:extLst>
          </p:nvPr>
        </p:nvGraphicFramePr>
        <p:xfrm>
          <a:off x="755576" y="2636914"/>
          <a:ext cx="7992888" cy="3096342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216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7349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NI" sz="1800" dirty="0">
                          <a:effectLst/>
                        </a:rPr>
                        <a:t>Operación</a:t>
                      </a:r>
                      <a:endParaRPr lang="es-NI" sz="1800" dirty="0">
                        <a:effectLst/>
                        <a:latin typeface="Garamond"/>
                        <a:ea typeface="Times New Roman"/>
                        <a:cs typeface="Arial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NI" sz="1800" dirty="0">
                          <a:effectLst/>
                        </a:rPr>
                        <a:t>Algoritmo / Técnica de implementación</a:t>
                      </a:r>
                      <a:endParaRPr lang="es-NI" sz="1800" dirty="0">
                        <a:effectLst/>
                        <a:latin typeface="Garamond"/>
                        <a:ea typeface="Times New Roman"/>
                        <a:cs typeface="Arial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121">
                <a:tc row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NI" sz="1800" dirty="0">
                          <a:effectLst/>
                        </a:rPr>
                        <a:t>Multiplicación</a:t>
                      </a:r>
                      <a:endParaRPr lang="es-NI" sz="1800" dirty="0">
                        <a:effectLst/>
                        <a:latin typeface="Garamond"/>
                        <a:ea typeface="Times New Roman"/>
                        <a:cs typeface="Arial"/>
                      </a:endParaRPr>
                    </a:p>
                  </a:txBody>
                  <a:tcPr marL="68580" marR="68580" marT="0" marB="0" anchor="ctr">
                    <a:solidFill>
                      <a:schemeClr val="accent5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NI" sz="1800">
                          <a:effectLst/>
                        </a:rPr>
                        <a:t>Algoritmo de Braun</a:t>
                      </a:r>
                      <a:endParaRPr lang="es-NI" sz="1800">
                        <a:effectLst/>
                        <a:latin typeface="Garamond"/>
                        <a:ea typeface="Times New Roman"/>
                        <a:cs typeface="Aria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121">
                <a:tc v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NI" sz="1800">
                          <a:effectLst/>
                        </a:rPr>
                        <a:t>Algoritmos basados en CSA y árboles de Wallace</a:t>
                      </a:r>
                      <a:endParaRPr lang="es-NI" sz="1800">
                        <a:effectLst/>
                        <a:latin typeface="Garamond"/>
                        <a:ea typeface="Times New Roman"/>
                        <a:cs typeface="Aria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121">
                <a:tc v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NI" sz="1800">
                          <a:effectLst/>
                        </a:rPr>
                        <a:t>Algoritmo de Booth</a:t>
                      </a:r>
                      <a:endParaRPr lang="es-NI" sz="1800">
                        <a:effectLst/>
                        <a:latin typeface="Garamond"/>
                        <a:ea typeface="Times New Roman"/>
                        <a:cs typeface="Aria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121">
                <a:tc v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NI" sz="1800">
                          <a:effectLst/>
                        </a:rPr>
                        <a:t>Usar una ROM como tabla</a:t>
                      </a:r>
                      <a:endParaRPr lang="es-NI" sz="1800">
                        <a:effectLst/>
                        <a:latin typeface="Garamond"/>
                        <a:ea typeface="Times New Roman"/>
                        <a:cs typeface="Aria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6121">
                <a:tc row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NI" sz="1800" dirty="0">
                          <a:effectLst/>
                        </a:rPr>
                        <a:t>División</a:t>
                      </a:r>
                      <a:endParaRPr lang="es-NI" sz="1800" dirty="0">
                        <a:effectLst/>
                        <a:latin typeface="Garamond"/>
                        <a:ea typeface="Times New Roman"/>
                        <a:cs typeface="Arial"/>
                      </a:endParaRPr>
                    </a:p>
                  </a:txBody>
                  <a:tcPr marL="68580" marR="68580" marT="0" marB="0" anchor="ctr">
                    <a:solidFill>
                      <a:schemeClr val="accent5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NI" sz="1800">
                          <a:effectLst/>
                        </a:rPr>
                        <a:t>Algoritmo Restoring Divide</a:t>
                      </a:r>
                      <a:endParaRPr lang="es-NI" sz="1800">
                        <a:effectLst/>
                        <a:latin typeface="Garamond"/>
                        <a:ea typeface="Times New Roman"/>
                        <a:cs typeface="Aria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6121">
                <a:tc v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NI" sz="1800">
                          <a:effectLst/>
                        </a:rPr>
                        <a:t>Algoritmo Non-Restoring Divide</a:t>
                      </a:r>
                      <a:endParaRPr lang="es-NI" sz="1800">
                        <a:effectLst/>
                        <a:latin typeface="Garamond"/>
                        <a:ea typeface="Times New Roman"/>
                        <a:cs typeface="Aria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6121">
                <a:tc vMerge="1"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NI" sz="1800" dirty="0">
                          <a:effectLst/>
                        </a:rPr>
                        <a:t>SRT (Algoritmo de </a:t>
                      </a:r>
                      <a:r>
                        <a:rPr lang="es-NI" sz="1800" dirty="0" err="1">
                          <a:effectLst/>
                        </a:rPr>
                        <a:t>Sweeney</a:t>
                      </a:r>
                      <a:r>
                        <a:rPr lang="es-NI" sz="1800" dirty="0">
                          <a:effectLst/>
                        </a:rPr>
                        <a:t>, Robertson y </a:t>
                      </a:r>
                      <a:r>
                        <a:rPr lang="es-NI" sz="1800" dirty="0" err="1">
                          <a:effectLst/>
                        </a:rPr>
                        <a:t>Tochter</a:t>
                      </a:r>
                      <a:r>
                        <a:rPr lang="es-NI" sz="1800" dirty="0">
                          <a:effectLst/>
                        </a:rPr>
                        <a:t>)</a:t>
                      </a:r>
                      <a:endParaRPr lang="es-NI" sz="1800" dirty="0">
                        <a:effectLst/>
                        <a:latin typeface="Garamond"/>
                        <a:ea typeface="Times New Roman"/>
                        <a:cs typeface="Aria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1544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Registros</a:t>
            </a:r>
            <a:r>
              <a:rPr lang="en-US" dirty="0"/>
              <a:t> de </a:t>
            </a:r>
            <a:r>
              <a:rPr lang="en-US" dirty="0" err="1"/>
              <a:t>Propósito</a:t>
            </a:r>
            <a:r>
              <a:rPr lang="en-US" dirty="0"/>
              <a:t> General</a:t>
            </a:r>
            <a:endParaRPr lang="es-NI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79512" y="1412776"/>
            <a:ext cx="8784976" cy="4824536"/>
          </a:xfrm>
        </p:spPr>
        <p:txBody>
          <a:bodyPr/>
          <a:lstStyle/>
          <a:p>
            <a:pPr marL="571500" indent="-571500"/>
            <a:r>
              <a:rPr lang="en-US" sz="3600" dirty="0" err="1"/>
              <a:t>Almacenan</a:t>
            </a:r>
            <a:r>
              <a:rPr lang="en-US" sz="3600" dirty="0"/>
              <a:t> los operandos en el CPU</a:t>
            </a:r>
          </a:p>
          <a:p>
            <a:pPr marL="571500" indent="-571500"/>
            <a:r>
              <a:rPr lang="en-US" sz="3600" dirty="0" err="1"/>
              <a:t>Algunos</a:t>
            </a:r>
            <a:r>
              <a:rPr lang="en-US" sz="3600" dirty="0"/>
              <a:t> </a:t>
            </a:r>
            <a:r>
              <a:rPr lang="en-US" sz="3600" dirty="0" err="1"/>
              <a:t>implementan</a:t>
            </a:r>
            <a:r>
              <a:rPr lang="en-US" sz="3600" dirty="0"/>
              <a:t> </a:t>
            </a:r>
            <a:r>
              <a:rPr lang="en-US" sz="3600" dirty="0" err="1"/>
              <a:t>operaciones</a:t>
            </a:r>
            <a:r>
              <a:rPr lang="en-US" sz="3600" dirty="0"/>
              <a:t> a </a:t>
            </a:r>
            <a:r>
              <a:rPr lang="en-US" sz="3600" dirty="0" err="1"/>
              <a:t>nivel</a:t>
            </a:r>
            <a:r>
              <a:rPr lang="en-US" sz="3600" dirty="0"/>
              <a:t> de bits </a:t>
            </a:r>
            <a:r>
              <a:rPr lang="en-US" sz="3600" dirty="0" err="1"/>
              <a:t>como</a:t>
            </a:r>
            <a:r>
              <a:rPr lang="en-US" sz="3600" dirty="0"/>
              <a:t> los </a:t>
            </a:r>
            <a:r>
              <a:rPr lang="en-US" sz="3600" dirty="0" err="1"/>
              <a:t>corrimientos</a:t>
            </a:r>
            <a:r>
              <a:rPr lang="en-US" sz="3600" dirty="0"/>
              <a:t>.</a:t>
            </a:r>
          </a:p>
          <a:p>
            <a:pPr marL="571500" indent="-571500"/>
            <a:r>
              <a:rPr lang="en-US" sz="3600" dirty="0" err="1"/>
              <a:t>Corrimiento</a:t>
            </a:r>
            <a:r>
              <a:rPr lang="en-US" sz="3600" dirty="0"/>
              <a:t> </a:t>
            </a:r>
            <a:r>
              <a:rPr lang="en-US" sz="3600" dirty="0" err="1"/>
              <a:t>lógico</a:t>
            </a:r>
            <a:r>
              <a:rPr lang="en-US" sz="3600" dirty="0"/>
              <a:t> y </a:t>
            </a:r>
            <a:r>
              <a:rPr lang="en-US" sz="3600" dirty="0" err="1"/>
              <a:t>aritmético</a:t>
            </a:r>
            <a:r>
              <a:rPr lang="en-US" sz="3600" dirty="0"/>
              <a:t>.</a:t>
            </a:r>
          </a:p>
          <a:p>
            <a:pPr marL="971550" lvl="1" indent="-571500"/>
            <a:r>
              <a:rPr lang="en-US" dirty="0"/>
              <a:t>El </a:t>
            </a:r>
            <a:r>
              <a:rPr lang="en-US" dirty="0" err="1"/>
              <a:t>aritmético</a:t>
            </a:r>
            <a:r>
              <a:rPr lang="en-US" dirty="0"/>
              <a:t> </a:t>
            </a:r>
            <a:r>
              <a:rPr lang="en-US" dirty="0" err="1"/>
              <a:t>derecho</a:t>
            </a:r>
            <a:r>
              <a:rPr lang="en-US" dirty="0"/>
              <a:t> </a:t>
            </a:r>
            <a:r>
              <a:rPr lang="en-US" dirty="0" err="1"/>
              <a:t>debe</a:t>
            </a:r>
            <a:r>
              <a:rPr lang="en-US" dirty="0"/>
              <a:t> </a:t>
            </a:r>
            <a:r>
              <a:rPr lang="en-US" dirty="0" err="1"/>
              <a:t>mantener</a:t>
            </a:r>
            <a:r>
              <a:rPr lang="en-US" dirty="0"/>
              <a:t> el bit de </a:t>
            </a:r>
            <a:r>
              <a:rPr lang="en-US" dirty="0" err="1"/>
              <a:t>signo</a:t>
            </a:r>
            <a:r>
              <a:rPr lang="en-US" dirty="0"/>
              <a:t> en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lugar</a:t>
            </a:r>
            <a:r>
              <a:rPr lang="en-US" dirty="0"/>
              <a:t> (se </a:t>
            </a:r>
            <a:r>
              <a:rPr lang="en-US" dirty="0" err="1"/>
              <a:t>rellena</a:t>
            </a:r>
            <a:r>
              <a:rPr lang="en-US" dirty="0"/>
              <a:t> con el MSB).</a:t>
            </a:r>
          </a:p>
          <a:p>
            <a:pPr marL="571500" indent="-571500"/>
            <a:r>
              <a:rPr lang="en-US" sz="3600" dirty="0" err="1"/>
              <a:t>Rotación</a:t>
            </a:r>
            <a:r>
              <a:rPr lang="en-US" sz="3600" dirty="0"/>
              <a:t> y </a:t>
            </a:r>
            <a:r>
              <a:rPr lang="en-US" sz="3600" dirty="0" err="1"/>
              <a:t>rotación</a:t>
            </a:r>
            <a:r>
              <a:rPr lang="en-US" sz="3600" dirty="0"/>
              <a:t> </a:t>
            </a:r>
            <a:r>
              <a:rPr lang="en-US" sz="3600" dirty="0" err="1"/>
              <a:t>sobre</a:t>
            </a:r>
            <a:r>
              <a:rPr lang="en-US" sz="3600" dirty="0"/>
              <a:t> el </a:t>
            </a:r>
            <a:r>
              <a:rPr lang="en-US" sz="3600" dirty="0" err="1"/>
              <a:t>acarreo</a:t>
            </a:r>
            <a:r>
              <a:rPr lang="en-US" sz="3600" dirty="0"/>
              <a:t>.</a:t>
            </a:r>
            <a:endParaRPr lang="es-NI" sz="3600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NI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987207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81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3492831"/>
            <a:ext cx="6657773" cy="33707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Registros</a:t>
            </a:r>
            <a:r>
              <a:rPr lang="en-US" dirty="0"/>
              <a:t> de </a:t>
            </a:r>
            <a:r>
              <a:rPr lang="en-US" dirty="0" err="1"/>
              <a:t>Propósito</a:t>
            </a:r>
            <a:r>
              <a:rPr lang="en-US" dirty="0"/>
              <a:t> General</a:t>
            </a:r>
            <a:endParaRPr lang="es-NI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79512" y="1196752"/>
            <a:ext cx="8784976" cy="5040560"/>
          </a:xfrm>
        </p:spPr>
        <p:txBody>
          <a:bodyPr/>
          <a:lstStyle/>
          <a:p>
            <a:pPr marL="571500" indent="-571500"/>
            <a:r>
              <a:rPr lang="en-US" sz="3600" dirty="0"/>
              <a:t>Flip-Flop (FF) </a:t>
            </a:r>
            <a:r>
              <a:rPr lang="en-US" sz="3600" dirty="0" err="1"/>
              <a:t>permite</a:t>
            </a:r>
            <a:r>
              <a:rPr lang="en-US" sz="3600" dirty="0"/>
              <a:t> </a:t>
            </a:r>
            <a:r>
              <a:rPr lang="en-US" sz="3600" dirty="0" err="1"/>
              <a:t>almacenar</a:t>
            </a:r>
            <a:r>
              <a:rPr lang="en-US" sz="3600" dirty="0"/>
              <a:t> 1 bit.</a:t>
            </a:r>
          </a:p>
          <a:p>
            <a:pPr marL="571500" indent="-571500"/>
            <a:r>
              <a:rPr lang="en-US" sz="3600" dirty="0" err="1"/>
              <a:t>Registros</a:t>
            </a:r>
            <a:r>
              <a:rPr lang="en-US" sz="3600" dirty="0"/>
              <a:t> de </a:t>
            </a:r>
            <a:r>
              <a:rPr lang="en-US" sz="3600" dirty="0" err="1"/>
              <a:t>Propósito</a:t>
            </a:r>
            <a:r>
              <a:rPr lang="en-US" sz="3600" dirty="0"/>
              <a:t> General (GPR o RPG) son </a:t>
            </a:r>
            <a:r>
              <a:rPr lang="en-US" sz="3600" dirty="0" err="1"/>
              <a:t>conjuntos</a:t>
            </a:r>
            <a:r>
              <a:rPr lang="en-US" sz="3600" dirty="0"/>
              <a:t> de n </a:t>
            </a:r>
            <a:r>
              <a:rPr lang="en-US" sz="3600" dirty="0" err="1"/>
              <a:t>celdas</a:t>
            </a:r>
            <a:r>
              <a:rPr lang="en-US" sz="3600" dirty="0"/>
              <a:t> de 1 bit </a:t>
            </a:r>
            <a:r>
              <a:rPr lang="en-US" sz="3600" dirty="0" err="1"/>
              <a:t>basadas</a:t>
            </a:r>
            <a:r>
              <a:rPr lang="en-US" sz="3600" dirty="0"/>
              <a:t> en FF + </a:t>
            </a:r>
            <a:r>
              <a:rPr lang="en-US" sz="3600" dirty="0" err="1"/>
              <a:t>lógica</a:t>
            </a:r>
            <a:r>
              <a:rPr lang="en-US" sz="3600" dirty="0"/>
              <a:t> de control.</a:t>
            </a:r>
            <a:endParaRPr lang="es-NI" sz="3600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NI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060361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Registros</a:t>
            </a:r>
            <a:r>
              <a:rPr lang="en-US" dirty="0"/>
              <a:t> de </a:t>
            </a:r>
            <a:r>
              <a:rPr lang="en-US" dirty="0" err="1"/>
              <a:t>Propósito</a:t>
            </a:r>
            <a:r>
              <a:rPr lang="en-US" dirty="0"/>
              <a:t> General</a:t>
            </a:r>
            <a:endParaRPr lang="es-NI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79512" y="1196752"/>
            <a:ext cx="8784976" cy="5040560"/>
          </a:xfrm>
        </p:spPr>
        <p:txBody>
          <a:bodyPr/>
          <a:lstStyle/>
          <a:p>
            <a:pPr marL="571500" indent="-571500"/>
            <a:r>
              <a:rPr lang="en-US" sz="3600" dirty="0" err="1"/>
              <a:t>Celdas</a:t>
            </a:r>
            <a:r>
              <a:rPr lang="en-US" sz="3600" dirty="0"/>
              <a:t> de 1 bit </a:t>
            </a:r>
            <a:r>
              <a:rPr lang="en-US" sz="3600" dirty="0" err="1"/>
              <a:t>basada</a:t>
            </a:r>
            <a:r>
              <a:rPr lang="en-US" sz="3600" dirty="0"/>
              <a:t> en FF </a:t>
            </a:r>
            <a:r>
              <a:rPr lang="en-US" sz="3600" dirty="0" err="1"/>
              <a:t>tipo</a:t>
            </a:r>
            <a:r>
              <a:rPr lang="en-US" sz="3600" dirty="0"/>
              <a:t> D + un mux para la </a:t>
            </a:r>
            <a:r>
              <a:rPr lang="en-US" sz="3600" dirty="0" err="1"/>
              <a:t>lógica</a:t>
            </a:r>
            <a:r>
              <a:rPr lang="en-US" sz="3600" dirty="0"/>
              <a:t> de control.</a:t>
            </a:r>
            <a:endParaRPr lang="es-NI" sz="3600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NI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NI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NI"/>
          </a:p>
        </p:txBody>
      </p:sp>
      <p:graphicFrame>
        <p:nvGraphicFramePr>
          <p:cNvPr id="7" name="6 Objet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2350730"/>
              </p:ext>
            </p:extLst>
          </p:nvPr>
        </p:nvGraphicFramePr>
        <p:xfrm>
          <a:off x="1187624" y="2335838"/>
          <a:ext cx="6984776" cy="43335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60" name="Visio" r:id="rId3" imgW="3732276" imgH="2322576" progId="Visio.Drawing.11">
                  <p:embed/>
                </p:oleObj>
              </mc:Choice>
              <mc:Fallback>
                <p:oleObj name="Visio" r:id="rId3" imgW="3732276" imgH="2322576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624" y="2335838"/>
                        <a:ext cx="6984776" cy="433352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60465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Registros</a:t>
            </a:r>
            <a:r>
              <a:rPr lang="en-US" dirty="0"/>
              <a:t> de </a:t>
            </a:r>
            <a:r>
              <a:rPr lang="en-US" dirty="0" err="1"/>
              <a:t>Propósito</a:t>
            </a:r>
            <a:r>
              <a:rPr lang="en-US" dirty="0"/>
              <a:t> General</a:t>
            </a:r>
            <a:endParaRPr lang="es-NI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79512" y="1196752"/>
            <a:ext cx="8784976" cy="5040560"/>
          </a:xfrm>
        </p:spPr>
        <p:txBody>
          <a:bodyPr/>
          <a:lstStyle/>
          <a:p>
            <a:pPr marL="571500" indent="-571500"/>
            <a:r>
              <a:rPr lang="en-US" sz="3600" dirty="0"/>
              <a:t>GPR </a:t>
            </a:r>
            <a:r>
              <a:rPr lang="en-US" sz="3600" dirty="0" err="1"/>
              <a:t>desplazador</a:t>
            </a:r>
            <a:r>
              <a:rPr lang="en-US" sz="3600" dirty="0"/>
              <a:t> de 4 bits.</a:t>
            </a:r>
            <a:endParaRPr lang="es-NI" sz="3600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NI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NI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NI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NI"/>
          </a:p>
        </p:txBody>
      </p:sp>
      <p:graphicFrame>
        <p:nvGraphicFramePr>
          <p:cNvPr id="9" name="8 Objet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1757401"/>
              </p:ext>
            </p:extLst>
          </p:nvPr>
        </p:nvGraphicFramePr>
        <p:xfrm>
          <a:off x="539552" y="1916832"/>
          <a:ext cx="8352928" cy="46716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884" name="Visio" r:id="rId3" imgW="4160520" imgH="2328672" progId="Visio.Drawing.11">
                  <p:embed/>
                </p:oleObj>
              </mc:Choice>
              <mc:Fallback>
                <p:oleObj name="Visio" r:id="rId3" imgW="4160520" imgH="2328672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552" y="1916832"/>
                        <a:ext cx="8352928" cy="467169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36014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Registros</a:t>
            </a:r>
            <a:r>
              <a:rPr lang="en-US" dirty="0"/>
              <a:t> de </a:t>
            </a:r>
            <a:r>
              <a:rPr lang="en-US" dirty="0" err="1"/>
              <a:t>Propósito</a:t>
            </a:r>
            <a:r>
              <a:rPr lang="en-US"/>
              <a:t> General</a:t>
            </a:r>
            <a:endParaRPr lang="es-NI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Tabla</a:t>
            </a:r>
            <a:r>
              <a:rPr lang="en-US" dirty="0"/>
              <a:t> de </a:t>
            </a:r>
            <a:r>
              <a:rPr lang="en-US" dirty="0" err="1"/>
              <a:t>funciones</a:t>
            </a:r>
            <a:r>
              <a:rPr lang="en-US" dirty="0"/>
              <a:t> del GPR </a:t>
            </a:r>
            <a:r>
              <a:rPr lang="en-US" dirty="0" err="1"/>
              <a:t>desplazador</a:t>
            </a:r>
            <a:endParaRPr lang="es-NI" dirty="0"/>
          </a:p>
        </p:txBody>
      </p:sp>
      <p:pic>
        <p:nvPicPr>
          <p:cNvPr id="1658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1588" y="2564904"/>
            <a:ext cx="6600825" cy="3733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21416440"/>
      </p:ext>
    </p:extLst>
  </p:cSld>
  <p:clrMapOvr>
    <a:masterClrMapping/>
  </p:clrMapOvr>
</p:sld>
</file>

<file path=ppt/theme/theme1.xml><?xml version="1.0" encoding="utf-8"?>
<a:theme xmlns:a="http://schemas.openxmlformats.org/drawingml/2006/main" name="Diseño predeterminado">
  <a:themeElements>
    <a:clrScheme name="Diseño predetermin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iseño predeterminado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TC101859861[[fn=Feria comercial]]</Template>
  <TotalTime>6937</TotalTime>
  <Words>1934</Words>
  <Application>Microsoft Office PowerPoint</Application>
  <PresentationFormat>Presentación en pantalla (4:3)</PresentationFormat>
  <Paragraphs>312</Paragraphs>
  <Slides>43</Slides>
  <Notes>0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3</vt:i4>
      </vt:variant>
      <vt:variant>
        <vt:lpstr>Títulos de diapositiva</vt:lpstr>
      </vt:variant>
      <vt:variant>
        <vt:i4>43</vt:i4>
      </vt:variant>
    </vt:vector>
  </HeadingPairs>
  <TitlesOfParts>
    <vt:vector size="53" baseType="lpstr">
      <vt:lpstr>Arial</vt:lpstr>
      <vt:lpstr>Candara</vt:lpstr>
      <vt:lpstr>Garamond</vt:lpstr>
      <vt:lpstr>Symbol</vt:lpstr>
      <vt:lpstr>Times New Roman</vt:lpstr>
      <vt:lpstr>Wingdings</vt:lpstr>
      <vt:lpstr>Diseño predeterminado</vt:lpstr>
      <vt:lpstr>Equation</vt:lpstr>
      <vt:lpstr>Hoja de cálculo</vt:lpstr>
      <vt:lpstr>Visio</vt:lpstr>
      <vt:lpstr>Unidad 4: Unidad de Ejecución</vt:lpstr>
      <vt:lpstr>La función de procesamiento</vt:lpstr>
      <vt:lpstr>Representación de Datos</vt:lpstr>
      <vt:lpstr>Números Enteros</vt:lpstr>
      <vt:lpstr>Enteros con signo</vt:lpstr>
      <vt:lpstr>Signo - Magnitud</vt:lpstr>
      <vt:lpstr>Complemento a r-1</vt:lpstr>
      <vt:lpstr>Complemento a 1</vt:lpstr>
      <vt:lpstr>Complemento a r</vt:lpstr>
      <vt:lpstr>Complemento a 2</vt:lpstr>
      <vt:lpstr>Complemento a 2</vt:lpstr>
      <vt:lpstr>Exceso a M o Bias-m</vt:lpstr>
      <vt:lpstr>Exceso a M</vt:lpstr>
      <vt:lpstr>Exceso a M</vt:lpstr>
      <vt:lpstr>Otros sistemas de representación</vt:lpstr>
      <vt:lpstr>Otros sistemas de representación</vt:lpstr>
      <vt:lpstr>Números en punto flotante</vt:lpstr>
      <vt:lpstr>Números en punto flotante</vt:lpstr>
      <vt:lpstr>Otros tipos de datos</vt:lpstr>
      <vt:lpstr>Unidad Aritmética Lógica</vt:lpstr>
      <vt:lpstr>Unidad Aritmética</vt:lpstr>
      <vt:lpstr>Unidad Aritmética</vt:lpstr>
      <vt:lpstr>Unidad Aritmética</vt:lpstr>
      <vt:lpstr>Unidad Aritmética</vt:lpstr>
      <vt:lpstr>Unidad Aritmética</vt:lpstr>
      <vt:lpstr>Unidad Aritmética</vt:lpstr>
      <vt:lpstr>Unidad Aritmética</vt:lpstr>
      <vt:lpstr>Unidad Aritmética</vt:lpstr>
      <vt:lpstr>Unidad Aritmética</vt:lpstr>
      <vt:lpstr>Unidad Aritmética</vt:lpstr>
      <vt:lpstr>Unidad Aritmética</vt:lpstr>
      <vt:lpstr>Unidad Lógica</vt:lpstr>
      <vt:lpstr>Unidad Lógica</vt:lpstr>
      <vt:lpstr>Unidad Lógica</vt:lpstr>
      <vt:lpstr>Unidad Lógica</vt:lpstr>
      <vt:lpstr>Unidad Aritmética - Lógica</vt:lpstr>
      <vt:lpstr>Unidad Aritmética - Lógica</vt:lpstr>
      <vt:lpstr>Unidad Aritmética - Lógica</vt:lpstr>
      <vt:lpstr>Registros de Propósito General</vt:lpstr>
      <vt:lpstr>Registros de Propósito General</vt:lpstr>
      <vt:lpstr>Registros de Propósito General</vt:lpstr>
      <vt:lpstr>Registros de Propósito General</vt:lpstr>
      <vt:lpstr>Registros de Propósito General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ING. MARLOVIO JOSE SEVILLA HERNANDEZ</dc:creator>
  <cp:lastModifiedBy>UNI-ADMON</cp:lastModifiedBy>
  <cp:revision>815</cp:revision>
  <dcterms:created xsi:type="dcterms:W3CDTF">2010-05-23T14:28:12Z</dcterms:created>
  <dcterms:modified xsi:type="dcterms:W3CDTF">2025-10-14T17:49:42Z</dcterms:modified>
</cp:coreProperties>
</file>