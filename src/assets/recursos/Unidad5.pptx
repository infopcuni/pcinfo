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307" r:id="rId4"/>
    <p:sldId id="309" r:id="rId5"/>
    <p:sldId id="308" r:id="rId6"/>
    <p:sldId id="259" r:id="rId7"/>
    <p:sldId id="261" r:id="rId8"/>
    <p:sldId id="263" r:id="rId9"/>
    <p:sldId id="258" r:id="rId10"/>
    <p:sldId id="262" r:id="rId11"/>
    <p:sldId id="264" r:id="rId12"/>
    <p:sldId id="260" r:id="rId13"/>
    <p:sldId id="265" r:id="rId14"/>
    <p:sldId id="267" r:id="rId15"/>
    <p:sldId id="268" r:id="rId16"/>
    <p:sldId id="269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1" r:id="rId27"/>
    <p:sldId id="320" r:id="rId28"/>
    <p:sldId id="270" r:id="rId29"/>
    <p:sldId id="271" r:id="rId30"/>
    <p:sldId id="266" r:id="rId31"/>
    <p:sldId id="272" r:id="rId32"/>
    <p:sldId id="273" r:id="rId33"/>
    <p:sldId id="276" r:id="rId34"/>
    <p:sldId id="275" r:id="rId35"/>
    <p:sldId id="277" r:id="rId36"/>
    <p:sldId id="279" r:id="rId37"/>
    <p:sldId id="278" r:id="rId38"/>
    <p:sldId id="322" r:id="rId39"/>
    <p:sldId id="323" r:id="rId40"/>
    <p:sldId id="274" r:id="rId41"/>
    <p:sldId id="280" r:id="rId42"/>
    <p:sldId id="283" r:id="rId43"/>
    <p:sldId id="281" r:id="rId44"/>
    <p:sldId id="282" r:id="rId45"/>
    <p:sldId id="284" r:id="rId46"/>
    <p:sldId id="285" r:id="rId47"/>
    <p:sldId id="286" r:id="rId48"/>
    <p:sldId id="287" r:id="rId49"/>
    <p:sldId id="288" r:id="rId50"/>
    <p:sldId id="289" r:id="rId51"/>
    <p:sldId id="290" r:id="rId52"/>
    <p:sldId id="291" r:id="rId53"/>
    <p:sldId id="292" r:id="rId54"/>
    <p:sldId id="293" r:id="rId55"/>
    <p:sldId id="294" r:id="rId56"/>
    <p:sldId id="295" r:id="rId57"/>
    <p:sldId id="296" r:id="rId58"/>
    <p:sldId id="297" r:id="rId59"/>
    <p:sldId id="300" r:id="rId60"/>
    <p:sldId id="301" r:id="rId61"/>
    <p:sldId id="302" r:id="rId62"/>
    <p:sldId id="304" r:id="rId63"/>
    <p:sldId id="305" r:id="rId64"/>
    <p:sldId id="306" r:id="rId65"/>
    <p:sldId id="324" r:id="rId66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61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3" y="5617773"/>
            <a:ext cx="7382935" cy="537211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1" y="1009651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3" y="702070"/>
            <a:ext cx="567831" cy="567831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1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2" y="3736623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7A847CFC-816F-41D0-AAC0-9BF4FEBC753E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6" y="5357592"/>
            <a:ext cx="5034845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2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1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9" y="3725335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4"/>
            <a:ext cx="3200400" cy="360521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71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9" y="6058037"/>
            <a:ext cx="7721601" cy="537211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4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8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6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10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8" y="293954"/>
            <a:ext cx="567831" cy="567831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3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4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7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700" y="5885672"/>
            <a:ext cx="1213821" cy="365125"/>
          </a:xfrm>
        </p:spPr>
        <p:txBody>
          <a:bodyPr/>
          <a:lstStyle/>
          <a:p>
            <a:fld id="{7A847CFC-816F-41D0-AAC0-9BF4FEBC753E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6" y="5829262"/>
            <a:ext cx="3522607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5" y="5896962"/>
            <a:ext cx="554023" cy="365125"/>
          </a:xfrm>
        </p:spPr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9" y="6058037"/>
            <a:ext cx="7721601" cy="537211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6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60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4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70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8" y="293954"/>
            <a:ext cx="567831" cy="567831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7" y="1207273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8" y="5888738"/>
            <a:ext cx="1213821" cy="365125"/>
          </a:xfrm>
        </p:spPr>
        <p:txBody>
          <a:bodyPr/>
          <a:lstStyle/>
          <a:p>
            <a:fld id="{7A847CFC-816F-41D0-AAC0-9BF4FEBC753E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71" y="5831038"/>
            <a:ext cx="3319043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90" y="5900027"/>
            <a:ext cx="554023" cy="365125"/>
          </a:xfrm>
        </p:spPr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3" y="925691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3" y="1106313"/>
            <a:ext cx="5178779" cy="440266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2" y="6069329"/>
            <a:ext cx="7920991" cy="537211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1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3" y="273091"/>
            <a:ext cx="567831" cy="567831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5" y="817583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2" y="2119258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90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7A847CFC-816F-41D0-AAC0-9BF4FEBC753E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4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6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7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8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9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0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1.e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4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5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6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7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8.w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0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31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32.e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Unidad</a:t>
            </a:r>
            <a:r>
              <a:rPr lang="en-US" dirty="0"/>
              <a:t> 5: </a:t>
            </a:r>
            <a:r>
              <a:rPr lang="en-US" dirty="0" err="1"/>
              <a:t>Unidad</a:t>
            </a:r>
            <a:r>
              <a:rPr lang="en-US" dirty="0"/>
              <a:t> de Control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996664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función</a:t>
            </a:r>
            <a:r>
              <a:rPr lang="en-US" dirty="0"/>
              <a:t> de control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988841"/>
            <a:ext cx="5112568" cy="4137323"/>
          </a:xfrm>
        </p:spPr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Cuál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el </a:t>
            </a:r>
            <a:r>
              <a:rPr lang="en-US" dirty="0" err="1"/>
              <a:t>trabajo</a:t>
            </a:r>
            <a:r>
              <a:rPr lang="en-US" dirty="0"/>
              <a:t> del CPU?</a:t>
            </a:r>
          </a:p>
          <a:p>
            <a:pPr lvl="1"/>
            <a:r>
              <a:rPr lang="en-US" dirty="0" err="1"/>
              <a:t>Ejecutar</a:t>
            </a:r>
            <a:r>
              <a:rPr lang="en-US" dirty="0"/>
              <a:t> </a:t>
            </a:r>
            <a:r>
              <a:rPr lang="en-US" dirty="0" err="1"/>
              <a:t>Instrucciones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lo </a:t>
            </a:r>
            <a:r>
              <a:rPr lang="en-US" dirty="0" err="1"/>
              <a:t>realiza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Desarrollando</a:t>
            </a:r>
            <a:r>
              <a:rPr lang="en-US" dirty="0"/>
              <a:t> </a:t>
            </a:r>
            <a:r>
              <a:rPr lang="en-US" dirty="0" err="1"/>
              <a:t>continuamente</a:t>
            </a:r>
            <a:r>
              <a:rPr lang="en-US" dirty="0"/>
              <a:t> un “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instrucción</a:t>
            </a:r>
            <a:r>
              <a:rPr lang="en-US" dirty="0"/>
              <a:t>”</a:t>
            </a:r>
          </a:p>
          <a:p>
            <a:pPr marL="457200" lvl="1" indent="0">
              <a:buNone/>
            </a:pPr>
            <a:endParaRPr lang="es-NI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34" y="3861048"/>
            <a:ext cx="2486025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1772816"/>
            <a:ext cx="3169729" cy="1739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2150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función</a:t>
            </a:r>
            <a:r>
              <a:rPr lang="en-US" dirty="0"/>
              <a:t> de control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988841"/>
            <a:ext cx="7344816" cy="41373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La </a:t>
            </a:r>
            <a:r>
              <a:rPr lang="en-US" dirty="0" err="1"/>
              <a:t>unidad</a:t>
            </a:r>
            <a:r>
              <a:rPr lang="en-US" dirty="0"/>
              <a:t> de control </a:t>
            </a:r>
            <a:r>
              <a:rPr lang="en-US" dirty="0" err="1"/>
              <a:t>es</a:t>
            </a:r>
            <a:r>
              <a:rPr lang="en-US" dirty="0"/>
              <a:t> la </a:t>
            </a:r>
            <a:r>
              <a:rPr lang="en-US" dirty="0" err="1"/>
              <a:t>encargada</a:t>
            </a:r>
            <a:r>
              <a:rPr lang="en-US" dirty="0"/>
              <a:t> de </a:t>
            </a:r>
            <a:r>
              <a:rPr lang="en-US" dirty="0" err="1"/>
              <a:t>coordinar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instrucción</a:t>
            </a:r>
            <a:r>
              <a:rPr lang="en-US" dirty="0"/>
              <a:t>.</a:t>
            </a:r>
          </a:p>
          <a:p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lo </a:t>
            </a:r>
            <a:r>
              <a:rPr lang="en-US" dirty="0" err="1"/>
              <a:t>hace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Activando</a:t>
            </a:r>
            <a:r>
              <a:rPr lang="en-US" dirty="0"/>
              <a:t> </a:t>
            </a:r>
            <a:r>
              <a:rPr lang="en-US" dirty="0" err="1"/>
              <a:t>líneas</a:t>
            </a:r>
            <a:r>
              <a:rPr lang="en-US" dirty="0"/>
              <a:t> o “</a:t>
            </a:r>
            <a:r>
              <a:rPr lang="en-US" dirty="0" err="1"/>
              <a:t>señales</a:t>
            </a:r>
            <a:r>
              <a:rPr lang="en-US" dirty="0"/>
              <a:t>” de control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gobiernan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dispositivo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un “</a:t>
            </a:r>
            <a:r>
              <a:rPr lang="en-US" dirty="0" err="1"/>
              <a:t>titiritero</a:t>
            </a:r>
            <a:r>
              <a:rPr lang="en-US" dirty="0"/>
              <a:t>”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hala</a:t>
            </a:r>
            <a:r>
              <a:rPr lang="en-US" dirty="0"/>
              <a:t>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cuerdas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controlan</a:t>
            </a:r>
            <a:r>
              <a:rPr lang="en-US" dirty="0"/>
              <a:t> los </a:t>
            </a:r>
            <a:r>
              <a:rPr lang="en-US" dirty="0" err="1"/>
              <a:t>dispositivos</a:t>
            </a:r>
            <a:r>
              <a:rPr lang="en-US" dirty="0"/>
              <a:t>:</a:t>
            </a:r>
          </a:p>
          <a:p>
            <a:pPr lvl="1"/>
            <a:r>
              <a:rPr lang="en-US" dirty="0" err="1">
                <a:solidFill>
                  <a:srgbClr val="0070C0"/>
                </a:solidFill>
              </a:rPr>
              <a:t>Por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ejemplo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para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cargar</a:t>
            </a:r>
            <a:r>
              <a:rPr lang="en-US" dirty="0">
                <a:solidFill>
                  <a:srgbClr val="0070C0"/>
                </a:solidFill>
              </a:rPr>
              <a:t> un valor en el </a:t>
            </a:r>
            <a:r>
              <a:rPr lang="en-US" dirty="0" err="1">
                <a:solidFill>
                  <a:srgbClr val="0070C0"/>
                </a:solidFill>
              </a:rPr>
              <a:t>registro</a:t>
            </a:r>
            <a:r>
              <a:rPr lang="en-US" dirty="0">
                <a:solidFill>
                  <a:srgbClr val="0070C0"/>
                </a:solidFill>
              </a:rPr>
              <a:t> de </a:t>
            </a:r>
            <a:r>
              <a:rPr lang="en-US" dirty="0" err="1">
                <a:solidFill>
                  <a:srgbClr val="0070C0"/>
                </a:solidFill>
              </a:rPr>
              <a:t>propósito</a:t>
            </a:r>
            <a:r>
              <a:rPr lang="en-US" dirty="0">
                <a:solidFill>
                  <a:srgbClr val="0070C0"/>
                </a:solidFill>
              </a:rPr>
              <a:t> general </a:t>
            </a:r>
            <a:r>
              <a:rPr lang="en-US" dirty="0" err="1">
                <a:solidFill>
                  <a:srgbClr val="0070C0"/>
                </a:solidFill>
              </a:rPr>
              <a:t>estudiado</a:t>
            </a:r>
            <a:r>
              <a:rPr lang="en-US" dirty="0">
                <a:solidFill>
                  <a:srgbClr val="0070C0"/>
                </a:solidFill>
              </a:rPr>
              <a:t> en la </a:t>
            </a:r>
            <a:r>
              <a:rPr lang="en-US" dirty="0" err="1">
                <a:solidFill>
                  <a:srgbClr val="0070C0"/>
                </a:solidFill>
              </a:rPr>
              <a:t>Unidad</a:t>
            </a:r>
            <a:r>
              <a:rPr lang="en-US" dirty="0">
                <a:solidFill>
                  <a:srgbClr val="0070C0"/>
                </a:solidFill>
              </a:rPr>
              <a:t> 4, </a:t>
            </a:r>
            <a:r>
              <a:rPr lang="en-US" dirty="0" err="1">
                <a:solidFill>
                  <a:srgbClr val="0070C0"/>
                </a:solidFill>
              </a:rPr>
              <a:t>es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necesario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activar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las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líneas</a:t>
            </a:r>
            <a:r>
              <a:rPr lang="en-US" dirty="0">
                <a:solidFill>
                  <a:srgbClr val="0070C0"/>
                </a:solidFill>
              </a:rPr>
              <a:t> de </a:t>
            </a:r>
            <a:r>
              <a:rPr lang="en-US" dirty="0" err="1">
                <a:solidFill>
                  <a:srgbClr val="0070C0"/>
                </a:solidFill>
              </a:rPr>
              <a:t>selección</a:t>
            </a:r>
            <a:r>
              <a:rPr lang="en-US" dirty="0">
                <a:solidFill>
                  <a:srgbClr val="0070C0"/>
                </a:solidFill>
              </a:rPr>
              <a:t> con los </a:t>
            </a:r>
            <a:r>
              <a:rPr lang="en-US" dirty="0" err="1">
                <a:solidFill>
                  <a:srgbClr val="0070C0"/>
                </a:solidFill>
              </a:rPr>
              <a:t>valores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correspondientes</a:t>
            </a:r>
            <a:r>
              <a:rPr lang="en-US" dirty="0">
                <a:solidFill>
                  <a:srgbClr val="0070C0"/>
                </a:solidFill>
              </a:rPr>
              <a:t>. La </a:t>
            </a:r>
            <a:r>
              <a:rPr lang="en-US" dirty="0" err="1">
                <a:solidFill>
                  <a:srgbClr val="0070C0"/>
                </a:solidFill>
              </a:rPr>
              <a:t>unidad</a:t>
            </a:r>
            <a:r>
              <a:rPr lang="en-US" dirty="0">
                <a:solidFill>
                  <a:srgbClr val="0070C0"/>
                </a:solidFill>
              </a:rPr>
              <a:t> de control se </a:t>
            </a:r>
            <a:r>
              <a:rPr lang="en-US" dirty="0" err="1">
                <a:solidFill>
                  <a:srgbClr val="0070C0"/>
                </a:solidFill>
              </a:rPr>
              <a:t>encarga</a:t>
            </a:r>
            <a:r>
              <a:rPr lang="en-US" dirty="0">
                <a:solidFill>
                  <a:srgbClr val="0070C0"/>
                </a:solidFill>
              </a:rPr>
              <a:t> de </a:t>
            </a:r>
            <a:r>
              <a:rPr lang="en-US" dirty="0" err="1">
                <a:solidFill>
                  <a:srgbClr val="0070C0"/>
                </a:solidFill>
              </a:rPr>
              <a:t>poner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esos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valores</a:t>
            </a:r>
            <a:r>
              <a:rPr lang="en-US" dirty="0">
                <a:solidFill>
                  <a:srgbClr val="0070C0"/>
                </a:solidFill>
              </a:rPr>
              <a:t> en </a:t>
            </a:r>
            <a:r>
              <a:rPr lang="en-US" dirty="0" err="1">
                <a:solidFill>
                  <a:srgbClr val="0070C0"/>
                </a:solidFill>
              </a:rPr>
              <a:t>esas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líneas</a:t>
            </a:r>
            <a:r>
              <a:rPr lang="en-US" dirty="0">
                <a:solidFill>
                  <a:srgbClr val="0070C0"/>
                </a:solidFill>
              </a:rPr>
              <a:t> en el </a:t>
            </a:r>
            <a:r>
              <a:rPr lang="en-US" dirty="0" err="1">
                <a:solidFill>
                  <a:srgbClr val="0070C0"/>
                </a:solidFill>
              </a:rPr>
              <a:t>momento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preciso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que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es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necesario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para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realizar</a:t>
            </a:r>
            <a:r>
              <a:rPr lang="en-US" dirty="0">
                <a:solidFill>
                  <a:srgbClr val="0070C0"/>
                </a:solidFill>
              </a:rPr>
              <a:t> la </a:t>
            </a:r>
            <a:r>
              <a:rPr lang="en-US" dirty="0" err="1">
                <a:solidFill>
                  <a:srgbClr val="0070C0"/>
                </a:solidFill>
              </a:rPr>
              <a:t>carga</a:t>
            </a:r>
            <a:r>
              <a:rPr lang="en-US" dirty="0">
                <a:solidFill>
                  <a:srgbClr val="0070C0"/>
                </a:solidFill>
              </a:rPr>
              <a:t>.</a:t>
            </a:r>
            <a:endParaRPr lang="es-NI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640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función</a:t>
            </a:r>
            <a:r>
              <a:rPr lang="en-US" dirty="0"/>
              <a:t> de control</a:t>
            </a:r>
            <a:endParaRPr lang="es-NI" dirty="0"/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976087"/>
              </p:ext>
            </p:extLst>
          </p:nvPr>
        </p:nvGraphicFramePr>
        <p:xfrm>
          <a:off x="1331640" y="2132856"/>
          <a:ext cx="5472410" cy="3060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5" name="Visio" r:id="rId3" imgW="4161599" imgH="2324615" progId="Visio.Drawing.11">
                  <p:embed/>
                </p:oleObj>
              </mc:Choice>
              <mc:Fallback>
                <p:oleObj name="Visio" r:id="rId3" imgW="4161599" imgH="2324615" progId="Visio.Drawing.11">
                  <p:embed/>
                  <p:pic>
                    <p:nvPicPr>
                      <p:cNvPr id="0" name="8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2132856"/>
                        <a:ext cx="5472410" cy="30606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4933529"/>
            <a:ext cx="2399928" cy="1357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0680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función</a:t>
            </a:r>
            <a:r>
              <a:rPr lang="en-US" dirty="0"/>
              <a:t> de control</a:t>
            </a:r>
            <a:endParaRPr lang="es-NI" dirty="0"/>
          </a:p>
        </p:txBody>
      </p:sp>
      <p:grpSp>
        <p:nvGrpSpPr>
          <p:cNvPr id="10" name="9 Grupo"/>
          <p:cNvGrpSpPr/>
          <p:nvPr/>
        </p:nvGrpSpPr>
        <p:grpSpPr>
          <a:xfrm>
            <a:off x="4860032" y="2708920"/>
            <a:ext cx="2160240" cy="2088232"/>
            <a:chOff x="4860032" y="2708920"/>
            <a:chExt cx="2160240" cy="2088232"/>
          </a:xfrm>
        </p:grpSpPr>
        <p:sp>
          <p:nvSpPr>
            <p:cNvPr id="5" name="4 Rectángulo"/>
            <p:cNvSpPr/>
            <p:nvPr/>
          </p:nvSpPr>
          <p:spPr>
            <a:xfrm>
              <a:off x="4860032" y="3429000"/>
              <a:ext cx="2160240" cy="648072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dirty="0"/>
                <a:t>RPG</a:t>
              </a:r>
            </a:p>
          </p:txBody>
        </p:sp>
        <p:cxnSp>
          <p:nvCxnSpPr>
            <p:cNvPr id="7" name="6 Conector recto de flecha"/>
            <p:cNvCxnSpPr>
              <a:endCxn id="5" idx="0"/>
            </p:cNvCxnSpPr>
            <p:nvPr/>
          </p:nvCxnSpPr>
          <p:spPr>
            <a:xfrm>
              <a:off x="5940152" y="2708920"/>
              <a:ext cx="0" cy="72008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>
              <a:off x="5940152" y="4077072"/>
              <a:ext cx="0" cy="72008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18 Grupo"/>
          <p:cNvGrpSpPr/>
          <p:nvPr/>
        </p:nvGrpSpPr>
        <p:grpSpPr>
          <a:xfrm>
            <a:off x="3916524" y="3645024"/>
            <a:ext cx="943508" cy="152400"/>
            <a:chOff x="3916524" y="3645024"/>
            <a:chExt cx="943508" cy="152400"/>
          </a:xfrm>
        </p:grpSpPr>
        <p:cxnSp>
          <p:nvCxnSpPr>
            <p:cNvPr id="12" name="11 Conector recto de flecha"/>
            <p:cNvCxnSpPr/>
            <p:nvPr/>
          </p:nvCxnSpPr>
          <p:spPr>
            <a:xfrm flipH="1">
              <a:off x="3923928" y="3645024"/>
              <a:ext cx="936104" cy="0"/>
            </a:xfrm>
            <a:prstGeom prst="straightConnector1">
              <a:avLst/>
            </a:prstGeom>
            <a:ln>
              <a:solidFill>
                <a:srgbClr val="00206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 de flecha"/>
            <p:cNvCxnSpPr/>
            <p:nvPr/>
          </p:nvCxnSpPr>
          <p:spPr>
            <a:xfrm flipH="1">
              <a:off x="3916524" y="3797424"/>
              <a:ext cx="936104" cy="0"/>
            </a:xfrm>
            <a:prstGeom prst="straightConnector1">
              <a:avLst/>
            </a:prstGeom>
            <a:ln>
              <a:solidFill>
                <a:srgbClr val="00206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13 Rectángulo redondeado"/>
          <p:cNvSpPr/>
          <p:nvPr/>
        </p:nvSpPr>
        <p:spPr>
          <a:xfrm>
            <a:off x="1358274" y="2492896"/>
            <a:ext cx="2232248" cy="2507702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2800" b="1" dirty="0"/>
              <a:t>Unidad de Control</a:t>
            </a:r>
          </a:p>
        </p:txBody>
      </p:sp>
      <p:grpSp>
        <p:nvGrpSpPr>
          <p:cNvPr id="20" name="19 Grupo"/>
          <p:cNvGrpSpPr/>
          <p:nvPr/>
        </p:nvGrpSpPr>
        <p:grpSpPr>
          <a:xfrm>
            <a:off x="3596932" y="3645024"/>
            <a:ext cx="1288740" cy="152400"/>
            <a:chOff x="3596932" y="3645024"/>
            <a:chExt cx="1288740" cy="152400"/>
          </a:xfrm>
        </p:grpSpPr>
        <p:cxnSp>
          <p:nvCxnSpPr>
            <p:cNvPr id="16" name="15 Conector recto de flecha"/>
            <p:cNvCxnSpPr/>
            <p:nvPr/>
          </p:nvCxnSpPr>
          <p:spPr>
            <a:xfrm>
              <a:off x="3596932" y="3645024"/>
              <a:ext cx="128874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 de flecha"/>
            <p:cNvCxnSpPr/>
            <p:nvPr/>
          </p:nvCxnSpPr>
          <p:spPr>
            <a:xfrm>
              <a:off x="3596932" y="3797424"/>
              <a:ext cx="128874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1526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610" y="332656"/>
            <a:ext cx="6965245" cy="1202485"/>
          </a:xfrm>
        </p:spPr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Instrucción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55576" y="1600200"/>
            <a:ext cx="8280920" cy="4709120"/>
          </a:xfrm>
        </p:spPr>
        <p:txBody>
          <a:bodyPr>
            <a:normAutofit/>
          </a:bodyPr>
          <a:lstStyle/>
          <a:p>
            <a:r>
              <a:rPr lang="en-US" b="1" dirty="0"/>
              <a:t>FETCH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Leer </a:t>
            </a:r>
            <a:r>
              <a:rPr lang="en-US" dirty="0" err="1"/>
              <a:t>próxima</a:t>
            </a:r>
            <a:r>
              <a:rPr lang="en-US" dirty="0"/>
              <a:t> </a:t>
            </a:r>
            <a:r>
              <a:rPr lang="en-US" dirty="0" err="1"/>
              <a:t>instrucción</a:t>
            </a:r>
            <a:r>
              <a:rPr lang="en-US" dirty="0"/>
              <a:t>: </a:t>
            </a:r>
            <a:r>
              <a:rPr lang="en-US" b="1" dirty="0">
                <a:solidFill>
                  <a:srgbClr val="7030A0"/>
                </a:solidFill>
              </a:rPr>
              <a:t>PC al MAR, </a:t>
            </a:r>
            <a:r>
              <a:rPr lang="en-US" b="1" dirty="0" err="1">
                <a:solidFill>
                  <a:srgbClr val="7030A0"/>
                </a:solidFill>
              </a:rPr>
              <a:t>Activar</a:t>
            </a:r>
            <a:r>
              <a:rPr lang="en-US" b="1" dirty="0">
                <a:solidFill>
                  <a:srgbClr val="7030A0"/>
                </a:solidFill>
              </a:rPr>
              <a:t> Read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Incrementar</a:t>
            </a:r>
            <a:r>
              <a:rPr lang="en-US" dirty="0"/>
              <a:t> el PC  </a:t>
            </a:r>
            <a:r>
              <a:rPr lang="en-US" b="1" dirty="0" err="1">
                <a:solidFill>
                  <a:srgbClr val="7030A0"/>
                </a:solidFill>
              </a:rPr>
              <a:t>Sumar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  <a:sym typeface="Wingdings" pitchFamily="2" charset="2"/>
              </a:rPr>
              <a:t>PC + 1 y </a:t>
            </a:r>
            <a:r>
              <a:rPr lang="en-US" b="1" dirty="0" err="1">
                <a:solidFill>
                  <a:srgbClr val="7030A0"/>
                </a:solidFill>
                <a:sym typeface="Wingdings" pitchFamily="2" charset="2"/>
              </a:rPr>
              <a:t>actualizar</a:t>
            </a:r>
            <a:r>
              <a:rPr lang="en-US" b="1" dirty="0">
                <a:solidFill>
                  <a:srgbClr val="7030A0"/>
                </a:solidFill>
                <a:sym typeface="Wingdings" pitchFamily="2" charset="2"/>
              </a:rPr>
              <a:t> PC</a:t>
            </a:r>
            <a:endParaRPr lang="en-US" b="1" dirty="0">
              <a:solidFill>
                <a:srgbClr val="7030A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Decodificar</a:t>
            </a:r>
            <a:r>
              <a:rPr lang="en-US" dirty="0"/>
              <a:t>  </a:t>
            </a:r>
            <a:r>
              <a:rPr lang="en-US" b="1" dirty="0">
                <a:solidFill>
                  <a:srgbClr val="7030A0"/>
                </a:solidFill>
              </a:rPr>
              <a:t>MDR al IR, </a:t>
            </a:r>
            <a:r>
              <a:rPr lang="en-US" b="1" dirty="0" err="1">
                <a:solidFill>
                  <a:srgbClr val="7030A0"/>
                </a:solidFill>
              </a:rPr>
              <a:t>Decodificar</a:t>
            </a:r>
            <a:endParaRPr lang="en-US" b="1" dirty="0">
              <a:solidFill>
                <a:srgbClr val="7030A0"/>
              </a:solidFill>
            </a:endParaRPr>
          </a:p>
          <a:p>
            <a:r>
              <a:rPr lang="en-US" b="1" dirty="0"/>
              <a:t>EXECUTE</a:t>
            </a:r>
            <a:r>
              <a:rPr lang="en-US" dirty="0"/>
              <a:t> </a:t>
            </a:r>
            <a:r>
              <a:rPr lang="en-US" sz="3000" dirty="0">
                <a:solidFill>
                  <a:srgbClr val="00B050"/>
                </a:solidFill>
              </a:rPr>
              <a:t>{</a:t>
            </a:r>
            <a:r>
              <a:rPr lang="en-US" sz="3000" dirty="0" err="1">
                <a:solidFill>
                  <a:srgbClr val="00B050"/>
                </a:solidFill>
              </a:rPr>
              <a:t>Depende</a:t>
            </a:r>
            <a:r>
              <a:rPr lang="en-US" sz="3000" dirty="0">
                <a:solidFill>
                  <a:srgbClr val="00B050"/>
                </a:solidFill>
              </a:rPr>
              <a:t> del </a:t>
            </a:r>
            <a:r>
              <a:rPr lang="en-US" sz="3000" dirty="0" err="1">
                <a:solidFill>
                  <a:srgbClr val="00B050"/>
                </a:solidFill>
              </a:rPr>
              <a:t>tipo</a:t>
            </a:r>
            <a:r>
              <a:rPr lang="en-US" sz="3000" dirty="0">
                <a:solidFill>
                  <a:srgbClr val="00B050"/>
                </a:solidFill>
              </a:rPr>
              <a:t> de </a:t>
            </a:r>
            <a:r>
              <a:rPr lang="en-US" sz="3000" dirty="0" err="1">
                <a:solidFill>
                  <a:srgbClr val="00B050"/>
                </a:solidFill>
              </a:rPr>
              <a:t>Instrucción</a:t>
            </a:r>
            <a:r>
              <a:rPr lang="en-US" sz="3000" dirty="0">
                <a:solidFill>
                  <a:srgbClr val="00B050"/>
                </a:solidFill>
              </a:rPr>
              <a:t>: OP}</a:t>
            </a:r>
          </a:p>
          <a:p>
            <a:pPr marL="457200" lvl="1" indent="0">
              <a:buNone/>
            </a:pPr>
            <a:r>
              <a:rPr lang="en-US" dirty="0"/>
              <a:t>4.   Traer 1er Operando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Registro</a:t>
            </a:r>
            <a:r>
              <a:rPr lang="en-US" dirty="0">
                <a:sym typeface="Wingdings" pitchFamily="2" charset="2"/>
              </a:rPr>
              <a:t> Temporal (SOURCE)</a:t>
            </a:r>
          </a:p>
          <a:p>
            <a:pPr marL="457200" lvl="1" indent="0">
              <a:buNone/>
            </a:pPr>
            <a:r>
              <a:rPr lang="en-US" dirty="0">
                <a:sym typeface="Wingdings" pitchFamily="2" charset="2"/>
              </a:rPr>
              <a:t>5.  Traer 2do Operando  Y</a:t>
            </a:r>
          </a:p>
          <a:p>
            <a:pPr marL="971550" lvl="1" indent="-514350">
              <a:buAutoNum type="arabicPeriod" startAt="6"/>
            </a:pPr>
            <a:r>
              <a:rPr lang="en-US" dirty="0" err="1">
                <a:sym typeface="Wingdings" pitchFamily="2" charset="2"/>
              </a:rPr>
              <a:t>Realizar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Operación</a:t>
            </a:r>
            <a:r>
              <a:rPr lang="en-US" dirty="0">
                <a:sym typeface="Wingdings" pitchFamily="2" charset="2"/>
              </a:rPr>
              <a:t>   </a:t>
            </a:r>
            <a:r>
              <a:rPr lang="en-US" b="1" dirty="0">
                <a:solidFill>
                  <a:srgbClr val="7030A0"/>
                </a:solidFill>
                <a:sym typeface="Wingdings" pitchFamily="2" charset="2"/>
              </a:rPr>
              <a:t>{ALU: Z  [Bus] OP [Y]}</a:t>
            </a:r>
          </a:p>
          <a:p>
            <a:pPr marL="971550" lvl="1" indent="-514350">
              <a:buAutoNum type="arabicPeriod" startAt="6"/>
            </a:pPr>
            <a:r>
              <a:rPr lang="en-US" dirty="0" err="1">
                <a:sym typeface="Wingdings" pitchFamily="2" charset="2"/>
              </a:rPr>
              <a:t>Almacenar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Resultado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b="1" dirty="0">
                <a:solidFill>
                  <a:srgbClr val="7030A0"/>
                </a:solidFill>
                <a:sym typeface="Wingdings" pitchFamily="2" charset="2"/>
              </a:rPr>
              <a:t>{ Z </a:t>
            </a:r>
            <a:r>
              <a:rPr lang="en-US" b="1" dirty="0" err="1">
                <a:solidFill>
                  <a:srgbClr val="7030A0"/>
                </a:solidFill>
                <a:sym typeface="Wingdings" pitchFamily="2" charset="2"/>
              </a:rPr>
              <a:t>va</a:t>
            </a:r>
            <a:r>
              <a:rPr lang="en-US" b="1" dirty="0">
                <a:solidFill>
                  <a:srgbClr val="7030A0"/>
                </a:solidFill>
                <a:sym typeface="Wingdings" pitchFamily="2" charset="2"/>
              </a:rPr>
              <a:t> a Rd o a M(MAR)}</a:t>
            </a:r>
          </a:p>
          <a:p>
            <a:pPr marL="971550" lvl="1" indent="-514350">
              <a:buAutoNum type="arabicPeriod" startAt="6"/>
            </a:pP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Verificar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Interrupciones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{¿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Sí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?} 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Servir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ISR</a:t>
            </a:r>
            <a:endParaRPr lang="es-NI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043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51009" y="332656"/>
            <a:ext cx="7221393" cy="12024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Básicas</a:t>
            </a:r>
            <a:r>
              <a:rPr lang="en-US" dirty="0"/>
              <a:t> de Control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484784"/>
            <a:ext cx="7859216" cy="4853136"/>
          </a:xfrm>
        </p:spPr>
        <p:txBody>
          <a:bodyPr>
            <a:normAutofit/>
          </a:bodyPr>
          <a:lstStyle/>
          <a:p>
            <a:pPr lvl="0"/>
            <a:r>
              <a:rPr lang="es-NI" dirty="0"/>
              <a:t>Transferir el contenido de un registro a otro.</a:t>
            </a:r>
          </a:p>
          <a:p>
            <a:pPr lvl="0"/>
            <a:r>
              <a:rPr lang="es-NI" dirty="0"/>
              <a:t>Leer o escribir en la memoria. </a:t>
            </a:r>
          </a:p>
          <a:p>
            <a:pPr lvl="0"/>
            <a:r>
              <a:rPr lang="es-NI" dirty="0"/>
              <a:t>Ejecutar una operación de la ALU.</a:t>
            </a:r>
          </a:p>
          <a:p>
            <a:pPr lvl="0"/>
            <a:r>
              <a:rPr lang="es-NI" dirty="0"/>
              <a:t>Incrementar el PC.</a:t>
            </a:r>
          </a:p>
          <a:p>
            <a:pPr lvl="0"/>
            <a:r>
              <a:rPr lang="es-NI" dirty="0"/>
              <a:t>Modificar el PC.</a:t>
            </a:r>
          </a:p>
          <a:p>
            <a:pPr lvl="0"/>
            <a:r>
              <a:rPr lang="es-NI" dirty="0"/>
              <a:t>Verificar el estado de las solicitudes de interrupción.</a:t>
            </a:r>
          </a:p>
          <a:p>
            <a:pPr lvl="0"/>
            <a:r>
              <a:rPr lang="es-NI" dirty="0"/>
              <a:t>Verificar / establecer el estado de las banderas  y códigos de condición.</a:t>
            </a:r>
          </a:p>
          <a:p>
            <a:pPr lvl="0"/>
            <a:r>
              <a:rPr lang="es-NI" dirty="0"/>
              <a:t>Limpiar, verificar o establecer bits específicos de registros auxiliares (como Y)</a:t>
            </a:r>
          </a:p>
          <a:p>
            <a:pPr lvl="0"/>
            <a:r>
              <a:rPr lang="es-NI" dirty="0"/>
              <a:t>Decodificar una instrucción.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4261161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51009" y="332656"/>
            <a:ext cx="7221393" cy="12024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Básicas</a:t>
            </a:r>
            <a:r>
              <a:rPr lang="en-US" dirty="0"/>
              <a:t> de Control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484784"/>
            <a:ext cx="7859216" cy="4853136"/>
          </a:xfrm>
        </p:spPr>
        <p:txBody>
          <a:bodyPr>
            <a:normAutofit/>
          </a:bodyPr>
          <a:lstStyle/>
          <a:p>
            <a:pPr lvl="0"/>
            <a:r>
              <a:rPr lang="es-NI" b="1" dirty="0">
                <a:solidFill>
                  <a:srgbClr val="7030A0"/>
                </a:solidFill>
              </a:rPr>
              <a:t>Transferir el contenido de un registro a otro.</a:t>
            </a:r>
          </a:p>
          <a:p>
            <a:pPr lvl="0"/>
            <a:r>
              <a:rPr lang="es-NI" dirty="0"/>
              <a:t>Leer o escribir en la memoria. </a:t>
            </a:r>
          </a:p>
          <a:p>
            <a:pPr lvl="0"/>
            <a:r>
              <a:rPr lang="es-NI" dirty="0"/>
              <a:t>Ejecutar una operación de la ALU.</a:t>
            </a:r>
          </a:p>
          <a:p>
            <a:pPr lvl="0"/>
            <a:r>
              <a:rPr lang="es-NI" dirty="0"/>
              <a:t>Incrementar el PC.</a:t>
            </a:r>
          </a:p>
          <a:p>
            <a:pPr lvl="0"/>
            <a:r>
              <a:rPr lang="es-NI" dirty="0"/>
              <a:t>Modificar el PC.</a:t>
            </a:r>
          </a:p>
          <a:p>
            <a:pPr lvl="0"/>
            <a:r>
              <a:rPr lang="es-NI" dirty="0"/>
              <a:t>Verificar el estado de las solicitudes de interrupción.</a:t>
            </a:r>
          </a:p>
          <a:p>
            <a:pPr lvl="0"/>
            <a:r>
              <a:rPr lang="es-NI" dirty="0"/>
              <a:t>Verificar / establecer el estado de las banderas  y códigos de condición.</a:t>
            </a:r>
          </a:p>
          <a:p>
            <a:pPr lvl="0"/>
            <a:r>
              <a:rPr lang="es-NI" dirty="0"/>
              <a:t>Limpiar, verificar o establecer bits específicos de registros auxiliares (como Y)</a:t>
            </a:r>
          </a:p>
          <a:p>
            <a:pPr lvl="0"/>
            <a:r>
              <a:rPr lang="es-NI" dirty="0"/>
              <a:t>Decodificar una instrucción.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116918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620688"/>
            <a:ext cx="4176464" cy="1368152"/>
          </a:xfrm>
        </p:spPr>
        <p:txBody>
          <a:bodyPr>
            <a:noAutofit/>
          </a:bodyPr>
          <a:lstStyle/>
          <a:p>
            <a:r>
              <a:rPr lang="en-US" sz="4800" dirty="0"/>
              <a:t>Control de</a:t>
            </a:r>
            <a:br>
              <a:rPr lang="en-US" sz="4800" dirty="0"/>
            </a:br>
            <a:r>
              <a:rPr lang="en-US" sz="4800" dirty="0"/>
              <a:t>Registr0s</a:t>
            </a:r>
            <a:endParaRPr lang="es-NI" sz="48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55576" y="2132857"/>
            <a:ext cx="3816424" cy="3993307"/>
          </a:xfrm>
        </p:spPr>
        <p:txBody>
          <a:bodyPr/>
          <a:lstStyle/>
          <a:p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salida</a:t>
            </a:r>
            <a:r>
              <a:rPr lang="en-US" dirty="0"/>
              <a:t> de </a:t>
            </a:r>
            <a:r>
              <a:rPr lang="en-US" dirty="0" err="1"/>
              <a:t>registro</a:t>
            </a:r>
            <a:r>
              <a:rPr lang="en-US" dirty="0"/>
              <a:t> </a:t>
            </a:r>
            <a:r>
              <a:rPr lang="en-US" dirty="0" err="1"/>
              <a:t>aislada</a:t>
            </a:r>
            <a:r>
              <a:rPr lang="en-US" dirty="0"/>
              <a:t> del BUS (</a:t>
            </a:r>
            <a:r>
              <a:rPr lang="en-US" dirty="0" err="1"/>
              <a:t>requerido</a:t>
            </a:r>
            <a:r>
              <a:rPr lang="en-US" dirty="0"/>
              <a:t>)</a:t>
            </a:r>
          </a:p>
          <a:p>
            <a:r>
              <a:rPr lang="en-US" dirty="0" err="1"/>
              <a:t>Uso</a:t>
            </a:r>
            <a:r>
              <a:rPr lang="en-US" dirty="0"/>
              <a:t> de buffers no </a:t>
            </a:r>
            <a:r>
              <a:rPr lang="en-US" dirty="0" err="1"/>
              <a:t>inversores</a:t>
            </a:r>
            <a:r>
              <a:rPr lang="en-US" dirty="0"/>
              <a:t> de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estado</a:t>
            </a:r>
            <a:r>
              <a:rPr lang="en-US" dirty="0"/>
              <a:t>.</a:t>
            </a:r>
          </a:p>
          <a:p>
            <a:r>
              <a:rPr lang="en-US" dirty="0" err="1"/>
              <a:t>Líneas</a:t>
            </a:r>
            <a:r>
              <a:rPr lang="en-US" dirty="0"/>
              <a:t> de control para </a:t>
            </a:r>
            <a:r>
              <a:rPr lang="en-US" dirty="0" err="1"/>
              <a:t>activar</a:t>
            </a:r>
            <a:r>
              <a:rPr lang="en-US" dirty="0"/>
              <a:t> la </a:t>
            </a:r>
            <a:r>
              <a:rPr lang="en-US" dirty="0" err="1"/>
              <a:t>entrada</a:t>
            </a:r>
            <a:r>
              <a:rPr lang="en-US" dirty="0"/>
              <a:t> y </a:t>
            </a:r>
            <a:r>
              <a:rPr lang="en-US" dirty="0" err="1"/>
              <a:t>salida</a:t>
            </a:r>
            <a:r>
              <a:rPr lang="en-US" dirty="0"/>
              <a:t> de </a:t>
            </a:r>
            <a:r>
              <a:rPr lang="en-US" dirty="0" err="1"/>
              <a:t>registros</a:t>
            </a:r>
            <a:r>
              <a:rPr lang="en-US" dirty="0"/>
              <a:t>.</a:t>
            </a:r>
          </a:p>
          <a:p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396644"/>
              </p:ext>
            </p:extLst>
          </p:nvPr>
        </p:nvGraphicFramePr>
        <p:xfrm>
          <a:off x="4644008" y="614811"/>
          <a:ext cx="3675327" cy="5550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" name="Visio" r:id="rId3" imgW="2904376" imgH="4390278" progId="Visio.Drawing.11">
                  <p:embed/>
                </p:oleObj>
              </mc:Choice>
              <mc:Fallback>
                <p:oleObj name="Visio" r:id="rId3" imgW="2904376" imgH="439027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614811"/>
                        <a:ext cx="3675327" cy="55504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1861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608" y="548680"/>
            <a:ext cx="7293401" cy="1440160"/>
          </a:xfrm>
        </p:spPr>
        <p:txBody>
          <a:bodyPr>
            <a:normAutofit/>
          </a:bodyPr>
          <a:lstStyle/>
          <a:p>
            <a:r>
              <a:rPr lang="en-US" dirty="0" err="1"/>
              <a:t>Operaciones</a:t>
            </a:r>
            <a:r>
              <a:rPr lang="en-US" dirty="0"/>
              <a:t> para </a:t>
            </a:r>
            <a:r>
              <a:rPr lang="en-US" dirty="0" err="1"/>
              <a:t>habilitar</a:t>
            </a:r>
            <a:r>
              <a:rPr lang="en-US" dirty="0"/>
              <a:t> la </a:t>
            </a:r>
            <a:r>
              <a:rPr lang="en-US" dirty="0" err="1"/>
              <a:t>transferencia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55576" y="2132856"/>
            <a:ext cx="7560840" cy="4104456"/>
          </a:xfrm>
        </p:spPr>
        <p:txBody>
          <a:bodyPr>
            <a:normAutofit/>
          </a:bodyPr>
          <a:lstStyle/>
          <a:p>
            <a:r>
              <a:rPr lang="en-US" dirty="0" err="1"/>
              <a:t>Poner</a:t>
            </a:r>
            <a:r>
              <a:rPr lang="en-US" dirty="0"/>
              <a:t> el </a:t>
            </a:r>
            <a:r>
              <a:rPr lang="en-US" dirty="0" err="1"/>
              <a:t>contenido</a:t>
            </a:r>
            <a:r>
              <a:rPr lang="en-US" dirty="0"/>
              <a:t> de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línea</a:t>
            </a:r>
            <a:r>
              <a:rPr lang="en-US" dirty="0"/>
              <a:t> (FF)  del </a:t>
            </a:r>
            <a:r>
              <a:rPr lang="en-US" dirty="0" err="1"/>
              <a:t>registro</a:t>
            </a:r>
            <a:r>
              <a:rPr lang="en-US" dirty="0"/>
              <a:t> </a:t>
            </a:r>
            <a:r>
              <a:rPr lang="en-US" dirty="0" err="1"/>
              <a:t>fuente</a:t>
            </a:r>
            <a:r>
              <a:rPr lang="en-US" dirty="0"/>
              <a:t> en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correspondiente</a:t>
            </a:r>
            <a:r>
              <a:rPr lang="en-US" dirty="0"/>
              <a:t> </a:t>
            </a:r>
            <a:r>
              <a:rPr lang="en-US" dirty="0" err="1"/>
              <a:t>línea</a:t>
            </a:r>
            <a:r>
              <a:rPr lang="en-US" dirty="0"/>
              <a:t> en el BUS. (</a:t>
            </a:r>
            <a:r>
              <a:rPr lang="en-US" dirty="0" err="1"/>
              <a:t>Salida</a:t>
            </a:r>
            <a:r>
              <a:rPr lang="en-US" dirty="0"/>
              <a:t>)</a:t>
            </a:r>
          </a:p>
          <a:p>
            <a:endParaRPr lang="en-US" sz="1200" dirty="0"/>
          </a:p>
          <a:p>
            <a:r>
              <a:rPr lang="en-US" dirty="0" err="1"/>
              <a:t>Realizar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carga</a:t>
            </a:r>
            <a:r>
              <a:rPr lang="en-US" dirty="0"/>
              <a:t> </a:t>
            </a:r>
            <a:r>
              <a:rPr lang="en-US" dirty="0" err="1"/>
              <a:t>paralela</a:t>
            </a:r>
            <a:r>
              <a:rPr lang="en-US" dirty="0"/>
              <a:t> de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línea</a:t>
            </a:r>
            <a:r>
              <a:rPr lang="en-US" dirty="0"/>
              <a:t> del Bus 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correspondiente</a:t>
            </a:r>
            <a:r>
              <a:rPr lang="en-US" dirty="0"/>
              <a:t> FF en el </a:t>
            </a:r>
            <a:r>
              <a:rPr lang="en-US" dirty="0" err="1"/>
              <a:t>registro</a:t>
            </a:r>
            <a:r>
              <a:rPr lang="en-US" dirty="0"/>
              <a:t> </a:t>
            </a:r>
            <a:r>
              <a:rPr lang="en-US" dirty="0" err="1"/>
              <a:t>destino</a:t>
            </a:r>
            <a:r>
              <a:rPr lang="en-US" dirty="0"/>
              <a:t>. (</a:t>
            </a:r>
            <a:r>
              <a:rPr lang="en-US" dirty="0" err="1"/>
              <a:t>entrada</a:t>
            </a:r>
            <a:r>
              <a:rPr lang="en-US" dirty="0"/>
              <a:t>)</a:t>
            </a:r>
          </a:p>
          <a:p>
            <a:endParaRPr lang="en-US" sz="1600" dirty="0"/>
          </a:p>
          <a:p>
            <a:r>
              <a:rPr lang="en-US" dirty="0" err="1"/>
              <a:t>Necesidad</a:t>
            </a:r>
            <a:r>
              <a:rPr lang="en-US" dirty="0"/>
              <a:t> de forma de </a:t>
            </a:r>
            <a:r>
              <a:rPr lang="en-US" dirty="0" err="1"/>
              <a:t>controlar</a:t>
            </a:r>
            <a:r>
              <a:rPr lang="en-US" dirty="0"/>
              <a:t> </a:t>
            </a:r>
            <a:r>
              <a:rPr lang="en-US" dirty="0" err="1"/>
              <a:t>entrada</a:t>
            </a:r>
            <a:r>
              <a:rPr lang="en-US" dirty="0"/>
              <a:t> y </a:t>
            </a:r>
            <a:r>
              <a:rPr lang="en-US" dirty="0" err="1"/>
              <a:t>salida</a:t>
            </a:r>
            <a:r>
              <a:rPr lang="en-US" dirty="0"/>
              <a:t>.</a:t>
            </a:r>
          </a:p>
          <a:p>
            <a:pPr marL="1771650" lvl="4" indent="0">
              <a:buNone/>
            </a:pPr>
            <a:r>
              <a:rPr lang="en-US" sz="4400" dirty="0">
                <a:solidFill>
                  <a:srgbClr val="7030A0"/>
                </a:solidFill>
              </a:rPr>
              <a:t>MAR </a:t>
            </a:r>
            <a:r>
              <a:rPr lang="en-US" sz="4400" dirty="0">
                <a:solidFill>
                  <a:srgbClr val="7030A0"/>
                </a:solidFill>
                <a:sym typeface="Wingdings" pitchFamily="2" charset="2"/>
              </a:rPr>
              <a:t> [PC]</a:t>
            </a:r>
          </a:p>
        </p:txBody>
      </p:sp>
    </p:spTree>
    <p:extLst>
      <p:ext uri="{BB962C8B-B14F-4D97-AF65-F5344CB8AC3E}">
        <p14:creationId xmlns:p14="http://schemas.microsoft.com/office/powerpoint/2010/main" val="217603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51009" y="332656"/>
            <a:ext cx="7221393" cy="12024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Básicas</a:t>
            </a:r>
            <a:r>
              <a:rPr lang="en-US" dirty="0"/>
              <a:t> de Control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484784"/>
            <a:ext cx="7859216" cy="4853136"/>
          </a:xfrm>
        </p:spPr>
        <p:txBody>
          <a:bodyPr>
            <a:normAutofit/>
          </a:bodyPr>
          <a:lstStyle/>
          <a:p>
            <a:pPr lvl="0"/>
            <a:r>
              <a:rPr lang="es-NI" dirty="0"/>
              <a:t>Transferir el contenido de un registro a otro.</a:t>
            </a:r>
          </a:p>
          <a:p>
            <a:pPr lvl="0"/>
            <a:r>
              <a:rPr lang="es-NI" b="1" dirty="0">
                <a:solidFill>
                  <a:srgbClr val="7030A0"/>
                </a:solidFill>
              </a:rPr>
              <a:t>Leer o escribir en la memoria. </a:t>
            </a:r>
          </a:p>
          <a:p>
            <a:pPr lvl="0"/>
            <a:r>
              <a:rPr lang="es-NI" dirty="0"/>
              <a:t>Ejecutar una operación de la ALU.</a:t>
            </a:r>
          </a:p>
          <a:p>
            <a:pPr lvl="0"/>
            <a:r>
              <a:rPr lang="es-NI" dirty="0"/>
              <a:t>Incrementar el PC.</a:t>
            </a:r>
          </a:p>
          <a:p>
            <a:pPr lvl="0"/>
            <a:r>
              <a:rPr lang="es-NI" dirty="0"/>
              <a:t>Modificar el PC.</a:t>
            </a:r>
          </a:p>
          <a:p>
            <a:pPr lvl="0"/>
            <a:r>
              <a:rPr lang="es-NI" dirty="0"/>
              <a:t>Verificar el estado de las solicitudes de interrupción.</a:t>
            </a:r>
          </a:p>
          <a:p>
            <a:pPr lvl="0"/>
            <a:r>
              <a:rPr lang="es-NI" dirty="0"/>
              <a:t>Verificar / establecer el estado de las banderas  y códigos de condición.</a:t>
            </a:r>
          </a:p>
          <a:p>
            <a:pPr lvl="0"/>
            <a:r>
              <a:rPr lang="es-NI" dirty="0"/>
              <a:t>Limpiar, verificar o establecer bits específicos de registros auxiliares (como Y)</a:t>
            </a:r>
          </a:p>
          <a:p>
            <a:pPr lvl="0"/>
            <a:r>
              <a:rPr lang="es-NI" dirty="0"/>
              <a:t>Decodificar una instrucción.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831113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15618" y="620688"/>
            <a:ext cx="6965245" cy="1202485"/>
          </a:xfrm>
        </p:spPr>
        <p:txBody>
          <a:bodyPr/>
          <a:lstStyle/>
          <a:p>
            <a:r>
              <a:rPr lang="en-US" dirty="0"/>
              <a:t>Control de la </a:t>
            </a:r>
            <a:r>
              <a:rPr lang="en-US" dirty="0" err="1"/>
              <a:t>Memoria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99592" y="1772816"/>
            <a:ext cx="7488832" cy="4392488"/>
          </a:xfrm>
        </p:spPr>
        <p:txBody>
          <a:bodyPr>
            <a:normAutofit/>
          </a:bodyPr>
          <a:lstStyle/>
          <a:p>
            <a:r>
              <a:rPr lang="en-US" dirty="0" err="1"/>
              <a:t>Memoria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colección</a:t>
            </a:r>
            <a:r>
              <a:rPr lang="en-US" dirty="0"/>
              <a:t> de </a:t>
            </a:r>
            <a:r>
              <a:rPr lang="en-US" dirty="0" err="1"/>
              <a:t>celdas</a:t>
            </a:r>
            <a:r>
              <a:rPr lang="en-US" dirty="0"/>
              <a:t> de </a:t>
            </a:r>
            <a:r>
              <a:rPr lang="en-US" dirty="0" err="1"/>
              <a:t>almacenamiento</a:t>
            </a:r>
            <a:r>
              <a:rPr lang="en-US" dirty="0"/>
              <a:t> de 1 bit.</a:t>
            </a:r>
          </a:p>
          <a:p>
            <a:r>
              <a:rPr lang="en-US" dirty="0" err="1"/>
              <a:t>Organizada</a:t>
            </a:r>
            <a:r>
              <a:rPr lang="en-US" dirty="0"/>
              <a:t> en </a:t>
            </a:r>
            <a:r>
              <a:rPr lang="en-US" dirty="0" err="1"/>
              <a:t>grupos</a:t>
            </a:r>
            <a:r>
              <a:rPr lang="en-US" dirty="0"/>
              <a:t> de bits: </a:t>
            </a:r>
            <a:r>
              <a:rPr lang="en-US" dirty="0" err="1"/>
              <a:t>palabra</a:t>
            </a:r>
            <a:r>
              <a:rPr lang="en-US" dirty="0"/>
              <a:t> o byte (</a:t>
            </a:r>
            <a:r>
              <a:rPr lang="en-US" dirty="0" err="1"/>
              <a:t>linea-columna</a:t>
            </a:r>
            <a:r>
              <a:rPr lang="en-US" dirty="0"/>
              <a:t>).</a:t>
            </a:r>
          </a:p>
          <a:p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grupo</a:t>
            </a:r>
            <a:r>
              <a:rPr lang="en-US" dirty="0"/>
              <a:t> se accede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posición</a:t>
            </a:r>
            <a:r>
              <a:rPr lang="en-US" dirty="0"/>
              <a:t>: </a:t>
            </a:r>
            <a:r>
              <a:rPr lang="en-US" dirty="0" err="1"/>
              <a:t>Dirección</a:t>
            </a:r>
            <a:r>
              <a:rPr lang="en-US" dirty="0"/>
              <a:t>.</a:t>
            </a:r>
          </a:p>
          <a:p>
            <a:r>
              <a:rPr lang="en-US" dirty="0"/>
              <a:t>Dos </a:t>
            </a:r>
            <a:r>
              <a:rPr lang="en-US" dirty="0" err="1"/>
              <a:t>operaciones</a:t>
            </a:r>
            <a:r>
              <a:rPr lang="en-US" dirty="0"/>
              <a:t>: </a:t>
            </a:r>
            <a:r>
              <a:rPr lang="en-US" dirty="0" err="1"/>
              <a:t>Lectura</a:t>
            </a:r>
            <a:r>
              <a:rPr lang="en-US" dirty="0"/>
              <a:t> (R) y </a:t>
            </a:r>
            <a:r>
              <a:rPr lang="en-US" dirty="0" err="1"/>
              <a:t>Escritura</a:t>
            </a:r>
            <a:r>
              <a:rPr lang="en-US" dirty="0"/>
              <a:t> (W)</a:t>
            </a:r>
          </a:p>
          <a:p>
            <a:r>
              <a:rPr lang="en-US" dirty="0" err="1"/>
              <a:t>Interfaz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Puerto para </a:t>
            </a:r>
            <a:r>
              <a:rPr lang="en-US" dirty="0" err="1"/>
              <a:t>Dirección</a:t>
            </a:r>
            <a:r>
              <a:rPr lang="en-US" dirty="0"/>
              <a:t> a </a:t>
            </a:r>
            <a:r>
              <a:rPr lang="en-US" dirty="0" err="1"/>
              <a:t>acceder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Puerto de </a:t>
            </a:r>
            <a:r>
              <a:rPr lang="en-US" dirty="0" err="1"/>
              <a:t>Datos</a:t>
            </a:r>
            <a:r>
              <a:rPr lang="en-US" dirty="0"/>
              <a:t> (R,W o </a:t>
            </a:r>
            <a:r>
              <a:rPr lang="en-US" dirty="0" err="1"/>
              <a:t>unificado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Líneas</a:t>
            </a:r>
            <a:r>
              <a:rPr lang="en-US" dirty="0"/>
              <a:t> de control: R, W, </a:t>
            </a:r>
            <a:r>
              <a:rPr lang="en-US" dirty="0" err="1"/>
              <a:t>Completamiento</a:t>
            </a:r>
            <a:r>
              <a:rPr lang="en-US" dirty="0"/>
              <a:t> de </a:t>
            </a:r>
            <a:r>
              <a:rPr lang="en-US" dirty="0" err="1"/>
              <a:t>ciclo</a:t>
            </a:r>
            <a:r>
              <a:rPr lang="en-US" dirty="0"/>
              <a:t>.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761299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15618" y="620688"/>
            <a:ext cx="6965245" cy="1202485"/>
          </a:xfrm>
        </p:spPr>
        <p:txBody>
          <a:bodyPr/>
          <a:lstStyle/>
          <a:p>
            <a:r>
              <a:rPr lang="en-US" dirty="0"/>
              <a:t>Leer de la </a:t>
            </a:r>
            <a:r>
              <a:rPr lang="en-US" dirty="0" err="1"/>
              <a:t>Memoria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99592" y="1772816"/>
            <a:ext cx="7488832" cy="4392488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Copiar</a:t>
            </a:r>
            <a:r>
              <a:rPr lang="en-US" dirty="0"/>
              <a:t> la </a:t>
            </a:r>
            <a:r>
              <a:rPr lang="en-US" dirty="0" err="1"/>
              <a:t>dirección</a:t>
            </a:r>
            <a:r>
              <a:rPr lang="en-US" dirty="0"/>
              <a:t> a </a:t>
            </a:r>
            <a:r>
              <a:rPr lang="en-US" dirty="0" err="1"/>
              <a:t>acceder</a:t>
            </a:r>
            <a:r>
              <a:rPr lang="en-US" dirty="0"/>
              <a:t> en el MAR (</a:t>
            </a:r>
            <a:r>
              <a:rPr lang="en-US" dirty="0" err="1"/>
              <a:t>registro</a:t>
            </a:r>
            <a:r>
              <a:rPr lang="en-US" dirty="0"/>
              <a:t> del CPU </a:t>
            </a:r>
            <a:r>
              <a:rPr lang="en-US" dirty="0" err="1"/>
              <a:t>conectado</a:t>
            </a:r>
            <a:r>
              <a:rPr lang="en-US" dirty="0"/>
              <a:t> al </a:t>
            </a:r>
            <a:r>
              <a:rPr lang="en-US" dirty="0" err="1"/>
              <a:t>puerto</a:t>
            </a:r>
            <a:r>
              <a:rPr lang="en-US" dirty="0"/>
              <a:t> de </a:t>
            </a:r>
            <a:r>
              <a:rPr lang="en-US" dirty="0" err="1"/>
              <a:t>direcciones</a:t>
            </a:r>
            <a:r>
              <a:rPr lang="en-US" dirty="0"/>
              <a:t> de M a </a:t>
            </a:r>
            <a:r>
              <a:rPr lang="en-US" dirty="0" err="1"/>
              <a:t>través</a:t>
            </a:r>
            <a:r>
              <a:rPr lang="en-US" dirty="0"/>
              <a:t> del bus de </a:t>
            </a:r>
            <a:r>
              <a:rPr lang="en-US" dirty="0" err="1"/>
              <a:t>direcciones</a:t>
            </a:r>
            <a:r>
              <a:rPr lang="en-US" dirty="0"/>
              <a:t> de la </a:t>
            </a:r>
            <a:r>
              <a:rPr lang="en-US" dirty="0" err="1"/>
              <a:t>computadora</a:t>
            </a:r>
            <a:r>
              <a:rPr lang="en-US" dirty="0"/>
              <a:t>).</a:t>
            </a:r>
          </a:p>
          <a:p>
            <a:r>
              <a:rPr lang="en-US" dirty="0" err="1"/>
              <a:t>Activar</a:t>
            </a:r>
            <a:r>
              <a:rPr lang="en-US" dirty="0"/>
              <a:t> la </a:t>
            </a:r>
            <a:r>
              <a:rPr lang="en-US" dirty="0" err="1"/>
              <a:t>señal</a:t>
            </a:r>
            <a:r>
              <a:rPr lang="en-US" dirty="0"/>
              <a:t> de control READ</a:t>
            </a:r>
          </a:p>
          <a:p>
            <a:pPr lvl="1"/>
            <a:r>
              <a:rPr lang="en-US" dirty="0"/>
              <a:t>La </a:t>
            </a:r>
            <a:r>
              <a:rPr lang="en-US" dirty="0" err="1"/>
              <a:t>memoria</a:t>
            </a:r>
            <a:r>
              <a:rPr lang="en-US" dirty="0"/>
              <a:t> </a:t>
            </a:r>
            <a:r>
              <a:rPr lang="en-US" dirty="0" err="1"/>
              <a:t>selecciona</a:t>
            </a:r>
            <a:r>
              <a:rPr lang="en-US" dirty="0"/>
              <a:t> la </a:t>
            </a:r>
            <a:r>
              <a:rPr lang="en-US" dirty="0" err="1"/>
              <a:t>línea</a:t>
            </a:r>
            <a:r>
              <a:rPr lang="en-US" dirty="0"/>
              <a:t> </a:t>
            </a:r>
            <a:r>
              <a:rPr lang="en-US" dirty="0" err="1"/>
              <a:t>correspondiente</a:t>
            </a:r>
            <a:r>
              <a:rPr lang="en-US" dirty="0"/>
              <a:t> a la </a:t>
            </a:r>
            <a:r>
              <a:rPr lang="en-US" dirty="0" err="1"/>
              <a:t>dirección</a:t>
            </a:r>
            <a:endParaRPr lang="en-US" dirty="0"/>
          </a:p>
          <a:p>
            <a:pPr lvl="1"/>
            <a:r>
              <a:rPr lang="en-US" dirty="0" err="1"/>
              <a:t>Escribe</a:t>
            </a:r>
            <a:r>
              <a:rPr lang="en-US" dirty="0"/>
              <a:t> en el </a:t>
            </a:r>
            <a:r>
              <a:rPr lang="en-US" dirty="0" err="1"/>
              <a:t>puerto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a la </a:t>
            </a:r>
            <a:r>
              <a:rPr lang="en-US" dirty="0" err="1"/>
              <a:t>salida</a:t>
            </a:r>
            <a:r>
              <a:rPr lang="en-US" dirty="0"/>
              <a:t> el </a:t>
            </a:r>
            <a:r>
              <a:rPr lang="en-US" dirty="0" err="1"/>
              <a:t>contenido</a:t>
            </a:r>
            <a:r>
              <a:rPr lang="en-US" dirty="0"/>
              <a:t> de </a:t>
            </a:r>
            <a:r>
              <a:rPr lang="en-US" dirty="0" err="1"/>
              <a:t>ésta</a:t>
            </a:r>
            <a:r>
              <a:rPr lang="en-US" dirty="0"/>
              <a:t>.</a:t>
            </a:r>
          </a:p>
          <a:p>
            <a:r>
              <a:rPr lang="en-US" dirty="0"/>
              <a:t>El </a:t>
            </a:r>
            <a:r>
              <a:rPr lang="en-US" dirty="0" err="1"/>
              <a:t>dato</a:t>
            </a:r>
            <a:r>
              <a:rPr lang="en-US" dirty="0"/>
              <a:t> se </a:t>
            </a:r>
            <a:r>
              <a:rPr lang="en-US" dirty="0" err="1"/>
              <a:t>propaga</a:t>
            </a:r>
            <a:r>
              <a:rPr lang="en-US" dirty="0"/>
              <a:t> a </a:t>
            </a:r>
            <a:r>
              <a:rPr lang="en-US" dirty="0" err="1"/>
              <a:t>través</a:t>
            </a:r>
            <a:r>
              <a:rPr lang="en-US" dirty="0"/>
              <a:t> del bus del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copiándose</a:t>
            </a:r>
            <a:r>
              <a:rPr lang="en-US" dirty="0"/>
              <a:t> en el MDR del CPU.</a:t>
            </a:r>
          </a:p>
          <a:p>
            <a:r>
              <a:rPr lang="en-US" dirty="0"/>
              <a:t>El </a:t>
            </a:r>
            <a:r>
              <a:rPr lang="en-US" dirty="0" err="1"/>
              <a:t>controlador</a:t>
            </a:r>
            <a:r>
              <a:rPr lang="en-US" dirty="0"/>
              <a:t> de </a:t>
            </a:r>
            <a:r>
              <a:rPr lang="en-US" dirty="0" err="1"/>
              <a:t>Memoria</a:t>
            </a:r>
            <a:r>
              <a:rPr lang="en-US" dirty="0"/>
              <a:t> o </a:t>
            </a:r>
            <a:r>
              <a:rPr lang="en-US" dirty="0" err="1"/>
              <a:t>algún</a:t>
            </a:r>
            <a:r>
              <a:rPr lang="en-US" dirty="0"/>
              <a:t> </a:t>
            </a:r>
            <a:r>
              <a:rPr lang="en-US" dirty="0" err="1"/>
              <a:t>dispositivo</a:t>
            </a:r>
            <a:r>
              <a:rPr lang="en-US" dirty="0"/>
              <a:t> </a:t>
            </a:r>
            <a:r>
              <a:rPr lang="en-US" dirty="0" err="1"/>
              <a:t>equivalente</a:t>
            </a:r>
            <a:r>
              <a:rPr lang="en-US" dirty="0"/>
              <a:t> </a:t>
            </a:r>
            <a:r>
              <a:rPr lang="en-US" dirty="0" err="1"/>
              <a:t>notifica</a:t>
            </a:r>
            <a:r>
              <a:rPr lang="en-US" dirty="0"/>
              <a:t> al CPU </a:t>
            </a:r>
            <a:r>
              <a:rPr lang="en-US" dirty="0" err="1"/>
              <a:t>que</a:t>
            </a:r>
            <a:r>
              <a:rPr lang="en-US" dirty="0"/>
              <a:t> el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lectura</a:t>
            </a:r>
            <a:r>
              <a:rPr lang="en-US" dirty="0"/>
              <a:t> a </a:t>
            </a:r>
            <a:r>
              <a:rPr lang="en-US" dirty="0" err="1"/>
              <a:t>memoria</a:t>
            </a:r>
            <a:r>
              <a:rPr lang="en-US" dirty="0"/>
              <a:t> se ha </a:t>
            </a:r>
            <a:r>
              <a:rPr lang="en-US" dirty="0" err="1"/>
              <a:t>completado</a:t>
            </a:r>
            <a:r>
              <a:rPr lang="en-US" dirty="0"/>
              <a:t>.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4184262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15618" y="620688"/>
            <a:ext cx="6965245" cy="1202485"/>
          </a:xfrm>
        </p:spPr>
        <p:txBody>
          <a:bodyPr/>
          <a:lstStyle/>
          <a:p>
            <a:r>
              <a:rPr lang="en-US" dirty="0" err="1"/>
              <a:t>Escribir</a:t>
            </a:r>
            <a:r>
              <a:rPr lang="en-US" dirty="0"/>
              <a:t> en la </a:t>
            </a:r>
            <a:r>
              <a:rPr lang="en-US" dirty="0" err="1"/>
              <a:t>Memoria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99592" y="1772816"/>
            <a:ext cx="7488832" cy="4392488"/>
          </a:xfrm>
        </p:spPr>
        <p:txBody>
          <a:bodyPr>
            <a:normAutofit/>
          </a:bodyPr>
          <a:lstStyle/>
          <a:p>
            <a:r>
              <a:rPr lang="en-US" dirty="0" err="1"/>
              <a:t>Copiar</a:t>
            </a:r>
            <a:r>
              <a:rPr lang="en-US" dirty="0"/>
              <a:t> la </a:t>
            </a:r>
            <a:r>
              <a:rPr lang="en-US" dirty="0" err="1"/>
              <a:t>dirección</a:t>
            </a:r>
            <a:r>
              <a:rPr lang="en-US" dirty="0"/>
              <a:t> a </a:t>
            </a:r>
            <a:r>
              <a:rPr lang="en-US" dirty="0" err="1"/>
              <a:t>acceder</a:t>
            </a:r>
            <a:r>
              <a:rPr lang="en-US" dirty="0"/>
              <a:t> en el MAR.</a:t>
            </a:r>
          </a:p>
          <a:p>
            <a:r>
              <a:rPr lang="en-US" dirty="0" err="1"/>
              <a:t>Copiar</a:t>
            </a:r>
            <a:r>
              <a:rPr lang="en-US" dirty="0"/>
              <a:t> el </a:t>
            </a:r>
            <a:r>
              <a:rPr lang="en-US" dirty="0" err="1"/>
              <a:t>dato</a:t>
            </a:r>
            <a:r>
              <a:rPr lang="en-US" dirty="0"/>
              <a:t> a </a:t>
            </a:r>
            <a:r>
              <a:rPr lang="en-US" dirty="0" err="1"/>
              <a:t>escribir</a:t>
            </a:r>
            <a:r>
              <a:rPr lang="en-US" dirty="0"/>
              <a:t> en el MDR (</a:t>
            </a:r>
            <a:r>
              <a:rPr lang="en-US" dirty="0" err="1"/>
              <a:t>Registro</a:t>
            </a:r>
            <a:r>
              <a:rPr lang="en-US" dirty="0"/>
              <a:t> del CPU </a:t>
            </a:r>
            <a:r>
              <a:rPr lang="en-US" dirty="0" err="1"/>
              <a:t>conectado</a:t>
            </a:r>
            <a:r>
              <a:rPr lang="en-US" dirty="0"/>
              <a:t> al bus de </a:t>
            </a:r>
            <a:r>
              <a:rPr lang="en-US" dirty="0" err="1"/>
              <a:t>Datos</a:t>
            </a:r>
            <a:r>
              <a:rPr lang="en-US" dirty="0"/>
              <a:t>).</a:t>
            </a:r>
          </a:p>
          <a:p>
            <a:r>
              <a:rPr lang="en-US" dirty="0" err="1"/>
              <a:t>Activar</a:t>
            </a:r>
            <a:r>
              <a:rPr lang="en-US" dirty="0"/>
              <a:t> la </a:t>
            </a:r>
            <a:r>
              <a:rPr lang="en-US" dirty="0" err="1"/>
              <a:t>señal</a:t>
            </a:r>
            <a:r>
              <a:rPr lang="en-US" dirty="0"/>
              <a:t> de control WRITE: </a:t>
            </a:r>
          </a:p>
          <a:p>
            <a:pPr lvl="1"/>
            <a:r>
              <a:rPr lang="en-US" dirty="0"/>
              <a:t>La </a:t>
            </a:r>
            <a:r>
              <a:rPr lang="en-US" dirty="0" err="1"/>
              <a:t>memoria</a:t>
            </a:r>
            <a:r>
              <a:rPr lang="en-US" dirty="0"/>
              <a:t> </a:t>
            </a:r>
            <a:r>
              <a:rPr lang="en-US" dirty="0" err="1"/>
              <a:t>selecciona</a:t>
            </a:r>
            <a:r>
              <a:rPr lang="en-US" dirty="0"/>
              <a:t> la </a:t>
            </a:r>
            <a:r>
              <a:rPr lang="en-US" dirty="0" err="1"/>
              <a:t>línea</a:t>
            </a:r>
            <a:r>
              <a:rPr lang="en-US" dirty="0"/>
              <a:t> </a:t>
            </a:r>
            <a:r>
              <a:rPr lang="en-US" dirty="0" err="1"/>
              <a:t>correspondiente</a:t>
            </a:r>
            <a:r>
              <a:rPr lang="en-US" dirty="0"/>
              <a:t> a la </a:t>
            </a:r>
            <a:r>
              <a:rPr lang="en-US" dirty="0" err="1"/>
              <a:t>dirección</a:t>
            </a:r>
            <a:r>
              <a:rPr lang="en-US" dirty="0"/>
              <a:t>,</a:t>
            </a:r>
          </a:p>
          <a:p>
            <a:pPr lvl="1"/>
            <a:r>
              <a:rPr lang="en-US" dirty="0" err="1"/>
              <a:t>Toma</a:t>
            </a:r>
            <a:r>
              <a:rPr lang="en-US" dirty="0"/>
              <a:t> el </a:t>
            </a:r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el MDR se </a:t>
            </a:r>
            <a:r>
              <a:rPr lang="en-US" dirty="0" err="1"/>
              <a:t>propaga</a:t>
            </a:r>
            <a:r>
              <a:rPr lang="en-US" dirty="0"/>
              <a:t> hasta el </a:t>
            </a:r>
            <a:r>
              <a:rPr lang="en-US" dirty="0" err="1"/>
              <a:t>puerto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de la </a:t>
            </a:r>
            <a:r>
              <a:rPr lang="en-US" dirty="0" err="1"/>
              <a:t>Memoria</a:t>
            </a:r>
            <a:r>
              <a:rPr lang="en-US" dirty="0"/>
              <a:t> a </a:t>
            </a:r>
            <a:r>
              <a:rPr lang="en-US" dirty="0" err="1"/>
              <a:t>través</a:t>
            </a:r>
            <a:r>
              <a:rPr lang="en-US" dirty="0"/>
              <a:t> del bus</a:t>
            </a:r>
          </a:p>
          <a:p>
            <a:pPr lvl="1"/>
            <a:r>
              <a:rPr lang="en-US" dirty="0" err="1"/>
              <a:t>Escribe</a:t>
            </a:r>
            <a:r>
              <a:rPr lang="en-US" dirty="0"/>
              <a:t> el </a:t>
            </a:r>
            <a:r>
              <a:rPr lang="en-US" dirty="0" err="1"/>
              <a:t>dato</a:t>
            </a:r>
            <a:r>
              <a:rPr lang="en-US" dirty="0"/>
              <a:t> del </a:t>
            </a:r>
            <a:r>
              <a:rPr lang="en-US" dirty="0" err="1"/>
              <a:t>puerto</a:t>
            </a:r>
            <a:r>
              <a:rPr lang="en-US" dirty="0"/>
              <a:t> de </a:t>
            </a:r>
            <a:r>
              <a:rPr lang="en-US" dirty="0" err="1"/>
              <a:t>entrada</a:t>
            </a:r>
            <a:r>
              <a:rPr lang="en-US" dirty="0"/>
              <a:t> a la </a:t>
            </a:r>
            <a:r>
              <a:rPr lang="en-US" dirty="0" err="1"/>
              <a:t>localidad</a:t>
            </a:r>
            <a:r>
              <a:rPr lang="en-US" dirty="0"/>
              <a:t> de </a:t>
            </a:r>
            <a:r>
              <a:rPr lang="en-US" dirty="0" err="1"/>
              <a:t>memoria</a:t>
            </a:r>
            <a:r>
              <a:rPr lang="en-US" dirty="0"/>
              <a:t> </a:t>
            </a:r>
            <a:r>
              <a:rPr lang="en-US" dirty="0" err="1"/>
              <a:t>seleccionada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1321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51009" y="332656"/>
            <a:ext cx="7221393" cy="12024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Básicas</a:t>
            </a:r>
            <a:r>
              <a:rPr lang="en-US" dirty="0"/>
              <a:t> de Control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484784"/>
            <a:ext cx="7859216" cy="4853136"/>
          </a:xfrm>
        </p:spPr>
        <p:txBody>
          <a:bodyPr>
            <a:normAutofit/>
          </a:bodyPr>
          <a:lstStyle/>
          <a:p>
            <a:pPr lvl="0"/>
            <a:r>
              <a:rPr lang="es-NI" dirty="0"/>
              <a:t>Transferir el contenido de un registro a otro.</a:t>
            </a:r>
          </a:p>
          <a:p>
            <a:r>
              <a:rPr lang="es-NI" dirty="0"/>
              <a:t>Leer o escribir en la memoria. </a:t>
            </a:r>
          </a:p>
          <a:p>
            <a:pPr lvl="0"/>
            <a:r>
              <a:rPr lang="es-NI" b="1" dirty="0">
                <a:solidFill>
                  <a:srgbClr val="7030A0"/>
                </a:solidFill>
              </a:rPr>
              <a:t>Ejecutar una operación de la ALU.</a:t>
            </a:r>
          </a:p>
          <a:p>
            <a:pPr lvl="0"/>
            <a:r>
              <a:rPr lang="es-NI" dirty="0"/>
              <a:t>Incrementar el PC.</a:t>
            </a:r>
          </a:p>
          <a:p>
            <a:pPr lvl="0"/>
            <a:r>
              <a:rPr lang="es-NI" dirty="0"/>
              <a:t>Modificar el PC.</a:t>
            </a:r>
          </a:p>
          <a:p>
            <a:pPr lvl="0"/>
            <a:r>
              <a:rPr lang="es-NI" dirty="0"/>
              <a:t>Verificar el estado de las solicitudes de interrupción.</a:t>
            </a:r>
          </a:p>
          <a:p>
            <a:pPr lvl="0"/>
            <a:r>
              <a:rPr lang="es-NI" dirty="0"/>
              <a:t>Verificar / establecer el estado de las banderas  y códigos de condición.</a:t>
            </a:r>
          </a:p>
          <a:p>
            <a:pPr lvl="0"/>
            <a:r>
              <a:rPr lang="es-NI" dirty="0"/>
              <a:t>Limpiar, verificar o establecer bits específicos de registros auxiliares (como Y)</a:t>
            </a:r>
          </a:p>
          <a:p>
            <a:pPr lvl="0"/>
            <a:r>
              <a:rPr lang="es-NI" dirty="0"/>
              <a:t>Decodificar una instrucción.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627307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Ejecutar</a:t>
            </a:r>
            <a:r>
              <a:rPr lang="en-US" dirty="0"/>
              <a:t> </a:t>
            </a:r>
            <a:r>
              <a:rPr lang="en-US" dirty="0" err="1"/>
              <a:t>operación</a:t>
            </a:r>
            <a:r>
              <a:rPr lang="en-US" dirty="0"/>
              <a:t> ALU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ALU </a:t>
            </a:r>
            <a:r>
              <a:rPr lang="en-US" dirty="0" err="1"/>
              <a:t>tiene</a:t>
            </a:r>
            <a:r>
              <a:rPr lang="en-US" dirty="0"/>
              <a:t> dos </a:t>
            </a:r>
            <a:r>
              <a:rPr lang="en-US" dirty="0" err="1"/>
              <a:t>puertos</a:t>
            </a:r>
            <a:r>
              <a:rPr lang="en-US" dirty="0"/>
              <a:t> de </a:t>
            </a:r>
            <a:r>
              <a:rPr lang="en-US" dirty="0" err="1"/>
              <a:t>entrada</a:t>
            </a:r>
            <a:r>
              <a:rPr lang="en-US" dirty="0"/>
              <a:t> (</a:t>
            </a:r>
            <a:r>
              <a:rPr lang="en-US" dirty="0" err="1"/>
              <a:t>operandos</a:t>
            </a:r>
            <a:r>
              <a:rPr lang="en-US" dirty="0"/>
              <a:t>) y </a:t>
            </a:r>
            <a:r>
              <a:rPr lang="en-US" dirty="0" err="1"/>
              <a:t>uno</a:t>
            </a:r>
            <a:r>
              <a:rPr lang="en-US" dirty="0"/>
              <a:t> de </a:t>
            </a:r>
            <a:r>
              <a:rPr lang="en-US" dirty="0" err="1"/>
              <a:t>salida</a:t>
            </a:r>
            <a:r>
              <a:rPr lang="en-US" dirty="0"/>
              <a:t> (</a:t>
            </a:r>
            <a:r>
              <a:rPr lang="en-US" dirty="0" err="1"/>
              <a:t>resultado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En </a:t>
            </a:r>
            <a:r>
              <a:rPr lang="en-US" dirty="0" err="1"/>
              <a:t>nuestra</a:t>
            </a:r>
            <a:r>
              <a:rPr lang="en-US" dirty="0"/>
              <a:t> </a:t>
            </a:r>
            <a:r>
              <a:rPr lang="en-US" dirty="0" err="1"/>
              <a:t>arquitectura</a:t>
            </a:r>
            <a:r>
              <a:rPr lang="en-US" dirty="0"/>
              <a:t>    Z </a:t>
            </a:r>
            <a:r>
              <a:rPr lang="en-US" dirty="0">
                <a:sym typeface="Wingdings" panose="05000000000000000000" pitchFamily="2" charset="2"/>
              </a:rPr>
              <a:t> [X] OP [Y]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Un latch en la </a:t>
            </a:r>
            <a:r>
              <a:rPr lang="en-US" dirty="0" err="1">
                <a:sym typeface="Wingdings" panose="05000000000000000000" pitchFamily="2" charset="2"/>
              </a:rPr>
              <a:t>entrada</a:t>
            </a:r>
            <a:r>
              <a:rPr lang="en-US" dirty="0">
                <a:sym typeface="Wingdings" panose="05000000000000000000" pitchFamily="2" charset="2"/>
              </a:rPr>
              <a:t> Y </a:t>
            </a:r>
            <a:r>
              <a:rPr lang="en-US" dirty="0" err="1">
                <a:sym typeface="Wingdings" panose="05000000000000000000" pitchFamily="2" charset="2"/>
              </a:rPr>
              <a:t>y</a:t>
            </a:r>
            <a:r>
              <a:rPr lang="en-US" dirty="0">
                <a:sym typeface="Wingdings" panose="05000000000000000000" pitchFamily="2" charset="2"/>
              </a:rPr>
              <a:t> el bus en </a:t>
            </a:r>
            <a:r>
              <a:rPr lang="en-US" dirty="0" err="1">
                <a:sym typeface="Wingdings" panose="05000000000000000000" pitchFamily="2" charset="2"/>
              </a:rPr>
              <a:t>entrada</a:t>
            </a:r>
            <a:r>
              <a:rPr lang="en-US" dirty="0">
                <a:sym typeface="Wingdings" panose="05000000000000000000" pitchFamily="2" charset="2"/>
              </a:rPr>
              <a:t> X</a:t>
            </a:r>
          </a:p>
          <a:p>
            <a:pPr lvl="1"/>
            <a:endParaRPr lang="en-US" dirty="0"/>
          </a:p>
          <a:p>
            <a:r>
              <a:rPr lang="en-US" dirty="0"/>
              <a:t>Se </a:t>
            </a:r>
            <a:r>
              <a:rPr lang="en-US" dirty="0" err="1"/>
              <a:t>trasladan</a:t>
            </a:r>
            <a:r>
              <a:rPr lang="en-US" dirty="0"/>
              <a:t> los </a:t>
            </a:r>
            <a:r>
              <a:rPr lang="en-US" dirty="0" err="1"/>
              <a:t>operandos</a:t>
            </a:r>
            <a:r>
              <a:rPr lang="en-US" dirty="0"/>
              <a:t> a la </a:t>
            </a:r>
            <a:r>
              <a:rPr lang="en-US" dirty="0" err="1"/>
              <a:t>entrada</a:t>
            </a:r>
            <a:r>
              <a:rPr lang="en-US" dirty="0"/>
              <a:t> y se </a:t>
            </a:r>
            <a:r>
              <a:rPr lang="en-US" dirty="0" err="1"/>
              <a:t>selecciona</a:t>
            </a:r>
            <a:r>
              <a:rPr lang="en-US" dirty="0"/>
              <a:t> la </a:t>
            </a:r>
            <a:r>
              <a:rPr lang="en-US" dirty="0" err="1"/>
              <a:t>operación</a:t>
            </a:r>
            <a:r>
              <a:rPr lang="en-US" dirty="0"/>
              <a:t>.</a:t>
            </a:r>
          </a:p>
          <a:p>
            <a:r>
              <a:rPr lang="en-US" dirty="0"/>
              <a:t>Se </a:t>
            </a:r>
            <a:r>
              <a:rPr lang="en-US" dirty="0" err="1"/>
              <a:t>suele</a:t>
            </a:r>
            <a:r>
              <a:rPr lang="en-US" dirty="0"/>
              <a:t> </a:t>
            </a:r>
            <a:r>
              <a:rPr lang="en-US" dirty="0" err="1"/>
              <a:t>copiar</a:t>
            </a:r>
            <a:r>
              <a:rPr lang="en-US" dirty="0"/>
              <a:t> el </a:t>
            </a:r>
            <a:r>
              <a:rPr lang="en-US" dirty="0" err="1"/>
              <a:t>resultado</a:t>
            </a:r>
            <a:r>
              <a:rPr lang="en-US" dirty="0"/>
              <a:t> en un latch para </a:t>
            </a:r>
            <a:r>
              <a:rPr lang="en-US" dirty="0" err="1"/>
              <a:t>salvaguardarlo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872032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15616" y="686969"/>
            <a:ext cx="6965245" cy="1202485"/>
          </a:xfrm>
        </p:spPr>
        <p:txBody>
          <a:bodyPr/>
          <a:lstStyle/>
          <a:p>
            <a:r>
              <a:rPr lang="en-US" dirty="0" err="1"/>
              <a:t>Ejecutar</a:t>
            </a:r>
            <a:r>
              <a:rPr lang="en-US" dirty="0"/>
              <a:t> </a:t>
            </a:r>
            <a:r>
              <a:rPr lang="en-US" dirty="0" err="1"/>
              <a:t>operación</a:t>
            </a:r>
            <a:r>
              <a:rPr lang="en-US" dirty="0"/>
              <a:t> ALU</a:t>
            </a:r>
            <a:endParaRPr lang="es-NI" dirty="0"/>
          </a:p>
        </p:txBody>
      </p:sp>
      <p:sp>
        <p:nvSpPr>
          <p:cNvPr id="22" name="21 Flecha arriba y abajo"/>
          <p:cNvSpPr/>
          <p:nvPr/>
        </p:nvSpPr>
        <p:spPr>
          <a:xfrm>
            <a:off x="5652120" y="1916832"/>
            <a:ext cx="576064" cy="4104456"/>
          </a:xfrm>
          <a:prstGeom prst="up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/>
              <a:t>Bus CPU</a:t>
            </a:r>
          </a:p>
        </p:txBody>
      </p:sp>
      <p:sp>
        <p:nvSpPr>
          <p:cNvPr id="23" name="22 Flecha doblada hacia arriba"/>
          <p:cNvSpPr/>
          <p:nvPr/>
        </p:nvSpPr>
        <p:spPr>
          <a:xfrm rot="10800000">
            <a:off x="4508864" y="2744924"/>
            <a:ext cx="1287272" cy="468052"/>
          </a:xfrm>
          <a:prstGeom prst="bentUp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24" name="23 Rectángulo"/>
          <p:cNvSpPr/>
          <p:nvPr/>
        </p:nvSpPr>
        <p:spPr>
          <a:xfrm>
            <a:off x="2803362" y="2204864"/>
            <a:ext cx="119256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2000" b="1" dirty="0"/>
              <a:t>Y</a:t>
            </a:r>
          </a:p>
        </p:txBody>
      </p:sp>
      <p:sp>
        <p:nvSpPr>
          <p:cNvPr id="25" name="24 Flecha izquierda"/>
          <p:cNvSpPr/>
          <p:nvPr/>
        </p:nvSpPr>
        <p:spPr>
          <a:xfrm>
            <a:off x="3995930" y="2276872"/>
            <a:ext cx="1800206" cy="216024"/>
          </a:xfrm>
          <a:prstGeom prst="lef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26" name="25 Flecha abajo"/>
          <p:cNvSpPr/>
          <p:nvPr/>
        </p:nvSpPr>
        <p:spPr>
          <a:xfrm>
            <a:off x="3275856" y="2636912"/>
            <a:ext cx="216024" cy="576064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28" name="27 Rectángulo"/>
          <p:cNvSpPr/>
          <p:nvPr/>
        </p:nvSpPr>
        <p:spPr>
          <a:xfrm>
            <a:off x="3356241" y="4940432"/>
            <a:ext cx="119256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2000" b="1" dirty="0"/>
              <a:t>Z</a:t>
            </a:r>
          </a:p>
        </p:txBody>
      </p:sp>
      <p:sp>
        <p:nvSpPr>
          <p:cNvPr id="29" name="28 Flecha abajo"/>
          <p:cNvSpPr/>
          <p:nvPr/>
        </p:nvSpPr>
        <p:spPr>
          <a:xfrm>
            <a:off x="3856356" y="4364368"/>
            <a:ext cx="216024" cy="576064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27" name="26 Flecha derecha"/>
          <p:cNvSpPr/>
          <p:nvPr/>
        </p:nvSpPr>
        <p:spPr>
          <a:xfrm>
            <a:off x="4548809" y="5048444"/>
            <a:ext cx="1247327" cy="21602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cxnSp>
        <p:nvCxnSpPr>
          <p:cNvPr id="31" name="30 Conector recto de flecha"/>
          <p:cNvCxnSpPr/>
          <p:nvPr/>
        </p:nvCxnSpPr>
        <p:spPr>
          <a:xfrm>
            <a:off x="2411760" y="3789041"/>
            <a:ext cx="79208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1" name="27650 Rectángulo redondeado"/>
          <p:cNvSpPr/>
          <p:nvPr/>
        </p:nvSpPr>
        <p:spPr>
          <a:xfrm>
            <a:off x="1115616" y="3005340"/>
            <a:ext cx="1296144" cy="1584176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/>
              <a:t>Unidad de Control</a:t>
            </a:r>
          </a:p>
        </p:txBody>
      </p:sp>
      <p:sp>
        <p:nvSpPr>
          <p:cNvPr id="27652" name="27651 CuadroTexto"/>
          <p:cNvSpPr txBox="1"/>
          <p:nvPr/>
        </p:nvSpPr>
        <p:spPr>
          <a:xfrm>
            <a:off x="2350787" y="3830421"/>
            <a:ext cx="9140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1400" dirty="0"/>
              <a:t>Selección</a:t>
            </a:r>
          </a:p>
        </p:txBody>
      </p:sp>
      <p:grpSp>
        <p:nvGrpSpPr>
          <p:cNvPr id="27654" name="27653 Grupo"/>
          <p:cNvGrpSpPr/>
          <p:nvPr/>
        </p:nvGrpSpPr>
        <p:grpSpPr>
          <a:xfrm>
            <a:off x="2938160" y="3212976"/>
            <a:ext cx="2002751" cy="1152129"/>
            <a:chOff x="2938160" y="3212976"/>
            <a:chExt cx="2002751" cy="1152129"/>
          </a:xfrm>
        </p:grpSpPr>
        <p:sp>
          <p:nvSpPr>
            <p:cNvPr id="21" name="20 Forma libre"/>
            <p:cNvSpPr/>
            <p:nvPr/>
          </p:nvSpPr>
          <p:spPr>
            <a:xfrm>
              <a:off x="2938160" y="3212977"/>
              <a:ext cx="2002751" cy="1152128"/>
            </a:xfrm>
            <a:custGeom>
              <a:avLst/>
              <a:gdLst>
                <a:gd name="connsiteX0" fmla="*/ 0 w 1953088"/>
                <a:gd name="connsiteY0" fmla="*/ 17755 h 1358283"/>
                <a:gd name="connsiteX1" fmla="*/ 0 w 1953088"/>
                <a:gd name="connsiteY1" fmla="*/ 17755 h 1358283"/>
                <a:gd name="connsiteX2" fmla="*/ 79899 w 1953088"/>
                <a:gd name="connsiteY2" fmla="*/ 26633 h 1358283"/>
                <a:gd name="connsiteX3" fmla="*/ 834501 w 1953088"/>
                <a:gd name="connsiteY3" fmla="*/ 17755 h 1358283"/>
                <a:gd name="connsiteX4" fmla="*/ 976544 w 1953088"/>
                <a:gd name="connsiteY4" fmla="*/ 612559 h 1358283"/>
                <a:gd name="connsiteX5" fmla="*/ 1180730 w 1953088"/>
                <a:gd name="connsiteY5" fmla="*/ 8878 h 1358283"/>
                <a:gd name="connsiteX6" fmla="*/ 1953088 w 1953088"/>
                <a:gd name="connsiteY6" fmla="*/ 0 h 1358283"/>
                <a:gd name="connsiteX7" fmla="*/ 1624614 w 1953088"/>
                <a:gd name="connsiteY7" fmla="*/ 1349406 h 1358283"/>
                <a:gd name="connsiteX8" fmla="*/ 328474 w 1953088"/>
                <a:gd name="connsiteY8" fmla="*/ 1358283 h 1358283"/>
                <a:gd name="connsiteX9" fmla="*/ 0 w 1953088"/>
                <a:gd name="connsiteY9" fmla="*/ 17755 h 1358283"/>
                <a:gd name="connsiteX0" fmla="*/ 0 w 1953088"/>
                <a:gd name="connsiteY0" fmla="*/ 17755 h 1349406"/>
                <a:gd name="connsiteX1" fmla="*/ 0 w 1953088"/>
                <a:gd name="connsiteY1" fmla="*/ 17755 h 1349406"/>
                <a:gd name="connsiteX2" fmla="*/ 79899 w 1953088"/>
                <a:gd name="connsiteY2" fmla="*/ 26633 h 1349406"/>
                <a:gd name="connsiteX3" fmla="*/ 834501 w 1953088"/>
                <a:gd name="connsiteY3" fmla="*/ 17755 h 1349406"/>
                <a:gd name="connsiteX4" fmla="*/ 976544 w 1953088"/>
                <a:gd name="connsiteY4" fmla="*/ 612559 h 1349406"/>
                <a:gd name="connsiteX5" fmla="*/ 1180730 w 1953088"/>
                <a:gd name="connsiteY5" fmla="*/ 8878 h 1349406"/>
                <a:gd name="connsiteX6" fmla="*/ 1953088 w 1953088"/>
                <a:gd name="connsiteY6" fmla="*/ 0 h 1349406"/>
                <a:gd name="connsiteX7" fmla="*/ 1624614 w 1953088"/>
                <a:gd name="connsiteY7" fmla="*/ 1349406 h 1349406"/>
                <a:gd name="connsiteX8" fmla="*/ 408373 w 1953088"/>
                <a:gd name="connsiteY8" fmla="*/ 1349405 h 1349406"/>
                <a:gd name="connsiteX9" fmla="*/ 0 w 1953088"/>
                <a:gd name="connsiteY9" fmla="*/ 17755 h 1349406"/>
                <a:gd name="connsiteX0" fmla="*/ 0 w 1953088"/>
                <a:gd name="connsiteY0" fmla="*/ 17755 h 1349406"/>
                <a:gd name="connsiteX1" fmla="*/ 0 w 1953088"/>
                <a:gd name="connsiteY1" fmla="*/ 17755 h 1349406"/>
                <a:gd name="connsiteX2" fmla="*/ 79899 w 1953088"/>
                <a:gd name="connsiteY2" fmla="*/ 26633 h 1349406"/>
                <a:gd name="connsiteX3" fmla="*/ 834501 w 1953088"/>
                <a:gd name="connsiteY3" fmla="*/ 17755 h 1349406"/>
                <a:gd name="connsiteX4" fmla="*/ 1029811 w 1953088"/>
                <a:gd name="connsiteY4" fmla="*/ 630315 h 1349406"/>
                <a:gd name="connsiteX5" fmla="*/ 1180730 w 1953088"/>
                <a:gd name="connsiteY5" fmla="*/ 8878 h 1349406"/>
                <a:gd name="connsiteX6" fmla="*/ 1953088 w 1953088"/>
                <a:gd name="connsiteY6" fmla="*/ 0 h 1349406"/>
                <a:gd name="connsiteX7" fmla="*/ 1624614 w 1953088"/>
                <a:gd name="connsiteY7" fmla="*/ 1349406 h 1349406"/>
                <a:gd name="connsiteX8" fmla="*/ 408373 w 1953088"/>
                <a:gd name="connsiteY8" fmla="*/ 1349405 h 1349406"/>
                <a:gd name="connsiteX9" fmla="*/ 0 w 1953088"/>
                <a:gd name="connsiteY9" fmla="*/ 17755 h 1349406"/>
                <a:gd name="connsiteX0" fmla="*/ 0 w 1953088"/>
                <a:gd name="connsiteY0" fmla="*/ 17755 h 1349406"/>
                <a:gd name="connsiteX1" fmla="*/ 0 w 1953088"/>
                <a:gd name="connsiteY1" fmla="*/ 17755 h 1349406"/>
                <a:gd name="connsiteX2" fmla="*/ 8878 w 1953088"/>
                <a:gd name="connsiteY2" fmla="*/ 17755 h 1349406"/>
                <a:gd name="connsiteX3" fmla="*/ 834501 w 1953088"/>
                <a:gd name="connsiteY3" fmla="*/ 17755 h 1349406"/>
                <a:gd name="connsiteX4" fmla="*/ 1029811 w 1953088"/>
                <a:gd name="connsiteY4" fmla="*/ 630315 h 1349406"/>
                <a:gd name="connsiteX5" fmla="*/ 1180730 w 1953088"/>
                <a:gd name="connsiteY5" fmla="*/ 8878 h 1349406"/>
                <a:gd name="connsiteX6" fmla="*/ 1953088 w 1953088"/>
                <a:gd name="connsiteY6" fmla="*/ 0 h 1349406"/>
                <a:gd name="connsiteX7" fmla="*/ 1624614 w 1953088"/>
                <a:gd name="connsiteY7" fmla="*/ 1349406 h 1349406"/>
                <a:gd name="connsiteX8" fmla="*/ 408373 w 1953088"/>
                <a:gd name="connsiteY8" fmla="*/ 1349405 h 1349406"/>
                <a:gd name="connsiteX9" fmla="*/ 0 w 1953088"/>
                <a:gd name="connsiteY9" fmla="*/ 17755 h 1349406"/>
                <a:gd name="connsiteX0" fmla="*/ 0 w 1953088"/>
                <a:gd name="connsiteY0" fmla="*/ 17755 h 1376038"/>
                <a:gd name="connsiteX1" fmla="*/ 0 w 1953088"/>
                <a:gd name="connsiteY1" fmla="*/ 17755 h 1376038"/>
                <a:gd name="connsiteX2" fmla="*/ 8878 w 1953088"/>
                <a:gd name="connsiteY2" fmla="*/ 17755 h 1376038"/>
                <a:gd name="connsiteX3" fmla="*/ 834501 w 1953088"/>
                <a:gd name="connsiteY3" fmla="*/ 17755 h 1376038"/>
                <a:gd name="connsiteX4" fmla="*/ 1029811 w 1953088"/>
                <a:gd name="connsiteY4" fmla="*/ 630315 h 1376038"/>
                <a:gd name="connsiteX5" fmla="*/ 1180730 w 1953088"/>
                <a:gd name="connsiteY5" fmla="*/ 8878 h 1376038"/>
                <a:gd name="connsiteX6" fmla="*/ 1953088 w 1953088"/>
                <a:gd name="connsiteY6" fmla="*/ 0 h 1376038"/>
                <a:gd name="connsiteX7" fmla="*/ 1624614 w 1953088"/>
                <a:gd name="connsiteY7" fmla="*/ 1349406 h 1376038"/>
                <a:gd name="connsiteX8" fmla="*/ 452762 w 1953088"/>
                <a:gd name="connsiteY8" fmla="*/ 1376038 h 1376038"/>
                <a:gd name="connsiteX9" fmla="*/ 0 w 1953088"/>
                <a:gd name="connsiteY9" fmla="*/ 17755 h 1376038"/>
                <a:gd name="connsiteX0" fmla="*/ 0 w 1953088"/>
                <a:gd name="connsiteY0" fmla="*/ 17755 h 1384917"/>
                <a:gd name="connsiteX1" fmla="*/ 0 w 1953088"/>
                <a:gd name="connsiteY1" fmla="*/ 17755 h 1384917"/>
                <a:gd name="connsiteX2" fmla="*/ 8878 w 1953088"/>
                <a:gd name="connsiteY2" fmla="*/ 17755 h 1384917"/>
                <a:gd name="connsiteX3" fmla="*/ 834501 w 1953088"/>
                <a:gd name="connsiteY3" fmla="*/ 17755 h 1384917"/>
                <a:gd name="connsiteX4" fmla="*/ 1029811 w 1953088"/>
                <a:gd name="connsiteY4" fmla="*/ 630315 h 1384917"/>
                <a:gd name="connsiteX5" fmla="*/ 1180730 w 1953088"/>
                <a:gd name="connsiteY5" fmla="*/ 8878 h 1384917"/>
                <a:gd name="connsiteX6" fmla="*/ 1953088 w 1953088"/>
                <a:gd name="connsiteY6" fmla="*/ 0 h 1384917"/>
                <a:gd name="connsiteX7" fmla="*/ 1615736 w 1953088"/>
                <a:gd name="connsiteY7" fmla="*/ 1384917 h 1384917"/>
                <a:gd name="connsiteX8" fmla="*/ 452762 w 1953088"/>
                <a:gd name="connsiteY8" fmla="*/ 1376038 h 1384917"/>
                <a:gd name="connsiteX9" fmla="*/ 0 w 1953088"/>
                <a:gd name="connsiteY9" fmla="*/ 17755 h 1384917"/>
                <a:gd name="connsiteX0" fmla="*/ 0 w 1953088"/>
                <a:gd name="connsiteY0" fmla="*/ 17755 h 1384917"/>
                <a:gd name="connsiteX1" fmla="*/ 0 w 1953088"/>
                <a:gd name="connsiteY1" fmla="*/ 17755 h 1384917"/>
                <a:gd name="connsiteX2" fmla="*/ 8878 w 1953088"/>
                <a:gd name="connsiteY2" fmla="*/ 17755 h 1384917"/>
                <a:gd name="connsiteX3" fmla="*/ 834501 w 1953088"/>
                <a:gd name="connsiteY3" fmla="*/ 17755 h 1384917"/>
                <a:gd name="connsiteX4" fmla="*/ 1029811 w 1953088"/>
                <a:gd name="connsiteY4" fmla="*/ 630315 h 1384917"/>
                <a:gd name="connsiteX5" fmla="*/ 1180730 w 1953088"/>
                <a:gd name="connsiteY5" fmla="*/ 8878 h 1384917"/>
                <a:gd name="connsiteX6" fmla="*/ 1953088 w 1953088"/>
                <a:gd name="connsiteY6" fmla="*/ 0 h 1384917"/>
                <a:gd name="connsiteX7" fmla="*/ 1615736 w 1953088"/>
                <a:gd name="connsiteY7" fmla="*/ 1384917 h 1384917"/>
                <a:gd name="connsiteX8" fmla="*/ 452762 w 1953088"/>
                <a:gd name="connsiteY8" fmla="*/ 1376038 h 1384917"/>
                <a:gd name="connsiteX9" fmla="*/ 0 w 1953088"/>
                <a:gd name="connsiteY9" fmla="*/ 17755 h 1384917"/>
                <a:gd name="connsiteX0" fmla="*/ 0 w 1953088"/>
                <a:gd name="connsiteY0" fmla="*/ 17755 h 1384917"/>
                <a:gd name="connsiteX1" fmla="*/ 0 w 1953088"/>
                <a:gd name="connsiteY1" fmla="*/ 17755 h 1384917"/>
                <a:gd name="connsiteX2" fmla="*/ 8878 w 1953088"/>
                <a:gd name="connsiteY2" fmla="*/ 17755 h 1384917"/>
                <a:gd name="connsiteX3" fmla="*/ 834501 w 1953088"/>
                <a:gd name="connsiteY3" fmla="*/ 17755 h 1384917"/>
                <a:gd name="connsiteX4" fmla="*/ 1029811 w 1953088"/>
                <a:gd name="connsiteY4" fmla="*/ 399496 h 1384917"/>
                <a:gd name="connsiteX5" fmla="*/ 1180730 w 1953088"/>
                <a:gd name="connsiteY5" fmla="*/ 8878 h 1384917"/>
                <a:gd name="connsiteX6" fmla="*/ 1953088 w 1953088"/>
                <a:gd name="connsiteY6" fmla="*/ 0 h 1384917"/>
                <a:gd name="connsiteX7" fmla="*/ 1615736 w 1953088"/>
                <a:gd name="connsiteY7" fmla="*/ 1384917 h 1384917"/>
                <a:gd name="connsiteX8" fmla="*/ 452762 w 1953088"/>
                <a:gd name="connsiteY8" fmla="*/ 1376038 h 1384917"/>
                <a:gd name="connsiteX9" fmla="*/ 0 w 1953088"/>
                <a:gd name="connsiteY9" fmla="*/ 17755 h 1384917"/>
                <a:gd name="connsiteX0" fmla="*/ 0 w 1953088"/>
                <a:gd name="connsiteY0" fmla="*/ 17755 h 1384917"/>
                <a:gd name="connsiteX1" fmla="*/ 0 w 1953088"/>
                <a:gd name="connsiteY1" fmla="*/ 17755 h 1384917"/>
                <a:gd name="connsiteX2" fmla="*/ 8878 w 1953088"/>
                <a:gd name="connsiteY2" fmla="*/ 17755 h 1384917"/>
                <a:gd name="connsiteX3" fmla="*/ 834501 w 1953088"/>
                <a:gd name="connsiteY3" fmla="*/ 17755 h 1384917"/>
                <a:gd name="connsiteX4" fmla="*/ 976545 w 1953088"/>
                <a:gd name="connsiteY4" fmla="*/ 442181 h 1384917"/>
                <a:gd name="connsiteX5" fmla="*/ 1180730 w 1953088"/>
                <a:gd name="connsiteY5" fmla="*/ 8878 h 1384917"/>
                <a:gd name="connsiteX6" fmla="*/ 1953088 w 1953088"/>
                <a:gd name="connsiteY6" fmla="*/ 0 h 1384917"/>
                <a:gd name="connsiteX7" fmla="*/ 1615736 w 1953088"/>
                <a:gd name="connsiteY7" fmla="*/ 1384917 h 1384917"/>
                <a:gd name="connsiteX8" fmla="*/ 452762 w 1953088"/>
                <a:gd name="connsiteY8" fmla="*/ 1376038 h 1384917"/>
                <a:gd name="connsiteX9" fmla="*/ 0 w 1953088"/>
                <a:gd name="connsiteY9" fmla="*/ 17755 h 1384917"/>
                <a:gd name="connsiteX0" fmla="*/ 49373 w 2002461"/>
                <a:gd name="connsiteY0" fmla="*/ 21342 h 1388504"/>
                <a:gd name="connsiteX1" fmla="*/ 49373 w 2002461"/>
                <a:gd name="connsiteY1" fmla="*/ 21342 h 1388504"/>
                <a:gd name="connsiteX2" fmla="*/ 58251 w 2002461"/>
                <a:gd name="connsiteY2" fmla="*/ 21342 h 1388504"/>
                <a:gd name="connsiteX3" fmla="*/ 812853 w 2002461"/>
                <a:gd name="connsiteY3" fmla="*/ 0 h 1388504"/>
                <a:gd name="connsiteX4" fmla="*/ 1025918 w 2002461"/>
                <a:gd name="connsiteY4" fmla="*/ 445768 h 1388504"/>
                <a:gd name="connsiteX5" fmla="*/ 1230103 w 2002461"/>
                <a:gd name="connsiteY5" fmla="*/ 12465 h 1388504"/>
                <a:gd name="connsiteX6" fmla="*/ 2002461 w 2002461"/>
                <a:gd name="connsiteY6" fmla="*/ 3587 h 1388504"/>
                <a:gd name="connsiteX7" fmla="*/ 1665109 w 2002461"/>
                <a:gd name="connsiteY7" fmla="*/ 1388504 h 1388504"/>
                <a:gd name="connsiteX8" fmla="*/ 502135 w 2002461"/>
                <a:gd name="connsiteY8" fmla="*/ 1379625 h 1388504"/>
                <a:gd name="connsiteX9" fmla="*/ 49373 w 2002461"/>
                <a:gd name="connsiteY9" fmla="*/ 21342 h 1388504"/>
                <a:gd name="connsiteX0" fmla="*/ 49373 w 2002461"/>
                <a:gd name="connsiteY0" fmla="*/ 17755 h 1384917"/>
                <a:gd name="connsiteX1" fmla="*/ 49373 w 2002461"/>
                <a:gd name="connsiteY1" fmla="*/ 17755 h 1384917"/>
                <a:gd name="connsiteX2" fmla="*/ 58251 w 2002461"/>
                <a:gd name="connsiteY2" fmla="*/ 17755 h 1384917"/>
                <a:gd name="connsiteX3" fmla="*/ 812853 w 2002461"/>
                <a:gd name="connsiteY3" fmla="*/ 49771 h 1384917"/>
                <a:gd name="connsiteX4" fmla="*/ 1025918 w 2002461"/>
                <a:gd name="connsiteY4" fmla="*/ 442181 h 1384917"/>
                <a:gd name="connsiteX5" fmla="*/ 1230103 w 2002461"/>
                <a:gd name="connsiteY5" fmla="*/ 8878 h 1384917"/>
                <a:gd name="connsiteX6" fmla="*/ 2002461 w 2002461"/>
                <a:gd name="connsiteY6" fmla="*/ 0 h 1384917"/>
                <a:gd name="connsiteX7" fmla="*/ 1665109 w 2002461"/>
                <a:gd name="connsiteY7" fmla="*/ 1384917 h 1384917"/>
                <a:gd name="connsiteX8" fmla="*/ 502135 w 2002461"/>
                <a:gd name="connsiteY8" fmla="*/ 1376038 h 1384917"/>
                <a:gd name="connsiteX9" fmla="*/ 49373 w 2002461"/>
                <a:gd name="connsiteY9" fmla="*/ 17755 h 1384917"/>
                <a:gd name="connsiteX0" fmla="*/ 50687 w 2003775"/>
                <a:gd name="connsiteY0" fmla="*/ 17755 h 1384917"/>
                <a:gd name="connsiteX1" fmla="*/ 50687 w 2003775"/>
                <a:gd name="connsiteY1" fmla="*/ 17755 h 1384917"/>
                <a:gd name="connsiteX2" fmla="*/ 59565 w 2003775"/>
                <a:gd name="connsiteY2" fmla="*/ 17755 h 1384917"/>
                <a:gd name="connsiteX3" fmla="*/ 831922 w 2003775"/>
                <a:gd name="connsiteY3" fmla="*/ 7085 h 1384917"/>
                <a:gd name="connsiteX4" fmla="*/ 1027232 w 2003775"/>
                <a:gd name="connsiteY4" fmla="*/ 442181 h 1384917"/>
                <a:gd name="connsiteX5" fmla="*/ 1231417 w 2003775"/>
                <a:gd name="connsiteY5" fmla="*/ 8878 h 1384917"/>
                <a:gd name="connsiteX6" fmla="*/ 2003775 w 2003775"/>
                <a:gd name="connsiteY6" fmla="*/ 0 h 1384917"/>
                <a:gd name="connsiteX7" fmla="*/ 1666423 w 2003775"/>
                <a:gd name="connsiteY7" fmla="*/ 1384917 h 1384917"/>
                <a:gd name="connsiteX8" fmla="*/ 503449 w 2003775"/>
                <a:gd name="connsiteY8" fmla="*/ 1376038 h 1384917"/>
                <a:gd name="connsiteX9" fmla="*/ 50687 w 2003775"/>
                <a:gd name="connsiteY9" fmla="*/ 17755 h 1384917"/>
                <a:gd name="connsiteX0" fmla="*/ 14152 w 2002751"/>
                <a:gd name="connsiteY0" fmla="*/ 7085 h 1384917"/>
                <a:gd name="connsiteX1" fmla="*/ 49663 w 2002751"/>
                <a:gd name="connsiteY1" fmla="*/ 17755 h 1384917"/>
                <a:gd name="connsiteX2" fmla="*/ 58541 w 2002751"/>
                <a:gd name="connsiteY2" fmla="*/ 17755 h 1384917"/>
                <a:gd name="connsiteX3" fmla="*/ 830898 w 2002751"/>
                <a:gd name="connsiteY3" fmla="*/ 7085 h 1384917"/>
                <a:gd name="connsiteX4" fmla="*/ 1026208 w 2002751"/>
                <a:gd name="connsiteY4" fmla="*/ 442181 h 1384917"/>
                <a:gd name="connsiteX5" fmla="*/ 1230393 w 2002751"/>
                <a:gd name="connsiteY5" fmla="*/ 8878 h 1384917"/>
                <a:gd name="connsiteX6" fmla="*/ 2002751 w 2002751"/>
                <a:gd name="connsiteY6" fmla="*/ 0 h 1384917"/>
                <a:gd name="connsiteX7" fmla="*/ 1665399 w 2002751"/>
                <a:gd name="connsiteY7" fmla="*/ 1384917 h 1384917"/>
                <a:gd name="connsiteX8" fmla="*/ 502425 w 2002751"/>
                <a:gd name="connsiteY8" fmla="*/ 1376038 h 1384917"/>
                <a:gd name="connsiteX9" fmla="*/ 14152 w 2002751"/>
                <a:gd name="connsiteY9" fmla="*/ 7085 h 1384917"/>
                <a:gd name="connsiteX0" fmla="*/ 14152 w 2002751"/>
                <a:gd name="connsiteY0" fmla="*/ 7085 h 1384917"/>
                <a:gd name="connsiteX1" fmla="*/ 49663 w 2002751"/>
                <a:gd name="connsiteY1" fmla="*/ 17755 h 1384917"/>
                <a:gd name="connsiteX2" fmla="*/ 58541 w 2002751"/>
                <a:gd name="connsiteY2" fmla="*/ 17755 h 1384917"/>
                <a:gd name="connsiteX3" fmla="*/ 830898 w 2002751"/>
                <a:gd name="connsiteY3" fmla="*/ 7085 h 1384917"/>
                <a:gd name="connsiteX4" fmla="*/ 1026208 w 2002751"/>
                <a:gd name="connsiteY4" fmla="*/ 442181 h 1384917"/>
                <a:gd name="connsiteX5" fmla="*/ 1230393 w 2002751"/>
                <a:gd name="connsiteY5" fmla="*/ 8878 h 1384917"/>
                <a:gd name="connsiteX6" fmla="*/ 2002751 w 2002751"/>
                <a:gd name="connsiteY6" fmla="*/ 0 h 1384917"/>
                <a:gd name="connsiteX7" fmla="*/ 1576622 w 2002751"/>
                <a:gd name="connsiteY7" fmla="*/ 1384917 h 1384917"/>
                <a:gd name="connsiteX8" fmla="*/ 502425 w 2002751"/>
                <a:gd name="connsiteY8" fmla="*/ 1376038 h 1384917"/>
                <a:gd name="connsiteX9" fmla="*/ 14152 w 2002751"/>
                <a:gd name="connsiteY9" fmla="*/ 7085 h 1384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02751" h="1384917">
                  <a:moveTo>
                    <a:pt x="14152" y="7085"/>
                  </a:moveTo>
                  <a:cubicBezTo>
                    <a:pt x="25989" y="10642"/>
                    <a:pt x="42265" y="15977"/>
                    <a:pt x="49663" y="17755"/>
                  </a:cubicBezTo>
                  <a:cubicBezTo>
                    <a:pt x="57061" y="19533"/>
                    <a:pt x="-71665" y="19533"/>
                    <a:pt x="58541" y="17755"/>
                  </a:cubicBezTo>
                  <a:lnTo>
                    <a:pt x="830898" y="7085"/>
                  </a:lnTo>
                  <a:lnTo>
                    <a:pt x="1026208" y="442181"/>
                  </a:lnTo>
                  <a:lnTo>
                    <a:pt x="1230393" y="8878"/>
                  </a:lnTo>
                  <a:lnTo>
                    <a:pt x="2002751" y="0"/>
                  </a:lnTo>
                  <a:lnTo>
                    <a:pt x="1576622" y="1384917"/>
                  </a:lnTo>
                  <a:lnTo>
                    <a:pt x="502425" y="1376038"/>
                  </a:lnTo>
                  <a:lnTo>
                    <a:pt x="14152" y="708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dirty="0"/>
                <a:t>ALU</a:t>
              </a:r>
            </a:p>
          </p:txBody>
        </p:sp>
        <p:sp>
          <p:nvSpPr>
            <p:cNvPr id="27653" name="27652 CuadroTexto"/>
            <p:cNvSpPr txBox="1"/>
            <p:nvPr/>
          </p:nvSpPr>
          <p:spPr>
            <a:xfrm>
              <a:off x="4396363" y="3212976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/>
                <a:t>X</a:t>
              </a:r>
            </a:p>
          </p:txBody>
        </p:sp>
        <p:sp>
          <p:nvSpPr>
            <p:cNvPr id="38" name="37 CuadroTexto"/>
            <p:cNvSpPr txBox="1"/>
            <p:nvPr/>
          </p:nvSpPr>
          <p:spPr>
            <a:xfrm>
              <a:off x="3236435" y="32193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/>
                <a:t>Y</a:t>
              </a:r>
            </a:p>
          </p:txBody>
        </p:sp>
        <p:sp>
          <p:nvSpPr>
            <p:cNvPr id="39" name="38 CuadroTexto"/>
            <p:cNvSpPr txBox="1"/>
            <p:nvPr/>
          </p:nvSpPr>
          <p:spPr>
            <a:xfrm>
              <a:off x="3811922" y="3984310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/>
                <a:t>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5064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27" grpId="0" animBg="1"/>
      <p:bldP spid="27651" grpId="0" animBg="1"/>
      <p:bldP spid="276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51009" y="332656"/>
            <a:ext cx="7221393" cy="12024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Básicas</a:t>
            </a:r>
            <a:r>
              <a:rPr lang="en-US" dirty="0"/>
              <a:t> de Control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484784"/>
            <a:ext cx="7859216" cy="4853136"/>
          </a:xfrm>
        </p:spPr>
        <p:txBody>
          <a:bodyPr>
            <a:normAutofit/>
          </a:bodyPr>
          <a:lstStyle/>
          <a:p>
            <a:pPr lvl="0"/>
            <a:r>
              <a:rPr lang="es-NI" dirty="0"/>
              <a:t>Transferir el contenido de un registro a otro.</a:t>
            </a:r>
          </a:p>
          <a:p>
            <a:r>
              <a:rPr lang="es-NI" dirty="0"/>
              <a:t>Leer o escribir en la memoria. </a:t>
            </a:r>
          </a:p>
          <a:p>
            <a:pPr lvl="0"/>
            <a:r>
              <a:rPr lang="es-NI" dirty="0"/>
              <a:t>Ejecutar una operación de la ALU.</a:t>
            </a:r>
          </a:p>
          <a:p>
            <a:pPr lvl="0"/>
            <a:r>
              <a:rPr lang="es-NI" dirty="0">
                <a:solidFill>
                  <a:srgbClr val="7030A0"/>
                </a:solidFill>
              </a:rPr>
              <a:t>Incrementar el PC.</a:t>
            </a:r>
          </a:p>
          <a:p>
            <a:pPr lvl="0"/>
            <a:r>
              <a:rPr lang="es-NI" dirty="0"/>
              <a:t>Modificar el PC.</a:t>
            </a:r>
          </a:p>
          <a:p>
            <a:pPr lvl="0"/>
            <a:r>
              <a:rPr lang="es-NI" dirty="0"/>
              <a:t>Verificar el estado de las solicitudes de interrupción.</a:t>
            </a:r>
          </a:p>
          <a:p>
            <a:pPr lvl="0"/>
            <a:r>
              <a:rPr lang="es-NI" dirty="0"/>
              <a:t>Verificar / establecer el estado de las banderas  y códigos de condición.</a:t>
            </a:r>
          </a:p>
          <a:p>
            <a:pPr lvl="0"/>
            <a:r>
              <a:rPr lang="es-NI" dirty="0"/>
              <a:t>Limpiar, verificar o establecer bits específicos de registros auxiliares (como Y)</a:t>
            </a:r>
          </a:p>
          <a:p>
            <a:pPr lvl="0"/>
            <a:r>
              <a:rPr lang="es-NI" dirty="0"/>
              <a:t>Decodificar una instrucción.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370005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Incrementar el PC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352213" y="1844824"/>
            <a:ext cx="6892195" cy="43924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El PC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incrementarse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k de </a:t>
            </a:r>
            <a:r>
              <a:rPr lang="en-US" dirty="0" err="1"/>
              <a:t>acuerdo</a:t>
            </a:r>
            <a:r>
              <a:rPr lang="en-US" dirty="0"/>
              <a:t> al </a:t>
            </a:r>
            <a:r>
              <a:rPr lang="en-US" dirty="0" err="1"/>
              <a:t>tamaño</a:t>
            </a:r>
            <a:r>
              <a:rPr lang="en-US" dirty="0"/>
              <a:t> de la </a:t>
            </a:r>
            <a:r>
              <a:rPr lang="en-US" dirty="0" err="1"/>
              <a:t>instrucción</a:t>
            </a:r>
            <a:r>
              <a:rPr lang="en-US" dirty="0"/>
              <a:t> actual a fin de </a:t>
            </a:r>
            <a:r>
              <a:rPr lang="en-US" dirty="0" err="1"/>
              <a:t>apuntar</a:t>
            </a:r>
            <a:r>
              <a:rPr lang="en-US" dirty="0"/>
              <a:t> a la </a:t>
            </a:r>
            <a:r>
              <a:rPr lang="en-US" dirty="0" err="1"/>
              <a:t>próxima</a:t>
            </a:r>
            <a:r>
              <a:rPr lang="en-US" dirty="0"/>
              <a:t> </a:t>
            </a:r>
            <a:r>
              <a:rPr lang="en-US" dirty="0" err="1"/>
              <a:t>instrucción</a:t>
            </a:r>
            <a:r>
              <a:rPr lang="en-US" dirty="0"/>
              <a:t>.</a:t>
            </a:r>
          </a:p>
          <a:p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nuestro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estudio</a:t>
            </a:r>
            <a:r>
              <a:rPr lang="en-US" dirty="0"/>
              <a:t> k = 1 </a:t>
            </a:r>
            <a:r>
              <a:rPr lang="en-US" dirty="0" err="1"/>
              <a:t>porque</a:t>
            </a:r>
            <a:r>
              <a:rPr lang="en-US" dirty="0"/>
              <a:t> </a:t>
            </a:r>
            <a:r>
              <a:rPr lang="en-US" dirty="0" err="1"/>
              <a:t>nuestras</a:t>
            </a:r>
            <a:r>
              <a:rPr lang="en-US" dirty="0"/>
              <a:t> </a:t>
            </a:r>
            <a:r>
              <a:rPr lang="en-US" dirty="0" err="1"/>
              <a:t>instrucciones</a:t>
            </a:r>
            <a:r>
              <a:rPr lang="en-US" dirty="0"/>
              <a:t> son de 16 bits y la </a:t>
            </a:r>
            <a:r>
              <a:rPr lang="en-US" dirty="0" err="1"/>
              <a:t>memoria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direccionable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palabras (de 16 bits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).</a:t>
            </a:r>
          </a:p>
          <a:p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usarse</a:t>
            </a:r>
            <a:r>
              <a:rPr lang="en-US" dirty="0"/>
              <a:t> la ALU para </a:t>
            </a:r>
            <a:r>
              <a:rPr lang="en-US" dirty="0" err="1"/>
              <a:t>estos</a:t>
            </a:r>
            <a:r>
              <a:rPr lang="en-US" dirty="0"/>
              <a:t> fines o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disponerse</a:t>
            </a:r>
            <a:r>
              <a:rPr lang="en-US" dirty="0"/>
              <a:t> un </a:t>
            </a:r>
            <a:r>
              <a:rPr lang="en-US" dirty="0" err="1"/>
              <a:t>sumador</a:t>
            </a:r>
            <a:r>
              <a:rPr lang="en-US" dirty="0"/>
              <a:t> </a:t>
            </a:r>
            <a:r>
              <a:rPr lang="en-US" dirty="0" err="1"/>
              <a:t>dedicado</a:t>
            </a:r>
            <a:r>
              <a:rPr lang="en-US" dirty="0"/>
              <a:t> para el PC.</a:t>
            </a:r>
          </a:p>
          <a:p>
            <a:r>
              <a:rPr lang="en-US" dirty="0"/>
              <a:t>Si se </a:t>
            </a:r>
            <a:r>
              <a:rPr lang="en-US" dirty="0" err="1"/>
              <a:t>usa</a:t>
            </a:r>
            <a:r>
              <a:rPr lang="en-US" dirty="0"/>
              <a:t> la ALU,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nuestro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estudio</a:t>
            </a:r>
            <a:r>
              <a:rPr lang="en-US" dirty="0"/>
              <a:t>, el </a:t>
            </a:r>
            <a:r>
              <a:rPr lang="en-US" dirty="0" err="1"/>
              <a:t>texto</a:t>
            </a:r>
            <a:r>
              <a:rPr lang="en-US" dirty="0"/>
              <a:t> propone un </a:t>
            </a:r>
            <a:r>
              <a:rPr lang="en-US" dirty="0" err="1"/>
              <a:t>enfoque</a:t>
            </a:r>
            <a:r>
              <a:rPr lang="en-US" dirty="0"/>
              <a:t> </a:t>
            </a:r>
            <a:r>
              <a:rPr lang="en-US" dirty="0" err="1"/>
              <a:t>interesante</a:t>
            </a:r>
            <a:r>
              <a:rPr lang="en-US" dirty="0"/>
              <a:t>: Se pone el [PC] </a:t>
            </a:r>
            <a:r>
              <a:rPr lang="en-US" dirty="0" err="1"/>
              <a:t>en</a:t>
            </a:r>
            <a:r>
              <a:rPr lang="en-US" dirty="0"/>
              <a:t> el bus (X=PC), se </a:t>
            </a:r>
            <a:r>
              <a:rPr lang="en-US" dirty="0" err="1"/>
              <a:t>resetea</a:t>
            </a:r>
            <a:r>
              <a:rPr lang="en-US" dirty="0"/>
              <a:t> Y  (Y=0), se </a:t>
            </a:r>
            <a:r>
              <a:rPr lang="en-US" dirty="0" err="1"/>
              <a:t>setea</a:t>
            </a:r>
            <a:r>
              <a:rPr lang="en-US" dirty="0"/>
              <a:t> el </a:t>
            </a:r>
            <a:r>
              <a:rPr lang="en-US" dirty="0" err="1"/>
              <a:t>acarreo</a:t>
            </a:r>
            <a:r>
              <a:rPr lang="en-US" dirty="0"/>
              <a:t> de entrada y se </a:t>
            </a:r>
            <a:r>
              <a:rPr lang="en-US" dirty="0" err="1"/>
              <a:t>suma</a:t>
            </a:r>
            <a:r>
              <a:rPr lang="en-US" dirty="0"/>
              <a:t>. De </a:t>
            </a:r>
            <a:r>
              <a:rPr lang="en-US" dirty="0" err="1"/>
              <a:t>esta</a:t>
            </a:r>
            <a:r>
              <a:rPr lang="en-US" dirty="0"/>
              <a:t> forma Z = [PC]+1. 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802807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Incrementar el PC</a:t>
            </a:r>
          </a:p>
        </p:txBody>
      </p:sp>
      <p:sp>
        <p:nvSpPr>
          <p:cNvPr id="4" name="3 Rectángulo"/>
          <p:cNvSpPr/>
          <p:nvPr/>
        </p:nvSpPr>
        <p:spPr>
          <a:xfrm>
            <a:off x="5691043" y="2420888"/>
            <a:ext cx="1192568" cy="43204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2000" b="1" dirty="0"/>
              <a:t>PC</a:t>
            </a:r>
          </a:p>
        </p:txBody>
      </p:sp>
      <p:sp>
        <p:nvSpPr>
          <p:cNvPr id="5" name="4 Flecha abajo"/>
          <p:cNvSpPr/>
          <p:nvPr/>
        </p:nvSpPr>
        <p:spPr>
          <a:xfrm>
            <a:off x="6163537" y="2852936"/>
            <a:ext cx="216024" cy="576064"/>
          </a:xfrm>
          <a:prstGeom prst="downArrow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grpSp>
        <p:nvGrpSpPr>
          <p:cNvPr id="6" name="5 Grupo"/>
          <p:cNvGrpSpPr/>
          <p:nvPr/>
        </p:nvGrpSpPr>
        <p:grpSpPr>
          <a:xfrm>
            <a:off x="5825841" y="3429000"/>
            <a:ext cx="2002751" cy="1152129"/>
            <a:chOff x="2938160" y="3212976"/>
            <a:chExt cx="2002751" cy="1152129"/>
          </a:xfrm>
        </p:grpSpPr>
        <p:sp>
          <p:nvSpPr>
            <p:cNvPr id="7" name="6 Forma libre"/>
            <p:cNvSpPr/>
            <p:nvPr/>
          </p:nvSpPr>
          <p:spPr>
            <a:xfrm>
              <a:off x="2938160" y="3212977"/>
              <a:ext cx="2002751" cy="1152128"/>
            </a:xfrm>
            <a:custGeom>
              <a:avLst/>
              <a:gdLst>
                <a:gd name="connsiteX0" fmla="*/ 0 w 1953088"/>
                <a:gd name="connsiteY0" fmla="*/ 17755 h 1358283"/>
                <a:gd name="connsiteX1" fmla="*/ 0 w 1953088"/>
                <a:gd name="connsiteY1" fmla="*/ 17755 h 1358283"/>
                <a:gd name="connsiteX2" fmla="*/ 79899 w 1953088"/>
                <a:gd name="connsiteY2" fmla="*/ 26633 h 1358283"/>
                <a:gd name="connsiteX3" fmla="*/ 834501 w 1953088"/>
                <a:gd name="connsiteY3" fmla="*/ 17755 h 1358283"/>
                <a:gd name="connsiteX4" fmla="*/ 976544 w 1953088"/>
                <a:gd name="connsiteY4" fmla="*/ 612559 h 1358283"/>
                <a:gd name="connsiteX5" fmla="*/ 1180730 w 1953088"/>
                <a:gd name="connsiteY5" fmla="*/ 8878 h 1358283"/>
                <a:gd name="connsiteX6" fmla="*/ 1953088 w 1953088"/>
                <a:gd name="connsiteY6" fmla="*/ 0 h 1358283"/>
                <a:gd name="connsiteX7" fmla="*/ 1624614 w 1953088"/>
                <a:gd name="connsiteY7" fmla="*/ 1349406 h 1358283"/>
                <a:gd name="connsiteX8" fmla="*/ 328474 w 1953088"/>
                <a:gd name="connsiteY8" fmla="*/ 1358283 h 1358283"/>
                <a:gd name="connsiteX9" fmla="*/ 0 w 1953088"/>
                <a:gd name="connsiteY9" fmla="*/ 17755 h 1358283"/>
                <a:gd name="connsiteX0" fmla="*/ 0 w 1953088"/>
                <a:gd name="connsiteY0" fmla="*/ 17755 h 1349406"/>
                <a:gd name="connsiteX1" fmla="*/ 0 w 1953088"/>
                <a:gd name="connsiteY1" fmla="*/ 17755 h 1349406"/>
                <a:gd name="connsiteX2" fmla="*/ 79899 w 1953088"/>
                <a:gd name="connsiteY2" fmla="*/ 26633 h 1349406"/>
                <a:gd name="connsiteX3" fmla="*/ 834501 w 1953088"/>
                <a:gd name="connsiteY3" fmla="*/ 17755 h 1349406"/>
                <a:gd name="connsiteX4" fmla="*/ 976544 w 1953088"/>
                <a:gd name="connsiteY4" fmla="*/ 612559 h 1349406"/>
                <a:gd name="connsiteX5" fmla="*/ 1180730 w 1953088"/>
                <a:gd name="connsiteY5" fmla="*/ 8878 h 1349406"/>
                <a:gd name="connsiteX6" fmla="*/ 1953088 w 1953088"/>
                <a:gd name="connsiteY6" fmla="*/ 0 h 1349406"/>
                <a:gd name="connsiteX7" fmla="*/ 1624614 w 1953088"/>
                <a:gd name="connsiteY7" fmla="*/ 1349406 h 1349406"/>
                <a:gd name="connsiteX8" fmla="*/ 408373 w 1953088"/>
                <a:gd name="connsiteY8" fmla="*/ 1349405 h 1349406"/>
                <a:gd name="connsiteX9" fmla="*/ 0 w 1953088"/>
                <a:gd name="connsiteY9" fmla="*/ 17755 h 1349406"/>
                <a:gd name="connsiteX0" fmla="*/ 0 w 1953088"/>
                <a:gd name="connsiteY0" fmla="*/ 17755 h 1349406"/>
                <a:gd name="connsiteX1" fmla="*/ 0 w 1953088"/>
                <a:gd name="connsiteY1" fmla="*/ 17755 h 1349406"/>
                <a:gd name="connsiteX2" fmla="*/ 79899 w 1953088"/>
                <a:gd name="connsiteY2" fmla="*/ 26633 h 1349406"/>
                <a:gd name="connsiteX3" fmla="*/ 834501 w 1953088"/>
                <a:gd name="connsiteY3" fmla="*/ 17755 h 1349406"/>
                <a:gd name="connsiteX4" fmla="*/ 1029811 w 1953088"/>
                <a:gd name="connsiteY4" fmla="*/ 630315 h 1349406"/>
                <a:gd name="connsiteX5" fmla="*/ 1180730 w 1953088"/>
                <a:gd name="connsiteY5" fmla="*/ 8878 h 1349406"/>
                <a:gd name="connsiteX6" fmla="*/ 1953088 w 1953088"/>
                <a:gd name="connsiteY6" fmla="*/ 0 h 1349406"/>
                <a:gd name="connsiteX7" fmla="*/ 1624614 w 1953088"/>
                <a:gd name="connsiteY7" fmla="*/ 1349406 h 1349406"/>
                <a:gd name="connsiteX8" fmla="*/ 408373 w 1953088"/>
                <a:gd name="connsiteY8" fmla="*/ 1349405 h 1349406"/>
                <a:gd name="connsiteX9" fmla="*/ 0 w 1953088"/>
                <a:gd name="connsiteY9" fmla="*/ 17755 h 1349406"/>
                <a:gd name="connsiteX0" fmla="*/ 0 w 1953088"/>
                <a:gd name="connsiteY0" fmla="*/ 17755 h 1349406"/>
                <a:gd name="connsiteX1" fmla="*/ 0 w 1953088"/>
                <a:gd name="connsiteY1" fmla="*/ 17755 h 1349406"/>
                <a:gd name="connsiteX2" fmla="*/ 8878 w 1953088"/>
                <a:gd name="connsiteY2" fmla="*/ 17755 h 1349406"/>
                <a:gd name="connsiteX3" fmla="*/ 834501 w 1953088"/>
                <a:gd name="connsiteY3" fmla="*/ 17755 h 1349406"/>
                <a:gd name="connsiteX4" fmla="*/ 1029811 w 1953088"/>
                <a:gd name="connsiteY4" fmla="*/ 630315 h 1349406"/>
                <a:gd name="connsiteX5" fmla="*/ 1180730 w 1953088"/>
                <a:gd name="connsiteY5" fmla="*/ 8878 h 1349406"/>
                <a:gd name="connsiteX6" fmla="*/ 1953088 w 1953088"/>
                <a:gd name="connsiteY6" fmla="*/ 0 h 1349406"/>
                <a:gd name="connsiteX7" fmla="*/ 1624614 w 1953088"/>
                <a:gd name="connsiteY7" fmla="*/ 1349406 h 1349406"/>
                <a:gd name="connsiteX8" fmla="*/ 408373 w 1953088"/>
                <a:gd name="connsiteY8" fmla="*/ 1349405 h 1349406"/>
                <a:gd name="connsiteX9" fmla="*/ 0 w 1953088"/>
                <a:gd name="connsiteY9" fmla="*/ 17755 h 1349406"/>
                <a:gd name="connsiteX0" fmla="*/ 0 w 1953088"/>
                <a:gd name="connsiteY0" fmla="*/ 17755 h 1376038"/>
                <a:gd name="connsiteX1" fmla="*/ 0 w 1953088"/>
                <a:gd name="connsiteY1" fmla="*/ 17755 h 1376038"/>
                <a:gd name="connsiteX2" fmla="*/ 8878 w 1953088"/>
                <a:gd name="connsiteY2" fmla="*/ 17755 h 1376038"/>
                <a:gd name="connsiteX3" fmla="*/ 834501 w 1953088"/>
                <a:gd name="connsiteY3" fmla="*/ 17755 h 1376038"/>
                <a:gd name="connsiteX4" fmla="*/ 1029811 w 1953088"/>
                <a:gd name="connsiteY4" fmla="*/ 630315 h 1376038"/>
                <a:gd name="connsiteX5" fmla="*/ 1180730 w 1953088"/>
                <a:gd name="connsiteY5" fmla="*/ 8878 h 1376038"/>
                <a:gd name="connsiteX6" fmla="*/ 1953088 w 1953088"/>
                <a:gd name="connsiteY6" fmla="*/ 0 h 1376038"/>
                <a:gd name="connsiteX7" fmla="*/ 1624614 w 1953088"/>
                <a:gd name="connsiteY7" fmla="*/ 1349406 h 1376038"/>
                <a:gd name="connsiteX8" fmla="*/ 452762 w 1953088"/>
                <a:gd name="connsiteY8" fmla="*/ 1376038 h 1376038"/>
                <a:gd name="connsiteX9" fmla="*/ 0 w 1953088"/>
                <a:gd name="connsiteY9" fmla="*/ 17755 h 1376038"/>
                <a:gd name="connsiteX0" fmla="*/ 0 w 1953088"/>
                <a:gd name="connsiteY0" fmla="*/ 17755 h 1384917"/>
                <a:gd name="connsiteX1" fmla="*/ 0 w 1953088"/>
                <a:gd name="connsiteY1" fmla="*/ 17755 h 1384917"/>
                <a:gd name="connsiteX2" fmla="*/ 8878 w 1953088"/>
                <a:gd name="connsiteY2" fmla="*/ 17755 h 1384917"/>
                <a:gd name="connsiteX3" fmla="*/ 834501 w 1953088"/>
                <a:gd name="connsiteY3" fmla="*/ 17755 h 1384917"/>
                <a:gd name="connsiteX4" fmla="*/ 1029811 w 1953088"/>
                <a:gd name="connsiteY4" fmla="*/ 630315 h 1384917"/>
                <a:gd name="connsiteX5" fmla="*/ 1180730 w 1953088"/>
                <a:gd name="connsiteY5" fmla="*/ 8878 h 1384917"/>
                <a:gd name="connsiteX6" fmla="*/ 1953088 w 1953088"/>
                <a:gd name="connsiteY6" fmla="*/ 0 h 1384917"/>
                <a:gd name="connsiteX7" fmla="*/ 1615736 w 1953088"/>
                <a:gd name="connsiteY7" fmla="*/ 1384917 h 1384917"/>
                <a:gd name="connsiteX8" fmla="*/ 452762 w 1953088"/>
                <a:gd name="connsiteY8" fmla="*/ 1376038 h 1384917"/>
                <a:gd name="connsiteX9" fmla="*/ 0 w 1953088"/>
                <a:gd name="connsiteY9" fmla="*/ 17755 h 1384917"/>
                <a:gd name="connsiteX0" fmla="*/ 0 w 1953088"/>
                <a:gd name="connsiteY0" fmla="*/ 17755 h 1384917"/>
                <a:gd name="connsiteX1" fmla="*/ 0 w 1953088"/>
                <a:gd name="connsiteY1" fmla="*/ 17755 h 1384917"/>
                <a:gd name="connsiteX2" fmla="*/ 8878 w 1953088"/>
                <a:gd name="connsiteY2" fmla="*/ 17755 h 1384917"/>
                <a:gd name="connsiteX3" fmla="*/ 834501 w 1953088"/>
                <a:gd name="connsiteY3" fmla="*/ 17755 h 1384917"/>
                <a:gd name="connsiteX4" fmla="*/ 1029811 w 1953088"/>
                <a:gd name="connsiteY4" fmla="*/ 630315 h 1384917"/>
                <a:gd name="connsiteX5" fmla="*/ 1180730 w 1953088"/>
                <a:gd name="connsiteY5" fmla="*/ 8878 h 1384917"/>
                <a:gd name="connsiteX6" fmla="*/ 1953088 w 1953088"/>
                <a:gd name="connsiteY6" fmla="*/ 0 h 1384917"/>
                <a:gd name="connsiteX7" fmla="*/ 1615736 w 1953088"/>
                <a:gd name="connsiteY7" fmla="*/ 1384917 h 1384917"/>
                <a:gd name="connsiteX8" fmla="*/ 452762 w 1953088"/>
                <a:gd name="connsiteY8" fmla="*/ 1376038 h 1384917"/>
                <a:gd name="connsiteX9" fmla="*/ 0 w 1953088"/>
                <a:gd name="connsiteY9" fmla="*/ 17755 h 1384917"/>
                <a:gd name="connsiteX0" fmla="*/ 0 w 1953088"/>
                <a:gd name="connsiteY0" fmla="*/ 17755 h 1384917"/>
                <a:gd name="connsiteX1" fmla="*/ 0 w 1953088"/>
                <a:gd name="connsiteY1" fmla="*/ 17755 h 1384917"/>
                <a:gd name="connsiteX2" fmla="*/ 8878 w 1953088"/>
                <a:gd name="connsiteY2" fmla="*/ 17755 h 1384917"/>
                <a:gd name="connsiteX3" fmla="*/ 834501 w 1953088"/>
                <a:gd name="connsiteY3" fmla="*/ 17755 h 1384917"/>
                <a:gd name="connsiteX4" fmla="*/ 1029811 w 1953088"/>
                <a:gd name="connsiteY4" fmla="*/ 399496 h 1384917"/>
                <a:gd name="connsiteX5" fmla="*/ 1180730 w 1953088"/>
                <a:gd name="connsiteY5" fmla="*/ 8878 h 1384917"/>
                <a:gd name="connsiteX6" fmla="*/ 1953088 w 1953088"/>
                <a:gd name="connsiteY6" fmla="*/ 0 h 1384917"/>
                <a:gd name="connsiteX7" fmla="*/ 1615736 w 1953088"/>
                <a:gd name="connsiteY7" fmla="*/ 1384917 h 1384917"/>
                <a:gd name="connsiteX8" fmla="*/ 452762 w 1953088"/>
                <a:gd name="connsiteY8" fmla="*/ 1376038 h 1384917"/>
                <a:gd name="connsiteX9" fmla="*/ 0 w 1953088"/>
                <a:gd name="connsiteY9" fmla="*/ 17755 h 1384917"/>
                <a:gd name="connsiteX0" fmla="*/ 0 w 1953088"/>
                <a:gd name="connsiteY0" fmla="*/ 17755 h 1384917"/>
                <a:gd name="connsiteX1" fmla="*/ 0 w 1953088"/>
                <a:gd name="connsiteY1" fmla="*/ 17755 h 1384917"/>
                <a:gd name="connsiteX2" fmla="*/ 8878 w 1953088"/>
                <a:gd name="connsiteY2" fmla="*/ 17755 h 1384917"/>
                <a:gd name="connsiteX3" fmla="*/ 834501 w 1953088"/>
                <a:gd name="connsiteY3" fmla="*/ 17755 h 1384917"/>
                <a:gd name="connsiteX4" fmla="*/ 976545 w 1953088"/>
                <a:gd name="connsiteY4" fmla="*/ 442181 h 1384917"/>
                <a:gd name="connsiteX5" fmla="*/ 1180730 w 1953088"/>
                <a:gd name="connsiteY5" fmla="*/ 8878 h 1384917"/>
                <a:gd name="connsiteX6" fmla="*/ 1953088 w 1953088"/>
                <a:gd name="connsiteY6" fmla="*/ 0 h 1384917"/>
                <a:gd name="connsiteX7" fmla="*/ 1615736 w 1953088"/>
                <a:gd name="connsiteY7" fmla="*/ 1384917 h 1384917"/>
                <a:gd name="connsiteX8" fmla="*/ 452762 w 1953088"/>
                <a:gd name="connsiteY8" fmla="*/ 1376038 h 1384917"/>
                <a:gd name="connsiteX9" fmla="*/ 0 w 1953088"/>
                <a:gd name="connsiteY9" fmla="*/ 17755 h 1384917"/>
                <a:gd name="connsiteX0" fmla="*/ 49373 w 2002461"/>
                <a:gd name="connsiteY0" fmla="*/ 21342 h 1388504"/>
                <a:gd name="connsiteX1" fmla="*/ 49373 w 2002461"/>
                <a:gd name="connsiteY1" fmla="*/ 21342 h 1388504"/>
                <a:gd name="connsiteX2" fmla="*/ 58251 w 2002461"/>
                <a:gd name="connsiteY2" fmla="*/ 21342 h 1388504"/>
                <a:gd name="connsiteX3" fmla="*/ 812853 w 2002461"/>
                <a:gd name="connsiteY3" fmla="*/ 0 h 1388504"/>
                <a:gd name="connsiteX4" fmla="*/ 1025918 w 2002461"/>
                <a:gd name="connsiteY4" fmla="*/ 445768 h 1388504"/>
                <a:gd name="connsiteX5" fmla="*/ 1230103 w 2002461"/>
                <a:gd name="connsiteY5" fmla="*/ 12465 h 1388504"/>
                <a:gd name="connsiteX6" fmla="*/ 2002461 w 2002461"/>
                <a:gd name="connsiteY6" fmla="*/ 3587 h 1388504"/>
                <a:gd name="connsiteX7" fmla="*/ 1665109 w 2002461"/>
                <a:gd name="connsiteY7" fmla="*/ 1388504 h 1388504"/>
                <a:gd name="connsiteX8" fmla="*/ 502135 w 2002461"/>
                <a:gd name="connsiteY8" fmla="*/ 1379625 h 1388504"/>
                <a:gd name="connsiteX9" fmla="*/ 49373 w 2002461"/>
                <a:gd name="connsiteY9" fmla="*/ 21342 h 1388504"/>
                <a:gd name="connsiteX0" fmla="*/ 49373 w 2002461"/>
                <a:gd name="connsiteY0" fmla="*/ 17755 h 1384917"/>
                <a:gd name="connsiteX1" fmla="*/ 49373 w 2002461"/>
                <a:gd name="connsiteY1" fmla="*/ 17755 h 1384917"/>
                <a:gd name="connsiteX2" fmla="*/ 58251 w 2002461"/>
                <a:gd name="connsiteY2" fmla="*/ 17755 h 1384917"/>
                <a:gd name="connsiteX3" fmla="*/ 812853 w 2002461"/>
                <a:gd name="connsiteY3" fmla="*/ 49771 h 1384917"/>
                <a:gd name="connsiteX4" fmla="*/ 1025918 w 2002461"/>
                <a:gd name="connsiteY4" fmla="*/ 442181 h 1384917"/>
                <a:gd name="connsiteX5" fmla="*/ 1230103 w 2002461"/>
                <a:gd name="connsiteY5" fmla="*/ 8878 h 1384917"/>
                <a:gd name="connsiteX6" fmla="*/ 2002461 w 2002461"/>
                <a:gd name="connsiteY6" fmla="*/ 0 h 1384917"/>
                <a:gd name="connsiteX7" fmla="*/ 1665109 w 2002461"/>
                <a:gd name="connsiteY7" fmla="*/ 1384917 h 1384917"/>
                <a:gd name="connsiteX8" fmla="*/ 502135 w 2002461"/>
                <a:gd name="connsiteY8" fmla="*/ 1376038 h 1384917"/>
                <a:gd name="connsiteX9" fmla="*/ 49373 w 2002461"/>
                <a:gd name="connsiteY9" fmla="*/ 17755 h 1384917"/>
                <a:gd name="connsiteX0" fmla="*/ 50687 w 2003775"/>
                <a:gd name="connsiteY0" fmla="*/ 17755 h 1384917"/>
                <a:gd name="connsiteX1" fmla="*/ 50687 w 2003775"/>
                <a:gd name="connsiteY1" fmla="*/ 17755 h 1384917"/>
                <a:gd name="connsiteX2" fmla="*/ 59565 w 2003775"/>
                <a:gd name="connsiteY2" fmla="*/ 17755 h 1384917"/>
                <a:gd name="connsiteX3" fmla="*/ 831922 w 2003775"/>
                <a:gd name="connsiteY3" fmla="*/ 7085 h 1384917"/>
                <a:gd name="connsiteX4" fmla="*/ 1027232 w 2003775"/>
                <a:gd name="connsiteY4" fmla="*/ 442181 h 1384917"/>
                <a:gd name="connsiteX5" fmla="*/ 1231417 w 2003775"/>
                <a:gd name="connsiteY5" fmla="*/ 8878 h 1384917"/>
                <a:gd name="connsiteX6" fmla="*/ 2003775 w 2003775"/>
                <a:gd name="connsiteY6" fmla="*/ 0 h 1384917"/>
                <a:gd name="connsiteX7" fmla="*/ 1666423 w 2003775"/>
                <a:gd name="connsiteY7" fmla="*/ 1384917 h 1384917"/>
                <a:gd name="connsiteX8" fmla="*/ 503449 w 2003775"/>
                <a:gd name="connsiteY8" fmla="*/ 1376038 h 1384917"/>
                <a:gd name="connsiteX9" fmla="*/ 50687 w 2003775"/>
                <a:gd name="connsiteY9" fmla="*/ 17755 h 1384917"/>
                <a:gd name="connsiteX0" fmla="*/ 14152 w 2002751"/>
                <a:gd name="connsiteY0" fmla="*/ 7085 h 1384917"/>
                <a:gd name="connsiteX1" fmla="*/ 49663 w 2002751"/>
                <a:gd name="connsiteY1" fmla="*/ 17755 h 1384917"/>
                <a:gd name="connsiteX2" fmla="*/ 58541 w 2002751"/>
                <a:gd name="connsiteY2" fmla="*/ 17755 h 1384917"/>
                <a:gd name="connsiteX3" fmla="*/ 830898 w 2002751"/>
                <a:gd name="connsiteY3" fmla="*/ 7085 h 1384917"/>
                <a:gd name="connsiteX4" fmla="*/ 1026208 w 2002751"/>
                <a:gd name="connsiteY4" fmla="*/ 442181 h 1384917"/>
                <a:gd name="connsiteX5" fmla="*/ 1230393 w 2002751"/>
                <a:gd name="connsiteY5" fmla="*/ 8878 h 1384917"/>
                <a:gd name="connsiteX6" fmla="*/ 2002751 w 2002751"/>
                <a:gd name="connsiteY6" fmla="*/ 0 h 1384917"/>
                <a:gd name="connsiteX7" fmla="*/ 1665399 w 2002751"/>
                <a:gd name="connsiteY7" fmla="*/ 1384917 h 1384917"/>
                <a:gd name="connsiteX8" fmla="*/ 502425 w 2002751"/>
                <a:gd name="connsiteY8" fmla="*/ 1376038 h 1384917"/>
                <a:gd name="connsiteX9" fmla="*/ 14152 w 2002751"/>
                <a:gd name="connsiteY9" fmla="*/ 7085 h 1384917"/>
                <a:gd name="connsiteX0" fmla="*/ 14152 w 2002751"/>
                <a:gd name="connsiteY0" fmla="*/ 7085 h 1384917"/>
                <a:gd name="connsiteX1" fmla="*/ 49663 w 2002751"/>
                <a:gd name="connsiteY1" fmla="*/ 17755 h 1384917"/>
                <a:gd name="connsiteX2" fmla="*/ 58541 w 2002751"/>
                <a:gd name="connsiteY2" fmla="*/ 17755 h 1384917"/>
                <a:gd name="connsiteX3" fmla="*/ 830898 w 2002751"/>
                <a:gd name="connsiteY3" fmla="*/ 7085 h 1384917"/>
                <a:gd name="connsiteX4" fmla="*/ 1026208 w 2002751"/>
                <a:gd name="connsiteY4" fmla="*/ 442181 h 1384917"/>
                <a:gd name="connsiteX5" fmla="*/ 1230393 w 2002751"/>
                <a:gd name="connsiteY5" fmla="*/ 8878 h 1384917"/>
                <a:gd name="connsiteX6" fmla="*/ 2002751 w 2002751"/>
                <a:gd name="connsiteY6" fmla="*/ 0 h 1384917"/>
                <a:gd name="connsiteX7" fmla="*/ 1576622 w 2002751"/>
                <a:gd name="connsiteY7" fmla="*/ 1384917 h 1384917"/>
                <a:gd name="connsiteX8" fmla="*/ 502425 w 2002751"/>
                <a:gd name="connsiteY8" fmla="*/ 1376038 h 1384917"/>
                <a:gd name="connsiteX9" fmla="*/ 14152 w 2002751"/>
                <a:gd name="connsiteY9" fmla="*/ 7085 h 1384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02751" h="1384917">
                  <a:moveTo>
                    <a:pt x="14152" y="7085"/>
                  </a:moveTo>
                  <a:cubicBezTo>
                    <a:pt x="25989" y="10642"/>
                    <a:pt x="42265" y="15977"/>
                    <a:pt x="49663" y="17755"/>
                  </a:cubicBezTo>
                  <a:cubicBezTo>
                    <a:pt x="57061" y="19533"/>
                    <a:pt x="-71665" y="19533"/>
                    <a:pt x="58541" y="17755"/>
                  </a:cubicBezTo>
                  <a:lnTo>
                    <a:pt x="830898" y="7085"/>
                  </a:lnTo>
                  <a:lnTo>
                    <a:pt x="1026208" y="442181"/>
                  </a:lnTo>
                  <a:lnTo>
                    <a:pt x="1230393" y="8878"/>
                  </a:lnTo>
                  <a:lnTo>
                    <a:pt x="2002751" y="0"/>
                  </a:lnTo>
                  <a:lnTo>
                    <a:pt x="1576622" y="1384917"/>
                  </a:lnTo>
                  <a:lnTo>
                    <a:pt x="502425" y="1376038"/>
                  </a:lnTo>
                  <a:lnTo>
                    <a:pt x="14152" y="7085"/>
                  </a:lnTo>
                  <a:close/>
                </a:path>
              </a:pathLst>
            </a:cu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dirty="0"/>
                <a:t>Sumador</a:t>
              </a:r>
            </a:p>
          </p:txBody>
        </p:sp>
        <p:sp>
          <p:nvSpPr>
            <p:cNvPr id="8" name="7 CuadroTexto"/>
            <p:cNvSpPr txBox="1"/>
            <p:nvPr/>
          </p:nvSpPr>
          <p:spPr>
            <a:xfrm>
              <a:off x="4396363" y="3212976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/>
                <a:t>Y</a:t>
              </a:r>
            </a:p>
          </p:txBody>
        </p:sp>
        <p:sp>
          <p:nvSpPr>
            <p:cNvPr id="9" name="8 CuadroTexto"/>
            <p:cNvSpPr txBox="1"/>
            <p:nvPr/>
          </p:nvSpPr>
          <p:spPr>
            <a:xfrm>
              <a:off x="3236435" y="3219349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/>
                <a:t>X</a:t>
              </a:r>
            </a:p>
          </p:txBody>
        </p:sp>
        <p:sp>
          <p:nvSpPr>
            <p:cNvPr id="10" name="9 CuadroTexto"/>
            <p:cNvSpPr txBox="1"/>
            <p:nvPr/>
          </p:nvSpPr>
          <p:spPr>
            <a:xfrm>
              <a:off x="3811922" y="3984310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/>
                <a:t>Z</a:t>
              </a:r>
            </a:p>
          </p:txBody>
        </p:sp>
      </p:grpSp>
      <p:sp>
        <p:nvSpPr>
          <p:cNvPr id="11" name="10 Flecha abajo"/>
          <p:cNvSpPr/>
          <p:nvPr/>
        </p:nvSpPr>
        <p:spPr>
          <a:xfrm>
            <a:off x="7369101" y="2852936"/>
            <a:ext cx="216024" cy="576064"/>
          </a:xfrm>
          <a:prstGeom prst="downArrow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2" name="11 Rectángulo"/>
          <p:cNvSpPr/>
          <p:nvPr/>
        </p:nvSpPr>
        <p:spPr>
          <a:xfrm>
            <a:off x="7110166" y="2420888"/>
            <a:ext cx="718426" cy="43204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2000" b="1" dirty="0"/>
              <a:t>1</a:t>
            </a:r>
          </a:p>
        </p:txBody>
      </p:sp>
      <p:sp>
        <p:nvSpPr>
          <p:cNvPr id="19" name="18 Flecha abajo"/>
          <p:cNvSpPr/>
          <p:nvPr/>
        </p:nvSpPr>
        <p:spPr>
          <a:xfrm>
            <a:off x="6788471" y="4581355"/>
            <a:ext cx="216024" cy="345533"/>
          </a:xfrm>
          <a:prstGeom prst="downArrow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20" name="19 Flecha izquierda"/>
          <p:cNvSpPr/>
          <p:nvPr/>
        </p:nvSpPr>
        <p:spPr>
          <a:xfrm>
            <a:off x="5260082" y="4901989"/>
            <a:ext cx="1636401" cy="216024"/>
          </a:xfrm>
          <a:prstGeom prst="lef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21" name="20 Flecha doblada"/>
          <p:cNvSpPr/>
          <p:nvPr/>
        </p:nvSpPr>
        <p:spPr>
          <a:xfrm>
            <a:off x="5114979" y="2475051"/>
            <a:ext cx="576064" cy="2642962"/>
          </a:xfrm>
          <a:prstGeom prst="ben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3" name="12 Marcador de contenido"/>
          <p:cNvSpPr>
            <a:spLocks noGrp="1"/>
          </p:cNvSpPr>
          <p:nvPr>
            <p:ph idx="1"/>
          </p:nvPr>
        </p:nvSpPr>
        <p:spPr>
          <a:xfrm>
            <a:off x="1268691" y="2001414"/>
            <a:ext cx="3519333" cy="3603812"/>
          </a:xfrm>
        </p:spPr>
        <p:txBody>
          <a:bodyPr>
            <a:normAutofit fontScale="92500"/>
          </a:bodyPr>
          <a:lstStyle/>
          <a:p>
            <a:r>
              <a:rPr lang="es-NI" dirty="0"/>
              <a:t>Si se dispone de un sumador dedicado para incrementar el PC, este tiene en su entrada X el [PC] todo el tiempo y en su entrada Y el valor del incremento fijo, </a:t>
            </a:r>
            <a:r>
              <a:rPr lang="es-NI" dirty="0" err="1"/>
              <a:t>p.e</a:t>
            </a:r>
            <a:r>
              <a:rPr lang="es-NI" dirty="0"/>
              <a:t>. 1.</a:t>
            </a:r>
          </a:p>
          <a:p>
            <a:r>
              <a:rPr lang="es-NI" dirty="0"/>
              <a:t>La UC se encarga de controlar cuándo el valor de [PC]+1 se copia en PC,</a:t>
            </a:r>
          </a:p>
        </p:txBody>
      </p:sp>
    </p:spTree>
    <p:extLst>
      <p:ext uri="{BB962C8B-B14F-4D97-AF65-F5344CB8AC3E}">
        <p14:creationId xmlns:p14="http://schemas.microsoft.com/office/powerpoint/2010/main" val="124224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  <p:bldP spid="12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51009" y="332656"/>
            <a:ext cx="7221393" cy="12024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Básicas</a:t>
            </a:r>
            <a:r>
              <a:rPr lang="en-US" dirty="0"/>
              <a:t> de Control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484784"/>
            <a:ext cx="7859216" cy="4853136"/>
          </a:xfrm>
        </p:spPr>
        <p:txBody>
          <a:bodyPr>
            <a:normAutofit/>
          </a:bodyPr>
          <a:lstStyle/>
          <a:p>
            <a:pPr lvl="0"/>
            <a:r>
              <a:rPr lang="es-NI" dirty="0"/>
              <a:t>Transferir el contenido de un registro a otro.</a:t>
            </a:r>
          </a:p>
          <a:p>
            <a:r>
              <a:rPr lang="es-NI" dirty="0"/>
              <a:t>Leer o escribir en la memoria. </a:t>
            </a:r>
          </a:p>
          <a:p>
            <a:pPr lvl="0"/>
            <a:r>
              <a:rPr lang="es-NI" dirty="0"/>
              <a:t>Ejecutar una operación de la ALU.</a:t>
            </a:r>
          </a:p>
          <a:p>
            <a:pPr lvl="0"/>
            <a:r>
              <a:rPr lang="es-NI" dirty="0"/>
              <a:t>Incrementar el PC.</a:t>
            </a:r>
          </a:p>
          <a:p>
            <a:pPr lvl="0"/>
            <a:r>
              <a:rPr lang="es-NI" dirty="0">
                <a:solidFill>
                  <a:srgbClr val="7030A0"/>
                </a:solidFill>
              </a:rPr>
              <a:t>Modificar el PC.</a:t>
            </a:r>
          </a:p>
          <a:p>
            <a:pPr lvl="0"/>
            <a:r>
              <a:rPr lang="es-NI" dirty="0"/>
              <a:t>Verificar el estado de las solicitudes de interrupción.</a:t>
            </a:r>
          </a:p>
          <a:p>
            <a:pPr lvl="0"/>
            <a:r>
              <a:rPr lang="es-NI" dirty="0"/>
              <a:t>Verificar / establecer el estado de las banderas  y códigos de condición.</a:t>
            </a:r>
          </a:p>
          <a:p>
            <a:pPr lvl="0"/>
            <a:r>
              <a:rPr lang="es-NI" dirty="0"/>
              <a:t>Limpiar, verificar o establecer bits específicos de registros auxiliares (como Y)</a:t>
            </a:r>
          </a:p>
          <a:p>
            <a:pPr lvl="0"/>
            <a:r>
              <a:rPr lang="es-NI" dirty="0"/>
              <a:t>Decodificar una instrucción.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658765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15616" y="620688"/>
            <a:ext cx="6965245" cy="1202485"/>
          </a:xfrm>
        </p:spPr>
        <p:txBody>
          <a:bodyPr/>
          <a:lstStyle/>
          <a:p>
            <a:r>
              <a:rPr lang="es-NI" dirty="0"/>
              <a:t>Modificar el PC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87625" y="1844824"/>
            <a:ext cx="6492396" cy="417646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El PC se </a:t>
            </a:r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se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instrucciones</a:t>
            </a:r>
            <a:r>
              <a:rPr lang="en-US" dirty="0"/>
              <a:t> de </a:t>
            </a:r>
            <a:r>
              <a:rPr lang="en-US" dirty="0" err="1"/>
              <a:t>salto</a:t>
            </a:r>
            <a:r>
              <a:rPr lang="en-US" dirty="0"/>
              <a:t>.</a:t>
            </a:r>
          </a:p>
          <a:p>
            <a:r>
              <a:rPr lang="en-US" dirty="0" err="1"/>
              <a:t>Saltos</a:t>
            </a:r>
            <a:r>
              <a:rPr lang="en-US" dirty="0"/>
              <a:t>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modo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Absoluto</a:t>
            </a:r>
            <a:r>
              <a:rPr lang="en-US" dirty="0"/>
              <a:t> :  PC </a:t>
            </a:r>
            <a:r>
              <a:rPr lang="en-US" dirty="0">
                <a:sym typeface="Wingdings" panose="05000000000000000000" pitchFamily="2" charset="2"/>
              </a:rPr>
              <a:t> d</a:t>
            </a:r>
          </a:p>
          <a:p>
            <a:pPr lvl="2"/>
            <a:r>
              <a:rPr lang="en-US" dirty="0" err="1">
                <a:sym typeface="Wingdings" panose="05000000000000000000" pitchFamily="2" charset="2"/>
              </a:rPr>
              <a:t>Relativo</a:t>
            </a:r>
            <a:r>
              <a:rPr lang="en-US" dirty="0">
                <a:sym typeface="Wingdings" panose="05000000000000000000" pitchFamily="2" charset="2"/>
              </a:rPr>
              <a:t>:    PC  [PC] + d</a:t>
            </a:r>
            <a:endParaRPr lang="en-US" dirty="0"/>
          </a:p>
          <a:p>
            <a:pPr lvl="1"/>
            <a:r>
              <a:rPr lang="en-US" dirty="0" err="1"/>
              <a:t>Por</a:t>
            </a:r>
            <a:r>
              <a:rPr lang="en-US" dirty="0"/>
              <a:t> la </a:t>
            </a:r>
            <a:r>
              <a:rPr lang="en-US" dirty="0" err="1"/>
              <a:t>decisión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Condicional</a:t>
            </a:r>
            <a:r>
              <a:rPr lang="en-US" dirty="0"/>
              <a:t>:  Si </a:t>
            </a:r>
            <a:r>
              <a:rPr lang="en-US" dirty="0" err="1"/>
              <a:t>Condición</a:t>
            </a:r>
            <a:r>
              <a:rPr lang="en-US" dirty="0"/>
              <a:t> </a:t>
            </a:r>
            <a:r>
              <a:rPr lang="en-US" dirty="0" err="1"/>
              <a:t>entonces</a:t>
            </a:r>
            <a:r>
              <a:rPr lang="en-US" dirty="0"/>
              <a:t> Salto</a:t>
            </a:r>
          </a:p>
          <a:p>
            <a:pPr lvl="2"/>
            <a:r>
              <a:rPr lang="en-US" dirty="0" err="1"/>
              <a:t>Incondicional</a:t>
            </a:r>
            <a:r>
              <a:rPr lang="en-US" dirty="0"/>
              <a:t>:  Salto, </a:t>
            </a:r>
            <a:r>
              <a:rPr lang="en-US" dirty="0" err="1"/>
              <a:t>independientemente</a:t>
            </a:r>
            <a:r>
              <a:rPr lang="en-US" dirty="0"/>
              <a:t> de </a:t>
            </a:r>
            <a:r>
              <a:rPr lang="en-US" dirty="0" err="1"/>
              <a:t>todo</a:t>
            </a:r>
            <a:r>
              <a:rPr lang="en-US" dirty="0"/>
              <a:t>.</a:t>
            </a:r>
          </a:p>
          <a:p>
            <a:r>
              <a:rPr lang="en-US" dirty="0"/>
              <a:t>Si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absoluto</a:t>
            </a:r>
            <a:r>
              <a:rPr lang="en-US" dirty="0"/>
              <a:t>, solo se </a:t>
            </a:r>
            <a:r>
              <a:rPr lang="en-US" dirty="0" err="1"/>
              <a:t>transfiere</a:t>
            </a:r>
            <a:r>
              <a:rPr lang="en-US" dirty="0"/>
              <a:t> d del IR al PC.</a:t>
            </a:r>
          </a:p>
          <a:p>
            <a:r>
              <a:rPr lang="en-US" dirty="0"/>
              <a:t>Si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relativo</a:t>
            </a:r>
            <a:r>
              <a:rPr lang="en-US" dirty="0"/>
              <a:t>, se </a:t>
            </a:r>
            <a:r>
              <a:rPr lang="en-US" dirty="0" err="1"/>
              <a:t>usa</a:t>
            </a:r>
            <a:r>
              <a:rPr lang="en-US" dirty="0"/>
              <a:t> la ALU:  Y </a:t>
            </a:r>
            <a:r>
              <a:rPr lang="en-US" dirty="0">
                <a:sym typeface="Wingdings" panose="05000000000000000000" pitchFamily="2" charset="2"/>
              </a:rPr>
              <a:t> [IR(d)] y PC </a:t>
            </a:r>
            <a:r>
              <a:rPr lang="en-US" dirty="0" err="1">
                <a:sym typeface="Wingdings" panose="05000000000000000000" pitchFamily="2" charset="2"/>
              </a:rPr>
              <a:t>en</a:t>
            </a:r>
            <a:r>
              <a:rPr lang="en-US" dirty="0">
                <a:sym typeface="Wingdings" panose="05000000000000000000" pitchFamily="2" charset="2"/>
              </a:rPr>
              <a:t> el Bus y se </a:t>
            </a:r>
            <a:r>
              <a:rPr lang="en-US" dirty="0" err="1">
                <a:sym typeface="Wingdings" panose="05000000000000000000" pitchFamily="2" charset="2"/>
              </a:rPr>
              <a:t>suma</a:t>
            </a:r>
            <a:r>
              <a:rPr lang="en-US" dirty="0">
                <a:sym typeface="Wingdings" panose="05000000000000000000" pitchFamily="2" charset="2"/>
              </a:rPr>
              <a:t>: Z  [PC] + 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29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51009" y="332656"/>
            <a:ext cx="7221393" cy="12024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Básicas</a:t>
            </a:r>
            <a:r>
              <a:rPr lang="en-US" dirty="0"/>
              <a:t> de Control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484784"/>
            <a:ext cx="7859216" cy="4853136"/>
          </a:xfrm>
        </p:spPr>
        <p:txBody>
          <a:bodyPr>
            <a:normAutofit/>
          </a:bodyPr>
          <a:lstStyle/>
          <a:p>
            <a:pPr lvl="0"/>
            <a:r>
              <a:rPr lang="es-NI" dirty="0"/>
              <a:t>Transferir el contenido de un registro a otro.</a:t>
            </a:r>
          </a:p>
          <a:p>
            <a:r>
              <a:rPr lang="es-NI" dirty="0"/>
              <a:t>Leer o escribir en la memoria. </a:t>
            </a:r>
          </a:p>
          <a:p>
            <a:pPr lvl="0"/>
            <a:r>
              <a:rPr lang="es-NI" dirty="0"/>
              <a:t>Ejecutar una operación de la ALU.</a:t>
            </a:r>
          </a:p>
          <a:p>
            <a:pPr lvl="0"/>
            <a:r>
              <a:rPr lang="es-NI" dirty="0"/>
              <a:t>Incrementar el PC.</a:t>
            </a:r>
          </a:p>
          <a:p>
            <a:pPr lvl="0"/>
            <a:r>
              <a:rPr lang="es-NI" dirty="0"/>
              <a:t>Modificar el PC.</a:t>
            </a:r>
          </a:p>
          <a:p>
            <a:pPr lvl="0"/>
            <a:r>
              <a:rPr lang="es-NI" dirty="0">
                <a:solidFill>
                  <a:srgbClr val="7030A0"/>
                </a:solidFill>
              </a:rPr>
              <a:t>Verificar el estado de las solicitudes de interrupción.</a:t>
            </a:r>
          </a:p>
          <a:p>
            <a:pPr lvl="0"/>
            <a:r>
              <a:rPr lang="es-NI" dirty="0"/>
              <a:t>Verificar / establecer el estado de las banderas  y códigos de condición.</a:t>
            </a:r>
          </a:p>
          <a:p>
            <a:pPr lvl="0"/>
            <a:r>
              <a:rPr lang="es-NI" dirty="0"/>
              <a:t>Limpiar, verificar o establecer bits específicos de registros auxiliares (como Y)</a:t>
            </a:r>
          </a:p>
          <a:p>
            <a:pPr lvl="0"/>
            <a:r>
              <a:rPr lang="es-NI" dirty="0"/>
              <a:t>Decodificar una instrucción.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650495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15616" y="620688"/>
            <a:ext cx="6965245" cy="1202485"/>
          </a:xfrm>
        </p:spPr>
        <p:txBody>
          <a:bodyPr>
            <a:normAutofit fontScale="90000"/>
          </a:bodyPr>
          <a:lstStyle/>
          <a:p>
            <a:r>
              <a:rPr lang="es-NI" dirty="0"/>
              <a:t>Verificar el estado de las solicitudes de interrupción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87625" y="2204864"/>
            <a:ext cx="6492396" cy="3816424"/>
          </a:xfrm>
        </p:spPr>
        <p:txBody>
          <a:bodyPr>
            <a:normAutofit/>
          </a:bodyPr>
          <a:lstStyle/>
          <a:p>
            <a:r>
              <a:rPr lang="en-US" dirty="0"/>
              <a:t>El CPU </a:t>
            </a:r>
            <a:r>
              <a:rPr lang="en-US" dirty="0" err="1"/>
              <a:t>normalmente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señal</a:t>
            </a:r>
            <a:r>
              <a:rPr lang="en-US" dirty="0"/>
              <a:t> de control de entrada para </a:t>
            </a:r>
            <a:r>
              <a:rPr lang="en-US" dirty="0" err="1"/>
              <a:t>interrupción</a:t>
            </a:r>
            <a:r>
              <a:rPr lang="en-US" dirty="0"/>
              <a:t> INT </a:t>
            </a:r>
            <a:r>
              <a:rPr lang="en-US" dirty="0" err="1"/>
              <a:t>que</a:t>
            </a:r>
            <a:r>
              <a:rPr lang="en-US" dirty="0"/>
              <a:t> le </a:t>
            </a:r>
            <a:r>
              <a:rPr lang="en-US" dirty="0" err="1"/>
              <a:t>permite</a:t>
            </a:r>
            <a:r>
              <a:rPr lang="en-US" dirty="0"/>
              <a:t> saber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algun</a:t>
            </a:r>
            <a:r>
              <a:rPr lang="en-US" dirty="0"/>
              <a:t> </a:t>
            </a:r>
            <a:r>
              <a:rPr lang="en-US" dirty="0" err="1"/>
              <a:t>dispositivo</a:t>
            </a:r>
            <a:r>
              <a:rPr lang="en-US" dirty="0"/>
              <a:t> </a:t>
            </a:r>
            <a:r>
              <a:rPr lang="en-US" dirty="0" err="1"/>
              <a:t>externo</a:t>
            </a:r>
            <a:r>
              <a:rPr lang="en-US" dirty="0"/>
              <a:t> </a:t>
            </a:r>
            <a:r>
              <a:rPr lang="en-US" dirty="0" err="1"/>
              <a:t>solicita</a:t>
            </a:r>
            <a:r>
              <a:rPr lang="en-US" dirty="0"/>
              <a:t> </a:t>
            </a:r>
            <a:r>
              <a:rPr lang="en-US" dirty="0" err="1"/>
              <a:t>atención</a:t>
            </a:r>
            <a:r>
              <a:rPr lang="en-US" dirty="0"/>
              <a:t>.</a:t>
            </a:r>
          </a:p>
          <a:p>
            <a:r>
              <a:rPr lang="en-US" dirty="0"/>
              <a:t>Dado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normalmente</a:t>
            </a:r>
            <a:r>
              <a:rPr lang="en-US" dirty="0"/>
              <a:t> </a:t>
            </a:r>
            <a:r>
              <a:rPr lang="en-US" dirty="0" err="1"/>
              <a:t>existen</a:t>
            </a:r>
            <a:r>
              <a:rPr lang="en-US" dirty="0"/>
              <a:t> </a:t>
            </a:r>
            <a:r>
              <a:rPr lang="en-US" dirty="0" err="1"/>
              <a:t>muchos</a:t>
            </a:r>
            <a:r>
              <a:rPr lang="en-US" dirty="0"/>
              <a:t> </a:t>
            </a:r>
            <a:r>
              <a:rPr lang="en-US" dirty="0" err="1"/>
              <a:t>dispositivos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solicitar</a:t>
            </a:r>
            <a:r>
              <a:rPr lang="en-US" dirty="0"/>
              <a:t> </a:t>
            </a:r>
            <a:r>
              <a:rPr lang="en-US" dirty="0" err="1"/>
              <a:t>atención</a:t>
            </a:r>
            <a:r>
              <a:rPr lang="en-US" dirty="0"/>
              <a:t> (</a:t>
            </a:r>
            <a:r>
              <a:rPr lang="en-US" dirty="0" err="1"/>
              <a:t>múltiples</a:t>
            </a:r>
            <a:r>
              <a:rPr lang="en-US" dirty="0"/>
              <a:t> </a:t>
            </a:r>
            <a:r>
              <a:rPr lang="en-US" dirty="0" err="1"/>
              <a:t>interrupciones</a:t>
            </a:r>
            <a:r>
              <a:rPr lang="en-US" dirty="0"/>
              <a:t>) a la </a:t>
            </a:r>
            <a:r>
              <a:rPr lang="en-US" dirty="0" err="1"/>
              <a:t>vez</a:t>
            </a:r>
            <a:r>
              <a:rPr lang="en-US" dirty="0"/>
              <a:t>, se </a:t>
            </a:r>
            <a:r>
              <a:rPr lang="en-US" dirty="0" err="1"/>
              <a:t>cuenta</a:t>
            </a:r>
            <a:r>
              <a:rPr lang="en-US" dirty="0"/>
              <a:t> con un </a:t>
            </a:r>
            <a:r>
              <a:rPr lang="en-US" dirty="0" err="1"/>
              <a:t>controlador</a:t>
            </a:r>
            <a:r>
              <a:rPr lang="en-US" dirty="0"/>
              <a:t> </a:t>
            </a:r>
            <a:r>
              <a:rPr lang="en-US" dirty="0" err="1"/>
              <a:t>auxiliar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coordina</a:t>
            </a:r>
            <a:r>
              <a:rPr lang="en-US" dirty="0"/>
              <a:t> </a:t>
            </a:r>
            <a:r>
              <a:rPr lang="en-US" dirty="0" err="1"/>
              <a:t>estas</a:t>
            </a:r>
            <a:r>
              <a:rPr lang="en-US" dirty="0"/>
              <a:t> solicitudes y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presenta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a </a:t>
            </a:r>
            <a:r>
              <a:rPr lang="en-US" dirty="0" err="1"/>
              <a:t>una</a:t>
            </a:r>
            <a:r>
              <a:rPr lang="en-US" dirty="0"/>
              <a:t> al CPU.</a:t>
            </a:r>
          </a:p>
        </p:txBody>
      </p:sp>
    </p:spTree>
    <p:extLst>
      <p:ext uri="{BB962C8B-B14F-4D97-AF65-F5344CB8AC3E}">
        <p14:creationId xmlns:p14="http://schemas.microsoft.com/office/powerpoint/2010/main" val="3728222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51009" y="332656"/>
            <a:ext cx="7221393" cy="12024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Básicas</a:t>
            </a:r>
            <a:r>
              <a:rPr lang="en-US" dirty="0"/>
              <a:t> de Control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484784"/>
            <a:ext cx="7859216" cy="4853136"/>
          </a:xfrm>
        </p:spPr>
        <p:txBody>
          <a:bodyPr>
            <a:normAutofit/>
          </a:bodyPr>
          <a:lstStyle/>
          <a:p>
            <a:pPr lvl="0"/>
            <a:r>
              <a:rPr lang="es-NI" dirty="0"/>
              <a:t>Transferir el contenido de un registro a otro.</a:t>
            </a:r>
          </a:p>
          <a:p>
            <a:r>
              <a:rPr lang="es-NI" dirty="0"/>
              <a:t>Leer o escribir en la memoria. </a:t>
            </a:r>
          </a:p>
          <a:p>
            <a:pPr lvl="0"/>
            <a:r>
              <a:rPr lang="es-NI" dirty="0"/>
              <a:t>Ejecutar una operación de la ALU.</a:t>
            </a:r>
          </a:p>
          <a:p>
            <a:pPr lvl="0"/>
            <a:r>
              <a:rPr lang="es-NI" dirty="0"/>
              <a:t>Incrementar el PC.</a:t>
            </a:r>
          </a:p>
          <a:p>
            <a:pPr lvl="0"/>
            <a:r>
              <a:rPr lang="es-NI" dirty="0"/>
              <a:t>Modificar el PC.</a:t>
            </a:r>
          </a:p>
          <a:p>
            <a:pPr lvl="0"/>
            <a:r>
              <a:rPr lang="es-NI" dirty="0"/>
              <a:t>Verificar el estado de las solicitudes de interrupción.</a:t>
            </a:r>
          </a:p>
          <a:p>
            <a:pPr lvl="0"/>
            <a:r>
              <a:rPr lang="es-NI" dirty="0">
                <a:solidFill>
                  <a:srgbClr val="7030A0"/>
                </a:solidFill>
              </a:rPr>
              <a:t>Verificar / establecer el estado de las banderas  y códigos de condición.</a:t>
            </a:r>
          </a:p>
          <a:p>
            <a:pPr lvl="0"/>
            <a:r>
              <a:rPr lang="es-NI" dirty="0"/>
              <a:t>Limpiar, verificar o establecer bits específicos de registros auxiliares (como Y)</a:t>
            </a:r>
          </a:p>
          <a:p>
            <a:pPr lvl="0"/>
            <a:r>
              <a:rPr lang="es-NI" dirty="0"/>
              <a:t>Decodificar una instrucción.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269809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15616" y="620688"/>
            <a:ext cx="6965245" cy="1512168"/>
          </a:xfrm>
        </p:spPr>
        <p:txBody>
          <a:bodyPr>
            <a:noAutofit/>
          </a:bodyPr>
          <a:lstStyle/>
          <a:p>
            <a:r>
              <a:rPr lang="es-NI" sz="3600" dirty="0"/>
              <a:t>Verificar / establecer el estado de las banderas  y códigos de condición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87624" y="2348880"/>
            <a:ext cx="6492396" cy="3816424"/>
          </a:xfrm>
        </p:spPr>
        <p:txBody>
          <a:bodyPr>
            <a:normAutofit/>
          </a:bodyPr>
          <a:lstStyle/>
          <a:p>
            <a:r>
              <a:rPr lang="en-US" dirty="0"/>
              <a:t>Banderas y </a:t>
            </a:r>
            <a:r>
              <a:rPr lang="en-US" dirty="0" err="1"/>
              <a:t>códigos</a:t>
            </a:r>
            <a:r>
              <a:rPr lang="en-US" dirty="0"/>
              <a:t> de </a:t>
            </a:r>
            <a:r>
              <a:rPr lang="en-US" dirty="0" err="1"/>
              <a:t>condición</a:t>
            </a:r>
            <a:r>
              <a:rPr lang="en-US" dirty="0"/>
              <a:t> </a:t>
            </a:r>
            <a:r>
              <a:rPr lang="en-US" dirty="0" err="1"/>
              <a:t>expresan</a:t>
            </a:r>
            <a:r>
              <a:rPr lang="en-US" dirty="0"/>
              <a:t> el </a:t>
            </a:r>
            <a:r>
              <a:rPr lang="en-US" dirty="0" err="1"/>
              <a:t>estado</a:t>
            </a:r>
            <a:r>
              <a:rPr lang="en-US" dirty="0"/>
              <a:t> de la </a:t>
            </a:r>
            <a:r>
              <a:rPr lang="en-US" dirty="0" err="1"/>
              <a:t>computadora</a:t>
            </a:r>
            <a:r>
              <a:rPr lang="en-US" dirty="0"/>
              <a:t>. Se </a:t>
            </a:r>
            <a:r>
              <a:rPr lang="en-US" dirty="0" err="1"/>
              <a:t>requieren</a:t>
            </a:r>
            <a:r>
              <a:rPr lang="en-US" dirty="0"/>
              <a:t> </a:t>
            </a:r>
            <a:r>
              <a:rPr lang="en-US" dirty="0" err="1"/>
              <a:t>tanto</a:t>
            </a:r>
            <a:r>
              <a:rPr lang="en-US" dirty="0"/>
              <a:t> para el </a:t>
            </a:r>
            <a:r>
              <a:rPr lang="en-US" dirty="0" err="1"/>
              <a:t>procesamiento</a:t>
            </a:r>
            <a:r>
              <a:rPr lang="en-US" dirty="0"/>
              <a:t> </a:t>
            </a:r>
            <a:r>
              <a:rPr lang="en-US" dirty="0" err="1"/>
              <a:t>interno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para el control de los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subsistemas</a:t>
            </a:r>
            <a:r>
              <a:rPr lang="en-US" dirty="0"/>
              <a:t> y </a:t>
            </a:r>
            <a:r>
              <a:rPr lang="en-US" dirty="0" err="1"/>
              <a:t>dispositivos</a:t>
            </a:r>
            <a:r>
              <a:rPr lang="en-US" dirty="0"/>
              <a:t> </a:t>
            </a:r>
            <a:r>
              <a:rPr lang="en-US" dirty="0" err="1"/>
              <a:t>externos</a:t>
            </a:r>
            <a:r>
              <a:rPr lang="en-US" dirty="0"/>
              <a:t>.</a:t>
            </a:r>
          </a:p>
          <a:p>
            <a:r>
              <a:rPr lang="en-US" dirty="0"/>
              <a:t>Se </a:t>
            </a:r>
            <a:r>
              <a:rPr lang="en-US" dirty="0" err="1"/>
              <a:t>almacenan</a:t>
            </a:r>
            <a:r>
              <a:rPr lang="en-US" dirty="0"/>
              <a:t> </a:t>
            </a:r>
            <a:r>
              <a:rPr lang="en-US" dirty="0" err="1"/>
              <a:t>normalmente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un </a:t>
            </a:r>
            <a:r>
              <a:rPr lang="en-US" dirty="0" err="1"/>
              <a:t>conjunto</a:t>
            </a:r>
            <a:r>
              <a:rPr lang="en-US" dirty="0"/>
              <a:t> de bits.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arquitectura</a:t>
            </a:r>
            <a:r>
              <a:rPr lang="en-US" dirty="0"/>
              <a:t> de </a:t>
            </a:r>
            <a:r>
              <a:rPr lang="en-US" dirty="0" err="1"/>
              <a:t>referencia</a:t>
            </a:r>
            <a:r>
              <a:rPr lang="en-US" dirty="0"/>
              <a:t> del </a:t>
            </a:r>
            <a:r>
              <a:rPr lang="en-US" dirty="0" err="1"/>
              <a:t>curso</a:t>
            </a:r>
            <a:r>
              <a:rPr lang="en-US" dirty="0"/>
              <a:t>, </a:t>
            </a:r>
            <a:r>
              <a:rPr lang="en-US" dirty="0" err="1"/>
              <a:t>esta</a:t>
            </a:r>
            <a:r>
              <a:rPr lang="en-US" dirty="0"/>
              <a:t> se </a:t>
            </a:r>
            <a:r>
              <a:rPr lang="en-US" dirty="0" err="1"/>
              <a:t>denomina</a:t>
            </a:r>
            <a:r>
              <a:rPr lang="en-US" dirty="0"/>
              <a:t> Processor Status Word (PSW)</a:t>
            </a:r>
          </a:p>
        </p:txBody>
      </p:sp>
    </p:spTree>
    <p:extLst>
      <p:ext uri="{BB962C8B-B14F-4D97-AF65-F5344CB8AC3E}">
        <p14:creationId xmlns:p14="http://schemas.microsoft.com/office/powerpoint/2010/main" val="2059972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51009" y="332656"/>
            <a:ext cx="7221393" cy="12024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Básicas</a:t>
            </a:r>
            <a:r>
              <a:rPr lang="en-US" dirty="0"/>
              <a:t> de Control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484784"/>
            <a:ext cx="7859216" cy="4853136"/>
          </a:xfrm>
        </p:spPr>
        <p:txBody>
          <a:bodyPr>
            <a:normAutofit/>
          </a:bodyPr>
          <a:lstStyle/>
          <a:p>
            <a:pPr lvl="0"/>
            <a:r>
              <a:rPr lang="es-NI" dirty="0"/>
              <a:t>Transferir el contenido de un registro a otro.</a:t>
            </a:r>
          </a:p>
          <a:p>
            <a:r>
              <a:rPr lang="es-NI" dirty="0"/>
              <a:t>Leer o escribir en la memoria. </a:t>
            </a:r>
          </a:p>
          <a:p>
            <a:pPr lvl="0"/>
            <a:r>
              <a:rPr lang="es-NI" dirty="0"/>
              <a:t>Ejecutar una operación de la ALU.</a:t>
            </a:r>
          </a:p>
          <a:p>
            <a:pPr lvl="0"/>
            <a:r>
              <a:rPr lang="es-NI" dirty="0"/>
              <a:t>Incrementar el PC.</a:t>
            </a:r>
          </a:p>
          <a:p>
            <a:pPr lvl="0"/>
            <a:r>
              <a:rPr lang="es-NI" dirty="0"/>
              <a:t>Modificar el PC.</a:t>
            </a:r>
          </a:p>
          <a:p>
            <a:pPr lvl="0"/>
            <a:r>
              <a:rPr lang="es-NI" dirty="0"/>
              <a:t>Verificar el estado de las solicitudes de interrupción.</a:t>
            </a:r>
          </a:p>
          <a:p>
            <a:pPr lvl="0"/>
            <a:r>
              <a:rPr lang="es-NI" dirty="0"/>
              <a:t>Verificar / establecer el estado de las banderas  y códigos de condición.</a:t>
            </a:r>
          </a:p>
          <a:p>
            <a:pPr lvl="0"/>
            <a:r>
              <a:rPr lang="es-NI" b="1" dirty="0">
                <a:solidFill>
                  <a:srgbClr val="7030A0"/>
                </a:solidFill>
              </a:rPr>
              <a:t>Limpiar, verificar o establecer bits específicos de registros auxiliares (como Y)</a:t>
            </a:r>
          </a:p>
          <a:p>
            <a:pPr lvl="0"/>
            <a:r>
              <a:rPr lang="es-NI" b="1" dirty="0">
                <a:solidFill>
                  <a:srgbClr val="7030A0"/>
                </a:solidFill>
              </a:rPr>
              <a:t>Decodificar una instrucción.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492091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Ejecución</a:t>
            </a:r>
            <a:r>
              <a:rPr lang="en-US" dirty="0"/>
              <a:t> de la </a:t>
            </a:r>
            <a:r>
              <a:rPr lang="en-US" dirty="0" err="1"/>
              <a:t>instrucción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2119258"/>
            <a:ext cx="6853376" cy="3603812"/>
          </a:xfrm>
        </p:spPr>
        <p:txBody>
          <a:bodyPr>
            <a:normAutofit/>
          </a:bodyPr>
          <a:lstStyle/>
          <a:p>
            <a:r>
              <a:rPr lang="en-US" sz="2800" dirty="0" err="1"/>
              <a:t>Existen</a:t>
            </a:r>
            <a:r>
              <a:rPr lang="en-US" sz="2800" dirty="0"/>
              <a:t> </a:t>
            </a:r>
            <a:r>
              <a:rPr lang="en-US" sz="2800" dirty="0" err="1"/>
              <a:t>diferentes</a:t>
            </a:r>
            <a:r>
              <a:rPr lang="en-US" sz="2800" dirty="0"/>
              <a:t> </a:t>
            </a:r>
            <a:r>
              <a:rPr lang="en-US" sz="2800" dirty="0" err="1"/>
              <a:t>tipos</a:t>
            </a:r>
            <a:r>
              <a:rPr lang="en-US" sz="2800" dirty="0"/>
              <a:t> de </a:t>
            </a:r>
            <a:r>
              <a:rPr lang="en-US" sz="2800" dirty="0" err="1"/>
              <a:t>instrucciones</a:t>
            </a:r>
            <a:r>
              <a:rPr lang="en-US" sz="2800" dirty="0"/>
              <a:t>.</a:t>
            </a:r>
          </a:p>
          <a:p>
            <a:r>
              <a:rPr lang="en-US" sz="2800" dirty="0"/>
              <a:t>En </a:t>
            </a:r>
            <a:r>
              <a:rPr lang="en-US" sz="2800" dirty="0" err="1"/>
              <a:t>nuestro</a:t>
            </a:r>
            <a:r>
              <a:rPr lang="en-US" sz="2800" dirty="0"/>
              <a:t> </a:t>
            </a:r>
            <a:r>
              <a:rPr lang="en-US" sz="2800" dirty="0" err="1"/>
              <a:t>caso</a:t>
            </a:r>
            <a:r>
              <a:rPr lang="en-US" sz="2800" dirty="0"/>
              <a:t> </a:t>
            </a:r>
            <a:r>
              <a:rPr lang="en-US" sz="2800" dirty="0" err="1"/>
              <a:t>estudiaremos</a:t>
            </a:r>
            <a:r>
              <a:rPr lang="en-US" sz="2800" dirty="0"/>
              <a:t> </a:t>
            </a:r>
            <a:r>
              <a:rPr lang="en-US" sz="2800" dirty="0" err="1"/>
              <a:t>una</a:t>
            </a:r>
            <a:r>
              <a:rPr lang="en-US" sz="2800" dirty="0"/>
              <a:t> </a:t>
            </a:r>
            <a:r>
              <a:rPr lang="en-US" sz="2800" dirty="0" err="1"/>
              <a:t>muestra</a:t>
            </a:r>
            <a:r>
              <a:rPr lang="en-US" sz="2800" dirty="0"/>
              <a:t> de 3 </a:t>
            </a:r>
            <a:r>
              <a:rPr lang="en-US" sz="2800" dirty="0" err="1"/>
              <a:t>grupos</a:t>
            </a:r>
            <a:r>
              <a:rPr lang="en-US" sz="2800" dirty="0"/>
              <a:t> </a:t>
            </a:r>
            <a:r>
              <a:rPr lang="en-US" sz="2800" dirty="0" err="1"/>
              <a:t>más</a:t>
            </a:r>
            <a:r>
              <a:rPr lang="en-US" sz="2800" dirty="0"/>
              <a:t> </a:t>
            </a:r>
            <a:r>
              <a:rPr lang="en-US" sz="2800" dirty="0" err="1"/>
              <a:t>importantes</a:t>
            </a:r>
            <a:r>
              <a:rPr lang="en-US" sz="2800" dirty="0"/>
              <a:t>:</a:t>
            </a:r>
          </a:p>
          <a:p>
            <a:pPr lvl="1"/>
            <a:r>
              <a:rPr lang="en-US" sz="2400" b="1" dirty="0">
                <a:solidFill>
                  <a:srgbClr val="0070C0"/>
                </a:solidFill>
              </a:rPr>
              <a:t>OP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: </a:t>
            </a:r>
            <a:r>
              <a:rPr lang="en-US" sz="2400" dirty="0" err="1"/>
              <a:t>Operaciones</a:t>
            </a:r>
            <a:r>
              <a:rPr lang="en-US" sz="2400" dirty="0"/>
              <a:t> </a:t>
            </a:r>
            <a:r>
              <a:rPr lang="en-US" sz="2400" dirty="0" err="1"/>
              <a:t>binarias</a:t>
            </a:r>
            <a:r>
              <a:rPr lang="en-US" sz="2400" dirty="0"/>
              <a:t> </a:t>
            </a:r>
            <a:r>
              <a:rPr lang="en-US" sz="2400" dirty="0" err="1"/>
              <a:t>aritméticas</a:t>
            </a:r>
            <a:r>
              <a:rPr lang="en-US" sz="2400" dirty="0"/>
              <a:t> y </a:t>
            </a:r>
            <a:r>
              <a:rPr lang="en-US" sz="2400" dirty="0" err="1"/>
              <a:t>lógicas</a:t>
            </a:r>
            <a:r>
              <a:rPr lang="en-US" sz="2400" dirty="0"/>
              <a:t> </a:t>
            </a:r>
            <a:r>
              <a:rPr lang="en-US" sz="2400" dirty="0" err="1"/>
              <a:t>como</a:t>
            </a:r>
            <a:r>
              <a:rPr lang="en-US" sz="2400" dirty="0"/>
              <a:t> ADD, SUB, AND,OR, etc.</a:t>
            </a:r>
          </a:p>
          <a:p>
            <a:pPr lvl="1"/>
            <a:r>
              <a:rPr lang="en-US" sz="2400" b="1" dirty="0">
                <a:solidFill>
                  <a:srgbClr val="0070C0"/>
                </a:solidFill>
              </a:rPr>
              <a:t>MOV</a:t>
            </a:r>
            <a:r>
              <a:rPr lang="en-US" sz="2400" dirty="0"/>
              <a:t>: </a:t>
            </a:r>
            <a:r>
              <a:rPr lang="en-US" sz="2400" dirty="0" err="1"/>
              <a:t>Operación</a:t>
            </a:r>
            <a:r>
              <a:rPr lang="en-US" sz="2400" dirty="0"/>
              <a:t> de </a:t>
            </a:r>
            <a:r>
              <a:rPr lang="en-US" sz="2400" dirty="0" err="1"/>
              <a:t>transferencia</a:t>
            </a:r>
            <a:r>
              <a:rPr lang="en-US" sz="2400" dirty="0"/>
              <a:t> 2D.</a:t>
            </a:r>
          </a:p>
          <a:p>
            <a:pPr lvl="1"/>
            <a:r>
              <a:rPr lang="en-US" sz="2400" b="1" dirty="0" err="1">
                <a:solidFill>
                  <a:srgbClr val="0070C0"/>
                </a:solidFill>
              </a:rPr>
              <a:t>BRx</a:t>
            </a:r>
            <a:r>
              <a:rPr lang="en-US" sz="2400" dirty="0">
                <a:solidFill>
                  <a:srgbClr val="0070C0"/>
                </a:solidFill>
              </a:rPr>
              <a:t>: </a:t>
            </a:r>
            <a:r>
              <a:rPr lang="en-US" sz="2400" dirty="0" err="1"/>
              <a:t>Operaciones</a:t>
            </a:r>
            <a:r>
              <a:rPr lang="en-US" sz="2400" dirty="0"/>
              <a:t> de </a:t>
            </a:r>
            <a:r>
              <a:rPr lang="en-US" sz="2400" dirty="0" err="1"/>
              <a:t>saltos</a:t>
            </a:r>
            <a:r>
              <a:rPr lang="en-US" sz="2400" dirty="0"/>
              <a:t> </a:t>
            </a:r>
            <a:r>
              <a:rPr lang="en-US" sz="2400" dirty="0" err="1"/>
              <a:t>como</a:t>
            </a:r>
            <a:r>
              <a:rPr lang="en-US" sz="2400" dirty="0"/>
              <a:t> BR, BRN, BRZ, etc.</a:t>
            </a:r>
            <a:endParaRPr lang="en-US" dirty="0"/>
          </a:p>
          <a:p>
            <a:pPr marL="1051560" lvl="3" indent="0">
              <a:buNone/>
            </a:pP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084422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Ejecución</a:t>
            </a:r>
            <a:r>
              <a:rPr lang="en-US" dirty="0"/>
              <a:t> de la </a:t>
            </a:r>
            <a:r>
              <a:rPr lang="en-US" dirty="0" err="1"/>
              <a:t>instrucción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2119258"/>
            <a:ext cx="6853376" cy="3974039"/>
          </a:xfrm>
        </p:spPr>
        <p:txBody>
          <a:bodyPr>
            <a:normAutofit/>
          </a:bodyPr>
          <a:lstStyle/>
          <a:p>
            <a:r>
              <a:rPr lang="en-US" sz="2800" dirty="0" err="1"/>
              <a:t>Necesario</a:t>
            </a:r>
            <a:r>
              <a:rPr lang="en-US" sz="2800" dirty="0"/>
              <a:t> </a:t>
            </a:r>
            <a:r>
              <a:rPr lang="en-US" sz="2800" dirty="0" err="1"/>
              <a:t>estandarizar</a:t>
            </a:r>
            <a:r>
              <a:rPr lang="en-US" sz="2800" dirty="0"/>
              <a:t> la forma en </a:t>
            </a:r>
            <a:r>
              <a:rPr lang="en-US" sz="2800" dirty="0" err="1"/>
              <a:t>que</a:t>
            </a:r>
            <a:r>
              <a:rPr lang="en-US" sz="2800" dirty="0"/>
              <a:t> se </a:t>
            </a:r>
            <a:r>
              <a:rPr lang="en-US" sz="2800" dirty="0" err="1"/>
              <a:t>realiza</a:t>
            </a:r>
            <a:r>
              <a:rPr lang="en-US" sz="2800" dirty="0"/>
              <a:t> la </a:t>
            </a:r>
            <a:r>
              <a:rPr lang="en-US" sz="2800" dirty="0" err="1"/>
              <a:t>ejecución</a:t>
            </a:r>
            <a:r>
              <a:rPr lang="en-US" sz="2800" dirty="0"/>
              <a:t> de </a:t>
            </a:r>
            <a:r>
              <a:rPr lang="en-US" sz="2800" dirty="0" err="1"/>
              <a:t>las</a:t>
            </a:r>
            <a:r>
              <a:rPr lang="en-US" sz="2800" dirty="0"/>
              <a:t> </a:t>
            </a:r>
            <a:r>
              <a:rPr lang="en-US" sz="2800" dirty="0" err="1"/>
              <a:t>diferentes</a:t>
            </a:r>
            <a:r>
              <a:rPr lang="en-US" sz="2800" dirty="0"/>
              <a:t> </a:t>
            </a:r>
            <a:r>
              <a:rPr lang="en-US" sz="2800" dirty="0" err="1"/>
              <a:t>instrucciones</a:t>
            </a:r>
            <a:r>
              <a:rPr lang="en-US" sz="2800" dirty="0"/>
              <a:t>: </a:t>
            </a:r>
            <a:r>
              <a:rPr lang="en-US" sz="2800" dirty="0" err="1"/>
              <a:t>facilidad</a:t>
            </a:r>
            <a:r>
              <a:rPr lang="en-US" sz="2800" dirty="0"/>
              <a:t> y </a:t>
            </a:r>
            <a:r>
              <a:rPr lang="en-US" sz="2800" dirty="0" err="1"/>
              <a:t>eficiencia</a:t>
            </a:r>
            <a:r>
              <a:rPr lang="en-US" sz="2800" dirty="0"/>
              <a:t>.</a:t>
            </a:r>
          </a:p>
          <a:p>
            <a:r>
              <a:rPr lang="en-US" sz="2800" dirty="0" err="1"/>
              <a:t>Estrategias</a:t>
            </a:r>
            <a:r>
              <a:rPr lang="en-US" sz="2800" dirty="0"/>
              <a:t> de </a:t>
            </a:r>
            <a:r>
              <a:rPr lang="en-US" sz="2800" dirty="0" err="1"/>
              <a:t>ejecución</a:t>
            </a:r>
            <a:r>
              <a:rPr lang="en-US" sz="2800" dirty="0"/>
              <a:t> para </a:t>
            </a:r>
            <a:r>
              <a:rPr lang="en-US" sz="2800" dirty="0" err="1"/>
              <a:t>cada</a:t>
            </a:r>
            <a:r>
              <a:rPr lang="en-US" sz="2800" dirty="0"/>
              <a:t> </a:t>
            </a:r>
            <a:r>
              <a:rPr lang="en-US" sz="2800" dirty="0" err="1"/>
              <a:t>grupo</a:t>
            </a:r>
            <a:r>
              <a:rPr lang="en-US" sz="2800" dirty="0"/>
              <a:t>.</a:t>
            </a:r>
          </a:p>
          <a:p>
            <a:pPr lvl="1"/>
            <a:r>
              <a:rPr lang="en-US" dirty="0" err="1"/>
              <a:t>Basadas</a:t>
            </a:r>
            <a:r>
              <a:rPr lang="en-US" dirty="0"/>
              <a:t> en el 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instrucción</a:t>
            </a:r>
            <a:endParaRPr lang="en-US" dirty="0"/>
          </a:p>
          <a:p>
            <a:pPr lvl="1"/>
            <a:r>
              <a:rPr lang="en-US" dirty="0" err="1"/>
              <a:t>Fase</a:t>
            </a:r>
            <a:r>
              <a:rPr lang="en-US" dirty="0"/>
              <a:t> FETCH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única</a:t>
            </a:r>
            <a:r>
              <a:rPr lang="en-US" dirty="0"/>
              <a:t> para </a:t>
            </a:r>
            <a:r>
              <a:rPr lang="en-US" dirty="0" err="1"/>
              <a:t>todas</a:t>
            </a:r>
            <a:r>
              <a:rPr lang="en-US" dirty="0"/>
              <a:t>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instrucciones</a:t>
            </a:r>
            <a:endParaRPr lang="en-US" dirty="0"/>
          </a:p>
          <a:p>
            <a:pPr lvl="1"/>
            <a:r>
              <a:rPr lang="en-US" dirty="0" err="1"/>
              <a:t>Fase</a:t>
            </a:r>
            <a:r>
              <a:rPr lang="en-US" dirty="0"/>
              <a:t> EXECUTE </a:t>
            </a:r>
            <a:r>
              <a:rPr lang="en-US" dirty="0" err="1"/>
              <a:t>diferenciada</a:t>
            </a:r>
            <a:r>
              <a:rPr lang="en-US" dirty="0"/>
              <a:t> para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instrucciones</a:t>
            </a:r>
            <a:r>
              <a:rPr lang="en-US" dirty="0"/>
              <a:t> de </a:t>
            </a:r>
            <a:r>
              <a:rPr lang="en-US" dirty="0" err="1"/>
              <a:t>acuerdo</a:t>
            </a:r>
            <a:r>
              <a:rPr lang="en-US" dirty="0"/>
              <a:t> a la </a:t>
            </a:r>
            <a:r>
              <a:rPr lang="en-US" dirty="0" err="1"/>
              <a:t>operación</a:t>
            </a:r>
            <a:r>
              <a:rPr lang="en-US" dirty="0"/>
              <a:t> y </a:t>
            </a:r>
            <a:r>
              <a:rPr lang="en-US" dirty="0" err="1"/>
              <a:t>modos</a:t>
            </a:r>
            <a:r>
              <a:rPr lang="en-US" dirty="0"/>
              <a:t> de </a:t>
            </a:r>
            <a:r>
              <a:rPr lang="en-US" dirty="0" err="1"/>
              <a:t>direccionamiento</a:t>
            </a:r>
            <a:r>
              <a:rPr lang="en-US" dirty="0"/>
              <a:t> de los operandos.</a:t>
            </a:r>
          </a:p>
          <a:p>
            <a:pPr marL="1051560" lvl="3" indent="0">
              <a:buNone/>
            </a:pP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7559348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Estrategia</a:t>
            </a:r>
            <a:r>
              <a:rPr lang="en-US" dirty="0"/>
              <a:t> </a:t>
            </a:r>
            <a:r>
              <a:rPr lang="en-US" dirty="0" err="1"/>
              <a:t>Instrucciones</a:t>
            </a:r>
            <a:r>
              <a:rPr lang="en-US" dirty="0"/>
              <a:t> OP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2119258"/>
            <a:ext cx="6853376" cy="3974039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s-NI" dirty="0"/>
              <a:t>Fase </a:t>
            </a:r>
            <a:r>
              <a:rPr lang="es-NI" dirty="0" err="1"/>
              <a:t>Fetch</a:t>
            </a:r>
            <a:r>
              <a:rPr lang="es-NI" dirty="0"/>
              <a:t>:</a:t>
            </a:r>
          </a:p>
          <a:p>
            <a:pPr lvl="1"/>
            <a:r>
              <a:rPr lang="es-NI" sz="2400" dirty="0"/>
              <a:t>Poner el valor del PC en el MAR y mandar a leer</a:t>
            </a:r>
          </a:p>
          <a:p>
            <a:pPr lvl="1"/>
            <a:r>
              <a:rPr lang="es-NI" sz="2400" dirty="0"/>
              <a:t>Incrementar el PC y esperar MFC</a:t>
            </a:r>
          </a:p>
          <a:p>
            <a:pPr lvl="1"/>
            <a:r>
              <a:rPr lang="es-NI" sz="2400" dirty="0"/>
              <a:t>Pasar el contenido del MDR al IR y Decodificar.</a:t>
            </a:r>
            <a:endParaRPr lang="es-NI" dirty="0"/>
          </a:p>
          <a:p>
            <a:pPr lvl="0"/>
            <a:r>
              <a:rPr lang="es-NI" dirty="0"/>
              <a:t>Fase </a:t>
            </a:r>
            <a:r>
              <a:rPr lang="es-NI" dirty="0" err="1"/>
              <a:t>Execute</a:t>
            </a:r>
            <a:endParaRPr lang="es-NI" dirty="0"/>
          </a:p>
          <a:p>
            <a:pPr lvl="1"/>
            <a:r>
              <a:rPr lang="es-NI" sz="2400" dirty="0"/>
              <a:t>Trasladar el primer operando a SOURCE</a:t>
            </a:r>
          </a:p>
          <a:p>
            <a:pPr lvl="1"/>
            <a:r>
              <a:rPr lang="es-NI" sz="2400" dirty="0"/>
              <a:t>Trasladar el segundo operando a Y.</a:t>
            </a:r>
          </a:p>
          <a:p>
            <a:pPr lvl="1"/>
            <a:r>
              <a:rPr lang="es-NI" sz="2400" dirty="0"/>
              <a:t>Efectuar la operación ALU:  Z </a:t>
            </a:r>
            <a:r>
              <a:rPr lang="es-NI" sz="2400" dirty="0">
                <a:sym typeface="Wingdings" pitchFamily="2" charset="2"/>
              </a:rPr>
              <a:t> [SOURCE</a:t>
            </a:r>
            <a:r>
              <a:rPr lang="es-NI" sz="2400">
                <a:sym typeface="Wingdings" pitchFamily="2" charset="2"/>
              </a:rPr>
              <a:t>] OP </a:t>
            </a:r>
            <a:r>
              <a:rPr lang="es-NI" sz="2400" dirty="0">
                <a:sym typeface="Wingdings" pitchFamily="2" charset="2"/>
              </a:rPr>
              <a:t>[Y]</a:t>
            </a:r>
            <a:r>
              <a:rPr lang="es-NI" sz="2400" dirty="0"/>
              <a:t> </a:t>
            </a:r>
          </a:p>
          <a:p>
            <a:pPr lvl="1"/>
            <a:r>
              <a:rPr lang="es-NI" sz="2400" dirty="0"/>
              <a:t>Trasladar el resultado al destino (</a:t>
            </a:r>
            <a:r>
              <a:rPr lang="es-NI" sz="2400" dirty="0" err="1"/>
              <a:t>Rd</a:t>
            </a:r>
            <a:r>
              <a:rPr lang="es-NI" sz="2400" dirty="0"/>
              <a:t> o MDR/WRITE)</a:t>
            </a:r>
          </a:p>
          <a:p>
            <a:pPr lvl="1"/>
            <a:r>
              <a:rPr lang="en-US" sz="2400" dirty="0"/>
              <a:t>END</a:t>
            </a:r>
            <a:endParaRPr lang="es-NI" sz="2400" dirty="0"/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41741500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Estrategia</a:t>
            </a:r>
            <a:r>
              <a:rPr lang="en-US" dirty="0"/>
              <a:t> MOV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1916832"/>
            <a:ext cx="7128792" cy="4032448"/>
          </a:xfrm>
        </p:spPr>
        <p:txBody>
          <a:bodyPr>
            <a:normAutofit lnSpcReduction="10000"/>
          </a:bodyPr>
          <a:lstStyle/>
          <a:p>
            <a:pPr lvl="0"/>
            <a:r>
              <a:rPr lang="es-NI" dirty="0"/>
              <a:t>Fase </a:t>
            </a:r>
            <a:r>
              <a:rPr lang="es-NI" dirty="0" err="1"/>
              <a:t>Fetch</a:t>
            </a:r>
            <a:r>
              <a:rPr lang="es-NI" dirty="0"/>
              <a:t>:</a:t>
            </a:r>
          </a:p>
          <a:p>
            <a:pPr lvl="1"/>
            <a:r>
              <a:rPr lang="en-US" dirty="0" err="1"/>
              <a:t>Ídem</a:t>
            </a:r>
            <a:r>
              <a:rPr lang="en-US" dirty="0"/>
              <a:t> al anterior</a:t>
            </a:r>
            <a:endParaRPr lang="es-NI" dirty="0"/>
          </a:p>
          <a:p>
            <a:pPr lvl="0"/>
            <a:r>
              <a:rPr lang="es-NI" dirty="0"/>
              <a:t>Fase </a:t>
            </a:r>
            <a:r>
              <a:rPr lang="es-NI" dirty="0" err="1"/>
              <a:t>Execute</a:t>
            </a:r>
            <a:endParaRPr lang="es-NI" dirty="0"/>
          </a:p>
          <a:p>
            <a:pPr lvl="1"/>
            <a:r>
              <a:rPr lang="es-NI" sz="2400" dirty="0"/>
              <a:t>Trasladar el primer operando a SOURCE</a:t>
            </a:r>
          </a:p>
          <a:p>
            <a:pPr lvl="1"/>
            <a:r>
              <a:rPr lang="es-NI" sz="2400" dirty="0"/>
              <a:t>Calcular la dirección efectiva del segundo operando o destino (conocer </a:t>
            </a:r>
            <a:r>
              <a:rPr lang="es-NI" sz="2400" dirty="0" err="1"/>
              <a:t>Rd</a:t>
            </a:r>
            <a:r>
              <a:rPr lang="es-NI" sz="2400" dirty="0"/>
              <a:t> o copiar EA en MAR).</a:t>
            </a:r>
          </a:p>
          <a:p>
            <a:pPr lvl="1"/>
            <a:r>
              <a:rPr lang="es-NI" sz="2400" dirty="0"/>
              <a:t>Trasladar el [SOURCE] al destino (</a:t>
            </a:r>
            <a:r>
              <a:rPr lang="es-NI" sz="2400" dirty="0" err="1"/>
              <a:t>Rd</a:t>
            </a:r>
            <a:r>
              <a:rPr lang="es-NI" sz="2400" dirty="0"/>
              <a:t> o MDR/WRITE)</a:t>
            </a:r>
          </a:p>
          <a:p>
            <a:pPr lvl="1"/>
            <a:r>
              <a:rPr lang="en-US" sz="2400" dirty="0"/>
              <a:t>END</a:t>
            </a:r>
            <a:endParaRPr lang="es-NI" sz="2400" dirty="0"/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063457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Estrategia</a:t>
            </a:r>
            <a:r>
              <a:rPr lang="en-US" dirty="0"/>
              <a:t> </a:t>
            </a:r>
            <a:r>
              <a:rPr lang="en-US" dirty="0" err="1"/>
              <a:t>instrucciones</a:t>
            </a:r>
            <a:r>
              <a:rPr lang="en-US" dirty="0"/>
              <a:t> </a:t>
            </a:r>
            <a:r>
              <a:rPr lang="en-US" dirty="0" err="1"/>
              <a:t>BRx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1988842"/>
            <a:ext cx="6984776" cy="4032447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s-NI" dirty="0"/>
              <a:t>Fase </a:t>
            </a:r>
            <a:r>
              <a:rPr lang="es-NI" dirty="0" err="1"/>
              <a:t>Fetch</a:t>
            </a:r>
            <a:r>
              <a:rPr lang="es-NI" dirty="0"/>
              <a:t>:</a:t>
            </a:r>
          </a:p>
          <a:p>
            <a:pPr lvl="1"/>
            <a:r>
              <a:rPr lang="en-US" dirty="0" err="1"/>
              <a:t>Ídem</a:t>
            </a:r>
            <a:endParaRPr lang="es-NI" dirty="0"/>
          </a:p>
          <a:p>
            <a:pPr lvl="0"/>
            <a:r>
              <a:rPr lang="es-NI" dirty="0"/>
              <a:t>Fase </a:t>
            </a:r>
            <a:r>
              <a:rPr lang="es-NI" dirty="0" err="1"/>
              <a:t>Execute</a:t>
            </a:r>
            <a:endParaRPr lang="es-NI" dirty="0"/>
          </a:p>
          <a:p>
            <a:pPr lvl="1"/>
            <a:r>
              <a:rPr lang="es-NI" sz="2400" dirty="0"/>
              <a:t>Si es condicional, verificar condición. Si condición no se cumple </a:t>
            </a:r>
            <a:r>
              <a:rPr lang="es-NI" sz="2400" dirty="0">
                <a:sym typeface="Wingdings" pitchFamily="2" charset="2"/>
              </a:rPr>
              <a:t> END.</a:t>
            </a:r>
            <a:endParaRPr lang="es-NI" sz="2400" dirty="0"/>
          </a:p>
          <a:p>
            <a:pPr lvl="1"/>
            <a:r>
              <a:rPr lang="es-NI" sz="2400" dirty="0"/>
              <a:t>Copiar PC en Y</a:t>
            </a:r>
          </a:p>
          <a:p>
            <a:pPr lvl="1"/>
            <a:r>
              <a:rPr lang="en-US" sz="2400" dirty="0" err="1"/>
              <a:t>Poner</a:t>
            </a:r>
            <a:r>
              <a:rPr lang="en-US" sz="2400" dirty="0"/>
              <a:t> en el bus el </a:t>
            </a:r>
            <a:r>
              <a:rPr lang="en-US" sz="2400" dirty="0" err="1"/>
              <a:t>desplazamiento</a:t>
            </a:r>
            <a:r>
              <a:rPr lang="en-US" sz="2400" dirty="0"/>
              <a:t> </a:t>
            </a:r>
            <a:r>
              <a:rPr lang="en-US" sz="2400" dirty="0" err="1"/>
              <a:t>almacenado</a:t>
            </a:r>
            <a:r>
              <a:rPr lang="en-US" sz="2400" dirty="0"/>
              <a:t> en IR</a:t>
            </a:r>
          </a:p>
          <a:p>
            <a:pPr lvl="1"/>
            <a:r>
              <a:rPr lang="en-US" sz="2400" dirty="0" err="1"/>
              <a:t>Sumar</a:t>
            </a:r>
            <a:r>
              <a:rPr lang="en-US" sz="2400" dirty="0"/>
              <a:t> y </a:t>
            </a:r>
            <a:r>
              <a:rPr lang="en-US" sz="2400" dirty="0" err="1"/>
              <a:t>almacenar</a:t>
            </a:r>
            <a:r>
              <a:rPr lang="en-US" sz="2400" dirty="0"/>
              <a:t> en Z </a:t>
            </a:r>
            <a:endParaRPr lang="es-NI" sz="2400" dirty="0"/>
          </a:p>
          <a:p>
            <a:pPr lvl="1"/>
            <a:r>
              <a:rPr lang="es-NI" sz="2400" dirty="0"/>
              <a:t>Trasladar el [Z] al PC</a:t>
            </a:r>
          </a:p>
          <a:p>
            <a:pPr lvl="1"/>
            <a:r>
              <a:rPr lang="en-US" sz="2400" dirty="0"/>
              <a:t>END.</a:t>
            </a:r>
            <a:endParaRPr lang="es-NI" sz="2400" dirty="0"/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4060725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Estrategias</a:t>
            </a:r>
            <a:r>
              <a:rPr lang="en-US" dirty="0"/>
              <a:t> PUSH y POP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2" y="2119258"/>
            <a:ext cx="6196405" cy="3902031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Muchas</a:t>
            </a:r>
            <a:r>
              <a:rPr lang="en-US" dirty="0"/>
              <a:t> </a:t>
            </a:r>
            <a:r>
              <a:rPr lang="en-US" dirty="0" err="1"/>
              <a:t>arquitecturas</a:t>
            </a:r>
            <a:r>
              <a:rPr lang="en-US" dirty="0"/>
              <a:t> de dos </a:t>
            </a:r>
            <a:r>
              <a:rPr lang="en-US" dirty="0" err="1"/>
              <a:t>direcciones</a:t>
            </a:r>
            <a:r>
              <a:rPr lang="en-US" dirty="0"/>
              <a:t> (R2 o 2D) </a:t>
            </a:r>
            <a:r>
              <a:rPr lang="en-US" dirty="0" err="1"/>
              <a:t>implementan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pila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opción</a:t>
            </a:r>
            <a:r>
              <a:rPr lang="en-US" dirty="0"/>
              <a:t> </a:t>
            </a:r>
            <a:r>
              <a:rPr lang="en-US" dirty="0" err="1"/>
              <a:t>adicional</a:t>
            </a:r>
            <a:r>
              <a:rPr lang="en-US" dirty="0"/>
              <a:t> de </a:t>
            </a:r>
            <a:r>
              <a:rPr lang="en-US" dirty="0" err="1"/>
              <a:t>transferencia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r>
              <a:rPr lang="en-US" dirty="0" err="1"/>
              <a:t>Requieren</a:t>
            </a:r>
            <a:r>
              <a:rPr lang="en-US" dirty="0"/>
              <a:t> </a:t>
            </a:r>
            <a:r>
              <a:rPr lang="en-US" dirty="0" err="1"/>
              <a:t>implementar</a:t>
            </a:r>
            <a:r>
              <a:rPr lang="en-US" dirty="0"/>
              <a:t> PUSH y POP.</a:t>
            </a:r>
          </a:p>
          <a:p>
            <a:r>
              <a:rPr lang="en-US" dirty="0" err="1"/>
              <a:t>Normalmente</a:t>
            </a:r>
            <a:r>
              <a:rPr lang="en-US" dirty="0"/>
              <a:t> </a:t>
            </a:r>
            <a:r>
              <a:rPr lang="en-US" dirty="0" err="1"/>
              <a:t>estas</a:t>
            </a:r>
            <a:r>
              <a:rPr lang="en-US" dirty="0"/>
              <a:t> </a:t>
            </a:r>
            <a:r>
              <a:rPr lang="en-US" dirty="0" err="1"/>
              <a:t>pilas</a:t>
            </a:r>
            <a:r>
              <a:rPr lang="en-US" dirty="0"/>
              <a:t> son de </a:t>
            </a:r>
            <a:r>
              <a:rPr lang="en-US" dirty="0" err="1"/>
              <a:t>empuje</a:t>
            </a:r>
            <a:r>
              <a:rPr lang="en-US" dirty="0"/>
              <a:t> </a:t>
            </a:r>
            <a:r>
              <a:rPr lang="en-US" dirty="0" err="1"/>
              <a:t>hacia</a:t>
            </a:r>
            <a:r>
              <a:rPr lang="en-US" dirty="0"/>
              <a:t> </a:t>
            </a:r>
            <a:r>
              <a:rPr lang="en-US" dirty="0" err="1"/>
              <a:t>abajo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lo </a:t>
            </a:r>
            <a:r>
              <a:rPr lang="en-US" dirty="0" err="1"/>
              <a:t>que</a:t>
            </a:r>
            <a:r>
              <a:rPr lang="en-US" dirty="0"/>
              <a:t>: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PUSH f </a:t>
            </a:r>
            <a:r>
              <a:rPr lang="en-US" b="1" dirty="0">
                <a:solidFill>
                  <a:srgbClr val="7030A0"/>
                </a:solidFill>
                <a:sym typeface="Wingdings" pitchFamily="2" charset="2"/>
              </a:rPr>
              <a:t>  MOV –(SP),  [f]  </a:t>
            </a:r>
            <a:r>
              <a:rPr lang="en-US" dirty="0">
                <a:sym typeface="Wingdings" pitchFamily="2" charset="2"/>
              </a:rPr>
              <a:t>(f </a:t>
            </a:r>
            <a:r>
              <a:rPr lang="en-US" dirty="0" err="1">
                <a:sym typeface="Wingdings" pitchFamily="2" charset="2"/>
              </a:rPr>
              <a:t>puede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estar</a:t>
            </a:r>
            <a:r>
              <a:rPr lang="en-US" dirty="0">
                <a:sym typeface="Wingdings" pitchFamily="2" charset="2"/>
              </a:rPr>
              <a:t> en </a:t>
            </a:r>
            <a:r>
              <a:rPr lang="en-US" dirty="0" err="1">
                <a:sym typeface="Wingdings" pitchFamily="2" charset="2"/>
              </a:rPr>
              <a:t>cualquier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modo</a:t>
            </a:r>
            <a:r>
              <a:rPr lang="en-US" dirty="0">
                <a:sym typeface="Wingdings" pitchFamily="2" charset="2"/>
              </a:rPr>
              <a:t>.</a:t>
            </a:r>
          </a:p>
          <a:p>
            <a:pPr lvl="1"/>
            <a:r>
              <a:rPr lang="en-US" b="1" dirty="0">
                <a:solidFill>
                  <a:srgbClr val="7030A0"/>
                </a:solidFill>
                <a:sym typeface="Wingdings" pitchFamily="2" charset="2"/>
              </a:rPr>
              <a:t>POP d     MOV  d, (SP)+  </a:t>
            </a:r>
            <a:r>
              <a:rPr lang="en-US" dirty="0">
                <a:sym typeface="Wingdings" pitchFamily="2" charset="2"/>
              </a:rPr>
              <a:t>(d </a:t>
            </a:r>
            <a:r>
              <a:rPr lang="en-US" dirty="0" err="1">
                <a:sym typeface="Wingdings" pitchFamily="2" charset="2"/>
              </a:rPr>
              <a:t>puede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estar</a:t>
            </a:r>
            <a:r>
              <a:rPr lang="en-US" dirty="0">
                <a:sym typeface="Wingdings" pitchFamily="2" charset="2"/>
              </a:rPr>
              <a:t> en </a:t>
            </a:r>
            <a:r>
              <a:rPr lang="en-US" dirty="0" err="1">
                <a:sym typeface="Wingdings" pitchFamily="2" charset="2"/>
              </a:rPr>
              <a:t>cualquier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modo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contenido</a:t>
            </a:r>
            <a:r>
              <a:rPr lang="en-US" dirty="0">
                <a:sym typeface="Wingdings" pitchFamily="2" charset="2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5892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Desarrollo</a:t>
            </a:r>
            <a:r>
              <a:rPr lang="en-US" dirty="0"/>
              <a:t> en </a:t>
            </a:r>
            <a:r>
              <a:rPr lang="en-US" dirty="0" err="1"/>
              <a:t>pasos</a:t>
            </a:r>
            <a:r>
              <a:rPr lang="en-US" dirty="0"/>
              <a:t> de control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describir</a:t>
            </a:r>
            <a:r>
              <a:rPr lang="en-US" dirty="0"/>
              <a:t> los </a:t>
            </a:r>
            <a:r>
              <a:rPr lang="en-US" dirty="0" err="1"/>
              <a:t>pasos</a:t>
            </a:r>
            <a:r>
              <a:rPr lang="en-US" dirty="0"/>
              <a:t> de control:  </a:t>
            </a:r>
            <a:r>
              <a:rPr lang="en-US" dirty="0" err="1"/>
              <a:t>conjunto</a:t>
            </a:r>
            <a:r>
              <a:rPr lang="en-US" dirty="0"/>
              <a:t> de </a:t>
            </a:r>
            <a:r>
              <a:rPr lang="en-US" dirty="0" err="1"/>
              <a:t>operaciones</a:t>
            </a:r>
            <a:r>
              <a:rPr lang="en-US" dirty="0"/>
              <a:t> de control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realizan</a:t>
            </a:r>
            <a:r>
              <a:rPr lang="en-US" dirty="0"/>
              <a:t> en un </a:t>
            </a:r>
            <a:r>
              <a:rPr lang="en-US" dirty="0" err="1"/>
              <a:t>mismo</a:t>
            </a:r>
            <a:r>
              <a:rPr lang="en-US" dirty="0"/>
              <a:t> </a:t>
            </a:r>
            <a:r>
              <a:rPr lang="en-US" dirty="0" err="1"/>
              <a:t>pulso</a:t>
            </a:r>
            <a:r>
              <a:rPr lang="en-US" dirty="0"/>
              <a:t> de </a:t>
            </a:r>
            <a:r>
              <a:rPr lang="en-US" dirty="0" err="1"/>
              <a:t>reloj</a:t>
            </a:r>
            <a:r>
              <a:rPr lang="en-US" dirty="0"/>
              <a:t>.</a:t>
            </a:r>
          </a:p>
          <a:p>
            <a:r>
              <a:rPr lang="en-US" dirty="0" err="1"/>
              <a:t>Basado</a:t>
            </a:r>
            <a:r>
              <a:rPr lang="en-US" dirty="0"/>
              <a:t> en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estrategias</a:t>
            </a:r>
            <a:r>
              <a:rPr lang="en-US" dirty="0"/>
              <a:t> de </a:t>
            </a:r>
            <a:r>
              <a:rPr lang="en-US" dirty="0" err="1"/>
              <a:t>ejecución</a:t>
            </a:r>
            <a:r>
              <a:rPr lang="en-US" dirty="0"/>
              <a:t> </a:t>
            </a:r>
            <a:r>
              <a:rPr lang="en-US" dirty="0" err="1"/>
              <a:t>definidas</a:t>
            </a:r>
            <a:r>
              <a:rPr lang="en-US" dirty="0"/>
              <a:t>.</a:t>
            </a:r>
          </a:p>
          <a:p>
            <a:r>
              <a:rPr lang="en-US" dirty="0"/>
              <a:t>“</a:t>
            </a:r>
            <a:r>
              <a:rPr lang="en-US" dirty="0" err="1"/>
              <a:t>Receta</a:t>
            </a:r>
            <a:r>
              <a:rPr lang="en-US" dirty="0"/>
              <a:t>” para la </a:t>
            </a:r>
            <a:r>
              <a:rPr lang="en-US" dirty="0" err="1"/>
              <a:t>ejecución</a:t>
            </a:r>
            <a:r>
              <a:rPr lang="en-US" dirty="0"/>
              <a:t> de la </a:t>
            </a:r>
            <a:r>
              <a:rPr lang="en-US" dirty="0" err="1"/>
              <a:t>instrucción</a:t>
            </a:r>
            <a:r>
              <a:rPr lang="en-US" dirty="0"/>
              <a:t>: En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paso</a:t>
            </a:r>
            <a:r>
              <a:rPr lang="en-US" dirty="0"/>
              <a:t> </a:t>
            </a:r>
            <a:r>
              <a:rPr lang="en-US" dirty="0" err="1"/>
              <a:t>especifica</a:t>
            </a:r>
            <a:r>
              <a:rPr lang="en-US" dirty="0"/>
              <a:t>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operaciones</a:t>
            </a:r>
            <a:r>
              <a:rPr lang="en-US" dirty="0"/>
              <a:t> a </a:t>
            </a:r>
            <a:r>
              <a:rPr lang="en-US" dirty="0" err="1"/>
              <a:t>realizar</a:t>
            </a:r>
            <a:r>
              <a:rPr lang="en-US" dirty="0"/>
              <a:t> y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señales</a:t>
            </a:r>
            <a:r>
              <a:rPr lang="en-US" dirty="0"/>
              <a:t> de control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activarse</a:t>
            </a:r>
            <a:r>
              <a:rPr lang="en-US" dirty="0"/>
              <a:t> para </a:t>
            </a:r>
            <a:r>
              <a:rPr lang="en-US" dirty="0" err="1"/>
              <a:t>realizarlas</a:t>
            </a:r>
            <a:r>
              <a:rPr lang="en-US" dirty="0"/>
              <a:t>.</a:t>
            </a:r>
          </a:p>
          <a:p>
            <a:r>
              <a:rPr lang="en-US" dirty="0"/>
              <a:t>Base para </a:t>
            </a:r>
            <a:r>
              <a:rPr lang="en-US" dirty="0" err="1"/>
              <a:t>implementar</a:t>
            </a:r>
            <a:r>
              <a:rPr lang="en-US" dirty="0"/>
              <a:t> la UC.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063595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Ejecución</a:t>
            </a:r>
            <a:r>
              <a:rPr lang="en-US" dirty="0"/>
              <a:t> de ADD R1, R2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272757"/>
              </p:ext>
            </p:extLst>
          </p:nvPr>
        </p:nvGraphicFramePr>
        <p:xfrm>
          <a:off x="1763688" y="1844825"/>
          <a:ext cx="5904656" cy="4075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" name="Visio" r:id="rId3" imgW="3750564" imgH="2592324" progId="Visio.Drawing.11">
                  <p:embed/>
                </p:oleObj>
              </mc:Choice>
              <mc:Fallback>
                <p:oleObj name="Visio" r:id="rId3" imgW="3750564" imgH="259232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1844825"/>
                        <a:ext cx="5904656" cy="40756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20683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Ejecución</a:t>
            </a:r>
            <a:r>
              <a:rPr lang="en-US" dirty="0"/>
              <a:t> de ADD (R1), R2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987677"/>
              </p:ext>
            </p:extLst>
          </p:nvPr>
        </p:nvGraphicFramePr>
        <p:xfrm>
          <a:off x="1691680" y="1988841"/>
          <a:ext cx="5616624" cy="4208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Visio" r:id="rId3" imgW="3740906" imgH="2808459" progId="Visio.Drawing.11">
                  <p:embed/>
                </p:oleObj>
              </mc:Choice>
              <mc:Fallback>
                <p:oleObj name="Visio" r:id="rId3" imgW="3740906" imgH="280845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1988841"/>
                        <a:ext cx="5616624" cy="42084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0214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Ejecución</a:t>
            </a:r>
            <a:r>
              <a:rPr lang="en-US" dirty="0"/>
              <a:t> de BR d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501688"/>
              </p:ext>
            </p:extLst>
          </p:nvPr>
        </p:nvGraphicFramePr>
        <p:xfrm>
          <a:off x="1403648" y="1844826"/>
          <a:ext cx="6840760" cy="4288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" name="Visio" r:id="rId3" imgW="3739896" imgH="2354580" progId="Visio.Drawing.11">
                  <p:embed/>
                </p:oleObj>
              </mc:Choice>
              <mc:Fallback>
                <p:oleObj name="Visio" r:id="rId3" imgW="3739896" imgH="235458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1844826"/>
                        <a:ext cx="6840760" cy="42887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51359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Ejecución</a:t>
            </a:r>
            <a:r>
              <a:rPr lang="en-US" dirty="0"/>
              <a:t> de BRN d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821" y="1916832"/>
            <a:ext cx="6636571" cy="3603812"/>
          </a:xfrm>
        </p:spPr>
        <p:txBody>
          <a:bodyPr/>
          <a:lstStyle/>
          <a:p>
            <a:r>
              <a:rPr lang="es-NI" dirty="0"/>
              <a:t>En este caso, la instrucción realiza el salto si la bandera Negativo (N) está </a:t>
            </a:r>
            <a:r>
              <a:rPr lang="es-NI" dirty="0" err="1"/>
              <a:t>seteada</a:t>
            </a:r>
            <a:r>
              <a:rPr lang="es-NI" dirty="0"/>
              <a:t> (N=1).</a:t>
            </a:r>
          </a:p>
          <a:p>
            <a:r>
              <a:rPr lang="es-NI" dirty="0"/>
              <a:t>La bandera sirve como mecanismo de decisión. </a:t>
            </a:r>
          </a:p>
          <a:p>
            <a:r>
              <a:rPr lang="es-NI" dirty="0"/>
              <a:t>Solo se requiere un leve cambio en BR para implementar BRN:</a:t>
            </a:r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476" y="4078056"/>
            <a:ext cx="6255667" cy="2153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87093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620688"/>
            <a:ext cx="7704856" cy="883225"/>
          </a:xfrm>
        </p:spPr>
        <p:txBody>
          <a:bodyPr>
            <a:normAutofit fontScale="90000"/>
          </a:bodyPr>
          <a:lstStyle/>
          <a:p>
            <a:r>
              <a:rPr lang="es-NI" dirty="0"/>
              <a:t>Banderas y Códigos de condición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51011" y="1622000"/>
            <a:ext cx="6768752" cy="4471295"/>
          </a:xfrm>
        </p:spPr>
        <p:txBody>
          <a:bodyPr>
            <a:normAutofit fontScale="92500" lnSpcReduction="10000"/>
          </a:bodyPr>
          <a:lstStyle/>
          <a:p>
            <a:r>
              <a:rPr lang="es-NI" dirty="0"/>
              <a:t>Conforman el estado del Procesador</a:t>
            </a:r>
          </a:p>
          <a:p>
            <a:pPr lvl="1"/>
            <a:r>
              <a:rPr lang="es-NI" dirty="0"/>
              <a:t>Las banderas indican resultado de operaciones.</a:t>
            </a:r>
          </a:p>
          <a:p>
            <a:pPr lvl="1"/>
            <a:r>
              <a:rPr lang="es-NI" dirty="0"/>
              <a:t>Códigos indican estado de la máquina.</a:t>
            </a:r>
          </a:p>
          <a:p>
            <a:pPr lvl="1"/>
            <a:r>
              <a:rPr lang="es-NI" dirty="0"/>
              <a:t>Ejemplo: PDP-11 los almacena en una palabra de estado de procesador o  PSW.</a:t>
            </a:r>
          </a:p>
          <a:p>
            <a:endParaRPr lang="es-NI" dirty="0"/>
          </a:p>
          <a:p>
            <a:endParaRPr lang="es-NI" dirty="0"/>
          </a:p>
          <a:p>
            <a:endParaRPr lang="es-NI" dirty="0"/>
          </a:p>
          <a:p>
            <a:endParaRPr lang="es-NI" dirty="0"/>
          </a:p>
          <a:p>
            <a:endParaRPr lang="es-NI" dirty="0"/>
          </a:p>
          <a:p>
            <a:r>
              <a:rPr lang="es-NI" dirty="0"/>
              <a:t> Por su parte, otros procesadores, como el 8086, usan registro de </a:t>
            </a:r>
            <a:r>
              <a:rPr lang="es-NI" dirty="0" err="1"/>
              <a:t>Flags</a:t>
            </a:r>
            <a:r>
              <a:rPr lang="es-NI" dirty="0"/>
              <a:t>.</a:t>
            </a:r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602" y="3284984"/>
            <a:ext cx="4569569" cy="1589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74863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Implementación</a:t>
            </a:r>
            <a:r>
              <a:rPr lang="en-US" dirty="0"/>
              <a:t> de la UC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59632" y="1988842"/>
            <a:ext cx="6853376" cy="3902031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Hemos</a:t>
            </a:r>
            <a:r>
              <a:rPr lang="en-US" dirty="0"/>
              <a:t> </a:t>
            </a:r>
            <a:r>
              <a:rPr lang="en-US" dirty="0" err="1"/>
              <a:t>analizado</a:t>
            </a:r>
            <a:r>
              <a:rPr lang="en-US" dirty="0"/>
              <a:t>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operaciones</a:t>
            </a:r>
            <a:r>
              <a:rPr lang="en-US" dirty="0"/>
              <a:t> de control </a:t>
            </a:r>
            <a:r>
              <a:rPr lang="en-US" dirty="0" err="1"/>
              <a:t>requeridas</a:t>
            </a:r>
            <a:r>
              <a:rPr lang="en-US" dirty="0"/>
              <a:t> para la </a:t>
            </a:r>
            <a:r>
              <a:rPr lang="en-US" dirty="0" err="1"/>
              <a:t>ejecución</a:t>
            </a:r>
            <a:r>
              <a:rPr lang="en-US" dirty="0"/>
              <a:t>.</a:t>
            </a:r>
          </a:p>
          <a:p>
            <a:r>
              <a:rPr lang="en-US" dirty="0" err="1"/>
              <a:t>Hemos</a:t>
            </a:r>
            <a:r>
              <a:rPr lang="en-US" dirty="0"/>
              <a:t> </a:t>
            </a:r>
            <a:r>
              <a:rPr lang="en-US" dirty="0" err="1"/>
              <a:t>definido</a:t>
            </a:r>
            <a:r>
              <a:rPr lang="en-US" dirty="0"/>
              <a:t>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estrategias</a:t>
            </a:r>
            <a:r>
              <a:rPr lang="en-US" dirty="0"/>
              <a:t> para los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instrucciones</a:t>
            </a:r>
            <a:r>
              <a:rPr lang="en-US" dirty="0"/>
              <a:t>.</a:t>
            </a:r>
          </a:p>
          <a:p>
            <a:r>
              <a:rPr lang="en-US" dirty="0" err="1"/>
              <a:t>Hemos</a:t>
            </a:r>
            <a:r>
              <a:rPr lang="en-US" dirty="0"/>
              <a:t> </a:t>
            </a:r>
            <a:r>
              <a:rPr lang="en-US" dirty="0" err="1"/>
              <a:t>desarrollado</a:t>
            </a:r>
            <a:r>
              <a:rPr lang="en-US" dirty="0"/>
              <a:t>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secuencias</a:t>
            </a:r>
            <a:r>
              <a:rPr lang="en-US" dirty="0"/>
              <a:t> de </a:t>
            </a:r>
            <a:r>
              <a:rPr lang="en-US" dirty="0" err="1"/>
              <a:t>pasos</a:t>
            </a:r>
            <a:r>
              <a:rPr lang="en-US" dirty="0"/>
              <a:t> de control,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tanto</a:t>
            </a:r>
            <a:r>
              <a:rPr lang="en-US" dirty="0"/>
              <a:t> </a:t>
            </a:r>
            <a:r>
              <a:rPr lang="en-US" dirty="0" err="1"/>
              <a:t>sabemos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instrucción</a:t>
            </a:r>
            <a:r>
              <a:rPr lang="en-US" dirty="0"/>
              <a:t> I</a:t>
            </a:r>
            <a:r>
              <a:rPr lang="en-US" baseline="-25000" dirty="0"/>
              <a:t>i</a:t>
            </a:r>
            <a:r>
              <a:rPr lang="en-US" dirty="0"/>
              <a:t>, los </a:t>
            </a:r>
            <a:r>
              <a:rPr lang="en-US" dirty="0" err="1"/>
              <a:t>valores</a:t>
            </a:r>
            <a:r>
              <a:rPr lang="en-US" dirty="0"/>
              <a:t> de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señales</a:t>
            </a:r>
            <a:r>
              <a:rPr lang="en-US" dirty="0"/>
              <a:t> de control en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paso</a:t>
            </a:r>
            <a:r>
              <a:rPr lang="en-US" dirty="0"/>
              <a:t> de control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Con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podemos</a:t>
            </a:r>
            <a:r>
              <a:rPr lang="en-US" dirty="0"/>
              <a:t> </a:t>
            </a:r>
            <a:r>
              <a:rPr lang="en-US" dirty="0" err="1"/>
              <a:t>implementar</a:t>
            </a:r>
            <a:r>
              <a:rPr lang="en-US" dirty="0"/>
              <a:t> la UC </a:t>
            </a:r>
            <a:r>
              <a:rPr lang="en-US" dirty="0" err="1"/>
              <a:t>poniendo</a:t>
            </a:r>
            <a:r>
              <a:rPr lang="en-US" dirty="0"/>
              <a:t> as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salida</a:t>
            </a:r>
            <a:r>
              <a:rPr lang="en-US" dirty="0"/>
              <a:t> los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activos</a:t>
            </a:r>
            <a:r>
              <a:rPr lang="en-US" dirty="0"/>
              <a:t> en 1 y los </a:t>
            </a:r>
            <a:r>
              <a:rPr lang="en-US" dirty="0" err="1"/>
              <a:t>inactivos</a:t>
            </a:r>
            <a:r>
              <a:rPr lang="en-US" dirty="0"/>
              <a:t> en 0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dirty="0"/>
              <a:t> de </a:t>
            </a:r>
            <a:r>
              <a:rPr lang="en-US" dirty="0" err="1"/>
              <a:t>cada</a:t>
            </a:r>
            <a:r>
              <a:rPr lang="en-US" dirty="0"/>
              <a:t> I</a:t>
            </a:r>
            <a:r>
              <a:rPr lang="en-US" baseline="-25000" dirty="0"/>
              <a:t>i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1089048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Implementación</a:t>
            </a:r>
            <a:r>
              <a:rPr lang="en-US" dirty="0"/>
              <a:t> de la UC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331640" y="1844826"/>
            <a:ext cx="6493336" cy="390203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Dos </a:t>
            </a:r>
            <a:r>
              <a:rPr lang="en-US" dirty="0" err="1"/>
              <a:t>enfoques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Totalmente</a:t>
            </a:r>
            <a:r>
              <a:rPr lang="en-US" dirty="0"/>
              <a:t> Hardware: </a:t>
            </a:r>
            <a:r>
              <a:rPr lang="en-US" dirty="0" err="1"/>
              <a:t>Alambrado</a:t>
            </a:r>
            <a:r>
              <a:rPr lang="en-US" dirty="0"/>
              <a:t> o control </a:t>
            </a:r>
            <a:r>
              <a:rPr lang="en-US" dirty="0" err="1"/>
              <a:t>fijo</a:t>
            </a:r>
            <a:r>
              <a:rPr lang="en-US" dirty="0"/>
              <a:t>.</a:t>
            </a:r>
          </a:p>
          <a:p>
            <a:pPr lvl="3"/>
            <a:r>
              <a:rPr lang="en-US" dirty="0" err="1"/>
              <a:t>Secuencia</a:t>
            </a:r>
            <a:r>
              <a:rPr lang="en-US" dirty="0"/>
              <a:t> de </a:t>
            </a:r>
            <a:r>
              <a:rPr lang="en-US" dirty="0" err="1"/>
              <a:t>pasos</a:t>
            </a:r>
            <a:r>
              <a:rPr lang="en-US" dirty="0"/>
              <a:t>: </a:t>
            </a:r>
            <a:r>
              <a:rPr lang="en-US" dirty="0" err="1"/>
              <a:t>Máquina</a:t>
            </a:r>
            <a:r>
              <a:rPr lang="en-US" dirty="0"/>
              <a:t> de </a:t>
            </a:r>
            <a:r>
              <a:rPr lang="en-US" dirty="0" err="1"/>
              <a:t>estados</a:t>
            </a:r>
            <a:r>
              <a:rPr lang="en-US" dirty="0"/>
              <a:t> </a:t>
            </a:r>
            <a:r>
              <a:rPr lang="en-US" dirty="0" err="1"/>
              <a:t>finitos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Red </a:t>
            </a:r>
            <a:r>
              <a:rPr lang="en-US" dirty="0" err="1"/>
              <a:t>combinacional</a:t>
            </a:r>
            <a:r>
              <a:rPr lang="en-US" dirty="0"/>
              <a:t>: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paso</a:t>
            </a:r>
            <a:r>
              <a:rPr lang="en-US" dirty="0"/>
              <a:t> se </a:t>
            </a:r>
            <a:r>
              <a:rPr lang="en-US" dirty="0" err="1"/>
              <a:t>convierte</a:t>
            </a:r>
            <a:r>
              <a:rPr lang="en-US" dirty="0"/>
              <a:t> 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entrada</a:t>
            </a:r>
            <a:r>
              <a:rPr lang="en-US" dirty="0"/>
              <a:t> (T1, T2, …, </a:t>
            </a:r>
            <a:r>
              <a:rPr lang="en-US" dirty="0" err="1"/>
              <a:t>Tn</a:t>
            </a:r>
            <a:r>
              <a:rPr lang="en-US" dirty="0"/>
              <a:t>).</a:t>
            </a:r>
          </a:p>
          <a:p>
            <a:pPr lvl="1"/>
            <a:r>
              <a:rPr lang="en-US" dirty="0" err="1"/>
              <a:t>Microprogramación</a:t>
            </a:r>
            <a:r>
              <a:rPr lang="en-US" dirty="0"/>
              <a:t>: </a:t>
            </a:r>
          </a:p>
          <a:p>
            <a:pPr lvl="3"/>
            <a:r>
              <a:rPr lang="en-US" dirty="0"/>
              <a:t>Se “</a:t>
            </a:r>
            <a:r>
              <a:rPr lang="en-US" dirty="0" err="1"/>
              <a:t>escribe</a:t>
            </a:r>
            <a:r>
              <a:rPr lang="en-US" dirty="0"/>
              <a:t>” un </a:t>
            </a:r>
            <a:r>
              <a:rPr lang="en-US" dirty="0" err="1"/>
              <a:t>microprograma</a:t>
            </a:r>
            <a:r>
              <a:rPr lang="en-US" dirty="0"/>
              <a:t>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instrucción</a:t>
            </a:r>
            <a:r>
              <a:rPr lang="en-US" dirty="0"/>
              <a:t> </a:t>
            </a:r>
            <a:r>
              <a:rPr lang="en-US" dirty="0" err="1"/>
              <a:t>basado</a:t>
            </a:r>
            <a:r>
              <a:rPr lang="en-US" dirty="0"/>
              <a:t> en los </a:t>
            </a:r>
            <a:r>
              <a:rPr lang="en-US" dirty="0" err="1"/>
              <a:t>pasos</a:t>
            </a:r>
            <a:r>
              <a:rPr lang="en-US" dirty="0"/>
              <a:t> de control de la </a:t>
            </a:r>
            <a:r>
              <a:rPr lang="en-US" dirty="0" err="1"/>
              <a:t>misma</a:t>
            </a:r>
            <a:r>
              <a:rPr lang="en-US" dirty="0"/>
              <a:t>. </a:t>
            </a:r>
          </a:p>
          <a:p>
            <a:pPr lvl="3"/>
            <a:r>
              <a:rPr lang="en-US" dirty="0" err="1"/>
              <a:t>Microprogramas</a:t>
            </a:r>
            <a:r>
              <a:rPr lang="en-US" dirty="0"/>
              <a:t> se </a:t>
            </a:r>
            <a:r>
              <a:rPr lang="en-US" dirty="0" err="1"/>
              <a:t>almacenan</a:t>
            </a:r>
            <a:r>
              <a:rPr lang="en-US" dirty="0"/>
              <a:t> en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memoria</a:t>
            </a:r>
            <a:r>
              <a:rPr lang="en-US" dirty="0"/>
              <a:t> de control </a:t>
            </a:r>
          </a:p>
          <a:p>
            <a:pPr lvl="3"/>
            <a:r>
              <a:rPr lang="en-US" dirty="0"/>
              <a:t>Se </a:t>
            </a:r>
            <a:r>
              <a:rPr lang="en-US" dirty="0" err="1"/>
              <a:t>carga</a:t>
            </a:r>
            <a:r>
              <a:rPr lang="en-US" dirty="0"/>
              <a:t> el </a:t>
            </a:r>
            <a:r>
              <a:rPr lang="en-US" dirty="0" err="1"/>
              <a:t>microprograma</a:t>
            </a:r>
            <a:r>
              <a:rPr lang="en-US" dirty="0"/>
              <a:t> de la </a:t>
            </a:r>
            <a:r>
              <a:rPr lang="en-US" dirty="0" err="1"/>
              <a:t>instrucción</a:t>
            </a:r>
            <a:r>
              <a:rPr lang="en-US" dirty="0"/>
              <a:t> y se </a:t>
            </a:r>
            <a:r>
              <a:rPr lang="en-US" dirty="0" err="1"/>
              <a:t>ejecuta</a:t>
            </a:r>
            <a:r>
              <a:rPr lang="en-US" dirty="0"/>
              <a:t> </a:t>
            </a:r>
            <a:r>
              <a:rPr lang="en-US" dirty="0" err="1"/>
              <a:t>secuencialmente</a:t>
            </a:r>
            <a:r>
              <a:rPr lang="en-US" dirty="0"/>
              <a:t>.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5204557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Implementación</a:t>
            </a:r>
            <a:r>
              <a:rPr lang="en-US" dirty="0"/>
              <a:t> de la UC</a:t>
            </a:r>
            <a:endParaRPr lang="es-NI" dirty="0"/>
          </a:p>
        </p:txBody>
      </p:sp>
      <p:sp>
        <p:nvSpPr>
          <p:cNvPr id="4" name="3 Rectángulo redondeado"/>
          <p:cNvSpPr/>
          <p:nvPr/>
        </p:nvSpPr>
        <p:spPr>
          <a:xfrm>
            <a:off x="3714810" y="2672916"/>
            <a:ext cx="2520280" cy="1728192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Unidad</a:t>
            </a:r>
            <a:r>
              <a:rPr lang="en-US" dirty="0"/>
              <a:t> de Control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Caja</a:t>
            </a:r>
            <a:r>
              <a:rPr lang="en-US" dirty="0"/>
              <a:t> </a:t>
            </a:r>
            <a:r>
              <a:rPr lang="en-US" dirty="0" err="1"/>
              <a:t>negra</a:t>
            </a:r>
            <a:r>
              <a:rPr lang="en-US" dirty="0"/>
              <a:t>)</a:t>
            </a:r>
            <a:endParaRPr lang="es-NI" dirty="0"/>
          </a:p>
        </p:txBody>
      </p:sp>
      <p:sp>
        <p:nvSpPr>
          <p:cNvPr id="5" name="4 Elipse"/>
          <p:cNvSpPr/>
          <p:nvPr/>
        </p:nvSpPr>
        <p:spPr>
          <a:xfrm>
            <a:off x="971602" y="2611511"/>
            <a:ext cx="1977755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Estado de la </a:t>
            </a:r>
            <a:r>
              <a:rPr lang="en-US" dirty="0" err="1"/>
              <a:t>Máquina</a:t>
            </a:r>
            <a:endParaRPr lang="es-NI" dirty="0"/>
          </a:p>
        </p:txBody>
      </p:sp>
      <p:sp>
        <p:nvSpPr>
          <p:cNvPr id="6" name="5 Elipse"/>
          <p:cNvSpPr/>
          <p:nvPr/>
        </p:nvSpPr>
        <p:spPr>
          <a:xfrm>
            <a:off x="899594" y="3650203"/>
            <a:ext cx="1977755" cy="93610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Instrucción</a:t>
            </a:r>
            <a:endParaRPr lang="es-NI" dirty="0"/>
          </a:p>
        </p:txBody>
      </p:sp>
      <p:sp>
        <p:nvSpPr>
          <p:cNvPr id="7" name="6 Flecha derecha"/>
          <p:cNvSpPr/>
          <p:nvPr/>
        </p:nvSpPr>
        <p:spPr>
          <a:xfrm>
            <a:off x="6344591" y="2678095"/>
            <a:ext cx="1800200" cy="1440160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Señales</a:t>
            </a:r>
            <a:r>
              <a:rPr lang="en-US" dirty="0"/>
              <a:t> de Control</a:t>
            </a:r>
            <a:endParaRPr lang="es-NI" dirty="0"/>
          </a:p>
        </p:txBody>
      </p:sp>
      <p:cxnSp>
        <p:nvCxnSpPr>
          <p:cNvPr id="9" name="8 Conector recto de flecha"/>
          <p:cNvCxnSpPr>
            <a:stCxn id="5" idx="6"/>
          </p:cNvCxnSpPr>
          <p:nvPr/>
        </p:nvCxnSpPr>
        <p:spPr>
          <a:xfrm>
            <a:off x="2949357" y="3079562"/>
            <a:ext cx="765455" cy="133415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 de flecha"/>
          <p:cNvCxnSpPr>
            <a:stCxn id="6" idx="6"/>
          </p:cNvCxnSpPr>
          <p:nvPr/>
        </p:nvCxnSpPr>
        <p:spPr>
          <a:xfrm flipV="1">
            <a:off x="2877347" y="3827634"/>
            <a:ext cx="837463" cy="290623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http://image.made-in-china.com/2f0j00BvNairAgnDcH/Metal-Wall-Clock-AR-MW-10012-01-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337" y="4797152"/>
            <a:ext cx="1181226" cy="1181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15 Conector recto de flecha"/>
          <p:cNvCxnSpPr>
            <a:stCxn id="7170" idx="0"/>
          </p:cNvCxnSpPr>
          <p:nvPr/>
        </p:nvCxnSpPr>
        <p:spPr>
          <a:xfrm flipV="1">
            <a:off x="4974950" y="4401109"/>
            <a:ext cx="0" cy="396044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8283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6" y="260648"/>
            <a:ext cx="6965245" cy="12024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Implementación</a:t>
            </a:r>
            <a:r>
              <a:rPr lang="en-US" dirty="0"/>
              <a:t> de la UC </a:t>
            </a:r>
            <a:r>
              <a:rPr lang="en-US" dirty="0" err="1"/>
              <a:t>Fija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707043"/>
              </p:ext>
            </p:extLst>
          </p:nvPr>
        </p:nvGraphicFramePr>
        <p:xfrm>
          <a:off x="1259632" y="764704"/>
          <a:ext cx="7128792" cy="5583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" name="Visio" r:id="rId3" imgW="4161599" imgH="3753712" progId="Visio.Drawing.11">
                  <p:embed/>
                </p:oleObj>
              </mc:Choice>
              <mc:Fallback>
                <p:oleObj name="Visio" r:id="rId3" imgW="4161599" imgH="375371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764704"/>
                        <a:ext cx="7128792" cy="55830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24926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89379" y="188640"/>
            <a:ext cx="6965245" cy="12024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Implementación</a:t>
            </a:r>
            <a:r>
              <a:rPr lang="en-US" dirty="0"/>
              <a:t> de la UC </a:t>
            </a:r>
            <a:r>
              <a:rPr lang="en-US" dirty="0" err="1"/>
              <a:t>Fija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250535"/>
              </p:ext>
            </p:extLst>
          </p:nvPr>
        </p:nvGraphicFramePr>
        <p:xfrm>
          <a:off x="611560" y="1052736"/>
          <a:ext cx="7392630" cy="5328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" name="Visio" r:id="rId3" imgW="5241036" imgH="3796284" progId="Visio.Drawing.11">
                  <p:embed/>
                </p:oleObj>
              </mc:Choice>
              <mc:Fallback>
                <p:oleObj name="Visio" r:id="rId3" imgW="5241036" imgH="379628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1052736"/>
                        <a:ext cx="7392630" cy="53285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01179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15618" y="836712"/>
            <a:ext cx="6965245" cy="12024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Implementación</a:t>
            </a:r>
            <a:r>
              <a:rPr lang="en-US" dirty="0"/>
              <a:t> de la UC </a:t>
            </a:r>
            <a:r>
              <a:rPr lang="en-US" dirty="0" err="1"/>
              <a:t>fija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75658" y="1918849"/>
            <a:ext cx="6196405" cy="3603812"/>
          </a:xfrm>
        </p:spPr>
        <p:txBody>
          <a:bodyPr/>
          <a:lstStyle/>
          <a:p>
            <a:r>
              <a:rPr lang="en-US" dirty="0"/>
              <a:t>Con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enfoque</a:t>
            </a:r>
            <a:r>
              <a:rPr lang="en-US" dirty="0"/>
              <a:t>, …</a:t>
            </a:r>
          </a:p>
          <a:p>
            <a:pPr lvl="1"/>
            <a:r>
              <a:rPr lang="en-US" b="1" dirty="0"/>
              <a:t>¡</a:t>
            </a:r>
            <a:r>
              <a:rPr lang="en-US" b="1" dirty="0" err="1"/>
              <a:t>Implementar</a:t>
            </a:r>
            <a:r>
              <a:rPr lang="en-US" b="1" dirty="0"/>
              <a:t> la UC se reduce a </a:t>
            </a:r>
            <a:r>
              <a:rPr lang="en-US" b="1" dirty="0" err="1"/>
              <a:t>obtener</a:t>
            </a:r>
            <a:r>
              <a:rPr lang="en-US" b="1" dirty="0"/>
              <a:t> </a:t>
            </a:r>
            <a:r>
              <a:rPr lang="en-US" b="1" dirty="0" err="1"/>
              <a:t>las</a:t>
            </a:r>
            <a:r>
              <a:rPr lang="en-US" b="1" dirty="0"/>
              <a:t> </a:t>
            </a:r>
            <a:r>
              <a:rPr lang="en-US" b="1" dirty="0" err="1"/>
              <a:t>expresiones</a:t>
            </a:r>
            <a:r>
              <a:rPr lang="en-US" b="1" dirty="0"/>
              <a:t> </a:t>
            </a:r>
            <a:r>
              <a:rPr lang="en-US" b="1" dirty="0" err="1"/>
              <a:t>lógicas</a:t>
            </a:r>
            <a:r>
              <a:rPr lang="en-US" b="1" dirty="0"/>
              <a:t> de </a:t>
            </a:r>
            <a:r>
              <a:rPr lang="en-US" b="1" dirty="0" err="1"/>
              <a:t>cada</a:t>
            </a:r>
            <a:r>
              <a:rPr lang="en-US" b="1" dirty="0"/>
              <a:t> </a:t>
            </a:r>
            <a:r>
              <a:rPr lang="en-US" b="1" dirty="0" err="1"/>
              <a:t>señal</a:t>
            </a:r>
            <a:r>
              <a:rPr lang="en-US" b="1" dirty="0"/>
              <a:t> de control de </a:t>
            </a:r>
            <a:r>
              <a:rPr lang="en-US" b="1" dirty="0" err="1"/>
              <a:t>salida</a:t>
            </a:r>
            <a:r>
              <a:rPr lang="en-US" b="1" dirty="0"/>
              <a:t> a </a:t>
            </a:r>
            <a:r>
              <a:rPr lang="en-US" b="1" dirty="0" err="1"/>
              <a:t>partir</a:t>
            </a:r>
            <a:r>
              <a:rPr lang="en-US" b="1" dirty="0"/>
              <a:t> de </a:t>
            </a:r>
            <a:r>
              <a:rPr lang="en-US" b="1" dirty="0" err="1"/>
              <a:t>las</a:t>
            </a:r>
            <a:r>
              <a:rPr lang="en-US" b="1" dirty="0"/>
              <a:t> </a:t>
            </a:r>
            <a:r>
              <a:rPr lang="en-US" b="1" dirty="0" err="1"/>
              <a:t>entradas</a:t>
            </a:r>
            <a:r>
              <a:rPr lang="en-US" b="1" dirty="0"/>
              <a:t> Ii, </a:t>
            </a:r>
            <a:r>
              <a:rPr lang="en-US" b="1" dirty="0" err="1"/>
              <a:t>Tj</a:t>
            </a:r>
            <a:r>
              <a:rPr lang="en-US" b="1" dirty="0"/>
              <a:t>, Flags y </a:t>
            </a:r>
            <a:r>
              <a:rPr lang="en-US" b="1" dirty="0" err="1"/>
              <a:t>Señales</a:t>
            </a:r>
            <a:r>
              <a:rPr lang="en-US" b="1" dirty="0"/>
              <a:t> de </a:t>
            </a:r>
            <a:r>
              <a:rPr lang="en-US" b="1" dirty="0" err="1"/>
              <a:t>entrada</a:t>
            </a:r>
            <a:r>
              <a:rPr lang="en-US" b="1" dirty="0"/>
              <a:t>!</a:t>
            </a:r>
          </a:p>
          <a:p>
            <a:r>
              <a:rPr lang="en-US" dirty="0"/>
              <a:t>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señal</a:t>
            </a:r>
            <a:r>
              <a:rPr lang="en-US" dirty="0"/>
              <a:t>, </a:t>
            </a:r>
            <a:r>
              <a:rPr lang="en-US" dirty="0" err="1"/>
              <a:t>revisamos</a:t>
            </a:r>
            <a:r>
              <a:rPr lang="en-US" dirty="0"/>
              <a:t> </a:t>
            </a:r>
            <a:r>
              <a:rPr lang="en-US" dirty="0" err="1"/>
              <a:t>donde</a:t>
            </a:r>
            <a:r>
              <a:rPr lang="en-US" dirty="0"/>
              <a:t> </a:t>
            </a:r>
            <a:r>
              <a:rPr lang="en-US" dirty="0" err="1"/>
              <a:t>aparece</a:t>
            </a:r>
            <a:r>
              <a:rPr lang="en-US" dirty="0"/>
              <a:t> </a:t>
            </a:r>
            <a:r>
              <a:rPr lang="en-US" dirty="0" err="1"/>
              <a:t>encendida</a:t>
            </a:r>
            <a:r>
              <a:rPr lang="en-US" dirty="0"/>
              <a:t> y </a:t>
            </a:r>
            <a:r>
              <a:rPr lang="en-US" dirty="0" err="1"/>
              <a:t>definimos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expresión</a:t>
            </a:r>
            <a:r>
              <a:rPr lang="en-US" dirty="0"/>
              <a:t> </a:t>
            </a:r>
            <a:r>
              <a:rPr lang="en-US" dirty="0" err="1"/>
              <a:t>lógica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:</a:t>
            </a:r>
            <a:endParaRPr lang="es-NI" dirty="0"/>
          </a:p>
        </p:txBody>
      </p:sp>
      <p:sp>
        <p:nvSpPr>
          <p:cNvPr id="4" name="3 Rectángulo"/>
          <p:cNvSpPr/>
          <p:nvPr/>
        </p:nvSpPr>
        <p:spPr>
          <a:xfrm>
            <a:off x="1835696" y="5229200"/>
            <a:ext cx="3816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NI" b="1" dirty="0" err="1"/>
              <a:t>Z</a:t>
            </a:r>
            <a:r>
              <a:rPr lang="es-NI" b="1" baseline="-25000" dirty="0" err="1"/>
              <a:t>in</a:t>
            </a:r>
            <a:r>
              <a:rPr lang="es-NI" b="1" dirty="0"/>
              <a:t> = T1 + ADD.T6 + BRN.T5 + .... </a:t>
            </a:r>
            <a:endParaRPr lang="es-NI" dirty="0"/>
          </a:p>
        </p:txBody>
      </p:sp>
      <p:sp>
        <p:nvSpPr>
          <p:cNvPr id="5" name="4 Rectángulo"/>
          <p:cNvSpPr/>
          <p:nvPr/>
        </p:nvSpPr>
        <p:spPr>
          <a:xfrm>
            <a:off x="1763688" y="5732731"/>
            <a:ext cx="64087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NI" b="1" dirty="0" err="1"/>
              <a:t>End</a:t>
            </a:r>
            <a:r>
              <a:rPr lang="es-NI" b="1" dirty="0"/>
              <a:t> = T8.ADD + T7.JR + T4.(~N).BRN + T7.N.BRN+ …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51859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89379" y="404664"/>
            <a:ext cx="6965245" cy="12024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Implementación</a:t>
            </a:r>
            <a:r>
              <a:rPr lang="en-US" dirty="0"/>
              <a:t> de la UC </a:t>
            </a:r>
            <a:r>
              <a:rPr lang="en-US" dirty="0" err="1"/>
              <a:t>Fija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73799" y="1412776"/>
            <a:ext cx="6196405" cy="720080"/>
          </a:xfrm>
        </p:spPr>
        <p:txBody>
          <a:bodyPr/>
          <a:lstStyle/>
          <a:p>
            <a:r>
              <a:rPr lang="en-US" dirty="0"/>
              <a:t>Y se </a:t>
            </a:r>
            <a:r>
              <a:rPr lang="en-US" dirty="0" err="1"/>
              <a:t>implementan</a:t>
            </a:r>
            <a:r>
              <a:rPr lang="en-US" dirty="0"/>
              <a:t> los </a:t>
            </a:r>
            <a:r>
              <a:rPr lang="en-US" dirty="0" err="1"/>
              <a:t>circuitos</a:t>
            </a:r>
            <a:r>
              <a:rPr lang="en-US" dirty="0"/>
              <a:t> </a:t>
            </a:r>
            <a:r>
              <a:rPr lang="en-US" dirty="0" err="1"/>
              <a:t>lógicos</a:t>
            </a:r>
            <a:r>
              <a:rPr lang="en-US" dirty="0"/>
              <a:t>: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349025"/>
              </p:ext>
            </p:extLst>
          </p:nvPr>
        </p:nvGraphicFramePr>
        <p:xfrm>
          <a:off x="1043608" y="2060848"/>
          <a:ext cx="7056784" cy="3762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" name="Visio" r:id="rId3" imgW="4686300" imgH="2494788" progId="Visio.Drawing.11">
                  <p:embed/>
                </p:oleObj>
              </mc:Choice>
              <mc:Fallback>
                <p:oleObj name="Visio" r:id="rId3" imgW="4686300" imgH="249478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2060848"/>
                        <a:ext cx="7056784" cy="37625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62203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89379" y="404664"/>
            <a:ext cx="6965245" cy="12024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Implementación</a:t>
            </a:r>
            <a:r>
              <a:rPr lang="en-US" dirty="0"/>
              <a:t> de la UC </a:t>
            </a:r>
            <a:r>
              <a:rPr lang="en-US" dirty="0" err="1"/>
              <a:t>Fija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50690" y="1556792"/>
            <a:ext cx="7093718" cy="1008112"/>
          </a:xfrm>
        </p:spPr>
        <p:txBody>
          <a:bodyPr>
            <a:normAutofit fontScale="92500"/>
          </a:bodyPr>
          <a:lstStyle/>
          <a:p>
            <a:r>
              <a:rPr lang="en-US" dirty="0"/>
              <a:t>En el </a:t>
            </a:r>
            <a:r>
              <a:rPr lang="en-US" dirty="0" err="1"/>
              <a:t>caso</a:t>
            </a:r>
            <a:r>
              <a:rPr lang="en-US" dirty="0"/>
              <a:t> de la </a:t>
            </a:r>
            <a:r>
              <a:rPr lang="en-US" dirty="0" err="1"/>
              <a:t>Señal</a:t>
            </a:r>
            <a:r>
              <a:rPr lang="en-US" dirty="0"/>
              <a:t> </a:t>
            </a:r>
            <a:r>
              <a:rPr lang="en-US" dirty="0" err="1"/>
              <a:t>RUN,esta</a:t>
            </a:r>
            <a:r>
              <a:rPr lang="en-US" dirty="0"/>
              <a:t> se genera a </a:t>
            </a:r>
            <a:r>
              <a:rPr lang="en-US" dirty="0" err="1"/>
              <a:t>partir</a:t>
            </a:r>
            <a:r>
              <a:rPr lang="en-US" dirty="0"/>
              <a:t> de WMFC y MFC(</a:t>
            </a:r>
            <a:r>
              <a:rPr lang="en-US" dirty="0" err="1"/>
              <a:t>señal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informa</a:t>
            </a:r>
            <a:r>
              <a:rPr lang="en-US" dirty="0"/>
              <a:t> fin del 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lectura</a:t>
            </a:r>
            <a:r>
              <a:rPr lang="en-US" dirty="0"/>
              <a:t>)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7" name="6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7463095"/>
              </p:ext>
            </p:extLst>
          </p:nvPr>
        </p:nvGraphicFramePr>
        <p:xfrm>
          <a:off x="2699792" y="2492897"/>
          <a:ext cx="4320480" cy="3420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" name="Visio" r:id="rId3" imgW="2193036" imgH="1872996" progId="Visio.Drawing.11">
                  <p:embed/>
                </p:oleObj>
              </mc:Choice>
              <mc:Fallback>
                <p:oleObj name="Visio" r:id="rId3" imgW="2193036" imgH="187299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2492897"/>
                        <a:ext cx="4320480" cy="34203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91768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89379" y="404664"/>
            <a:ext cx="6965245" cy="12024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Implementación</a:t>
            </a:r>
            <a:r>
              <a:rPr lang="en-US" dirty="0"/>
              <a:t> de la UC </a:t>
            </a:r>
            <a:r>
              <a:rPr lang="en-US" dirty="0" err="1"/>
              <a:t>Fija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50690" y="1556792"/>
            <a:ext cx="7093718" cy="10081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Para </a:t>
            </a:r>
            <a:r>
              <a:rPr lang="en-US" dirty="0" err="1"/>
              <a:t>evitar</a:t>
            </a:r>
            <a:r>
              <a:rPr lang="en-US" dirty="0"/>
              <a:t> un </a:t>
            </a:r>
            <a:r>
              <a:rPr lang="en-US" dirty="0" err="1"/>
              <a:t>paso</a:t>
            </a:r>
            <a:r>
              <a:rPr lang="en-US" dirty="0"/>
              <a:t> de control </a:t>
            </a:r>
            <a:r>
              <a:rPr lang="en-US" dirty="0" err="1"/>
              <a:t>recortado</a:t>
            </a:r>
            <a:r>
              <a:rPr lang="en-US" dirty="0"/>
              <a:t>, se </a:t>
            </a:r>
            <a:r>
              <a:rPr lang="en-US" dirty="0" err="1"/>
              <a:t>sincroniza</a:t>
            </a:r>
            <a:r>
              <a:rPr lang="en-US" dirty="0"/>
              <a:t> MFC con el </a:t>
            </a:r>
            <a:r>
              <a:rPr lang="en-US" dirty="0" err="1"/>
              <a:t>reloj</a:t>
            </a:r>
            <a:r>
              <a:rPr lang="en-US" dirty="0"/>
              <a:t> base a fin </a:t>
            </a:r>
            <a:r>
              <a:rPr lang="en-US" dirty="0" err="1"/>
              <a:t>que</a:t>
            </a:r>
            <a:r>
              <a:rPr lang="en-US" dirty="0"/>
              <a:t> RUN se </a:t>
            </a:r>
            <a:r>
              <a:rPr lang="en-US" dirty="0" err="1"/>
              <a:t>restablezca</a:t>
            </a:r>
            <a:r>
              <a:rPr lang="en-US" dirty="0"/>
              <a:t> con el </a:t>
            </a:r>
            <a:r>
              <a:rPr lang="en-US" dirty="0" err="1"/>
              <a:t>reloj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8" name="7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297733"/>
              </p:ext>
            </p:extLst>
          </p:nvPr>
        </p:nvGraphicFramePr>
        <p:xfrm>
          <a:off x="2627784" y="2492898"/>
          <a:ext cx="4248472" cy="3429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" name="Visio" r:id="rId3" imgW="2275332" imgH="1850136" progId="Visio.Drawing.11">
                  <p:embed/>
                </p:oleObj>
              </mc:Choice>
              <mc:Fallback>
                <p:oleObj name="Visio" r:id="rId3" imgW="2275332" imgH="185013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492898"/>
                        <a:ext cx="4248472" cy="34299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88225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6" y="404664"/>
            <a:ext cx="6965245" cy="12024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Implementacion</a:t>
            </a:r>
            <a:r>
              <a:rPr lang="en-US" dirty="0"/>
              <a:t> de la UC </a:t>
            </a:r>
            <a:r>
              <a:rPr lang="en-US" dirty="0" err="1"/>
              <a:t>Fija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547666" y="1412776"/>
            <a:ext cx="6196405" cy="1584176"/>
          </a:xfrm>
        </p:spPr>
        <p:txBody>
          <a:bodyPr/>
          <a:lstStyle/>
          <a:p>
            <a:r>
              <a:rPr lang="en-US" dirty="0"/>
              <a:t>Dado el </a:t>
            </a:r>
            <a:r>
              <a:rPr lang="en-US" dirty="0" err="1"/>
              <a:t>masivo</a:t>
            </a:r>
            <a:r>
              <a:rPr lang="en-US" dirty="0"/>
              <a:t> </a:t>
            </a:r>
            <a:r>
              <a:rPr lang="en-US" dirty="0" err="1"/>
              <a:t>uso</a:t>
            </a:r>
            <a:r>
              <a:rPr lang="en-US" dirty="0"/>
              <a:t> de </a:t>
            </a:r>
            <a:r>
              <a:rPr lang="en-US" dirty="0" err="1"/>
              <a:t>compuertas</a:t>
            </a:r>
            <a:r>
              <a:rPr lang="en-US" dirty="0"/>
              <a:t> en </a:t>
            </a:r>
            <a:r>
              <a:rPr lang="en-US" dirty="0" err="1"/>
              <a:t>esta</a:t>
            </a:r>
            <a:r>
              <a:rPr lang="en-US" dirty="0"/>
              <a:t>  </a:t>
            </a:r>
            <a:r>
              <a:rPr lang="en-US" dirty="0" err="1"/>
              <a:t>implementación</a:t>
            </a:r>
            <a:r>
              <a:rPr lang="en-US" dirty="0"/>
              <a:t>, se </a:t>
            </a:r>
            <a:r>
              <a:rPr lang="en-US" dirty="0" err="1"/>
              <a:t>emplean</a:t>
            </a:r>
            <a:r>
              <a:rPr lang="en-US" dirty="0"/>
              <a:t> </a:t>
            </a:r>
            <a:r>
              <a:rPr lang="en-US" dirty="0" err="1"/>
              <a:t>arreglos</a:t>
            </a:r>
            <a:r>
              <a:rPr lang="en-US" dirty="0"/>
              <a:t> de </a:t>
            </a:r>
            <a:r>
              <a:rPr lang="en-US" dirty="0" err="1"/>
              <a:t>lógica</a:t>
            </a:r>
            <a:r>
              <a:rPr lang="en-US" dirty="0"/>
              <a:t> </a:t>
            </a:r>
            <a:r>
              <a:rPr lang="en-US" dirty="0" err="1"/>
              <a:t>programable</a:t>
            </a:r>
            <a:r>
              <a:rPr lang="en-US" dirty="0"/>
              <a:t> (PLA) </a:t>
            </a:r>
            <a:r>
              <a:rPr lang="en-US" dirty="0" err="1"/>
              <a:t>construidos</a:t>
            </a:r>
            <a:r>
              <a:rPr lang="en-US" dirty="0"/>
              <a:t> con VLSI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33991"/>
              </p:ext>
            </p:extLst>
          </p:nvPr>
        </p:nvGraphicFramePr>
        <p:xfrm>
          <a:off x="1266301" y="3068960"/>
          <a:ext cx="6834093" cy="36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6" name="Visio" r:id="rId3" imgW="5076115" imgH="2675740" progId="Visio.Drawing.11">
                  <p:embed/>
                </p:oleObj>
              </mc:Choice>
              <mc:Fallback>
                <p:oleObj name="Visio" r:id="rId3" imgW="5076115" imgH="267574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301" y="3068960"/>
                        <a:ext cx="6834093" cy="3600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85533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3" y="476672"/>
            <a:ext cx="7992889" cy="1202485"/>
          </a:xfrm>
        </p:spPr>
        <p:txBody>
          <a:bodyPr>
            <a:normAutofit/>
          </a:bodyPr>
          <a:lstStyle/>
          <a:p>
            <a:r>
              <a:rPr lang="en-US" sz="3600" dirty="0" err="1"/>
              <a:t>Unidad</a:t>
            </a:r>
            <a:r>
              <a:rPr lang="en-US" sz="3600" dirty="0"/>
              <a:t> de Control </a:t>
            </a:r>
            <a:r>
              <a:rPr lang="en-US" sz="3600" dirty="0" err="1"/>
              <a:t>Microprogramada</a:t>
            </a:r>
            <a:endParaRPr lang="es-NI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1628800"/>
            <a:ext cx="7128792" cy="4104456"/>
          </a:xfrm>
        </p:spPr>
        <p:txBody>
          <a:bodyPr/>
          <a:lstStyle/>
          <a:p>
            <a:r>
              <a:rPr lang="en-US" dirty="0"/>
              <a:t>En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lapso</a:t>
            </a:r>
            <a:r>
              <a:rPr lang="en-US" dirty="0"/>
              <a:t> de </a:t>
            </a:r>
            <a:r>
              <a:rPr lang="en-US" dirty="0" err="1"/>
              <a:t>tiempo</a:t>
            </a:r>
            <a:r>
              <a:rPr lang="en-US" dirty="0"/>
              <a:t> </a:t>
            </a:r>
            <a:r>
              <a:rPr lang="en-US" dirty="0" err="1"/>
              <a:t>definido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un </a:t>
            </a:r>
            <a:r>
              <a:rPr lang="en-US" dirty="0" err="1"/>
              <a:t>pulso</a:t>
            </a:r>
            <a:r>
              <a:rPr lang="en-US" dirty="0"/>
              <a:t> de </a:t>
            </a:r>
            <a:r>
              <a:rPr lang="en-US" dirty="0" err="1"/>
              <a:t>reloj</a:t>
            </a:r>
            <a:r>
              <a:rPr lang="en-US" dirty="0"/>
              <a:t>, la UC </a:t>
            </a:r>
            <a:r>
              <a:rPr lang="en-US" dirty="0" err="1"/>
              <a:t>activa</a:t>
            </a:r>
            <a:r>
              <a:rPr lang="en-US" dirty="0"/>
              <a:t> </a:t>
            </a:r>
            <a:r>
              <a:rPr lang="en-US" dirty="0" err="1"/>
              <a:t>unas</a:t>
            </a:r>
            <a:r>
              <a:rPr lang="en-US" dirty="0"/>
              <a:t> </a:t>
            </a:r>
            <a:r>
              <a:rPr lang="en-US" dirty="0" err="1"/>
              <a:t>señales</a:t>
            </a:r>
            <a:r>
              <a:rPr lang="en-US" dirty="0"/>
              <a:t> y </a:t>
            </a:r>
            <a:r>
              <a:rPr lang="en-US" dirty="0" err="1"/>
              <a:t>apaga</a:t>
            </a:r>
            <a:r>
              <a:rPr lang="en-US" dirty="0"/>
              <a:t> el </a:t>
            </a:r>
            <a:r>
              <a:rPr lang="en-US" dirty="0" err="1"/>
              <a:t>resto</a:t>
            </a:r>
            <a:r>
              <a:rPr lang="en-US" dirty="0"/>
              <a:t>.</a:t>
            </a:r>
            <a:endParaRPr lang="es-NI" dirty="0"/>
          </a:p>
        </p:txBody>
      </p:sp>
      <p:sp>
        <p:nvSpPr>
          <p:cNvPr id="4" name="3 Rectángulo redondeado"/>
          <p:cNvSpPr/>
          <p:nvPr/>
        </p:nvSpPr>
        <p:spPr>
          <a:xfrm>
            <a:off x="3762160" y="2888940"/>
            <a:ext cx="2520280" cy="1728192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Unidad</a:t>
            </a:r>
            <a:r>
              <a:rPr lang="en-US" dirty="0"/>
              <a:t> de Control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Caja</a:t>
            </a:r>
            <a:r>
              <a:rPr lang="en-US" dirty="0"/>
              <a:t> </a:t>
            </a:r>
            <a:r>
              <a:rPr lang="en-US" dirty="0" err="1"/>
              <a:t>negra</a:t>
            </a:r>
            <a:r>
              <a:rPr lang="en-US" dirty="0"/>
              <a:t>)</a:t>
            </a:r>
            <a:endParaRPr lang="es-NI" dirty="0"/>
          </a:p>
        </p:txBody>
      </p:sp>
      <p:sp>
        <p:nvSpPr>
          <p:cNvPr id="5" name="4 Elipse"/>
          <p:cNvSpPr/>
          <p:nvPr/>
        </p:nvSpPr>
        <p:spPr>
          <a:xfrm>
            <a:off x="1018952" y="2827535"/>
            <a:ext cx="1977755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Estado de la </a:t>
            </a:r>
            <a:r>
              <a:rPr lang="en-US" dirty="0" err="1"/>
              <a:t>Máquina</a:t>
            </a:r>
            <a:endParaRPr lang="es-NI" dirty="0"/>
          </a:p>
        </p:txBody>
      </p:sp>
      <p:sp>
        <p:nvSpPr>
          <p:cNvPr id="6" name="5 Elipse"/>
          <p:cNvSpPr/>
          <p:nvPr/>
        </p:nvSpPr>
        <p:spPr>
          <a:xfrm>
            <a:off x="946944" y="3866227"/>
            <a:ext cx="1977755" cy="93610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Instrucción</a:t>
            </a:r>
            <a:endParaRPr lang="es-NI" dirty="0"/>
          </a:p>
        </p:txBody>
      </p:sp>
      <p:sp>
        <p:nvSpPr>
          <p:cNvPr id="7" name="6 Flecha derecha"/>
          <p:cNvSpPr/>
          <p:nvPr/>
        </p:nvSpPr>
        <p:spPr>
          <a:xfrm>
            <a:off x="6391941" y="2894119"/>
            <a:ext cx="1800200" cy="1440160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Señales</a:t>
            </a:r>
            <a:r>
              <a:rPr lang="en-US" dirty="0"/>
              <a:t> de Control</a:t>
            </a:r>
            <a:endParaRPr lang="es-NI" dirty="0"/>
          </a:p>
        </p:txBody>
      </p:sp>
      <p:cxnSp>
        <p:nvCxnSpPr>
          <p:cNvPr id="8" name="7 Conector recto de flecha"/>
          <p:cNvCxnSpPr>
            <a:stCxn id="5" idx="6"/>
          </p:cNvCxnSpPr>
          <p:nvPr/>
        </p:nvCxnSpPr>
        <p:spPr>
          <a:xfrm>
            <a:off x="2996707" y="3295586"/>
            <a:ext cx="765455" cy="133415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 de flecha"/>
          <p:cNvCxnSpPr>
            <a:stCxn id="6" idx="6"/>
          </p:cNvCxnSpPr>
          <p:nvPr/>
        </p:nvCxnSpPr>
        <p:spPr>
          <a:xfrm flipV="1">
            <a:off x="2924699" y="4043658"/>
            <a:ext cx="837463" cy="290623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http://image.made-in-china.com/2f0j00BvNairAgnDcH/Metal-Wall-Clock-AR-MW-10012-01-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687" y="5013176"/>
            <a:ext cx="1181226" cy="1181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10 Conector recto de flecha"/>
          <p:cNvCxnSpPr>
            <a:stCxn id="10" idx="0"/>
          </p:cNvCxnSpPr>
          <p:nvPr/>
        </p:nvCxnSpPr>
        <p:spPr>
          <a:xfrm flipV="1">
            <a:off x="5022300" y="4617133"/>
            <a:ext cx="0" cy="396044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3206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3" y="476672"/>
            <a:ext cx="7992889" cy="1202485"/>
          </a:xfrm>
        </p:spPr>
        <p:txBody>
          <a:bodyPr>
            <a:normAutofit/>
          </a:bodyPr>
          <a:lstStyle/>
          <a:p>
            <a:r>
              <a:rPr lang="en-US" sz="3600" dirty="0" err="1"/>
              <a:t>Unidad</a:t>
            </a:r>
            <a:r>
              <a:rPr lang="en-US" sz="3600" dirty="0"/>
              <a:t> de Control </a:t>
            </a:r>
            <a:r>
              <a:rPr lang="en-US" sz="3600" dirty="0" err="1"/>
              <a:t>Microprogramada</a:t>
            </a:r>
            <a:endParaRPr lang="es-NI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556792"/>
            <a:ext cx="7704856" cy="4608512"/>
          </a:xfrm>
        </p:spPr>
        <p:txBody>
          <a:bodyPr>
            <a:normAutofit/>
          </a:bodyPr>
          <a:lstStyle/>
          <a:p>
            <a:r>
              <a:rPr lang="en-US" dirty="0"/>
              <a:t>Si </a:t>
            </a:r>
            <a:r>
              <a:rPr lang="en-US" dirty="0" err="1"/>
              <a:t>organizamos</a:t>
            </a:r>
            <a:r>
              <a:rPr lang="en-US" dirty="0"/>
              <a:t>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señales</a:t>
            </a:r>
            <a:r>
              <a:rPr lang="en-US" dirty="0"/>
              <a:t> de control con </a:t>
            </a:r>
            <a:r>
              <a:rPr lang="en-US" dirty="0" err="1"/>
              <a:t>sus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en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paso</a:t>
            </a:r>
            <a:r>
              <a:rPr lang="en-US" dirty="0"/>
              <a:t> se control: </a:t>
            </a:r>
            <a:r>
              <a:rPr lang="en-US" dirty="0" err="1"/>
              <a:t>forman</a:t>
            </a:r>
            <a:r>
              <a:rPr lang="en-US" dirty="0"/>
              <a:t> </a:t>
            </a:r>
            <a:r>
              <a:rPr lang="en-US" dirty="0" err="1"/>
              <a:t>matriz</a:t>
            </a:r>
            <a:r>
              <a:rPr lang="en-US" dirty="0"/>
              <a:t> con </a:t>
            </a:r>
            <a:r>
              <a:rPr lang="en-US" dirty="0" err="1"/>
              <a:t>patrón</a:t>
            </a:r>
            <a:r>
              <a:rPr lang="en-US" dirty="0"/>
              <a:t> </a:t>
            </a:r>
            <a:r>
              <a:rPr lang="en-US" dirty="0" err="1"/>
              <a:t>binario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 lo </a:t>
            </a:r>
            <a:r>
              <a:rPr lang="en-US" dirty="0" err="1"/>
              <a:t>almacenamos</a:t>
            </a:r>
            <a:r>
              <a:rPr lang="en-US" dirty="0"/>
              <a:t> en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memoria</a:t>
            </a:r>
            <a:r>
              <a:rPr lang="en-US" dirty="0"/>
              <a:t>,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palabra</a:t>
            </a:r>
            <a:r>
              <a:rPr lang="en-US" dirty="0"/>
              <a:t> de </a:t>
            </a:r>
            <a:r>
              <a:rPr lang="en-US" dirty="0" err="1"/>
              <a:t>memoria</a:t>
            </a:r>
            <a:r>
              <a:rPr lang="en-US" dirty="0"/>
              <a:t> </a:t>
            </a:r>
            <a:r>
              <a:rPr lang="en-US" dirty="0" err="1"/>
              <a:t>corresponde</a:t>
            </a:r>
            <a:r>
              <a:rPr lang="en-US" dirty="0"/>
              <a:t> a los </a:t>
            </a:r>
            <a:r>
              <a:rPr lang="en-US" dirty="0" err="1"/>
              <a:t>valores</a:t>
            </a:r>
            <a:r>
              <a:rPr lang="en-US" dirty="0"/>
              <a:t> de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señales</a:t>
            </a:r>
            <a:r>
              <a:rPr lang="en-US" dirty="0"/>
              <a:t> en un </a:t>
            </a:r>
            <a:r>
              <a:rPr lang="en-US" dirty="0" err="1"/>
              <a:t>paso</a:t>
            </a:r>
            <a:r>
              <a:rPr lang="en-US" dirty="0"/>
              <a:t>: </a:t>
            </a:r>
            <a:r>
              <a:rPr lang="en-US" b="1" dirty="0" err="1"/>
              <a:t>Palabra</a:t>
            </a:r>
            <a:r>
              <a:rPr lang="en-US" b="1" dirty="0"/>
              <a:t> de control </a:t>
            </a:r>
            <a:r>
              <a:rPr lang="en-US" dirty="0"/>
              <a:t>(</a:t>
            </a:r>
            <a:r>
              <a:rPr lang="en-US" dirty="0" err="1"/>
              <a:t>cw</a:t>
            </a:r>
            <a:r>
              <a:rPr lang="en-US" dirty="0"/>
              <a:t>).</a:t>
            </a:r>
          </a:p>
          <a:p>
            <a:r>
              <a:rPr lang="en-US" dirty="0"/>
              <a:t>Tal </a:t>
            </a:r>
            <a:r>
              <a:rPr lang="en-US" dirty="0" err="1"/>
              <a:t>memoria</a:t>
            </a:r>
            <a:r>
              <a:rPr lang="en-US" dirty="0"/>
              <a:t> </a:t>
            </a:r>
            <a:r>
              <a:rPr lang="en-US" dirty="0" err="1"/>
              <a:t>sería</a:t>
            </a:r>
            <a:r>
              <a:rPr lang="en-US" dirty="0"/>
              <a:t> la base para </a:t>
            </a:r>
            <a:r>
              <a:rPr lang="en-US" dirty="0" err="1"/>
              <a:t>implementar</a:t>
            </a:r>
            <a:r>
              <a:rPr lang="en-US" dirty="0"/>
              <a:t> la UC: </a:t>
            </a:r>
            <a:r>
              <a:rPr lang="en-US" b="1" dirty="0" err="1"/>
              <a:t>Memoria</a:t>
            </a:r>
            <a:r>
              <a:rPr lang="en-US" b="1" dirty="0"/>
              <a:t> de Control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s-NI" dirty="0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749425" y="428625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749426" y="4387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852936"/>
            <a:ext cx="7272808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10818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3" y="476672"/>
            <a:ext cx="7992889" cy="1202485"/>
          </a:xfrm>
        </p:spPr>
        <p:txBody>
          <a:bodyPr>
            <a:normAutofit/>
          </a:bodyPr>
          <a:lstStyle/>
          <a:p>
            <a:r>
              <a:rPr lang="en-US" sz="3600" dirty="0" err="1"/>
              <a:t>Unidad</a:t>
            </a:r>
            <a:r>
              <a:rPr lang="en-US" sz="3600" dirty="0"/>
              <a:t> de Control </a:t>
            </a:r>
            <a:r>
              <a:rPr lang="en-US" sz="3600" dirty="0" err="1"/>
              <a:t>Microprogramada</a:t>
            </a:r>
            <a:endParaRPr lang="es-NI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412776"/>
            <a:ext cx="7704856" cy="4608512"/>
          </a:xfrm>
        </p:spPr>
        <p:txBody>
          <a:bodyPr>
            <a:normAutofit/>
          </a:bodyPr>
          <a:lstStyle/>
          <a:p>
            <a:r>
              <a:rPr lang="en-US" dirty="0"/>
              <a:t>Los </a:t>
            </a:r>
            <a:r>
              <a:rPr lang="en-US" dirty="0" err="1"/>
              <a:t>pasos</a:t>
            </a:r>
            <a:r>
              <a:rPr lang="en-US" dirty="0"/>
              <a:t> de control para </a:t>
            </a:r>
            <a:r>
              <a:rPr lang="en-US" dirty="0" err="1"/>
              <a:t>ejecución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instrucción</a:t>
            </a:r>
            <a:r>
              <a:rPr lang="en-US" dirty="0"/>
              <a:t> se </a:t>
            </a:r>
            <a:r>
              <a:rPr lang="en-US" dirty="0" err="1"/>
              <a:t>almacenarían</a:t>
            </a:r>
            <a:r>
              <a:rPr lang="en-US" dirty="0"/>
              <a:t> en </a:t>
            </a:r>
            <a:r>
              <a:rPr lang="en-US" b="1" dirty="0" err="1"/>
              <a:t>cw</a:t>
            </a:r>
            <a:r>
              <a:rPr lang="en-US" dirty="0"/>
              <a:t> </a:t>
            </a:r>
            <a:r>
              <a:rPr lang="en-US" dirty="0" err="1"/>
              <a:t>contiguas</a:t>
            </a:r>
            <a:r>
              <a:rPr lang="en-US" dirty="0"/>
              <a:t> en la </a:t>
            </a:r>
            <a:r>
              <a:rPr lang="en-US" dirty="0" err="1"/>
              <a:t>memoria</a:t>
            </a:r>
            <a:r>
              <a:rPr lang="en-US" dirty="0"/>
              <a:t>.</a:t>
            </a:r>
          </a:p>
          <a:p>
            <a:r>
              <a:rPr lang="en-US" dirty="0" err="1"/>
              <a:t>Conjunto</a:t>
            </a:r>
            <a:r>
              <a:rPr lang="en-US" dirty="0"/>
              <a:t> de </a:t>
            </a:r>
            <a:r>
              <a:rPr lang="en-US" dirty="0" err="1"/>
              <a:t>cw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instrucción</a:t>
            </a:r>
            <a:r>
              <a:rPr lang="en-US" dirty="0"/>
              <a:t>: </a:t>
            </a:r>
            <a:r>
              <a:rPr lang="en-US" b="1" dirty="0" err="1"/>
              <a:t>Microprograma</a:t>
            </a:r>
            <a:r>
              <a:rPr lang="en-US" dirty="0"/>
              <a:t> de la </a:t>
            </a:r>
            <a:r>
              <a:rPr lang="en-US" dirty="0" err="1"/>
              <a:t>instrucción</a:t>
            </a:r>
            <a:r>
              <a:rPr lang="en-US" dirty="0"/>
              <a:t>. </a:t>
            </a:r>
            <a:r>
              <a:rPr lang="en-US" dirty="0" err="1"/>
              <a:t>Ejemplo</a:t>
            </a:r>
            <a:r>
              <a:rPr lang="en-US" dirty="0"/>
              <a:t>: ADD R1, R2</a:t>
            </a:r>
          </a:p>
          <a:p>
            <a:endParaRPr lang="en-US" dirty="0"/>
          </a:p>
          <a:p>
            <a:endParaRPr lang="en-US" dirty="0"/>
          </a:p>
          <a:p>
            <a:endParaRPr lang="es-NI" dirty="0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749425" y="428625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749426" y="4387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4" y="3068960"/>
            <a:ext cx="6794107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43094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3" y="476672"/>
            <a:ext cx="7992889" cy="1202485"/>
          </a:xfrm>
        </p:spPr>
        <p:txBody>
          <a:bodyPr>
            <a:normAutofit/>
          </a:bodyPr>
          <a:lstStyle/>
          <a:p>
            <a:r>
              <a:rPr lang="en-US" sz="3600" dirty="0" err="1"/>
              <a:t>Unidad</a:t>
            </a:r>
            <a:r>
              <a:rPr lang="en-US" sz="3600" dirty="0"/>
              <a:t> de Control </a:t>
            </a:r>
            <a:r>
              <a:rPr lang="en-US" sz="3600" dirty="0" err="1"/>
              <a:t>Microprogramada</a:t>
            </a:r>
            <a:endParaRPr lang="es-NI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556792"/>
            <a:ext cx="7704856" cy="4608512"/>
          </a:xfrm>
        </p:spPr>
        <p:txBody>
          <a:bodyPr>
            <a:normAutofit/>
          </a:bodyPr>
          <a:lstStyle/>
          <a:p>
            <a:r>
              <a:rPr lang="en-US" dirty="0" err="1"/>
              <a:t>Entonces</a:t>
            </a:r>
            <a:r>
              <a:rPr lang="en-US" dirty="0"/>
              <a:t>, para </a:t>
            </a:r>
            <a:r>
              <a:rPr lang="en-US" dirty="0" err="1"/>
              <a:t>implementar</a:t>
            </a:r>
            <a:r>
              <a:rPr lang="en-US" dirty="0"/>
              <a:t> la UC solo se </a:t>
            </a:r>
            <a:r>
              <a:rPr lang="en-US" dirty="0" err="1"/>
              <a:t>requiere</a:t>
            </a:r>
            <a:r>
              <a:rPr lang="en-US" dirty="0"/>
              <a:t> leer la </a:t>
            </a:r>
            <a:r>
              <a:rPr lang="en-US" dirty="0" err="1"/>
              <a:t>palabra</a:t>
            </a:r>
            <a:r>
              <a:rPr lang="en-US" dirty="0"/>
              <a:t> de control </a:t>
            </a:r>
            <a:r>
              <a:rPr lang="en-US" dirty="0" err="1"/>
              <a:t>adecuada</a:t>
            </a:r>
            <a:r>
              <a:rPr lang="en-US" dirty="0"/>
              <a:t> en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paso</a:t>
            </a:r>
            <a:r>
              <a:rPr lang="en-US" dirty="0"/>
              <a:t> y </a:t>
            </a:r>
            <a:r>
              <a:rPr lang="en-US" dirty="0" err="1"/>
              <a:t>poner</a:t>
            </a:r>
            <a:r>
              <a:rPr lang="en-US" dirty="0"/>
              <a:t> los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correspondientes</a:t>
            </a:r>
            <a:r>
              <a:rPr lang="en-US" dirty="0"/>
              <a:t> en la </a:t>
            </a:r>
            <a:r>
              <a:rPr lang="en-US" dirty="0" err="1"/>
              <a:t>salida</a:t>
            </a:r>
            <a:r>
              <a:rPr lang="en-US" dirty="0"/>
              <a:t>.</a:t>
            </a:r>
          </a:p>
          <a:p>
            <a:endParaRPr lang="en-US" sz="1400" dirty="0"/>
          </a:p>
          <a:p>
            <a:r>
              <a:rPr lang="en-US" dirty="0"/>
              <a:t>Solo </a:t>
            </a:r>
            <a:r>
              <a:rPr lang="en-US" dirty="0" err="1"/>
              <a:t>necesitamos</a:t>
            </a:r>
            <a:r>
              <a:rPr lang="en-US" dirty="0"/>
              <a:t> saber la </a:t>
            </a:r>
            <a:r>
              <a:rPr lang="en-US" dirty="0" err="1"/>
              <a:t>dirección</a:t>
            </a:r>
            <a:r>
              <a:rPr lang="en-US" dirty="0"/>
              <a:t> de </a:t>
            </a:r>
            <a:r>
              <a:rPr lang="en-US" dirty="0" err="1"/>
              <a:t>memoria</a:t>
            </a:r>
            <a:r>
              <a:rPr lang="en-US" dirty="0"/>
              <a:t> en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paso</a:t>
            </a:r>
            <a:r>
              <a:rPr lang="en-US" dirty="0"/>
              <a:t>:  </a:t>
            </a:r>
            <a:r>
              <a:rPr lang="en-US" dirty="0" err="1"/>
              <a:t>Secuenciador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lleve</a:t>
            </a:r>
            <a:r>
              <a:rPr lang="en-US" dirty="0"/>
              <a:t> el control del </a:t>
            </a:r>
            <a:r>
              <a:rPr lang="en-US" dirty="0" err="1"/>
              <a:t>microprograma</a:t>
            </a:r>
            <a:r>
              <a:rPr lang="en-US" dirty="0"/>
              <a:t>: </a:t>
            </a:r>
            <a:r>
              <a:rPr lang="en-US" dirty="0" err="1"/>
              <a:t>microPC</a:t>
            </a:r>
            <a:endParaRPr lang="en-US" dirty="0"/>
          </a:p>
          <a:p>
            <a:endParaRPr lang="en-US" sz="1400" dirty="0"/>
          </a:p>
          <a:p>
            <a:r>
              <a:rPr lang="en-US" dirty="0"/>
              <a:t>La </a:t>
            </a:r>
            <a:r>
              <a:rPr lang="en-US" dirty="0" err="1"/>
              <a:t>Fase</a:t>
            </a:r>
            <a:r>
              <a:rPr lang="en-US" dirty="0"/>
              <a:t> FETCH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única</a:t>
            </a:r>
            <a:r>
              <a:rPr lang="en-US" dirty="0"/>
              <a:t> y solo se </a:t>
            </a:r>
            <a:r>
              <a:rPr lang="en-US" dirty="0" err="1"/>
              <a:t>almacena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de la </a:t>
            </a:r>
            <a:r>
              <a:rPr lang="en-US" dirty="0" err="1"/>
              <a:t>dirección</a:t>
            </a:r>
            <a:r>
              <a:rPr lang="en-US" dirty="0"/>
              <a:t> 0 de la </a:t>
            </a:r>
            <a:r>
              <a:rPr lang="en-US" dirty="0" err="1"/>
              <a:t>memoria</a:t>
            </a:r>
            <a:r>
              <a:rPr lang="en-US" dirty="0"/>
              <a:t> de control.</a:t>
            </a:r>
          </a:p>
          <a:p>
            <a:endParaRPr lang="en-US" sz="1600" dirty="0"/>
          </a:p>
          <a:p>
            <a:r>
              <a:rPr lang="en-US" dirty="0"/>
              <a:t>El </a:t>
            </a:r>
            <a:r>
              <a:rPr lang="en-US" dirty="0" err="1"/>
              <a:t>microPC</a:t>
            </a:r>
            <a:r>
              <a:rPr lang="en-US" dirty="0"/>
              <a:t> (</a:t>
            </a:r>
            <a:r>
              <a:rPr lang="en-US" dirty="0" err="1">
                <a:latin typeface="Symbol" pitchFamily="18" charset="2"/>
              </a:rPr>
              <a:t>m</a:t>
            </a:r>
            <a:r>
              <a:rPr lang="en-US" dirty="0" err="1"/>
              <a:t>PC</a:t>
            </a:r>
            <a:r>
              <a:rPr lang="en-US" dirty="0"/>
              <a:t>) </a:t>
            </a:r>
            <a:r>
              <a:rPr lang="en-US" dirty="0" err="1"/>
              <a:t>inicia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tanto</a:t>
            </a:r>
            <a:r>
              <a:rPr lang="en-US" dirty="0"/>
              <a:t> en 0.</a:t>
            </a:r>
            <a:endParaRPr lang="es-NI" dirty="0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749425" y="428625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749426" y="4387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8288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3" y="476672"/>
            <a:ext cx="7992889" cy="1202485"/>
          </a:xfrm>
        </p:spPr>
        <p:txBody>
          <a:bodyPr>
            <a:normAutofit/>
          </a:bodyPr>
          <a:lstStyle/>
          <a:p>
            <a:r>
              <a:rPr lang="en-US" sz="3600" dirty="0" err="1"/>
              <a:t>Unidad</a:t>
            </a:r>
            <a:r>
              <a:rPr lang="en-US" sz="3600" dirty="0"/>
              <a:t> de Control </a:t>
            </a:r>
            <a:r>
              <a:rPr lang="en-US" sz="3600" dirty="0" err="1"/>
              <a:t>Microprogramada</a:t>
            </a:r>
            <a:endParaRPr lang="es-NI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556792"/>
            <a:ext cx="3312368" cy="46085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pulso</a:t>
            </a:r>
            <a:r>
              <a:rPr lang="en-US" dirty="0"/>
              <a:t> de </a:t>
            </a:r>
            <a:r>
              <a:rPr lang="en-US" dirty="0" err="1"/>
              <a:t>reloj</a:t>
            </a:r>
            <a:r>
              <a:rPr lang="en-US" dirty="0"/>
              <a:t> se </a:t>
            </a:r>
            <a:r>
              <a:rPr lang="en-US" dirty="0" err="1"/>
              <a:t>incrementa</a:t>
            </a:r>
            <a:r>
              <a:rPr lang="en-US" dirty="0"/>
              <a:t> el </a:t>
            </a:r>
            <a:r>
              <a:rPr lang="en-US" dirty="0" err="1">
                <a:latin typeface="Symbol" pitchFamily="18" charset="2"/>
              </a:rPr>
              <a:t>m</a:t>
            </a:r>
            <a:r>
              <a:rPr lang="en-US" dirty="0" err="1"/>
              <a:t>PC</a:t>
            </a:r>
            <a:r>
              <a:rPr lang="en-US" dirty="0"/>
              <a:t> para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apunte</a:t>
            </a:r>
            <a:r>
              <a:rPr lang="en-US" dirty="0"/>
              <a:t> a la </a:t>
            </a:r>
            <a:r>
              <a:rPr lang="en-US" dirty="0" err="1"/>
              <a:t>próxima</a:t>
            </a:r>
            <a:r>
              <a:rPr lang="en-US" dirty="0"/>
              <a:t> </a:t>
            </a:r>
            <a:r>
              <a:rPr lang="en-US" dirty="0" err="1"/>
              <a:t>instrucción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Al final de la Fetch, el </a:t>
            </a:r>
            <a:r>
              <a:rPr lang="en-US" dirty="0" err="1"/>
              <a:t>decodificador</a:t>
            </a:r>
            <a:r>
              <a:rPr lang="en-US" dirty="0"/>
              <a:t> </a:t>
            </a:r>
            <a:r>
              <a:rPr lang="en-US" dirty="0" err="1"/>
              <a:t>carga</a:t>
            </a:r>
            <a:r>
              <a:rPr lang="en-US" dirty="0"/>
              <a:t> en el </a:t>
            </a:r>
            <a:r>
              <a:rPr lang="en-US" dirty="0" err="1">
                <a:latin typeface="Symbol" pitchFamily="18" charset="2"/>
              </a:rPr>
              <a:t>m</a:t>
            </a:r>
            <a:r>
              <a:rPr lang="en-US" dirty="0" err="1"/>
              <a:t>PC</a:t>
            </a:r>
            <a:r>
              <a:rPr lang="en-US" dirty="0"/>
              <a:t>  la </a:t>
            </a:r>
            <a:r>
              <a:rPr lang="en-US" dirty="0" err="1"/>
              <a:t>dirección</a:t>
            </a:r>
            <a:r>
              <a:rPr lang="en-US" dirty="0"/>
              <a:t> </a:t>
            </a:r>
            <a:r>
              <a:rPr lang="en-US" dirty="0" err="1"/>
              <a:t>inicial</a:t>
            </a:r>
            <a:r>
              <a:rPr lang="en-US" dirty="0"/>
              <a:t> de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microprograma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La </a:t>
            </a:r>
            <a:r>
              <a:rPr lang="en-US" dirty="0" err="1"/>
              <a:t>cw</a:t>
            </a:r>
            <a:r>
              <a:rPr lang="en-US" dirty="0"/>
              <a:t> </a:t>
            </a:r>
            <a:r>
              <a:rPr lang="en-US" dirty="0" err="1"/>
              <a:t>provee</a:t>
            </a:r>
            <a:r>
              <a:rPr lang="en-US" dirty="0"/>
              <a:t> los </a:t>
            </a:r>
            <a:r>
              <a:rPr lang="en-US" dirty="0" err="1"/>
              <a:t>valores</a:t>
            </a:r>
            <a:r>
              <a:rPr lang="en-US" dirty="0"/>
              <a:t> de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señales</a:t>
            </a:r>
            <a:r>
              <a:rPr lang="en-US" dirty="0"/>
              <a:t> de control a la </a:t>
            </a:r>
            <a:r>
              <a:rPr lang="en-US" dirty="0" err="1"/>
              <a:t>salida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749425" y="428625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749426" y="4387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48338"/>
              </p:ext>
            </p:extLst>
          </p:nvPr>
        </p:nvGraphicFramePr>
        <p:xfrm>
          <a:off x="4427986" y="1412777"/>
          <a:ext cx="3656297" cy="4596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7" name="Visio" r:id="rId3" imgW="2029633" imgH="2562146" progId="Visio.Drawing.11">
                  <p:embed/>
                </p:oleObj>
              </mc:Choice>
              <mc:Fallback>
                <p:oleObj name="Visio" r:id="rId3" imgW="2029633" imgH="256214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6" y="1412777"/>
                        <a:ext cx="3656297" cy="45969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73011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3" y="476672"/>
            <a:ext cx="7992889" cy="1202485"/>
          </a:xfrm>
        </p:spPr>
        <p:txBody>
          <a:bodyPr>
            <a:normAutofit/>
          </a:bodyPr>
          <a:lstStyle/>
          <a:p>
            <a:r>
              <a:rPr lang="en-US" sz="3600" dirty="0" err="1"/>
              <a:t>Unidad</a:t>
            </a:r>
            <a:r>
              <a:rPr lang="en-US" sz="3600" dirty="0"/>
              <a:t> de Control </a:t>
            </a:r>
            <a:r>
              <a:rPr lang="en-US" sz="3600" dirty="0" err="1"/>
              <a:t>Microprogramada</a:t>
            </a:r>
            <a:endParaRPr lang="es-NI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556792"/>
            <a:ext cx="3456384" cy="46085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Los </a:t>
            </a:r>
            <a:r>
              <a:rPr lang="en-US" dirty="0" err="1"/>
              <a:t>Códigos</a:t>
            </a:r>
            <a:r>
              <a:rPr lang="en-US" dirty="0"/>
              <a:t> y Banderas de </a:t>
            </a:r>
            <a:r>
              <a:rPr lang="en-US" dirty="0" err="1"/>
              <a:t>condición</a:t>
            </a:r>
            <a:r>
              <a:rPr lang="en-US" dirty="0"/>
              <a:t>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flujo</a:t>
            </a:r>
            <a:r>
              <a:rPr lang="en-US" dirty="0"/>
              <a:t> de </a:t>
            </a:r>
            <a:r>
              <a:rPr lang="en-US" dirty="0" err="1"/>
              <a:t>programa</a:t>
            </a:r>
            <a:r>
              <a:rPr lang="en-US" dirty="0"/>
              <a:t>: </a:t>
            </a:r>
            <a:r>
              <a:rPr lang="en-US" b="1" dirty="0" err="1"/>
              <a:t>BRx</a:t>
            </a:r>
            <a:endParaRPr lang="en-US" b="1" dirty="0"/>
          </a:p>
          <a:p>
            <a:endParaRPr lang="en-US" b="1" dirty="0"/>
          </a:p>
          <a:p>
            <a:r>
              <a:rPr lang="en-US" dirty="0" err="1"/>
              <a:t>Requerida</a:t>
            </a:r>
            <a:r>
              <a:rPr lang="en-US" dirty="0"/>
              <a:t> la </a:t>
            </a:r>
            <a:r>
              <a:rPr lang="en-US" dirty="0" err="1"/>
              <a:t>capacidad</a:t>
            </a:r>
            <a:r>
              <a:rPr lang="en-US" dirty="0"/>
              <a:t> de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>
                <a:latin typeface="Symbol" pitchFamily="18" charset="2"/>
              </a:rPr>
              <a:t>m</a:t>
            </a:r>
            <a:r>
              <a:rPr lang="en-US" dirty="0" err="1"/>
              <a:t>PC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la </a:t>
            </a:r>
            <a:r>
              <a:rPr lang="en-US" dirty="0" err="1"/>
              <a:t>ejecución</a:t>
            </a:r>
            <a:r>
              <a:rPr lang="en-US" dirty="0"/>
              <a:t> de un </a:t>
            </a:r>
            <a:r>
              <a:rPr lang="en-US" dirty="0" err="1">
                <a:latin typeface="Symbol" pitchFamily="18" charset="2"/>
              </a:rPr>
              <a:t>m</a:t>
            </a:r>
            <a:r>
              <a:rPr lang="en-US" dirty="0" err="1"/>
              <a:t>Progarma</a:t>
            </a:r>
            <a:r>
              <a:rPr lang="en-US" dirty="0"/>
              <a:t>: </a:t>
            </a:r>
            <a:r>
              <a:rPr lang="en-US" dirty="0" err="1"/>
              <a:t>Microrramificación</a:t>
            </a:r>
            <a:r>
              <a:rPr lang="en-US" dirty="0"/>
              <a:t> (</a:t>
            </a:r>
            <a:r>
              <a:rPr lang="en-US" dirty="0" err="1">
                <a:latin typeface="Symbol" pitchFamily="18" charset="2"/>
              </a:rPr>
              <a:t>m</a:t>
            </a:r>
            <a:r>
              <a:rPr lang="en-US" dirty="0" err="1"/>
              <a:t>Br</a:t>
            </a:r>
            <a:r>
              <a:rPr lang="en-US" dirty="0"/>
              <a:t>).</a:t>
            </a:r>
          </a:p>
          <a:p>
            <a:endParaRPr lang="en-US" dirty="0"/>
          </a:p>
          <a:p>
            <a:pPr lvl="0"/>
            <a:r>
              <a:rPr lang="es-NI" dirty="0"/>
              <a:t>Al final de la instrucción, la señal </a:t>
            </a:r>
            <a:r>
              <a:rPr lang="es-NI" dirty="0" err="1"/>
              <a:t>End</a:t>
            </a:r>
            <a:r>
              <a:rPr lang="es-NI" dirty="0"/>
              <a:t> poner el </a:t>
            </a:r>
            <a:r>
              <a:rPr lang="es-NI" dirty="0">
                <a:sym typeface="Symbol"/>
              </a:rPr>
              <a:t></a:t>
            </a:r>
            <a:r>
              <a:rPr lang="es-NI" dirty="0"/>
              <a:t>PC a 0.</a:t>
            </a:r>
          </a:p>
          <a:p>
            <a:endParaRPr lang="en-US" dirty="0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749425" y="428625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749426" y="4387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376825"/>
              </p:ext>
            </p:extLst>
          </p:nvPr>
        </p:nvGraphicFramePr>
        <p:xfrm>
          <a:off x="4427986" y="2204864"/>
          <a:ext cx="3840231" cy="3384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6" name="Visio" r:id="rId3" imgW="2899911" imgH="2562146" progId="Visio.Drawing.11">
                  <p:embed/>
                </p:oleObj>
              </mc:Choice>
              <mc:Fallback>
                <p:oleObj name="Visio" r:id="rId3" imgW="2899911" imgH="256214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6" y="2204864"/>
                        <a:ext cx="3840231" cy="33843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56764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3" y="476672"/>
            <a:ext cx="7992889" cy="1202485"/>
          </a:xfrm>
        </p:spPr>
        <p:txBody>
          <a:bodyPr>
            <a:normAutofit/>
          </a:bodyPr>
          <a:lstStyle/>
          <a:p>
            <a:r>
              <a:rPr lang="en-US" sz="3600" dirty="0" err="1"/>
              <a:t>Unidad</a:t>
            </a:r>
            <a:r>
              <a:rPr lang="en-US" sz="3600" dirty="0"/>
              <a:t> de Control </a:t>
            </a:r>
            <a:r>
              <a:rPr lang="en-US" sz="3600" dirty="0" err="1"/>
              <a:t>Microprogramada</a:t>
            </a:r>
            <a:endParaRPr lang="es-NI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556792"/>
            <a:ext cx="7488832" cy="4608512"/>
          </a:xfrm>
        </p:spPr>
        <p:txBody>
          <a:bodyPr>
            <a:normAutofit/>
          </a:bodyPr>
          <a:lstStyle/>
          <a:p>
            <a:pPr lvl="0"/>
            <a:r>
              <a:rPr lang="es-NI" dirty="0"/>
              <a:t>Las </a:t>
            </a:r>
            <a:r>
              <a:rPr lang="es-NI" dirty="0">
                <a:sym typeface="Symbol"/>
              </a:rPr>
              <a:t></a:t>
            </a:r>
            <a:r>
              <a:rPr lang="es-NI" dirty="0"/>
              <a:t>Ramificaciones podrán modificar el valor del </a:t>
            </a:r>
            <a:r>
              <a:rPr lang="es-NI" dirty="0">
                <a:sym typeface="Symbol"/>
              </a:rPr>
              <a:t></a:t>
            </a:r>
            <a:r>
              <a:rPr lang="es-NI" dirty="0"/>
              <a:t>PC, ya sea cargando un nuevo valor o cambiando algunos bits del mismo.</a:t>
            </a:r>
          </a:p>
          <a:p>
            <a:pPr lvl="0"/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, la </a:t>
            </a:r>
            <a:r>
              <a:rPr lang="en-US" dirty="0" err="1"/>
              <a:t>implementación</a:t>
            </a:r>
            <a:r>
              <a:rPr lang="en-US" dirty="0"/>
              <a:t> de BRN:</a:t>
            </a:r>
            <a:endParaRPr lang="es-NI" dirty="0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749425" y="428625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749426" y="4387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7" name="6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103401"/>
              </p:ext>
            </p:extLst>
          </p:nvPr>
        </p:nvGraphicFramePr>
        <p:xfrm>
          <a:off x="2195736" y="3212977"/>
          <a:ext cx="4392488" cy="2969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0" name="Visio" r:id="rId3" imgW="3713651" imgH="2790078" progId="Visio.Drawing.11">
                  <p:embed/>
                </p:oleObj>
              </mc:Choice>
              <mc:Fallback>
                <p:oleObj name="Visio" r:id="rId3" imgW="3713651" imgH="279007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3212977"/>
                        <a:ext cx="4392488" cy="29690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78947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3" y="476672"/>
            <a:ext cx="7992889" cy="1202485"/>
          </a:xfrm>
        </p:spPr>
        <p:txBody>
          <a:bodyPr>
            <a:normAutofit/>
          </a:bodyPr>
          <a:lstStyle/>
          <a:p>
            <a:r>
              <a:rPr lang="en-US" sz="3600" dirty="0" err="1"/>
              <a:t>Unidad</a:t>
            </a:r>
            <a:r>
              <a:rPr lang="en-US" sz="3600" dirty="0"/>
              <a:t> de Control </a:t>
            </a:r>
            <a:r>
              <a:rPr lang="en-US" sz="3600" dirty="0" err="1"/>
              <a:t>Microprogramada</a:t>
            </a:r>
            <a:endParaRPr lang="es-NI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484784"/>
            <a:ext cx="7704856" cy="2016224"/>
          </a:xfrm>
        </p:spPr>
        <p:txBody>
          <a:bodyPr>
            <a:normAutofit/>
          </a:bodyPr>
          <a:lstStyle/>
          <a:p>
            <a:r>
              <a:rPr lang="en-US" dirty="0"/>
              <a:t>Para </a:t>
            </a:r>
            <a:r>
              <a:rPr lang="en-US" dirty="0" err="1"/>
              <a:t>implementar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salto</a:t>
            </a:r>
            <a:r>
              <a:rPr lang="en-US" dirty="0"/>
              <a:t> de la </a:t>
            </a:r>
            <a:r>
              <a:rPr lang="en-US" dirty="0" err="1"/>
              <a:t>dirección</a:t>
            </a:r>
            <a:r>
              <a:rPr lang="en-US" dirty="0"/>
              <a:t> 21</a:t>
            </a:r>
            <a:r>
              <a:rPr lang="en-US" baseline="30000" dirty="0">
                <a:solidFill>
                  <a:srgbClr val="FF0000"/>
                </a:solidFill>
              </a:rPr>
              <a:t>1</a:t>
            </a:r>
            <a:r>
              <a:rPr lang="en-US" dirty="0"/>
              <a:t> a la 24, se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</a:t>
            </a:r>
            <a:r>
              <a:rPr lang="en-US" dirty="0" err="1"/>
              <a:t>algunos</a:t>
            </a:r>
            <a:r>
              <a:rPr lang="en-US" dirty="0"/>
              <a:t> bits del </a:t>
            </a:r>
            <a:r>
              <a:rPr lang="en-US" dirty="0" err="1">
                <a:latin typeface="Symbol" pitchFamily="18" charset="2"/>
              </a:rPr>
              <a:t>m</a:t>
            </a:r>
            <a:r>
              <a:rPr lang="en-US" dirty="0" err="1"/>
              <a:t>PC</a:t>
            </a:r>
            <a:r>
              <a:rPr lang="en-US" dirty="0"/>
              <a:t>.</a:t>
            </a:r>
          </a:p>
          <a:p>
            <a:r>
              <a:rPr lang="en-US" dirty="0" err="1"/>
              <a:t>Nótese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para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modifique</a:t>
            </a:r>
            <a:r>
              <a:rPr lang="en-US" dirty="0"/>
              <a:t> </a:t>
            </a:r>
            <a:r>
              <a:rPr lang="en-US" dirty="0" err="1"/>
              <a:t>correctamente</a:t>
            </a:r>
            <a:r>
              <a:rPr lang="en-US" dirty="0"/>
              <a:t> al </a:t>
            </a:r>
            <a:r>
              <a:rPr lang="en-US" dirty="0" err="1"/>
              <a:t>dirección</a:t>
            </a:r>
            <a:r>
              <a:rPr lang="en-US" dirty="0"/>
              <a:t>, el bit 2 del </a:t>
            </a:r>
            <a:r>
              <a:rPr lang="en-US" dirty="0" err="1">
                <a:latin typeface="Symbol" pitchFamily="18" charset="2"/>
              </a:rPr>
              <a:t>m</a:t>
            </a:r>
            <a:r>
              <a:rPr lang="en-US" dirty="0" err="1"/>
              <a:t>PC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cargarse</a:t>
            </a:r>
            <a:r>
              <a:rPr lang="en-US" dirty="0"/>
              <a:t> con ¬N y el bit 0 del </a:t>
            </a:r>
            <a:r>
              <a:rPr lang="en-US" dirty="0" err="1">
                <a:latin typeface="Symbol" pitchFamily="18" charset="2"/>
              </a:rPr>
              <a:t>m</a:t>
            </a:r>
            <a:r>
              <a:rPr lang="en-US" dirty="0" err="1"/>
              <a:t>PC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cargarse</a:t>
            </a:r>
            <a:r>
              <a:rPr lang="en-US" dirty="0"/>
              <a:t> con N:</a:t>
            </a:r>
          </a:p>
          <a:p>
            <a:endParaRPr lang="es-NI" dirty="0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749425" y="428625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749426" y="4387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827584" y="5517234"/>
            <a:ext cx="655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: </a:t>
            </a:r>
            <a:r>
              <a:rPr lang="en-US" dirty="0" err="1"/>
              <a:t>Cuando</a:t>
            </a:r>
            <a:r>
              <a:rPr lang="en-US" dirty="0"/>
              <a:t> se </a:t>
            </a:r>
            <a:r>
              <a:rPr lang="en-US" dirty="0" err="1"/>
              <a:t>ejecuta</a:t>
            </a:r>
            <a:r>
              <a:rPr lang="en-US" dirty="0"/>
              <a:t> la </a:t>
            </a:r>
            <a:r>
              <a:rPr lang="en-US" dirty="0" err="1">
                <a:latin typeface="Symbol" pitchFamily="18" charset="2"/>
              </a:rPr>
              <a:t>m</a:t>
            </a:r>
            <a:r>
              <a:rPr lang="en-US" dirty="0" err="1"/>
              <a:t>Instrucción</a:t>
            </a:r>
            <a:r>
              <a:rPr lang="en-US" dirty="0"/>
              <a:t> 20 el </a:t>
            </a:r>
            <a:r>
              <a:rPr lang="en-US" dirty="0" err="1">
                <a:latin typeface="Symbol" pitchFamily="18" charset="2"/>
              </a:rPr>
              <a:t>m</a:t>
            </a:r>
            <a:r>
              <a:rPr lang="en-US" dirty="0" err="1"/>
              <a:t>PC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apuntando</a:t>
            </a:r>
            <a:r>
              <a:rPr lang="en-US" dirty="0"/>
              <a:t> a la </a:t>
            </a:r>
            <a:r>
              <a:rPr lang="en-US" dirty="0" err="1"/>
              <a:t>dirección</a:t>
            </a:r>
            <a:r>
              <a:rPr lang="en-US" dirty="0"/>
              <a:t> 21</a:t>
            </a:r>
            <a:endParaRPr lang="es-NI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6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854146"/>
              </p:ext>
            </p:extLst>
          </p:nvPr>
        </p:nvGraphicFramePr>
        <p:xfrm>
          <a:off x="1835696" y="3438402"/>
          <a:ext cx="5184576" cy="2078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4" name="Visio" r:id="rId3" imgW="2788920" imgH="1650492" progId="Visio.Drawing.11">
                  <p:embed/>
                </p:oleObj>
              </mc:Choice>
              <mc:Fallback>
                <p:oleObj name="Visio" r:id="rId3" imgW="2788920" imgH="165049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438402"/>
                        <a:ext cx="5184576" cy="20788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16980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3" y="476672"/>
            <a:ext cx="7992889" cy="1202485"/>
          </a:xfrm>
        </p:spPr>
        <p:txBody>
          <a:bodyPr>
            <a:normAutofit/>
          </a:bodyPr>
          <a:lstStyle/>
          <a:p>
            <a:r>
              <a:rPr lang="en-US" sz="3600" dirty="0" err="1"/>
              <a:t>Unidad</a:t>
            </a:r>
            <a:r>
              <a:rPr lang="en-US" sz="3600" dirty="0"/>
              <a:t> de Control </a:t>
            </a:r>
            <a:r>
              <a:rPr lang="en-US" sz="3600" dirty="0" err="1"/>
              <a:t>Microprogramada</a:t>
            </a:r>
            <a:endParaRPr lang="es-NI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1484784"/>
            <a:ext cx="7704856" cy="165618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Para la </a:t>
            </a:r>
            <a:r>
              <a:rPr lang="en-US" dirty="0" err="1"/>
              <a:t>espera</a:t>
            </a:r>
            <a:r>
              <a:rPr lang="en-US" dirty="0"/>
              <a:t> del 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lectura</a:t>
            </a:r>
            <a:r>
              <a:rPr lang="en-US" dirty="0"/>
              <a:t>, la UC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pausar</a:t>
            </a:r>
            <a:r>
              <a:rPr lang="en-US" dirty="0"/>
              <a:t> el </a:t>
            </a:r>
            <a:r>
              <a:rPr lang="en-US" dirty="0" err="1"/>
              <a:t>secuanciador</a:t>
            </a:r>
            <a:r>
              <a:rPr lang="en-US" dirty="0"/>
              <a:t> </a:t>
            </a:r>
            <a:r>
              <a:rPr lang="en-US" dirty="0" err="1"/>
              <a:t>mientras</a:t>
            </a:r>
            <a:r>
              <a:rPr lang="en-US" dirty="0"/>
              <a:t> </a:t>
            </a:r>
            <a:r>
              <a:rPr lang="en-US" dirty="0" err="1"/>
              <a:t>esté</a:t>
            </a:r>
            <a:r>
              <a:rPr lang="en-US" dirty="0"/>
              <a:t> </a:t>
            </a:r>
            <a:r>
              <a:rPr lang="en-US" dirty="0" err="1"/>
              <a:t>activa</a:t>
            </a:r>
            <a:r>
              <a:rPr lang="en-US" dirty="0"/>
              <a:t> WMFC.</a:t>
            </a:r>
          </a:p>
          <a:p>
            <a:pPr lvl="0"/>
            <a:r>
              <a:rPr lang="en-US" dirty="0"/>
              <a:t>Dos </a:t>
            </a:r>
            <a:r>
              <a:rPr lang="en-US" dirty="0" err="1"/>
              <a:t>enfoques</a:t>
            </a:r>
            <a:r>
              <a:rPr lang="en-US" dirty="0"/>
              <a:t>:</a:t>
            </a:r>
          </a:p>
          <a:p>
            <a:pPr lvl="1"/>
            <a:r>
              <a:rPr lang="es-NI" sz="1900" dirty="0" err="1"/>
              <a:t>Polling</a:t>
            </a:r>
            <a:r>
              <a:rPr lang="es-NI" sz="1900" dirty="0"/>
              <a:t> de la señal MFC (Ciclo que verifica el estado de la señal)</a:t>
            </a:r>
          </a:p>
          <a:p>
            <a:pPr lvl="1"/>
            <a:r>
              <a:rPr lang="es-NI" sz="1900" dirty="0"/>
              <a:t>Hardware de Inhibición de </a:t>
            </a:r>
            <a:r>
              <a:rPr lang="es-NI" sz="1900" dirty="0" err="1"/>
              <a:t>incrementador</a:t>
            </a:r>
            <a:r>
              <a:rPr lang="es-NI" sz="1900" dirty="0"/>
              <a:t> del </a:t>
            </a:r>
            <a:r>
              <a:rPr lang="es-NI" sz="1900" dirty="0" err="1">
                <a:latin typeface="Symbol" pitchFamily="18" charset="2"/>
              </a:rPr>
              <a:t>m</a:t>
            </a:r>
            <a:r>
              <a:rPr lang="es-NI" sz="1900" dirty="0" err="1"/>
              <a:t>PC</a:t>
            </a:r>
            <a:endParaRPr lang="es-NI" sz="1900" dirty="0"/>
          </a:p>
          <a:p>
            <a:endParaRPr lang="en-US" dirty="0"/>
          </a:p>
          <a:p>
            <a:endParaRPr lang="es-NI" dirty="0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749425" y="428625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749426" y="4387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8" name="7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999117"/>
              </p:ext>
            </p:extLst>
          </p:nvPr>
        </p:nvGraphicFramePr>
        <p:xfrm>
          <a:off x="2029811" y="2951820"/>
          <a:ext cx="5084381" cy="3240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7" name="Visio" r:id="rId3" imgW="4379976" imgH="2798064" progId="Visio.Drawing.11">
                  <p:embed/>
                </p:oleObj>
              </mc:Choice>
              <mc:Fallback>
                <p:oleObj name="Visio" r:id="rId3" imgW="4379976" imgH="279806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9811" y="2951820"/>
                        <a:ext cx="5084381" cy="32403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45089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3530" y="620688"/>
            <a:ext cx="8568951" cy="792088"/>
          </a:xfrm>
        </p:spPr>
        <p:txBody>
          <a:bodyPr>
            <a:normAutofit/>
          </a:bodyPr>
          <a:lstStyle/>
          <a:p>
            <a:r>
              <a:rPr lang="en-US" sz="3600" dirty="0" err="1"/>
              <a:t>Unidad</a:t>
            </a:r>
            <a:r>
              <a:rPr lang="en-US" sz="3600" dirty="0"/>
              <a:t> de Control </a:t>
            </a:r>
            <a:r>
              <a:rPr lang="en-US" sz="3600" dirty="0" err="1"/>
              <a:t>Microprogramada</a:t>
            </a:r>
            <a:endParaRPr lang="es-NI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99592" y="1556794"/>
            <a:ext cx="7488832" cy="4464495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Memoria</a:t>
            </a:r>
            <a:r>
              <a:rPr lang="en-US" dirty="0"/>
              <a:t> de control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pequeña</a:t>
            </a:r>
            <a:r>
              <a:rPr lang="en-US" dirty="0"/>
              <a:t> &gt;&gt; </a:t>
            </a:r>
            <a:r>
              <a:rPr lang="en-US" dirty="0" err="1"/>
              <a:t>rápida</a:t>
            </a:r>
            <a:r>
              <a:rPr lang="en-US" dirty="0"/>
              <a:t>.</a:t>
            </a:r>
          </a:p>
          <a:p>
            <a:r>
              <a:rPr lang="en-US" dirty="0" err="1"/>
              <a:t>Uso</a:t>
            </a:r>
            <a:r>
              <a:rPr lang="en-US" dirty="0"/>
              <a:t> de 1 bit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señal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ineficiente</a:t>
            </a:r>
            <a:r>
              <a:rPr lang="en-US" dirty="0"/>
              <a:t>: END sola en un </a:t>
            </a:r>
            <a:r>
              <a:rPr lang="en-US" dirty="0" err="1"/>
              <a:t>paso</a:t>
            </a:r>
            <a:r>
              <a:rPr lang="en-US" dirty="0"/>
              <a:t> de control, </a:t>
            </a:r>
            <a:r>
              <a:rPr lang="en-US" dirty="0" err="1"/>
              <a:t>señales</a:t>
            </a:r>
            <a:r>
              <a:rPr lang="en-US" dirty="0"/>
              <a:t> </a:t>
            </a:r>
            <a:r>
              <a:rPr lang="en-US" dirty="0" err="1"/>
              <a:t>mutuamente</a:t>
            </a:r>
            <a:r>
              <a:rPr lang="en-US" dirty="0"/>
              <a:t> </a:t>
            </a:r>
            <a:r>
              <a:rPr lang="en-US" dirty="0" err="1"/>
              <a:t>excluyentes,etc</a:t>
            </a:r>
            <a:r>
              <a:rPr lang="en-US" dirty="0"/>
              <a:t>.</a:t>
            </a:r>
          </a:p>
          <a:p>
            <a:r>
              <a:rPr lang="en-US" dirty="0" err="1"/>
              <a:t>Propuesta</a:t>
            </a:r>
            <a:r>
              <a:rPr lang="en-US" dirty="0"/>
              <a:t>: </a:t>
            </a:r>
            <a:r>
              <a:rPr lang="en-US" dirty="0" err="1"/>
              <a:t>uso</a:t>
            </a:r>
            <a:r>
              <a:rPr lang="en-US" dirty="0"/>
              <a:t> de </a:t>
            </a:r>
            <a:r>
              <a:rPr lang="en-US" dirty="0" err="1"/>
              <a:t>códigos</a:t>
            </a:r>
            <a:r>
              <a:rPr lang="en-US" dirty="0"/>
              <a:t> para </a:t>
            </a:r>
            <a:r>
              <a:rPr lang="en-US" dirty="0" err="1"/>
              <a:t>reducir</a:t>
            </a:r>
            <a:r>
              <a:rPr lang="en-US" dirty="0"/>
              <a:t> bits.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,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funciones</a:t>
            </a:r>
            <a:r>
              <a:rPr lang="en-US" dirty="0"/>
              <a:t> ALU,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existen</a:t>
            </a:r>
            <a:r>
              <a:rPr lang="en-US" dirty="0"/>
              <a:t> 15, se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codificar</a:t>
            </a:r>
            <a:r>
              <a:rPr lang="en-US" dirty="0"/>
              <a:t> en 4 bits. Solo un </a:t>
            </a:r>
            <a:r>
              <a:rPr lang="en-US" dirty="0" err="1"/>
              <a:t>Rxout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activo</a:t>
            </a:r>
            <a:r>
              <a:rPr lang="en-US" dirty="0"/>
              <a:t> a la </a:t>
            </a:r>
            <a:r>
              <a:rPr lang="en-US" dirty="0" err="1"/>
              <a:t>vez,etc</a:t>
            </a:r>
            <a:r>
              <a:rPr lang="en-US" dirty="0"/>
              <a:t>.</a:t>
            </a:r>
          </a:p>
          <a:p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organización</a:t>
            </a:r>
            <a:r>
              <a:rPr lang="en-US" dirty="0"/>
              <a:t> de </a:t>
            </a:r>
            <a:r>
              <a:rPr lang="en-US" dirty="0" err="1"/>
              <a:t>memoria</a:t>
            </a:r>
            <a:r>
              <a:rPr lang="en-US" dirty="0"/>
              <a:t> de control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emplea</a:t>
            </a:r>
            <a:r>
              <a:rPr lang="en-US" dirty="0"/>
              <a:t> un bit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señal</a:t>
            </a:r>
            <a:r>
              <a:rPr lang="en-US" dirty="0"/>
              <a:t> se dice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Horizontal. </a:t>
            </a:r>
            <a:r>
              <a:rPr lang="en-US" dirty="0" err="1"/>
              <a:t>Una</a:t>
            </a:r>
            <a:r>
              <a:rPr lang="en-US" dirty="0"/>
              <a:t> en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señal</a:t>
            </a:r>
            <a:r>
              <a:rPr lang="en-US" dirty="0"/>
              <a:t> </a:t>
            </a:r>
            <a:r>
              <a:rPr lang="en-US" dirty="0" err="1"/>
              <a:t>pertenece</a:t>
            </a:r>
            <a:r>
              <a:rPr lang="en-US" dirty="0"/>
              <a:t> a un </a:t>
            </a:r>
            <a:r>
              <a:rPr lang="en-US" dirty="0" err="1"/>
              <a:t>grupo</a:t>
            </a:r>
            <a:r>
              <a:rPr lang="en-US" dirty="0"/>
              <a:t> </a:t>
            </a:r>
            <a:r>
              <a:rPr lang="en-US" dirty="0" err="1"/>
              <a:t>codificado</a:t>
            </a:r>
            <a:r>
              <a:rPr lang="en-US" dirty="0"/>
              <a:t>, se </a:t>
            </a:r>
            <a:r>
              <a:rPr lang="en-US" dirty="0" err="1"/>
              <a:t>denomina</a:t>
            </a:r>
            <a:r>
              <a:rPr lang="en-US" dirty="0"/>
              <a:t> Vertical.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empleamos</a:t>
            </a:r>
            <a:r>
              <a:rPr lang="en-US" dirty="0"/>
              <a:t> </a:t>
            </a:r>
            <a:r>
              <a:rPr lang="en-US" dirty="0" err="1"/>
              <a:t>ambas</a:t>
            </a:r>
            <a:r>
              <a:rPr lang="en-US" dirty="0"/>
              <a:t> </a:t>
            </a:r>
            <a:r>
              <a:rPr lang="en-US" dirty="0" err="1"/>
              <a:t>técnicas</a:t>
            </a:r>
            <a:r>
              <a:rPr lang="en-US" dirty="0"/>
              <a:t>, </a:t>
            </a:r>
            <a:r>
              <a:rPr lang="en-US" dirty="0" err="1"/>
              <a:t>tenemos</a:t>
            </a:r>
            <a:r>
              <a:rPr lang="en-US" dirty="0"/>
              <a:t> </a:t>
            </a:r>
            <a:r>
              <a:rPr lang="en-US" dirty="0" err="1"/>
              <a:t>organización</a:t>
            </a:r>
            <a:r>
              <a:rPr lang="en-US" dirty="0"/>
              <a:t> </a:t>
            </a:r>
            <a:r>
              <a:rPr lang="en-US" dirty="0" err="1"/>
              <a:t>híbrida</a:t>
            </a:r>
            <a:r>
              <a:rPr lang="en-US" dirty="0"/>
              <a:t>.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5527657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3530" y="620688"/>
            <a:ext cx="8568951" cy="792088"/>
          </a:xfrm>
        </p:spPr>
        <p:txBody>
          <a:bodyPr>
            <a:normAutofit/>
          </a:bodyPr>
          <a:lstStyle/>
          <a:p>
            <a:r>
              <a:rPr lang="en-US" sz="3600" dirty="0" err="1"/>
              <a:t>Unidad</a:t>
            </a:r>
            <a:r>
              <a:rPr lang="en-US" sz="3600" dirty="0"/>
              <a:t> de Control </a:t>
            </a:r>
            <a:r>
              <a:rPr lang="en-US" sz="3600" dirty="0" err="1"/>
              <a:t>Microprogramada</a:t>
            </a:r>
            <a:endParaRPr lang="es-NI" sz="3600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88" y="1520490"/>
            <a:ext cx="7560840" cy="4572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48307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3530" y="620688"/>
            <a:ext cx="8568951" cy="792088"/>
          </a:xfrm>
        </p:spPr>
        <p:txBody>
          <a:bodyPr>
            <a:normAutofit/>
          </a:bodyPr>
          <a:lstStyle/>
          <a:p>
            <a:r>
              <a:rPr lang="en-US" sz="3600" dirty="0" err="1"/>
              <a:t>Unidad</a:t>
            </a:r>
            <a:r>
              <a:rPr lang="en-US" sz="3600" dirty="0"/>
              <a:t> de Control </a:t>
            </a:r>
            <a:r>
              <a:rPr lang="en-US" sz="3600" dirty="0" err="1"/>
              <a:t>Microprogramada</a:t>
            </a:r>
            <a:endParaRPr lang="es-NI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99592" y="1556792"/>
            <a:ext cx="7488832" cy="468052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Instrucciones</a:t>
            </a:r>
            <a:r>
              <a:rPr lang="en-US" dirty="0"/>
              <a:t>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modos</a:t>
            </a:r>
            <a:r>
              <a:rPr lang="en-US" dirty="0"/>
              <a:t> de </a:t>
            </a:r>
            <a:r>
              <a:rPr lang="en-US" dirty="0" err="1"/>
              <a:t>direccionamiento</a:t>
            </a:r>
            <a:r>
              <a:rPr lang="en-US" dirty="0"/>
              <a:t>: ADD R1, R2; ADD (R1), R2; ADD (R1)+, 1000H(R2).</a:t>
            </a:r>
          </a:p>
          <a:p>
            <a:r>
              <a:rPr lang="en-US" dirty="0"/>
              <a:t>El </a:t>
            </a:r>
            <a:r>
              <a:rPr lang="en-US" dirty="0" err="1"/>
              <a:t>formato</a:t>
            </a:r>
            <a:r>
              <a:rPr lang="en-US" dirty="0"/>
              <a:t> R de </a:t>
            </a:r>
            <a:r>
              <a:rPr lang="en-US" dirty="0" err="1"/>
              <a:t>nuestra</a:t>
            </a:r>
            <a:r>
              <a:rPr lang="en-US" dirty="0"/>
              <a:t> </a:t>
            </a:r>
            <a:r>
              <a:rPr lang="en-US" dirty="0" err="1"/>
              <a:t>arquitectura</a:t>
            </a:r>
            <a:r>
              <a:rPr lang="en-US" dirty="0"/>
              <a:t>: 64 </a:t>
            </a:r>
            <a:r>
              <a:rPr lang="en-US" dirty="0" err="1"/>
              <a:t>posibles</a:t>
            </a:r>
            <a:r>
              <a:rPr lang="en-US" dirty="0"/>
              <a:t> </a:t>
            </a:r>
            <a:r>
              <a:rPr lang="en-US" dirty="0" err="1"/>
              <a:t>combinaciones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eficiente</a:t>
            </a:r>
            <a:r>
              <a:rPr lang="en-US" dirty="0"/>
              <a:t> </a:t>
            </a:r>
            <a:r>
              <a:rPr lang="en-US" dirty="0" err="1"/>
              <a:t>implementar</a:t>
            </a:r>
            <a:r>
              <a:rPr lang="en-US" dirty="0"/>
              <a:t> un </a:t>
            </a:r>
            <a:r>
              <a:rPr lang="en-US" dirty="0" err="1">
                <a:latin typeface="Symbol" panose="05050102010706020507" pitchFamily="18" charset="2"/>
              </a:rPr>
              <a:t>m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variante</a:t>
            </a:r>
            <a:r>
              <a:rPr lang="en-US" dirty="0"/>
              <a:t>: </a:t>
            </a:r>
            <a:r>
              <a:rPr lang="en-US" dirty="0" err="1"/>
              <a:t>Usar</a:t>
            </a:r>
            <a:r>
              <a:rPr lang="en-US" dirty="0"/>
              <a:t> </a:t>
            </a:r>
            <a:r>
              <a:rPr lang="en-US" dirty="0" err="1"/>
              <a:t>uno</a:t>
            </a:r>
            <a:r>
              <a:rPr lang="en-US" dirty="0"/>
              <a:t> solo con </a:t>
            </a:r>
            <a:r>
              <a:rPr lang="en-US" dirty="0" err="1">
                <a:latin typeface="Symbol" panose="05050102010706020507" pitchFamily="18" charset="2"/>
              </a:rPr>
              <a:t>m</a:t>
            </a:r>
            <a:r>
              <a:rPr lang="en-US" dirty="0" err="1"/>
              <a:t>ramificaciones</a:t>
            </a:r>
            <a:r>
              <a:rPr lang="en-US" dirty="0"/>
              <a:t> para </a:t>
            </a:r>
            <a:r>
              <a:rPr lang="en-US" dirty="0" err="1"/>
              <a:t>tratar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modo</a:t>
            </a:r>
            <a:r>
              <a:rPr lang="en-US" dirty="0"/>
              <a:t>.</a:t>
            </a:r>
          </a:p>
          <a:p>
            <a:endParaRPr lang="es-NI" dirty="0"/>
          </a:p>
        </p:txBody>
      </p:sp>
      <p:graphicFrame>
        <p:nvGraphicFramePr>
          <p:cNvPr id="4" name="3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108461"/>
              </p:ext>
            </p:extLst>
          </p:nvPr>
        </p:nvGraphicFramePr>
        <p:xfrm>
          <a:off x="1691682" y="3356993"/>
          <a:ext cx="5616575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4" name="Visio" r:id="rId3" imgW="3736588" imgH="961472" progId="Visio.Drawing.11">
                  <p:embed/>
                </p:oleObj>
              </mc:Choice>
              <mc:Fallback>
                <p:oleObj name="Visio" r:id="rId3" imgW="3736588" imgH="961472" progId="Visio.Drawing.11">
                  <p:embed/>
                  <p:pic>
                    <p:nvPicPr>
                      <p:cNvPr id="0" name="5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2" y="3356993"/>
                        <a:ext cx="5616575" cy="144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78900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3530" y="620688"/>
            <a:ext cx="8568951" cy="792088"/>
          </a:xfrm>
        </p:spPr>
        <p:txBody>
          <a:bodyPr>
            <a:normAutofit/>
          </a:bodyPr>
          <a:lstStyle/>
          <a:p>
            <a:r>
              <a:rPr lang="en-US" sz="3200" dirty="0" err="1"/>
              <a:t>Microprograma</a:t>
            </a:r>
            <a:r>
              <a:rPr lang="en-US" sz="3200" dirty="0"/>
              <a:t> y </a:t>
            </a:r>
            <a:r>
              <a:rPr lang="en-US" sz="3200" dirty="0" err="1"/>
              <a:t>Microrramificaciones</a:t>
            </a:r>
            <a:endParaRPr lang="es-NI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99592" y="1628800"/>
            <a:ext cx="7488832" cy="4392488"/>
          </a:xfrm>
        </p:spPr>
        <p:txBody>
          <a:bodyPr>
            <a:normAutofit/>
          </a:bodyPr>
          <a:lstStyle/>
          <a:p>
            <a:r>
              <a:rPr lang="en-US" dirty="0" err="1"/>
              <a:t>Microprograma</a:t>
            </a:r>
            <a:r>
              <a:rPr lang="en-US" dirty="0"/>
              <a:t> de </a:t>
            </a:r>
            <a:r>
              <a:rPr lang="en-US" dirty="0" err="1"/>
              <a:t>instrucciones</a:t>
            </a:r>
            <a:r>
              <a:rPr lang="en-US" dirty="0"/>
              <a:t> OP</a:t>
            </a:r>
          </a:p>
          <a:p>
            <a:pPr lvl="1"/>
            <a:r>
              <a:rPr lang="en-US" b="1" dirty="0" err="1"/>
              <a:t>Flujograma</a:t>
            </a:r>
            <a:r>
              <a:rPr lang="en-US" b="1" dirty="0"/>
              <a:t> (</a:t>
            </a:r>
            <a:r>
              <a:rPr lang="en-US" b="1" dirty="0" err="1"/>
              <a:t>Archivo</a:t>
            </a:r>
            <a:r>
              <a:rPr lang="en-US" b="1" dirty="0"/>
              <a:t> PDF </a:t>
            </a:r>
            <a:r>
              <a:rPr lang="en-US" b="1" dirty="0" err="1"/>
              <a:t>adjunto</a:t>
            </a:r>
            <a:r>
              <a:rPr lang="en-US" b="1" dirty="0"/>
              <a:t>)</a:t>
            </a:r>
          </a:p>
          <a:p>
            <a:pPr lvl="1"/>
            <a:endParaRPr lang="en-US" dirty="0"/>
          </a:p>
          <a:p>
            <a:r>
              <a:rPr lang="en-US" dirty="0" err="1"/>
              <a:t>Correr</a:t>
            </a:r>
            <a:r>
              <a:rPr lang="en-US" dirty="0"/>
              <a:t> el </a:t>
            </a:r>
            <a:r>
              <a:rPr lang="en-US" dirty="0" err="1"/>
              <a:t>microprograma</a:t>
            </a:r>
            <a:r>
              <a:rPr lang="en-US" dirty="0"/>
              <a:t> de: </a:t>
            </a:r>
            <a:r>
              <a:rPr lang="es-NI" dirty="0"/>
              <a:t>ADD (R7)+, R3. 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6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823513"/>
              </p:ext>
            </p:extLst>
          </p:nvPr>
        </p:nvGraphicFramePr>
        <p:xfrm>
          <a:off x="1547666" y="3501008"/>
          <a:ext cx="6442557" cy="1656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4" name="Visio" r:id="rId3" imgW="3736588" imgH="961472" progId="Visio.Drawing.11">
                  <p:embed/>
                </p:oleObj>
              </mc:Choice>
              <mc:Fallback>
                <p:oleObj name="Visio" r:id="rId3" imgW="3736588" imgH="961472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6" y="3501008"/>
                        <a:ext cx="6442557" cy="16561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38614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3530" y="620688"/>
            <a:ext cx="8568951" cy="792088"/>
          </a:xfrm>
        </p:spPr>
        <p:txBody>
          <a:bodyPr>
            <a:normAutofit/>
          </a:bodyPr>
          <a:lstStyle/>
          <a:p>
            <a:r>
              <a:rPr lang="en-US" sz="3200" dirty="0" err="1"/>
              <a:t>Microprograma</a:t>
            </a:r>
            <a:r>
              <a:rPr lang="en-US" sz="3200" dirty="0"/>
              <a:t> y </a:t>
            </a:r>
            <a:r>
              <a:rPr lang="en-US" sz="3200" dirty="0" err="1"/>
              <a:t>Microrramificaciones</a:t>
            </a:r>
            <a:endParaRPr lang="es-NI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99592" y="1628800"/>
            <a:ext cx="7488832" cy="46085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arquitectura</a:t>
            </a:r>
            <a:r>
              <a:rPr lang="en-US" dirty="0"/>
              <a:t> la </a:t>
            </a:r>
            <a:r>
              <a:rPr lang="en-US" dirty="0" err="1"/>
              <a:t>memoria</a:t>
            </a:r>
            <a:r>
              <a:rPr lang="en-US" dirty="0"/>
              <a:t> de control de 512 </a:t>
            </a:r>
            <a:r>
              <a:rPr lang="en-US" dirty="0" err="1"/>
              <a:t>palabras</a:t>
            </a:r>
            <a:r>
              <a:rPr lang="en-US" dirty="0"/>
              <a:t> </a:t>
            </a:r>
            <a:r>
              <a:rPr lang="en-US" dirty="0" err="1"/>
              <a:t>direccionable</a:t>
            </a:r>
            <a:r>
              <a:rPr lang="en-US" dirty="0"/>
              <a:t> en octal: </a:t>
            </a:r>
            <a:r>
              <a:rPr lang="en-US" dirty="0" err="1">
                <a:latin typeface="Symbol" pitchFamily="18" charset="2"/>
              </a:rPr>
              <a:t>m</a:t>
            </a:r>
            <a:r>
              <a:rPr lang="en-US" dirty="0" err="1"/>
              <a:t>PC</a:t>
            </a:r>
            <a:r>
              <a:rPr lang="en-US" dirty="0"/>
              <a:t>: 3 </a:t>
            </a:r>
            <a:r>
              <a:rPr lang="en-US" dirty="0" err="1"/>
              <a:t>dígitos</a:t>
            </a:r>
            <a:r>
              <a:rPr lang="en-US" dirty="0"/>
              <a:t> </a:t>
            </a:r>
            <a:r>
              <a:rPr lang="en-US" dirty="0" err="1"/>
              <a:t>octales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La </a:t>
            </a:r>
            <a:r>
              <a:rPr lang="en-US" dirty="0" err="1"/>
              <a:t>ejecución</a:t>
            </a:r>
            <a:r>
              <a:rPr lang="en-US" dirty="0"/>
              <a:t> del </a:t>
            </a:r>
            <a:r>
              <a:rPr lang="en-US" dirty="0" err="1"/>
              <a:t>mPrograma</a:t>
            </a:r>
            <a:r>
              <a:rPr lang="en-US" dirty="0"/>
              <a:t> se </a:t>
            </a:r>
            <a:r>
              <a:rPr lang="en-US" dirty="0" err="1"/>
              <a:t>representa</a:t>
            </a:r>
            <a:r>
              <a:rPr lang="en-US" dirty="0"/>
              <a:t> de forma similar a los </a:t>
            </a:r>
            <a:r>
              <a:rPr lang="en-US" dirty="0" err="1"/>
              <a:t>pasos</a:t>
            </a:r>
            <a:r>
              <a:rPr lang="en-US" dirty="0"/>
              <a:t> de control </a:t>
            </a:r>
            <a:r>
              <a:rPr lang="en-US" dirty="0" err="1"/>
              <a:t>pero</a:t>
            </a:r>
            <a:r>
              <a:rPr lang="en-US" dirty="0"/>
              <a:t> en </a:t>
            </a:r>
            <a:r>
              <a:rPr lang="en-US" dirty="0" err="1"/>
              <a:t>lugar</a:t>
            </a:r>
            <a:r>
              <a:rPr lang="en-US" dirty="0"/>
              <a:t> de los </a:t>
            </a:r>
            <a:r>
              <a:rPr lang="en-US" dirty="0" err="1"/>
              <a:t>pasos</a:t>
            </a:r>
            <a:r>
              <a:rPr lang="en-US" dirty="0"/>
              <a:t> </a:t>
            </a:r>
            <a:r>
              <a:rPr lang="en-US" dirty="0" err="1"/>
              <a:t>describimos</a:t>
            </a:r>
            <a:r>
              <a:rPr lang="en-US" dirty="0"/>
              <a:t> la </a:t>
            </a:r>
            <a:r>
              <a:rPr lang="en-US" dirty="0" err="1"/>
              <a:t>dirección</a:t>
            </a:r>
            <a:r>
              <a:rPr lang="en-US" dirty="0"/>
              <a:t> de </a:t>
            </a:r>
            <a:r>
              <a:rPr lang="en-US" dirty="0" err="1"/>
              <a:t>memoria</a:t>
            </a:r>
            <a:r>
              <a:rPr lang="en-US" dirty="0"/>
              <a:t> y en </a:t>
            </a:r>
            <a:r>
              <a:rPr lang="en-US" dirty="0" err="1"/>
              <a:t>lugar</a:t>
            </a:r>
            <a:r>
              <a:rPr lang="en-US" dirty="0"/>
              <a:t> de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acciones</a:t>
            </a:r>
            <a:r>
              <a:rPr lang="en-US" dirty="0"/>
              <a:t> </a:t>
            </a:r>
            <a:r>
              <a:rPr lang="en-US" dirty="0" err="1"/>
              <a:t>describimos</a:t>
            </a:r>
            <a:r>
              <a:rPr lang="en-US" dirty="0"/>
              <a:t>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señales</a:t>
            </a:r>
            <a:r>
              <a:rPr lang="en-US" dirty="0"/>
              <a:t> </a:t>
            </a:r>
            <a:r>
              <a:rPr lang="en-US" dirty="0" err="1"/>
              <a:t>activas</a:t>
            </a:r>
            <a:r>
              <a:rPr lang="en-US" dirty="0"/>
              <a:t> y la </a:t>
            </a:r>
            <a:r>
              <a:rPr lang="en-US" dirty="0" err="1"/>
              <a:t>definición</a:t>
            </a:r>
            <a:r>
              <a:rPr lang="en-US" dirty="0"/>
              <a:t> formal de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microrramificaciones</a:t>
            </a:r>
            <a:r>
              <a:rPr lang="en-US" dirty="0"/>
              <a:t>.</a:t>
            </a:r>
            <a:endParaRPr lang="es-NI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7" name="6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400459"/>
              </p:ext>
            </p:extLst>
          </p:nvPr>
        </p:nvGraphicFramePr>
        <p:xfrm>
          <a:off x="2987824" y="2636913"/>
          <a:ext cx="3672408" cy="1449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4" name="Visio" r:id="rId3" imgW="2125595" imgH="836050" progId="Visio.Drawing.11">
                  <p:embed/>
                </p:oleObj>
              </mc:Choice>
              <mc:Fallback>
                <p:oleObj name="Visio" r:id="rId3" imgW="2125595" imgH="83605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2636913"/>
                        <a:ext cx="3672408" cy="14492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41072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3530" y="620688"/>
            <a:ext cx="8568951" cy="792088"/>
          </a:xfrm>
        </p:spPr>
        <p:txBody>
          <a:bodyPr>
            <a:normAutofit/>
          </a:bodyPr>
          <a:lstStyle/>
          <a:p>
            <a:r>
              <a:rPr lang="en-US" sz="3600" dirty="0" err="1"/>
              <a:t>Microprograma</a:t>
            </a:r>
            <a:r>
              <a:rPr lang="en-US" sz="3600" dirty="0"/>
              <a:t> de </a:t>
            </a:r>
            <a:r>
              <a:rPr lang="es-NI" sz="3600" dirty="0"/>
              <a:t>ADD (R7)+, R3 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10" y="1556792"/>
            <a:ext cx="7215847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26097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NI" dirty="0"/>
              <a:t>Ventajas y aplicaciones de la microprogramación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NI" dirty="0"/>
              <a:t>Ampliar el repertorio de instrucciones: agrandar memoria de control, copiar en ella los nuevos microprogramas y actualizar la tabla de decodificación de dirección base de microprogramas.</a:t>
            </a:r>
          </a:p>
          <a:p>
            <a:pPr lvl="0"/>
            <a:r>
              <a:rPr lang="es-NI" dirty="0"/>
              <a:t>Modificación de instrucciones. </a:t>
            </a:r>
          </a:p>
          <a:p>
            <a:pPr lvl="0"/>
            <a:r>
              <a:rPr lang="es-NI" dirty="0"/>
              <a:t>Emulación de otras arquitecturas.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1571130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incheta">
  <a:themeElements>
    <a:clrScheme name="Chincheta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Chincheta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inchet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1881</TotalTime>
  <Words>3593</Words>
  <Application>Microsoft Office PowerPoint</Application>
  <PresentationFormat>Presentación en pantalla (4:3)</PresentationFormat>
  <Paragraphs>390</Paragraphs>
  <Slides>65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65</vt:i4>
      </vt:variant>
    </vt:vector>
  </HeadingPairs>
  <TitlesOfParts>
    <vt:vector size="74" baseType="lpstr">
      <vt:lpstr>Arial</vt:lpstr>
      <vt:lpstr>Brush Script MT</vt:lpstr>
      <vt:lpstr>Constantia</vt:lpstr>
      <vt:lpstr>Franklin Gothic Book</vt:lpstr>
      <vt:lpstr>Rage Italic</vt:lpstr>
      <vt:lpstr>Symbol</vt:lpstr>
      <vt:lpstr>Wingdings</vt:lpstr>
      <vt:lpstr>Chincheta</vt:lpstr>
      <vt:lpstr>Visio</vt:lpstr>
      <vt:lpstr>Unidad 5: Unidad de Control</vt:lpstr>
      <vt:lpstr>La función de control</vt:lpstr>
      <vt:lpstr>La función de control</vt:lpstr>
      <vt:lpstr>La función de control</vt:lpstr>
      <vt:lpstr>La función de control</vt:lpstr>
      <vt:lpstr>El ciclo de Instrucción</vt:lpstr>
      <vt:lpstr>Operaciones Básicas de Control</vt:lpstr>
      <vt:lpstr>Operaciones Básicas de Control</vt:lpstr>
      <vt:lpstr>Control de Registr0s</vt:lpstr>
      <vt:lpstr>Operaciones para habilitar la transferencia</vt:lpstr>
      <vt:lpstr>Operaciones Básicas de Control</vt:lpstr>
      <vt:lpstr>Control de la Memoria</vt:lpstr>
      <vt:lpstr>Leer de la Memoria</vt:lpstr>
      <vt:lpstr>Escribir en la Memoria</vt:lpstr>
      <vt:lpstr>Operaciones Básicas de Control</vt:lpstr>
      <vt:lpstr>Ejecutar operación ALU</vt:lpstr>
      <vt:lpstr>Ejecutar operación ALU</vt:lpstr>
      <vt:lpstr>Operaciones Básicas de Control</vt:lpstr>
      <vt:lpstr>Incrementar el PC</vt:lpstr>
      <vt:lpstr>Incrementar el PC</vt:lpstr>
      <vt:lpstr>Operaciones Básicas de Control</vt:lpstr>
      <vt:lpstr>Modificar el PC</vt:lpstr>
      <vt:lpstr>Operaciones Básicas de Control</vt:lpstr>
      <vt:lpstr>Verificar el estado de las solicitudes de interrupción</vt:lpstr>
      <vt:lpstr>Operaciones Básicas de Control</vt:lpstr>
      <vt:lpstr>Verificar / establecer el estado de las banderas  y códigos de condición</vt:lpstr>
      <vt:lpstr>Operaciones Básicas de Control</vt:lpstr>
      <vt:lpstr>Ejecución de la instrucción</vt:lpstr>
      <vt:lpstr>Ejecución de la instrucción</vt:lpstr>
      <vt:lpstr>Estrategia Instrucciones OP</vt:lpstr>
      <vt:lpstr>Estrategia MOV</vt:lpstr>
      <vt:lpstr>Estrategia instrucciones BRx</vt:lpstr>
      <vt:lpstr>Estrategias PUSH y POP</vt:lpstr>
      <vt:lpstr>Desarrollo en pasos de control</vt:lpstr>
      <vt:lpstr>Ejecución de ADD R1, R2</vt:lpstr>
      <vt:lpstr>Ejecución de ADD (R1), R2</vt:lpstr>
      <vt:lpstr>Ejecución de BR d</vt:lpstr>
      <vt:lpstr>Ejecución de BRN d</vt:lpstr>
      <vt:lpstr>Banderas y Códigos de condición</vt:lpstr>
      <vt:lpstr>Implementación de la UC</vt:lpstr>
      <vt:lpstr>Implementación de la UC</vt:lpstr>
      <vt:lpstr>Implementación de la UC</vt:lpstr>
      <vt:lpstr>Implementación de la UC Fija</vt:lpstr>
      <vt:lpstr>Implementación de la UC Fija</vt:lpstr>
      <vt:lpstr>Implementación de la UC fija</vt:lpstr>
      <vt:lpstr>Implementación de la UC Fija</vt:lpstr>
      <vt:lpstr>Implementación de la UC Fija</vt:lpstr>
      <vt:lpstr>Implementación de la UC Fija</vt:lpstr>
      <vt:lpstr>Implementacion de la UC Fija</vt:lpstr>
      <vt:lpstr>Unidad de Control Microprogramada</vt:lpstr>
      <vt:lpstr>Unidad de Control Microprogramada</vt:lpstr>
      <vt:lpstr>Unidad de Control Microprogramada</vt:lpstr>
      <vt:lpstr>Unidad de Control Microprogramada</vt:lpstr>
      <vt:lpstr>Unidad de Control Microprogramada</vt:lpstr>
      <vt:lpstr>Unidad de Control Microprogramada</vt:lpstr>
      <vt:lpstr>Unidad de Control Microprogramada</vt:lpstr>
      <vt:lpstr>Unidad de Control Microprogramada</vt:lpstr>
      <vt:lpstr>Unidad de Control Microprogramada</vt:lpstr>
      <vt:lpstr>Unidad de Control Microprogramada</vt:lpstr>
      <vt:lpstr>Unidad de Control Microprogramada</vt:lpstr>
      <vt:lpstr>Unidad de Control Microprogramada</vt:lpstr>
      <vt:lpstr>Microprograma y Microrramificaciones</vt:lpstr>
      <vt:lpstr>Microprograma y Microrramificaciones</vt:lpstr>
      <vt:lpstr>Microprograma de ADD (R7)+, R3 </vt:lpstr>
      <vt:lpstr>Ventajas y aplicaciones de la microprogramación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5: Unidad de Control</dc:title>
  <dc:creator>ING. MARLOVIO JOSE SEVILLA HERNANDEZ</dc:creator>
  <cp:lastModifiedBy>UNI-ADMON</cp:lastModifiedBy>
  <cp:revision>73</cp:revision>
  <dcterms:created xsi:type="dcterms:W3CDTF">2012-11-12T22:40:53Z</dcterms:created>
  <dcterms:modified xsi:type="dcterms:W3CDTF">2025-10-14T17:52:09Z</dcterms:modified>
</cp:coreProperties>
</file>