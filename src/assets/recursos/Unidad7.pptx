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2" r:id="rId8"/>
    <p:sldId id="263" r:id="rId9"/>
    <p:sldId id="261" r:id="rId10"/>
    <p:sldId id="264" r:id="rId11"/>
    <p:sldId id="266" r:id="rId12"/>
    <p:sldId id="267" r:id="rId13"/>
    <p:sldId id="268" r:id="rId14"/>
    <p:sldId id="269" r:id="rId15"/>
    <p:sldId id="270" r:id="rId16"/>
    <p:sldId id="286" r:id="rId17"/>
    <p:sldId id="287" r:id="rId18"/>
    <p:sldId id="271" r:id="rId19"/>
    <p:sldId id="273" r:id="rId20"/>
    <p:sldId id="272" r:id="rId21"/>
    <p:sldId id="274" r:id="rId22"/>
    <p:sldId id="275" r:id="rId23"/>
    <p:sldId id="276" r:id="rId24"/>
    <p:sldId id="278" r:id="rId25"/>
    <p:sldId id="277" r:id="rId26"/>
    <p:sldId id="288" r:id="rId27"/>
    <p:sldId id="281" r:id="rId28"/>
    <p:sldId id="289" r:id="rId29"/>
    <p:sldId id="294" r:id="rId30"/>
    <p:sldId id="295" r:id="rId31"/>
    <p:sldId id="279" r:id="rId32"/>
    <p:sldId id="280" r:id="rId33"/>
    <p:sldId id="282" r:id="rId34"/>
    <p:sldId id="284" r:id="rId35"/>
    <p:sldId id="285" r:id="rId36"/>
    <p:sldId id="293" r:id="rId37"/>
    <p:sldId id="283" r:id="rId38"/>
    <p:sldId id="290" r:id="rId39"/>
    <p:sldId id="296" r:id="rId40"/>
  </p:sldIdLst>
  <p:sldSz cx="9144000" cy="6858000" type="screen4x3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61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19256" cy="4759423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0099"/>
                </a:solidFill>
              </a:defRPr>
            </a:lvl1pPr>
            <a:lvl2pPr>
              <a:defRPr sz="2000">
                <a:solidFill>
                  <a:srgbClr val="0070C0"/>
                </a:solidFill>
              </a:defRPr>
            </a:lvl2pPr>
            <a:lvl3pPr>
              <a:defRPr sz="2000">
                <a:solidFill>
                  <a:srgbClr val="006600"/>
                </a:solidFill>
              </a:defRPr>
            </a:lvl3pPr>
            <a:lvl4pPr>
              <a:defRPr sz="2000">
                <a:solidFill>
                  <a:srgbClr val="FF0000"/>
                </a:solidFill>
              </a:defRPr>
            </a:lvl4pPr>
            <a:lvl5pPr>
              <a:defRPr sz="20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000">
                <a:solidFill>
                  <a:srgbClr val="0070C0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s-NI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NI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8092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1412776"/>
            <a:ext cx="8280920" cy="47594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6F9F364-701D-4FAD-97C9-F1E9DF5E1C27}" type="slidenum">
              <a:rPr lang="es-NI" smtClean="0"/>
              <a:t>‹Nº›</a:t>
            </a:fld>
            <a:endParaRPr lang="es-NI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A77DDB0-9596-4C1D-AB7D-5232401F54D0}" type="datetimeFigureOut">
              <a:rPr lang="es-NI" smtClean="0"/>
              <a:t>14/10/2025</a:t>
            </a:fld>
            <a:endParaRPr lang="es-NI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s-N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2800" b="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Berlin Sans FB Demi" pitchFamily="34" charset="0"/>
          <a:ea typeface="+mj-ea"/>
          <a:cs typeface="Aharoni" pitchFamily="2" charset="-79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Century Gothic" pitchFamily="34" charset="0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Century Gothic" pitchFamily="34" charset="0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Century Gothic" pitchFamily="34" charset="0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Century Gothic" pitchFamily="34" charset="0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Century Gothic" pitchFamily="34" charset="0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0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1520" y="6237312"/>
            <a:ext cx="6400800" cy="406896"/>
          </a:xfrm>
        </p:spPr>
        <p:txBody>
          <a:bodyPr>
            <a:normAutofit/>
          </a:bodyPr>
          <a:lstStyle/>
          <a:p>
            <a:pPr algn="ctr"/>
            <a:r>
              <a:rPr lang="en-US" sz="2000" dirty="0"/>
              <a:t>AMC2</a:t>
            </a:r>
            <a:endParaRPr lang="es-NI" sz="20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3284984"/>
            <a:ext cx="6264696" cy="1470025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0070C0"/>
                </a:solidFill>
              </a:rPr>
              <a:t>Unidad</a:t>
            </a:r>
            <a:r>
              <a:rPr lang="en-US" sz="4800" b="1" dirty="0">
                <a:solidFill>
                  <a:srgbClr val="0070C0"/>
                </a:solidFill>
              </a:rPr>
              <a:t> VII: </a:t>
            </a:r>
            <a:r>
              <a:rPr lang="en-US" sz="4800" b="1" dirty="0" err="1">
                <a:solidFill>
                  <a:srgbClr val="0070C0"/>
                </a:solidFill>
              </a:rPr>
              <a:t>Sistema</a:t>
            </a:r>
            <a:r>
              <a:rPr lang="en-US" sz="4800" b="1" dirty="0">
                <a:solidFill>
                  <a:srgbClr val="0070C0"/>
                </a:solidFill>
              </a:rPr>
              <a:t> de </a:t>
            </a:r>
            <a:r>
              <a:rPr lang="en-US" sz="4800" b="1" dirty="0" err="1">
                <a:solidFill>
                  <a:srgbClr val="0070C0"/>
                </a:solidFill>
              </a:rPr>
              <a:t>Entrada</a:t>
            </a:r>
            <a:r>
              <a:rPr lang="en-US" sz="4800" b="1" dirty="0">
                <a:solidFill>
                  <a:srgbClr val="0070C0"/>
                </a:solidFill>
              </a:rPr>
              <a:t> / </a:t>
            </a:r>
            <a:r>
              <a:rPr lang="en-US" sz="4800" b="1" dirty="0" err="1">
                <a:solidFill>
                  <a:srgbClr val="0070C0"/>
                </a:solidFill>
              </a:rPr>
              <a:t>Salida</a:t>
            </a:r>
            <a:endParaRPr lang="es-NI" sz="4800" b="1" dirty="0">
              <a:solidFill>
                <a:srgbClr val="0070C0"/>
              </a:solidFill>
            </a:endParaRP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32656"/>
            <a:ext cx="1112851" cy="720080"/>
          </a:xfrm>
          <a:prstGeom prst="rect">
            <a:avLst/>
          </a:prstGeom>
        </p:spPr>
      </p:pic>
      <p:sp>
        <p:nvSpPr>
          <p:cNvPr id="5" name="4 CuadroTexto"/>
          <p:cNvSpPr txBox="1"/>
          <p:nvPr/>
        </p:nvSpPr>
        <p:spPr>
          <a:xfrm>
            <a:off x="1331640" y="529516"/>
            <a:ext cx="5556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99"/>
                </a:solidFill>
              </a:rPr>
              <a:t>Universidad Nacional de </a:t>
            </a:r>
            <a:r>
              <a:rPr lang="en-US" sz="2800" b="1" dirty="0" err="1">
                <a:solidFill>
                  <a:srgbClr val="000099"/>
                </a:solidFill>
              </a:rPr>
              <a:t>Ingeniería</a:t>
            </a:r>
            <a:endParaRPr lang="en-US" sz="28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10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Sistema</a:t>
            </a:r>
            <a:r>
              <a:rPr lang="en-US" sz="4000" dirty="0"/>
              <a:t> de </a:t>
            </a:r>
            <a:r>
              <a:rPr lang="en-US" sz="4000" dirty="0" err="1"/>
              <a:t>Entrada</a:t>
            </a:r>
            <a:r>
              <a:rPr lang="en-US" sz="4000" dirty="0"/>
              <a:t> / </a:t>
            </a:r>
            <a:r>
              <a:rPr lang="en-US" sz="4000" dirty="0" err="1"/>
              <a:t>Salida</a:t>
            </a:r>
            <a:endParaRPr lang="es-NI" sz="4000" dirty="0"/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395536" y="1124744"/>
            <a:ext cx="8219256" cy="4759423"/>
          </a:xfrm>
        </p:spPr>
        <p:txBody>
          <a:bodyPr/>
          <a:lstStyle/>
          <a:p>
            <a:r>
              <a:rPr lang="en-US" b="1" dirty="0" err="1"/>
              <a:t>Estructura</a:t>
            </a:r>
            <a:r>
              <a:rPr lang="en-US" b="1" dirty="0"/>
              <a:t> de la </a:t>
            </a:r>
            <a:r>
              <a:rPr lang="en-US" b="1" dirty="0" err="1"/>
              <a:t>Computadora</a:t>
            </a:r>
            <a:endParaRPr lang="es-NI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pic>
        <p:nvPicPr>
          <p:cNvPr id="6" name="5 Imagen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46" y="2060848"/>
            <a:ext cx="7833086" cy="4104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12 Elipse"/>
          <p:cNvSpPr/>
          <p:nvPr/>
        </p:nvSpPr>
        <p:spPr>
          <a:xfrm>
            <a:off x="5494540" y="3410750"/>
            <a:ext cx="1413032" cy="131439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 err="1"/>
              <a:t>Estructura</a:t>
            </a:r>
            <a:r>
              <a:rPr lang="en-US" sz="1100" b="1" dirty="0"/>
              <a:t> de </a:t>
            </a:r>
            <a:r>
              <a:rPr lang="en-US" sz="1100" b="1" dirty="0" err="1"/>
              <a:t>Interconexión</a:t>
            </a:r>
            <a:endParaRPr lang="es-NI" sz="1100" b="1" dirty="0"/>
          </a:p>
        </p:txBody>
      </p:sp>
      <p:sp>
        <p:nvSpPr>
          <p:cNvPr id="5" name="4 Elipse"/>
          <p:cNvSpPr/>
          <p:nvPr/>
        </p:nvSpPr>
        <p:spPr>
          <a:xfrm>
            <a:off x="4788024" y="2619156"/>
            <a:ext cx="1260632" cy="127838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CPU</a:t>
            </a:r>
            <a:endParaRPr lang="es-NI" sz="2400" b="1" dirty="0"/>
          </a:p>
        </p:txBody>
      </p:sp>
      <p:sp>
        <p:nvSpPr>
          <p:cNvPr id="11" name="10 Elipse"/>
          <p:cNvSpPr/>
          <p:nvPr/>
        </p:nvSpPr>
        <p:spPr>
          <a:xfrm>
            <a:off x="6408696" y="2610278"/>
            <a:ext cx="1260632" cy="1278388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/>
              <a:t>Sistema</a:t>
            </a:r>
            <a:r>
              <a:rPr lang="en-US" sz="1400" b="1" dirty="0"/>
              <a:t> de </a:t>
            </a:r>
            <a:r>
              <a:rPr lang="en-US" sz="1400" b="1" dirty="0" err="1"/>
              <a:t>Memoria</a:t>
            </a:r>
            <a:endParaRPr lang="es-NI" sz="1400" b="1" dirty="0"/>
          </a:p>
        </p:txBody>
      </p:sp>
      <p:sp>
        <p:nvSpPr>
          <p:cNvPr id="12" name="11 Elipse"/>
          <p:cNvSpPr/>
          <p:nvPr/>
        </p:nvSpPr>
        <p:spPr>
          <a:xfrm>
            <a:off x="5570740" y="4437112"/>
            <a:ext cx="1260632" cy="1278388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Sistema</a:t>
            </a:r>
            <a:r>
              <a:rPr lang="en-US" sz="1600" b="1" dirty="0"/>
              <a:t> de </a:t>
            </a:r>
            <a:r>
              <a:rPr lang="en-US" sz="1600" b="1" dirty="0" err="1"/>
              <a:t>Entrada</a:t>
            </a:r>
            <a:r>
              <a:rPr lang="en-US" sz="1600" b="1" dirty="0"/>
              <a:t> </a:t>
            </a:r>
            <a:r>
              <a:rPr lang="en-US" sz="1600" b="1" dirty="0" err="1"/>
              <a:t>Salida</a:t>
            </a:r>
            <a:endParaRPr lang="es-NI" sz="1600" b="1" dirty="0"/>
          </a:p>
        </p:txBody>
      </p:sp>
    </p:spTree>
    <p:extLst>
      <p:ext uri="{BB962C8B-B14F-4D97-AF65-F5344CB8AC3E}">
        <p14:creationId xmlns:p14="http://schemas.microsoft.com/office/powerpoint/2010/main" val="151898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/>
              <a:t>Sistema</a:t>
            </a:r>
            <a:r>
              <a:rPr lang="en-US" b="1" dirty="0"/>
              <a:t> de </a:t>
            </a:r>
            <a:r>
              <a:rPr lang="en-US" b="1" dirty="0" err="1"/>
              <a:t>Entrada</a:t>
            </a:r>
            <a:r>
              <a:rPr lang="en-US" b="1" dirty="0"/>
              <a:t>/</a:t>
            </a:r>
            <a:r>
              <a:rPr lang="en-US" b="1" dirty="0" err="1"/>
              <a:t>Salida</a:t>
            </a:r>
            <a:r>
              <a:rPr lang="en-US" b="1" dirty="0"/>
              <a:t> </a:t>
            </a:r>
            <a:r>
              <a:rPr lang="en-US" dirty="0" err="1"/>
              <a:t>encargado</a:t>
            </a:r>
            <a:r>
              <a:rPr lang="en-US" dirty="0"/>
              <a:t> de la </a:t>
            </a:r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transferencia</a:t>
            </a:r>
            <a:r>
              <a:rPr lang="en-US" dirty="0"/>
              <a:t> </a:t>
            </a:r>
            <a:r>
              <a:rPr lang="en-US" dirty="0" err="1"/>
              <a:t>externa</a:t>
            </a:r>
            <a:r>
              <a:rPr lang="en-US" dirty="0"/>
              <a:t>.</a:t>
            </a:r>
          </a:p>
          <a:p>
            <a:endParaRPr lang="en-US" sz="1700" dirty="0"/>
          </a:p>
          <a:p>
            <a:r>
              <a:rPr lang="en-US" dirty="0" err="1"/>
              <a:t>Funcionalmente</a:t>
            </a:r>
            <a:r>
              <a:rPr lang="en-US" dirty="0"/>
              <a:t> se </a:t>
            </a:r>
            <a:r>
              <a:rPr lang="en-US" dirty="0" err="1"/>
              <a:t>suelen</a:t>
            </a:r>
            <a:r>
              <a:rPr lang="en-US" dirty="0"/>
              <a:t> </a:t>
            </a:r>
            <a:r>
              <a:rPr lang="en-US" dirty="0" err="1"/>
              <a:t>identificar</a:t>
            </a:r>
            <a:r>
              <a:rPr lang="en-US" dirty="0"/>
              <a:t> 2 </a:t>
            </a:r>
            <a:r>
              <a:rPr lang="en-US" dirty="0" err="1"/>
              <a:t>unidades</a:t>
            </a:r>
            <a:r>
              <a:rPr lang="en-US" dirty="0"/>
              <a:t>: </a:t>
            </a:r>
            <a:r>
              <a:rPr lang="en-US" dirty="0" err="1"/>
              <a:t>Unidad</a:t>
            </a:r>
            <a:r>
              <a:rPr lang="en-US" dirty="0"/>
              <a:t> de </a:t>
            </a:r>
            <a:r>
              <a:rPr lang="en-US" dirty="0" err="1"/>
              <a:t>entrada</a:t>
            </a:r>
            <a:r>
              <a:rPr lang="en-US" dirty="0"/>
              <a:t> y </a:t>
            </a:r>
            <a:r>
              <a:rPr lang="en-US" dirty="0" err="1"/>
              <a:t>unidad</a:t>
            </a:r>
            <a:r>
              <a:rPr lang="en-US" dirty="0"/>
              <a:t> de </a:t>
            </a:r>
            <a:r>
              <a:rPr lang="en-US" dirty="0" err="1"/>
              <a:t>salida</a:t>
            </a:r>
            <a:r>
              <a:rPr lang="en-US" dirty="0"/>
              <a:t>:</a:t>
            </a:r>
          </a:p>
          <a:p>
            <a:pPr lvl="1"/>
            <a:r>
              <a:rPr lang="en-US" sz="2600" b="1" dirty="0" err="1"/>
              <a:t>Unidad</a:t>
            </a:r>
            <a:r>
              <a:rPr lang="en-US" sz="2600" b="1" dirty="0"/>
              <a:t> de </a:t>
            </a:r>
            <a:r>
              <a:rPr lang="en-US" sz="2600" b="1" dirty="0" err="1"/>
              <a:t>Entrada</a:t>
            </a:r>
            <a:r>
              <a:rPr lang="en-US" sz="2600" dirty="0"/>
              <a:t>: </a:t>
            </a:r>
            <a:r>
              <a:rPr lang="en-US" sz="2600" dirty="0" err="1"/>
              <a:t>Recibir</a:t>
            </a:r>
            <a:r>
              <a:rPr lang="en-US" sz="2600" dirty="0"/>
              <a:t> </a:t>
            </a:r>
            <a:r>
              <a:rPr lang="en-US" sz="2600" dirty="0" err="1"/>
              <a:t>datos</a:t>
            </a:r>
            <a:r>
              <a:rPr lang="en-US" sz="2600" dirty="0"/>
              <a:t> y </a:t>
            </a:r>
            <a:r>
              <a:rPr lang="en-US" sz="2600" dirty="0" err="1"/>
              <a:t>programas</a:t>
            </a:r>
            <a:r>
              <a:rPr lang="en-US" sz="2600" dirty="0"/>
              <a:t> </a:t>
            </a:r>
            <a:r>
              <a:rPr lang="en-US" sz="2600" dirty="0" err="1"/>
              <a:t>desde</a:t>
            </a:r>
            <a:r>
              <a:rPr lang="en-US" sz="2600" dirty="0"/>
              <a:t> el exterior en forma utilizable </a:t>
            </a:r>
            <a:r>
              <a:rPr lang="en-US" sz="2600" dirty="0" err="1"/>
              <a:t>por</a:t>
            </a:r>
            <a:r>
              <a:rPr lang="en-US" sz="2600" dirty="0"/>
              <a:t> el CPU.</a:t>
            </a:r>
          </a:p>
          <a:p>
            <a:pPr lvl="1"/>
            <a:r>
              <a:rPr lang="en-US" sz="2600" b="1" dirty="0" err="1"/>
              <a:t>Unidad</a:t>
            </a:r>
            <a:r>
              <a:rPr lang="en-US" sz="2600" b="1" dirty="0"/>
              <a:t> de </a:t>
            </a:r>
            <a:r>
              <a:rPr lang="en-US" sz="2600" b="1" dirty="0" err="1"/>
              <a:t>Salida</a:t>
            </a:r>
            <a:r>
              <a:rPr lang="en-US" sz="2600" dirty="0"/>
              <a:t>: </a:t>
            </a:r>
            <a:r>
              <a:rPr lang="en-US" sz="2600" dirty="0" err="1"/>
              <a:t>Entregar</a:t>
            </a:r>
            <a:r>
              <a:rPr lang="en-US" sz="2600" dirty="0"/>
              <a:t> </a:t>
            </a:r>
            <a:r>
              <a:rPr lang="en-US" sz="2600" dirty="0" err="1"/>
              <a:t>resultados</a:t>
            </a:r>
            <a:r>
              <a:rPr lang="en-US" sz="2600" dirty="0"/>
              <a:t> de </a:t>
            </a:r>
            <a:r>
              <a:rPr lang="en-US" sz="2600" dirty="0" err="1"/>
              <a:t>procesamiento</a:t>
            </a:r>
            <a:r>
              <a:rPr lang="en-US" sz="2600" dirty="0"/>
              <a:t> en forma </a:t>
            </a:r>
            <a:r>
              <a:rPr lang="en-US" sz="2600" dirty="0" err="1"/>
              <a:t>útil</a:t>
            </a:r>
            <a:r>
              <a:rPr lang="en-US" sz="2600" dirty="0"/>
              <a:t> para el </a:t>
            </a:r>
            <a:r>
              <a:rPr lang="en-US" sz="2600" dirty="0" err="1"/>
              <a:t>ser</a:t>
            </a:r>
            <a:r>
              <a:rPr lang="en-US" sz="2600" dirty="0"/>
              <a:t> </a:t>
            </a:r>
            <a:r>
              <a:rPr lang="en-US" sz="2600" dirty="0" err="1"/>
              <a:t>humano</a:t>
            </a:r>
            <a:r>
              <a:rPr lang="en-US" sz="2600" dirty="0"/>
              <a:t>.</a:t>
            </a:r>
          </a:p>
          <a:p>
            <a:endParaRPr lang="en-US" sz="2200" dirty="0"/>
          </a:p>
          <a:p>
            <a:r>
              <a:rPr lang="en-US" sz="2800" b="1" dirty="0" err="1"/>
              <a:t>Interfaz</a:t>
            </a:r>
            <a:r>
              <a:rPr lang="en-US" sz="2800" b="1" dirty="0"/>
              <a:t> Hombre – </a:t>
            </a:r>
            <a:r>
              <a:rPr lang="en-US" sz="2800" b="1" dirty="0" err="1"/>
              <a:t>Máquina</a:t>
            </a:r>
            <a:r>
              <a:rPr lang="en-US" sz="2800" dirty="0"/>
              <a:t>: </a:t>
            </a:r>
            <a:r>
              <a:rPr lang="en-US" sz="2800" dirty="0" err="1"/>
              <a:t>Habilita</a:t>
            </a:r>
            <a:r>
              <a:rPr lang="en-US" sz="2800" dirty="0"/>
              <a:t> la </a:t>
            </a:r>
            <a:r>
              <a:rPr lang="en-US" sz="2800" dirty="0" err="1"/>
              <a:t>interacción</a:t>
            </a:r>
            <a:r>
              <a:rPr lang="en-US" sz="2800" dirty="0"/>
              <a:t> del Hombre con la </a:t>
            </a:r>
            <a:r>
              <a:rPr lang="en-US" sz="2800" dirty="0" err="1"/>
              <a:t>Máquina</a:t>
            </a:r>
            <a:endParaRPr lang="es-NI" sz="2800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Función</a:t>
            </a:r>
            <a:r>
              <a:rPr lang="en-US" sz="4000" dirty="0"/>
              <a:t> de </a:t>
            </a:r>
            <a:r>
              <a:rPr lang="en-US" sz="4000" dirty="0" err="1"/>
              <a:t>transferencia</a:t>
            </a:r>
            <a:r>
              <a:rPr lang="en-US" sz="4000" dirty="0"/>
              <a:t> </a:t>
            </a:r>
            <a:r>
              <a:rPr lang="en-US" sz="4000" dirty="0" err="1"/>
              <a:t>externa</a:t>
            </a:r>
            <a:endParaRPr lang="es-NI" sz="4000" dirty="0"/>
          </a:p>
        </p:txBody>
      </p:sp>
    </p:spTree>
    <p:extLst>
      <p:ext uri="{BB962C8B-B14F-4D97-AF65-F5344CB8AC3E}">
        <p14:creationId xmlns:p14="http://schemas.microsoft.com/office/powerpoint/2010/main" val="186217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4" y="1196752"/>
            <a:ext cx="8219256" cy="4759423"/>
          </a:xfrm>
        </p:spPr>
        <p:txBody>
          <a:bodyPr>
            <a:normAutofit/>
          </a:bodyPr>
          <a:lstStyle/>
          <a:p>
            <a:r>
              <a:rPr lang="en-US" sz="2800" dirty="0" err="1"/>
              <a:t>Arquitectura</a:t>
            </a:r>
            <a:r>
              <a:rPr lang="en-US" sz="2800" dirty="0"/>
              <a:t> de Buses: 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Bus del </a:t>
            </a:r>
            <a:r>
              <a:rPr lang="en-US" sz="2400" dirty="0" err="1">
                <a:solidFill>
                  <a:srgbClr val="FF0000"/>
                </a:solidFill>
              </a:rPr>
              <a:t>Sistema</a:t>
            </a:r>
            <a:endParaRPr lang="es-NI" sz="2400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Buses de </a:t>
            </a:r>
            <a:r>
              <a:rPr lang="en-US" dirty="0" err="1"/>
              <a:t>Expansión</a:t>
            </a:r>
            <a:r>
              <a:rPr lang="en-US" dirty="0"/>
              <a:t> o de </a:t>
            </a:r>
            <a:r>
              <a:rPr lang="en-US" dirty="0" err="1"/>
              <a:t>Entrada</a:t>
            </a:r>
            <a:r>
              <a:rPr lang="en-US" dirty="0"/>
              <a:t> / </a:t>
            </a:r>
            <a:r>
              <a:rPr lang="en-US" dirty="0" err="1"/>
              <a:t>Salida</a:t>
            </a:r>
            <a:endParaRPr lang="en-US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Estructura</a:t>
            </a:r>
            <a:r>
              <a:rPr lang="en-US" sz="4000" dirty="0"/>
              <a:t> de </a:t>
            </a:r>
            <a:r>
              <a:rPr lang="en-US" sz="4000" dirty="0" err="1"/>
              <a:t>Interconexión</a:t>
            </a:r>
            <a:endParaRPr lang="es-NI" sz="4000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318821"/>
              </p:ext>
            </p:extLst>
          </p:nvPr>
        </p:nvGraphicFramePr>
        <p:xfrm>
          <a:off x="755576" y="2852936"/>
          <a:ext cx="7632848" cy="3851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Visio" r:id="rId3" imgW="4448269" imgH="2241236" progId="Visio.Drawing.11">
                  <p:embed/>
                </p:oleObj>
              </mc:Choice>
              <mc:Fallback>
                <p:oleObj name="Visio" r:id="rId3" imgW="4448269" imgH="2241236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2852936"/>
                        <a:ext cx="7632848" cy="38515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55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Estructura</a:t>
            </a:r>
            <a:r>
              <a:rPr lang="en-US" sz="4000" dirty="0"/>
              <a:t> de </a:t>
            </a:r>
            <a:r>
              <a:rPr lang="en-US" sz="4000" dirty="0" err="1"/>
              <a:t>Interconexión</a:t>
            </a:r>
            <a:endParaRPr lang="es-NI" sz="4000" dirty="0"/>
          </a:p>
        </p:txBody>
      </p:sp>
      <p:sp>
        <p:nvSpPr>
          <p:cNvPr id="5" name="4 Rectángulo"/>
          <p:cNvSpPr/>
          <p:nvPr/>
        </p:nvSpPr>
        <p:spPr>
          <a:xfrm>
            <a:off x="2771800" y="2472927"/>
            <a:ext cx="122413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s-NI" dirty="0"/>
          </a:p>
        </p:txBody>
      </p:sp>
      <p:sp>
        <p:nvSpPr>
          <p:cNvPr id="6" name="5 Flecha izquierda y derecha"/>
          <p:cNvSpPr/>
          <p:nvPr/>
        </p:nvSpPr>
        <p:spPr>
          <a:xfrm>
            <a:off x="1835696" y="3369404"/>
            <a:ext cx="4536504" cy="504056"/>
          </a:xfrm>
          <a:prstGeom prst="left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Bus del </a:t>
            </a:r>
            <a:r>
              <a:rPr lang="en-US" sz="1600" dirty="0" err="1">
                <a:solidFill>
                  <a:srgbClr val="0070C0"/>
                </a:solidFill>
              </a:rPr>
              <a:t>Sistema</a:t>
            </a:r>
            <a:endParaRPr lang="es-NI" sz="1600" dirty="0">
              <a:solidFill>
                <a:srgbClr val="0070C0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4139952" y="2470225"/>
            <a:ext cx="1224136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Memoria</a:t>
            </a:r>
            <a:endParaRPr lang="es-NI" dirty="0"/>
          </a:p>
        </p:txBody>
      </p:sp>
      <p:sp>
        <p:nvSpPr>
          <p:cNvPr id="8" name="7 Flecha arriba y abajo"/>
          <p:cNvSpPr/>
          <p:nvPr/>
        </p:nvSpPr>
        <p:spPr>
          <a:xfrm>
            <a:off x="3275856" y="2976983"/>
            <a:ext cx="288032" cy="501354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9" name="8 Flecha arriba y abajo"/>
          <p:cNvSpPr/>
          <p:nvPr/>
        </p:nvSpPr>
        <p:spPr>
          <a:xfrm>
            <a:off x="4608004" y="2974281"/>
            <a:ext cx="288032" cy="501354"/>
          </a:xfrm>
          <a:prstGeom prst="up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10 Rectángulo"/>
          <p:cNvSpPr/>
          <p:nvPr/>
        </p:nvSpPr>
        <p:spPr>
          <a:xfrm>
            <a:off x="2627784" y="4290373"/>
            <a:ext cx="3096344" cy="50405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Puente (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controlador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de E/S</a:t>
            </a:r>
            <a:endParaRPr lang="es-NI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11 Flecha arriba y abajo"/>
          <p:cNvSpPr/>
          <p:nvPr/>
        </p:nvSpPr>
        <p:spPr>
          <a:xfrm>
            <a:off x="3903038" y="3769071"/>
            <a:ext cx="288032" cy="501354"/>
          </a:xfrm>
          <a:prstGeom prst="upDownArrow">
            <a:avLst/>
          </a:prstGeom>
          <a:solidFill>
            <a:srgbClr val="FFC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3" name="12 Flecha izquierda y derecha"/>
          <p:cNvSpPr/>
          <p:nvPr/>
        </p:nvSpPr>
        <p:spPr>
          <a:xfrm>
            <a:off x="1043608" y="5206529"/>
            <a:ext cx="5832648" cy="576064"/>
          </a:xfrm>
          <a:prstGeom prst="left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Bus de 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</a:rPr>
              <a:t>Expansión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 o de 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</a:rPr>
              <a:t>Entrada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</a:rPr>
              <a:t>Salida</a:t>
            </a:r>
            <a:endParaRPr lang="es-NI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" name="13 Flecha arriba y abajo"/>
          <p:cNvSpPr/>
          <p:nvPr/>
        </p:nvSpPr>
        <p:spPr>
          <a:xfrm>
            <a:off x="3915202" y="4814968"/>
            <a:ext cx="288032" cy="501354"/>
          </a:xfrm>
          <a:prstGeom prst="upDownArrow">
            <a:avLst/>
          </a:prstGeom>
          <a:solidFill>
            <a:srgbClr val="FFC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7" name="16 Rectángulo"/>
          <p:cNvSpPr/>
          <p:nvPr/>
        </p:nvSpPr>
        <p:spPr>
          <a:xfrm>
            <a:off x="1403648" y="6165304"/>
            <a:ext cx="1224136" cy="504056"/>
          </a:xfrm>
          <a:prstGeom prst="rect">
            <a:avLst/>
          </a:prstGeom>
          <a:solidFill>
            <a:srgbClr val="7030A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Periférico</a:t>
            </a:r>
            <a:endParaRPr lang="es-NI" dirty="0"/>
          </a:p>
        </p:txBody>
      </p:sp>
      <p:sp>
        <p:nvSpPr>
          <p:cNvPr id="18" name="17 Rectángulo"/>
          <p:cNvSpPr/>
          <p:nvPr/>
        </p:nvSpPr>
        <p:spPr>
          <a:xfrm>
            <a:off x="2735270" y="6165304"/>
            <a:ext cx="1224136" cy="504056"/>
          </a:xfrm>
          <a:prstGeom prst="rect">
            <a:avLst/>
          </a:prstGeom>
          <a:solidFill>
            <a:srgbClr val="7030A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Periférico</a:t>
            </a:r>
            <a:endParaRPr lang="es-NI" dirty="0"/>
          </a:p>
        </p:txBody>
      </p:sp>
      <p:sp>
        <p:nvSpPr>
          <p:cNvPr id="19" name="18 Rectángulo"/>
          <p:cNvSpPr/>
          <p:nvPr/>
        </p:nvSpPr>
        <p:spPr>
          <a:xfrm>
            <a:off x="4070488" y="6165304"/>
            <a:ext cx="1224136" cy="504056"/>
          </a:xfrm>
          <a:prstGeom prst="rect">
            <a:avLst/>
          </a:prstGeom>
          <a:solidFill>
            <a:srgbClr val="7030A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Periférico</a:t>
            </a:r>
            <a:endParaRPr lang="es-NI" dirty="0"/>
          </a:p>
        </p:txBody>
      </p:sp>
      <p:sp>
        <p:nvSpPr>
          <p:cNvPr id="20" name="19 Rectángulo"/>
          <p:cNvSpPr/>
          <p:nvPr/>
        </p:nvSpPr>
        <p:spPr>
          <a:xfrm>
            <a:off x="5363698" y="6165304"/>
            <a:ext cx="1224136" cy="504056"/>
          </a:xfrm>
          <a:prstGeom prst="rect">
            <a:avLst/>
          </a:prstGeom>
          <a:solidFill>
            <a:srgbClr val="7030A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Periférico</a:t>
            </a:r>
            <a:endParaRPr lang="es-NI" dirty="0"/>
          </a:p>
        </p:txBody>
      </p:sp>
      <p:sp>
        <p:nvSpPr>
          <p:cNvPr id="21" name="20 Flecha arriba y abajo"/>
          <p:cNvSpPr/>
          <p:nvPr/>
        </p:nvSpPr>
        <p:spPr>
          <a:xfrm>
            <a:off x="1907704" y="5638577"/>
            <a:ext cx="288032" cy="501354"/>
          </a:xfrm>
          <a:prstGeom prst="up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2" name="21 Flecha arriba y abajo"/>
          <p:cNvSpPr/>
          <p:nvPr/>
        </p:nvSpPr>
        <p:spPr>
          <a:xfrm>
            <a:off x="3203848" y="5638577"/>
            <a:ext cx="288032" cy="501354"/>
          </a:xfrm>
          <a:prstGeom prst="up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3" name="22 Flecha arriba y abajo"/>
          <p:cNvSpPr/>
          <p:nvPr/>
        </p:nvSpPr>
        <p:spPr>
          <a:xfrm>
            <a:off x="4499992" y="5638577"/>
            <a:ext cx="288032" cy="501354"/>
          </a:xfrm>
          <a:prstGeom prst="up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4" name="23 Flecha arriba y abajo"/>
          <p:cNvSpPr/>
          <p:nvPr/>
        </p:nvSpPr>
        <p:spPr>
          <a:xfrm>
            <a:off x="5796136" y="5638577"/>
            <a:ext cx="288032" cy="501354"/>
          </a:xfrm>
          <a:prstGeom prst="up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25" name="24 Marcador de contenido"/>
          <p:cNvSpPr>
            <a:spLocks noGrp="1"/>
          </p:cNvSpPr>
          <p:nvPr>
            <p:ph idx="1"/>
          </p:nvPr>
        </p:nvSpPr>
        <p:spPr>
          <a:xfrm>
            <a:off x="498376" y="1154599"/>
            <a:ext cx="8219256" cy="1482314"/>
          </a:xfrm>
        </p:spPr>
        <p:txBody>
          <a:bodyPr/>
          <a:lstStyle/>
          <a:p>
            <a:r>
              <a:rPr lang="en-US" dirty="0" err="1"/>
              <a:t>Arquitectura</a:t>
            </a:r>
            <a:r>
              <a:rPr lang="en-US" dirty="0"/>
              <a:t> de Buses: 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Bus del </a:t>
            </a:r>
            <a:r>
              <a:rPr lang="en-US" sz="2400" dirty="0" err="1">
                <a:solidFill>
                  <a:srgbClr val="FF0000"/>
                </a:solidFill>
              </a:rPr>
              <a:t>Sistema</a:t>
            </a:r>
            <a:endParaRPr lang="es-NI" sz="2400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Buses de </a:t>
            </a:r>
            <a:r>
              <a:rPr lang="en-US" dirty="0" err="1"/>
              <a:t>Expansión</a:t>
            </a:r>
            <a:r>
              <a:rPr lang="en-US" dirty="0"/>
              <a:t> o de </a:t>
            </a:r>
            <a:r>
              <a:rPr lang="en-US" dirty="0" err="1"/>
              <a:t>Entrada</a:t>
            </a:r>
            <a:r>
              <a:rPr lang="en-US" dirty="0"/>
              <a:t> / </a:t>
            </a:r>
            <a:r>
              <a:rPr lang="en-US" dirty="0" err="1"/>
              <a:t>Salida</a:t>
            </a:r>
            <a:endParaRPr lang="en-US" dirty="0"/>
          </a:p>
          <a:p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186501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, </a:t>
            </a:r>
            <a:r>
              <a:rPr lang="en-US" dirty="0" err="1"/>
              <a:t>basados</a:t>
            </a:r>
            <a:r>
              <a:rPr lang="en-US" dirty="0"/>
              <a:t> en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tecnologías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Electrónicos</a:t>
            </a:r>
            <a:r>
              <a:rPr lang="en-US" dirty="0"/>
              <a:t>, </a:t>
            </a:r>
            <a:r>
              <a:rPr lang="en-US" dirty="0" err="1"/>
              <a:t>Electromecánicos</a:t>
            </a:r>
            <a:r>
              <a:rPr lang="en-US" dirty="0"/>
              <a:t>, </a:t>
            </a:r>
            <a:r>
              <a:rPr lang="en-US" dirty="0" err="1"/>
              <a:t>Ópticos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Requerido</a:t>
            </a:r>
            <a:r>
              <a:rPr lang="en-US" dirty="0"/>
              <a:t> </a:t>
            </a:r>
            <a:r>
              <a:rPr lang="en-US" dirty="0" err="1"/>
              <a:t>estandarizar</a:t>
            </a:r>
            <a:r>
              <a:rPr lang="en-US" dirty="0"/>
              <a:t> la forma de </a:t>
            </a:r>
            <a:r>
              <a:rPr lang="en-US" dirty="0" err="1"/>
              <a:t>comunicarse</a:t>
            </a:r>
            <a:r>
              <a:rPr lang="en-US" dirty="0"/>
              <a:t> con los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.</a:t>
            </a:r>
            <a:endParaRPr lang="es-NI" dirty="0"/>
          </a:p>
          <a:p>
            <a:r>
              <a:rPr lang="en-US" dirty="0"/>
              <a:t> </a:t>
            </a:r>
            <a:r>
              <a:rPr lang="en-US" dirty="0" err="1"/>
              <a:t>Estándares</a:t>
            </a:r>
            <a:r>
              <a:rPr lang="en-US" dirty="0"/>
              <a:t> de buses de </a:t>
            </a:r>
            <a:r>
              <a:rPr lang="en-US" dirty="0" err="1"/>
              <a:t>expansión</a:t>
            </a:r>
            <a:r>
              <a:rPr lang="en-US" dirty="0"/>
              <a:t> (de </a:t>
            </a:r>
            <a:r>
              <a:rPr lang="en-US" dirty="0" err="1"/>
              <a:t>entrada</a:t>
            </a:r>
            <a:r>
              <a:rPr lang="en-US" dirty="0"/>
              <a:t> </a:t>
            </a:r>
            <a:r>
              <a:rPr lang="en-US" dirty="0" err="1"/>
              <a:t>salida</a:t>
            </a:r>
            <a:r>
              <a:rPr lang="en-US" dirty="0"/>
              <a:t>) </a:t>
            </a:r>
            <a:r>
              <a:rPr lang="en-US" dirty="0" err="1"/>
              <a:t>establecen</a:t>
            </a:r>
            <a:r>
              <a:rPr lang="en-US" dirty="0"/>
              <a:t>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especificaciones</a:t>
            </a:r>
            <a:r>
              <a:rPr lang="en-US" dirty="0"/>
              <a:t> </a:t>
            </a:r>
            <a:r>
              <a:rPr lang="en-US" dirty="0" err="1"/>
              <a:t>requeridas</a:t>
            </a:r>
            <a:r>
              <a:rPr lang="en-US" dirty="0"/>
              <a:t> a los </a:t>
            </a:r>
            <a:r>
              <a:rPr lang="en-US" dirty="0" err="1"/>
              <a:t>dispositivos</a:t>
            </a:r>
            <a:r>
              <a:rPr lang="en-US" dirty="0"/>
              <a:t> para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comunicarse</a:t>
            </a:r>
            <a:r>
              <a:rPr lang="en-US" dirty="0"/>
              <a:t> con la </a:t>
            </a:r>
            <a:r>
              <a:rPr lang="en-US" dirty="0" err="1"/>
              <a:t>computadora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Estandar</a:t>
            </a:r>
            <a:r>
              <a:rPr lang="en-US" dirty="0"/>
              <a:t> define </a:t>
            </a:r>
            <a:r>
              <a:rPr lang="en-US" dirty="0" err="1"/>
              <a:t>características</a:t>
            </a:r>
            <a:r>
              <a:rPr lang="en-US" dirty="0"/>
              <a:t> </a:t>
            </a:r>
            <a:r>
              <a:rPr lang="en-US" dirty="0" err="1"/>
              <a:t>físicas</a:t>
            </a:r>
            <a:r>
              <a:rPr lang="en-US" dirty="0"/>
              <a:t>, </a:t>
            </a:r>
            <a:r>
              <a:rPr lang="en-US" dirty="0" err="1"/>
              <a:t>eléctricas</a:t>
            </a:r>
            <a:r>
              <a:rPr lang="en-US" dirty="0"/>
              <a:t> y </a:t>
            </a:r>
            <a:r>
              <a:rPr lang="en-US" dirty="0" err="1"/>
              <a:t>protocolo</a:t>
            </a:r>
            <a:r>
              <a:rPr lang="en-US" dirty="0"/>
              <a:t> de </a:t>
            </a:r>
            <a:r>
              <a:rPr lang="en-US" dirty="0" err="1"/>
              <a:t>comunicación</a:t>
            </a:r>
            <a:r>
              <a:rPr lang="en-US" dirty="0"/>
              <a:t>.</a:t>
            </a:r>
            <a:endParaRPr lang="es-NI" dirty="0"/>
          </a:p>
          <a:p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Estandarización</a:t>
            </a:r>
            <a:r>
              <a:rPr lang="en-US" dirty="0"/>
              <a:t> de </a:t>
            </a:r>
            <a:r>
              <a:rPr lang="en-US" dirty="0" err="1"/>
              <a:t>Entrada</a:t>
            </a:r>
            <a:r>
              <a:rPr lang="en-US" dirty="0"/>
              <a:t>/</a:t>
            </a:r>
            <a:r>
              <a:rPr lang="en-US" dirty="0" err="1"/>
              <a:t>Salida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350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4" y="1196752"/>
            <a:ext cx="8219256" cy="547260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s-ES" b="1" dirty="0"/>
              <a:t>Tipo de bus: </a:t>
            </a:r>
            <a:r>
              <a:rPr lang="es-ES" dirty="0"/>
              <a:t>Serial o paralelo.</a:t>
            </a:r>
          </a:p>
          <a:p>
            <a:pPr lvl="0"/>
            <a:endParaRPr lang="es-ES" sz="1900" b="1" dirty="0"/>
          </a:p>
          <a:p>
            <a:pPr lvl="0"/>
            <a:r>
              <a:rPr lang="es-ES" b="1" dirty="0"/>
              <a:t>Tipos de  líneas:</a:t>
            </a:r>
            <a:r>
              <a:rPr lang="es-ES" dirty="0"/>
              <a:t> dedicadas y multiplexadas.  </a:t>
            </a:r>
          </a:p>
          <a:p>
            <a:pPr lvl="0"/>
            <a:endParaRPr lang="es-NI" sz="1400" dirty="0"/>
          </a:p>
          <a:p>
            <a:pPr lvl="0"/>
            <a:r>
              <a:rPr lang="es-ES" b="1" dirty="0"/>
              <a:t>Modo de arbitraje</a:t>
            </a:r>
            <a:r>
              <a:rPr lang="es-ES" dirty="0"/>
              <a:t>: Forma para definir la asignación del bus a un dispositivo único. </a:t>
            </a:r>
          </a:p>
          <a:p>
            <a:pPr lvl="0"/>
            <a:endParaRPr lang="es-NI" sz="1400" dirty="0"/>
          </a:p>
          <a:p>
            <a:pPr lvl="0"/>
            <a:r>
              <a:rPr lang="es-ES" b="1" dirty="0"/>
              <a:t>Temporización</a:t>
            </a:r>
            <a:r>
              <a:rPr lang="es-ES" dirty="0"/>
              <a:t>: El bus puede ser síncrono o asíncrono. </a:t>
            </a:r>
          </a:p>
          <a:p>
            <a:pPr lvl="1"/>
            <a:r>
              <a:rPr lang="es-ES" sz="2600" dirty="0"/>
              <a:t>Síncrono: En el primero se cuenta con un reloj que sincroniza todas las actividades del bus y todos los módulos conectados al mismo deben supeditarse a él. </a:t>
            </a:r>
          </a:p>
          <a:p>
            <a:pPr lvl="1"/>
            <a:r>
              <a:rPr lang="es-ES" sz="2600" dirty="0"/>
              <a:t>Asíncrono: El segundo enfoque requiere de señales de reconocimiento de inicio y finalización de eventos.</a:t>
            </a:r>
          </a:p>
          <a:p>
            <a:pPr lvl="1"/>
            <a:endParaRPr lang="es-NI" sz="1400" dirty="0"/>
          </a:p>
          <a:p>
            <a:pPr lvl="0"/>
            <a:r>
              <a:rPr lang="es-ES" b="1" dirty="0"/>
              <a:t>Anchura</a:t>
            </a:r>
            <a:r>
              <a:rPr lang="es-ES" dirty="0"/>
              <a:t>: Cantidad de bits (tamaño) del bus y Velocidad de transferencia máxima.</a:t>
            </a:r>
          </a:p>
          <a:p>
            <a:pPr lvl="0"/>
            <a:endParaRPr lang="es-NI" sz="1600" dirty="0"/>
          </a:p>
          <a:p>
            <a:pPr lvl="0"/>
            <a:r>
              <a:rPr lang="es-ES" b="1" dirty="0"/>
              <a:t>Tipos de transacciones de datos</a:t>
            </a:r>
            <a:r>
              <a:rPr lang="es-ES" dirty="0"/>
              <a:t>: Puede ser de lectura, escritura, cualquiera de ellas por bloque y diferentes  combinaciones de las mismas. 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Diseño</a:t>
            </a:r>
            <a:r>
              <a:rPr lang="en-US" dirty="0"/>
              <a:t> del Bus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11285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Bus ISA</a:t>
            </a:r>
            <a:r>
              <a:rPr lang="en-US" dirty="0"/>
              <a:t>: Industry Standard Architecture. Bus original de 8 bits </a:t>
            </a:r>
            <a:r>
              <a:rPr lang="en-US" dirty="0" err="1"/>
              <a:t>creado</a:t>
            </a:r>
            <a:r>
              <a:rPr lang="en-US" dirty="0"/>
              <a:t> para la IBM PC en 1980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extendió</a:t>
            </a:r>
            <a:r>
              <a:rPr lang="en-US" dirty="0"/>
              <a:t> a 16 bits en el ISA XT en 1984. El bus original </a:t>
            </a:r>
            <a:r>
              <a:rPr lang="en-US" dirty="0" err="1"/>
              <a:t>funcionaba</a:t>
            </a:r>
            <a:r>
              <a:rPr lang="en-US" dirty="0"/>
              <a:t> a 4.77 MHz, el ISA XT a 8 MHz y </a:t>
            </a:r>
            <a:r>
              <a:rPr lang="en-US" dirty="0" err="1"/>
              <a:t>actualmente</a:t>
            </a:r>
            <a:r>
              <a:rPr lang="en-US" dirty="0"/>
              <a:t> </a:t>
            </a:r>
            <a:r>
              <a:rPr lang="en-US" dirty="0" err="1"/>
              <a:t>escala</a:t>
            </a:r>
            <a:r>
              <a:rPr lang="en-US" dirty="0"/>
              <a:t> hasta 13MHz.</a:t>
            </a:r>
          </a:p>
          <a:p>
            <a:r>
              <a:rPr lang="en-US" b="1" dirty="0"/>
              <a:t>BUS PCI</a:t>
            </a:r>
            <a:r>
              <a:rPr lang="en-US" dirty="0"/>
              <a:t>: </a:t>
            </a:r>
            <a:r>
              <a:rPr lang="en-US" dirty="0" err="1"/>
              <a:t>Periferal</a:t>
            </a:r>
            <a:r>
              <a:rPr lang="en-US" dirty="0"/>
              <a:t> Component Interconnect. Bus de 32 bits y 64 bits a 33MHz – 133MHz. </a:t>
            </a:r>
            <a:r>
              <a:rPr lang="en-US" dirty="0" err="1"/>
              <a:t>Actualmente</a:t>
            </a:r>
            <a:r>
              <a:rPr lang="en-US" dirty="0"/>
              <a:t> </a:t>
            </a:r>
            <a:r>
              <a:rPr lang="en-US" dirty="0" err="1"/>
              <a:t>PCIe</a:t>
            </a:r>
            <a:r>
              <a:rPr lang="en-US" dirty="0"/>
              <a:t> (PCI express), bus serial de 1, 4 y 16 </a:t>
            </a:r>
            <a:r>
              <a:rPr lang="en-US" dirty="0" err="1"/>
              <a:t>canales</a:t>
            </a:r>
            <a:r>
              <a:rPr lang="en-US" dirty="0"/>
              <a:t>.</a:t>
            </a:r>
          </a:p>
          <a:p>
            <a:r>
              <a:rPr lang="en-US" b="1" dirty="0" err="1"/>
              <a:t>Externos</a:t>
            </a:r>
            <a:r>
              <a:rPr lang="en-US" dirty="0"/>
              <a:t>: USB, FireWire (IEEE 1394), </a:t>
            </a:r>
            <a:r>
              <a:rPr lang="en-US" dirty="0" err="1"/>
              <a:t>eSATA</a:t>
            </a:r>
            <a:r>
              <a:rPr lang="en-US" dirty="0"/>
              <a:t>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Ejemplos</a:t>
            </a:r>
            <a:r>
              <a:rPr lang="en-US" dirty="0"/>
              <a:t> de Buses </a:t>
            </a:r>
            <a:r>
              <a:rPr lang="en-US" dirty="0" err="1"/>
              <a:t>estándares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60129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Arquitectura</a:t>
            </a:r>
            <a:r>
              <a:rPr lang="en-US" dirty="0"/>
              <a:t> de Buses de la PC</a:t>
            </a:r>
            <a:endParaRPr lang="es-NI" dirty="0"/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818025"/>
              </p:ext>
            </p:extLst>
          </p:nvPr>
        </p:nvGraphicFramePr>
        <p:xfrm>
          <a:off x="539552" y="1052736"/>
          <a:ext cx="7776864" cy="5610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Visio" r:id="rId3" imgW="4751832" imgH="3429000" progId="Visio.Drawing.11">
                  <p:embed/>
                </p:oleObj>
              </mc:Choice>
              <mc:Fallback>
                <p:oleObj name="Visio" r:id="rId3" imgW="4751832" imgH="3429000" progId="Visio.Drawing.11">
                  <p:embed/>
                  <p:pic>
                    <p:nvPicPr>
                      <p:cNvPr id="0" name="3 Objet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1052736"/>
                        <a:ext cx="7776864" cy="56107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7168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Hardware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habilita</a:t>
            </a:r>
            <a:r>
              <a:rPr lang="en-US" dirty="0"/>
              <a:t> la </a:t>
            </a:r>
            <a:r>
              <a:rPr lang="en-US" dirty="0" err="1"/>
              <a:t>interfaz</a:t>
            </a:r>
            <a:r>
              <a:rPr lang="en-US" dirty="0"/>
              <a:t> del </a:t>
            </a:r>
            <a:r>
              <a:rPr lang="en-US" dirty="0" err="1"/>
              <a:t>dispositivo</a:t>
            </a:r>
            <a:r>
              <a:rPr lang="en-US" dirty="0"/>
              <a:t> con el bus de </a:t>
            </a:r>
            <a:r>
              <a:rPr lang="en-US" dirty="0" err="1"/>
              <a:t>interconexión</a:t>
            </a:r>
            <a:r>
              <a:rPr lang="en-US" dirty="0"/>
              <a:t>.</a:t>
            </a:r>
          </a:p>
          <a:p>
            <a:r>
              <a:rPr lang="en-US" dirty="0" err="1"/>
              <a:t>Gestiona</a:t>
            </a:r>
            <a:r>
              <a:rPr lang="en-US" dirty="0"/>
              <a:t> la </a:t>
            </a:r>
            <a:r>
              <a:rPr lang="en-US" dirty="0" err="1"/>
              <a:t>interacción</a:t>
            </a:r>
            <a:r>
              <a:rPr lang="en-US" dirty="0"/>
              <a:t> con el </a:t>
            </a:r>
            <a:r>
              <a:rPr lang="en-US" dirty="0" err="1"/>
              <a:t>dispositivo</a:t>
            </a:r>
            <a:r>
              <a:rPr lang="en-US" dirty="0"/>
              <a:t>:</a:t>
            </a:r>
          </a:p>
          <a:p>
            <a:pPr lvl="1"/>
            <a:r>
              <a:rPr lang="en-US" sz="2400" dirty="0" err="1"/>
              <a:t>Activación</a:t>
            </a:r>
            <a:r>
              <a:rPr lang="en-US" sz="2400" dirty="0"/>
              <a:t> de </a:t>
            </a:r>
            <a:r>
              <a:rPr lang="en-US" sz="2400" dirty="0" err="1"/>
              <a:t>acceso</a:t>
            </a:r>
            <a:r>
              <a:rPr lang="en-US" sz="2400" dirty="0"/>
              <a:t> al </a:t>
            </a:r>
            <a:r>
              <a:rPr lang="en-US" sz="2400" dirty="0" err="1"/>
              <a:t>dispositivo</a:t>
            </a:r>
            <a:r>
              <a:rPr lang="en-US" sz="2400" dirty="0"/>
              <a:t> de E/S (</a:t>
            </a:r>
            <a:r>
              <a:rPr lang="en-US" sz="2400" dirty="0" err="1"/>
              <a:t>direccionamiento</a:t>
            </a:r>
            <a:r>
              <a:rPr lang="en-US" sz="2400" dirty="0"/>
              <a:t>).</a:t>
            </a:r>
          </a:p>
          <a:p>
            <a:pPr lvl="1"/>
            <a:r>
              <a:rPr lang="en-US" sz="2400" dirty="0" err="1"/>
              <a:t>Transferencia</a:t>
            </a:r>
            <a:r>
              <a:rPr lang="en-US" sz="2400" dirty="0"/>
              <a:t> de </a:t>
            </a:r>
            <a:r>
              <a:rPr lang="en-US" sz="2400" dirty="0" err="1"/>
              <a:t>datos</a:t>
            </a:r>
            <a:r>
              <a:rPr lang="en-US" sz="2400" dirty="0"/>
              <a:t>.</a:t>
            </a:r>
          </a:p>
          <a:p>
            <a:pPr lvl="1"/>
            <a:r>
              <a:rPr lang="en-US" sz="2400" dirty="0" err="1"/>
              <a:t>Lógica</a:t>
            </a:r>
            <a:r>
              <a:rPr lang="en-US" sz="2400" dirty="0"/>
              <a:t> de control.</a:t>
            </a:r>
          </a:p>
          <a:p>
            <a:pPr lvl="1"/>
            <a:r>
              <a:rPr lang="en-US" sz="2400" dirty="0" err="1"/>
              <a:t>Información</a:t>
            </a:r>
            <a:r>
              <a:rPr lang="en-US" sz="2400" dirty="0"/>
              <a:t> del </a:t>
            </a:r>
            <a:r>
              <a:rPr lang="en-US" sz="2400" dirty="0" err="1"/>
              <a:t>estado</a:t>
            </a:r>
            <a:r>
              <a:rPr lang="en-US" sz="2400" dirty="0"/>
              <a:t>.</a:t>
            </a:r>
            <a:endParaRPr lang="es-NI" sz="2400" dirty="0"/>
          </a:p>
          <a:p>
            <a:pPr lvl="1"/>
            <a:r>
              <a:rPr lang="en-US" sz="2400" dirty="0" err="1"/>
              <a:t>Interfaz</a:t>
            </a:r>
            <a:r>
              <a:rPr lang="en-US" sz="2400" dirty="0"/>
              <a:t> al </a:t>
            </a:r>
            <a:r>
              <a:rPr lang="en-US" sz="2400" dirty="0" err="1"/>
              <a:t>almacenamiento</a:t>
            </a:r>
            <a:r>
              <a:rPr lang="en-US" sz="2400" dirty="0"/>
              <a:t> de </a:t>
            </a:r>
            <a:r>
              <a:rPr lang="en-US" sz="2400" dirty="0" err="1"/>
              <a:t>datos</a:t>
            </a:r>
            <a:r>
              <a:rPr lang="en-US" sz="2400" dirty="0"/>
              <a:t> o </a:t>
            </a:r>
            <a:r>
              <a:rPr lang="en-US" sz="2400" dirty="0" err="1"/>
              <a:t>información</a:t>
            </a:r>
            <a:r>
              <a:rPr lang="en-US" sz="2400" dirty="0"/>
              <a:t> del </a:t>
            </a:r>
            <a:r>
              <a:rPr lang="en-US" sz="2400" dirty="0" err="1"/>
              <a:t>dispositivo</a:t>
            </a:r>
            <a:r>
              <a:rPr lang="en-US" sz="2400" dirty="0"/>
              <a:t> a </a:t>
            </a:r>
            <a:r>
              <a:rPr lang="en-US" sz="2400" dirty="0" err="1"/>
              <a:t>través</a:t>
            </a:r>
            <a:r>
              <a:rPr lang="en-US" sz="2400" dirty="0"/>
              <a:t> del </a:t>
            </a:r>
            <a:r>
              <a:rPr lang="en-US" sz="2400" dirty="0" err="1"/>
              <a:t>módulo</a:t>
            </a:r>
            <a:r>
              <a:rPr lang="en-US" sz="2400" dirty="0"/>
              <a:t> se </a:t>
            </a:r>
            <a:r>
              <a:rPr lang="en-US" sz="2400" dirty="0" err="1"/>
              <a:t>suele</a:t>
            </a:r>
            <a:r>
              <a:rPr lang="en-US" sz="2400" dirty="0"/>
              <a:t> </a:t>
            </a:r>
            <a:r>
              <a:rPr lang="en-US" sz="2400" dirty="0" err="1"/>
              <a:t>denominar</a:t>
            </a:r>
            <a:r>
              <a:rPr lang="en-US" sz="2400" dirty="0"/>
              <a:t> “</a:t>
            </a:r>
            <a:r>
              <a:rPr lang="en-US" sz="2400" dirty="0" err="1"/>
              <a:t>puerto</a:t>
            </a:r>
            <a:r>
              <a:rPr lang="en-US" sz="2400" dirty="0"/>
              <a:t>”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Módulo</a:t>
            </a:r>
            <a:r>
              <a:rPr lang="en-US" dirty="0"/>
              <a:t> de </a:t>
            </a:r>
            <a:r>
              <a:rPr lang="en-US" dirty="0" err="1"/>
              <a:t>Entrada</a:t>
            </a:r>
            <a:r>
              <a:rPr lang="en-US" dirty="0"/>
              <a:t>/</a:t>
            </a:r>
            <a:r>
              <a:rPr lang="en-US" dirty="0" err="1"/>
              <a:t>Salida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03604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Módulo</a:t>
            </a:r>
            <a:r>
              <a:rPr lang="en-US" dirty="0"/>
              <a:t> de </a:t>
            </a:r>
            <a:r>
              <a:rPr lang="en-US" dirty="0" err="1"/>
              <a:t>Entrada</a:t>
            </a:r>
            <a:r>
              <a:rPr lang="en-US" dirty="0"/>
              <a:t>/</a:t>
            </a:r>
            <a:r>
              <a:rPr lang="en-US" dirty="0" err="1"/>
              <a:t>Salida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863699"/>
              </p:ext>
            </p:extLst>
          </p:nvPr>
        </p:nvGraphicFramePr>
        <p:xfrm>
          <a:off x="323528" y="1628800"/>
          <a:ext cx="8186159" cy="439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Visio" r:id="rId3" imgW="3749040" imgH="2205228" progId="Visio.Drawing.11">
                  <p:embed/>
                </p:oleObj>
              </mc:Choice>
              <mc:Fallback>
                <p:oleObj name="Visio" r:id="rId3" imgW="3749040" imgH="220522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628800"/>
                        <a:ext cx="8186159" cy="4392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0586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dispositivo</a:t>
            </a:r>
            <a:r>
              <a:rPr lang="en-US" dirty="0"/>
              <a:t>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intercambiar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estado</a:t>
            </a:r>
            <a:r>
              <a:rPr lang="en-US" dirty="0"/>
              <a:t> y forma de </a:t>
            </a:r>
            <a:r>
              <a:rPr lang="en-US" dirty="0" err="1"/>
              <a:t>controlarlo</a:t>
            </a:r>
            <a:r>
              <a:rPr lang="en-US" dirty="0"/>
              <a:t> con la </a:t>
            </a:r>
            <a:r>
              <a:rPr lang="en-US" dirty="0" err="1"/>
              <a:t>computadora</a:t>
            </a:r>
            <a:r>
              <a:rPr lang="en-US" dirty="0"/>
              <a:t>. </a:t>
            </a:r>
          </a:p>
          <a:p>
            <a:endParaRPr lang="en-US" sz="1800" dirty="0"/>
          </a:p>
          <a:p>
            <a:r>
              <a:rPr lang="en-US" dirty="0"/>
              <a:t>Se </a:t>
            </a:r>
            <a:r>
              <a:rPr lang="en-US" dirty="0" err="1"/>
              <a:t>requiere</a:t>
            </a:r>
            <a:r>
              <a:rPr lang="en-US" dirty="0"/>
              <a:t>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direccionar</a:t>
            </a:r>
            <a:r>
              <a:rPr lang="en-US" dirty="0"/>
              <a:t> a los </a:t>
            </a:r>
            <a:r>
              <a:rPr lang="en-US" dirty="0" err="1"/>
              <a:t>puertos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dispositivo</a:t>
            </a:r>
            <a:r>
              <a:rPr lang="en-US" dirty="0"/>
              <a:t>.</a:t>
            </a:r>
          </a:p>
          <a:p>
            <a:endParaRPr lang="en-US" sz="1800" dirty="0"/>
          </a:p>
          <a:p>
            <a:r>
              <a:rPr lang="en-US" dirty="0" err="1"/>
              <a:t>Direccionamiento</a:t>
            </a:r>
            <a:r>
              <a:rPr lang="en-US" dirty="0"/>
              <a:t> de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:</a:t>
            </a:r>
          </a:p>
          <a:p>
            <a:pPr lvl="1"/>
            <a:r>
              <a:rPr lang="en-US" sz="2400" dirty="0" err="1"/>
              <a:t>Mapeo</a:t>
            </a:r>
            <a:r>
              <a:rPr lang="en-US" sz="2400" dirty="0"/>
              <a:t> </a:t>
            </a:r>
            <a:r>
              <a:rPr lang="en-US" sz="2400" dirty="0" err="1"/>
              <a:t>integrado</a:t>
            </a:r>
            <a:r>
              <a:rPr lang="en-US" sz="2400" dirty="0"/>
              <a:t>: En el </a:t>
            </a:r>
            <a:r>
              <a:rPr lang="en-US" sz="2400" dirty="0" err="1"/>
              <a:t>mismo</a:t>
            </a:r>
            <a:r>
              <a:rPr lang="en-US" sz="2400" dirty="0"/>
              <a:t> </a:t>
            </a:r>
            <a:r>
              <a:rPr lang="en-US" sz="2400" dirty="0" err="1"/>
              <a:t>mapa</a:t>
            </a:r>
            <a:r>
              <a:rPr lang="en-US" sz="2400" dirty="0"/>
              <a:t> de </a:t>
            </a:r>
            <a:r>
              <a:rPr lang="en-US" sz="2400" dirty="0" err="1"/>
              <a:t>Memoria</a:t>
            </a:r>
            <a:endParaRPr lang="en-US" sz="2400" dirty="0"/>
          </a:p>
          <a:p>
            <a:pPr lvl="1"/>
            <a:r>
              <a:rPr lang="en-US" sz="2400" dirty="0" err="1"/>
              <a:t>Mapeo</a:t>
            </a:r>
            <a:r>
              <a:rPr lang="en-US" sz="2400" dirty="0"/>
              <a:t> </a:t>
            </a:r>
            <a:r>
              <a:rPr lang="en-US" sz="2400" dirty="0" err="1"/>
              <a:t>separado</a:t>
            </a:r>
            <a:r>
              <a:rPr lang="en-US" sz="2400" dirty="0"/>
              <a:t>: En </a:t>
            </a:r>
            <a:r>
              <a:rPr lang="en-US" sz="2400" dirty="0" err="1"/>
              <a:t>mapas</a:t>
            </a:r>
            <a:r>
              <a:rPr lang="en-US" sz="2400" dirty="0"/>
              <a:t> </a:t>
            </a:r>
            <a:r>
              <a:rPr lang="en-US" sz="2400" dirty="0" err="1"/>
              <a:t>diferentes</a:t>
            </a:r>
            <a:endParaRPr lang="es-NI" sz="2400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Direccionamiento</a:t>
            </a:r>
            <a:r>
              <a:rPr lang="en-US" dirty="0"/>
              <a:t> de </a:t>
            </a:r>
            <a:r>
              <a:rPr lang="en-US" dirty="0" err="1"/>
              <a:t>Dispositivos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50408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Localidades</a:t>
            </a:r>
            <a:r>
              <a:rPr lang="en-US" dirty="0"/>
              <a:t> de </a:t>
            </a:r>
            <a:r>
              <a:rPr lang="en-US" dirty="0" err="1"/>
              <a:t>Memoria</a:t>
            </a:r>
            <a:r>
              <a:rPr lang="en-US" dirty="0"/>
              <a:t> y </a:t>
            </a:r>
            <a:r>
              <a:rPr lang="en-US" dirty="0" err="1"/>
              <a:t>dispositivos</a:t>
            </a:r>
            <a:r>
              <a:rPr lang="en-US" dirty="0"/>
              <a:t> de E/S </a:t>
            </a:r>
            <a:r>
              <a:rPr lang="en-US" dirty="0" err="1"/>
              <a:t>comparten</a:t>
            </a:r>
            <a:r>
              <a:rPr lang="en-US" dirty="0"/>
              <a:t> un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espacio</a:t>
            </a:r>
            <a:r>
              <a:rPr lang="en-US" dirty="0"/>
              <a:t> de </a:t>
            </a:r>
            <a:r>
              <a:rPr lang="en-US" dirty="0" err="1"/>
              <a:t>direcciones</a:t>
            </a:r>
            <a:r>
              <a:rPr lang="en-US" dirty="0"/>
              <a:t>.</a:t>
            </a:r>
          </a:p>
          <a:p>
            <a:r>
              <a:rPr lang="en-US" dirty="0" err="1"/>
              <a:t>Usualmente</a:t>
            </a:r>
            <a:r>
              <a:rPr lang="en-US" dirty="0"/>
              <a:t> se divide en dos  </a:t>
            </a:r>
            <a:r>
              <a:rPr lang="en-US" dirty="0" err="1"/>
              <a:t>partes</a:t>
            </a:r>
            <a:r>
              <a:rPr lang="en-US" dirty="0"/>
              <a:t>, la parte </a:t>
            </a:r>
            <a:r>
              <a:rPr lang="en-US" dirty="0" err="1"/>
              <a:t>baja</a:t>
            </a:r>
            <a:r>
              <a:rPr lang="en-US" dirty="0"/>
              <a:t> para la </a:t>
            </a:r>
            <a:r>
              <a:rPr lang="en-US" dirty="0" err="1"/>
              <a:t>memoria</a:t>
            </a:r>
            <a:r>
              <a:rPr lang="en-US" dirty="0"/>
              <a:t> y la parte </a:t>
            </a:r>
            <a:r>
              <a:rPr lang="en-US" dirty="0" err="1"/>
              <a:t>alta</a:t>
            </a:r>
            <a:r>
              <a:rPr lang="en-US" dirty="0"/>
              <a:t> para E/S:  </a:t>
            </a:r>
            <a:r>
              <a:rPr lang="en-US" dirty="0" err="1"/>
              <a:t>msb</a:t>
            </a:r>
            <a:r>
              <a:rPr lang="en-US" dirty="0"/>
              <a:t> del bus de </a:t>
            </a:r>
            <a:r>
              <a:rPr lang="en-US" dirty="0" err="1"/>
              <a:t>direcciones</a:t>
            </a:r>
            <a:r>
              <a:rPr lang="en-US" dirty="0"/>
              <a:t> </a:t>
            </a:r>
            <a:r>
              <a:rPr lang="en-US" dirty="0" err="1"/>
              <a:t>diferencia</a:t>
            </a:r>
            <a:r>
              <a:rPr lang="en-US" dirty="0"/>
              <a:t> el </a:t>
            </a:r>
            <a:r>
              <a:rPr lang="en-US" dirty="0" err="1"/>
              <a:t>tipo</a:t>
            </a:r>
            <a:r>
              <a:rPr lang="en-US" dirty="0"/>
              <a:t>: </a:t>
            </a:r>
            <a:r>
              <a:rPr lang="en-US" dirty="0" err="1"/>
              <a:t>msb</a:t>
            </a:r>
            <a:r>
              <a:rPr lang="en-US" dirty="0"/>
              <a:t>=0</a:t>
            </a:r>
            <a:r>
              <a:rPr lang="en-US" dirty="0">
                <a:sym typeface="Symbol"/>
              </a:rPr>
              <a:t>  </a:t>
            </a:r>
            <a:r>
              <a:rPr lang="en-US" dirty="0" err="1">
                <a:sym typeface="Symbol"/>
              </a:rPr>
              <a:t>dirección</a:t>
            </a:r>
            <a:r>
              <a:rPr lang="en-US" dirty="0">
                <a:sym typeface="Symbol"/>
              </a:rPr>
              <a:t> de </a:t>
            </a:r>
            <a:r>
              <a:rPr lang="en-US" dirty="0" err="1">
                <a:sym typeface="Symbol"/>
              </a:rPr>
              <a:t>memoria</a:t>
            </a:r>
            <a:r>
              <a:rPr lang="en-US" dirty="0">
                <a:sym typeface="Symbol"/>
              </a:rPr>
              <a:t>, </a:t>
            </a:r>
            <a:r>
              <a:rPr lang="en-US" dirty="0" err="1">
                <a:sym typeface="Symbol"/>
              </a:rPr>
              <a:t>msb</a:t>
            </a:r>
            <a:r>
              <a:rPr lang="en-US" dirty="0">
                <a:sym typeface="Symbol"/>
              </a:rPr>
              <a:t>=</a:t>
            </a:r>
            <a:r>
              <a:rPr lang="en-US" dirty="0"/>
              <a:t>1 </a:t>
            </a:r>
            <a:r>
              <a:rPr lang="en-US" dirty="0">
                <a:sym typeface="Symbol"/>
              </a:rPr>
              <a:t> </a:t>
            </a:r>
            <a:r>
              <a:rPr lang="en-US" dirty="0" err="1">
                <a:sym typeface="Symbol"/>
              </a:rPr>
              <a:t>Dispositivo</a:t>
            </a:r>
            <a:r>
              <a:rPr lang="en-US" dirty="0">
                <a:sym typeface="Symbol"/>
              </a:rPr>
              <a:t> E/S.</a:t>
            </a:r>
          </a:p>
          <a:p>
            <a:r>
              <a:rPr lang="en-US" dirty="0" err="1">
                <a:sym typeface="Symbol"/>
              </a:rPr>
              <a:t>Otros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esquemas</a:t>
            </a:r>
            <a:r>
              <a:rPr lang="en-US" dirty="0">
                <a:sym typeface="Symbol"/>
              </a:rPr>
              <a:t> de </a:t>
            </a:r>
            <a:r>
              <a:rPr lang="en-US" dirty="0" err="1">
                <a:sym typeface="Symbol"/>
              </a:rPr>
              <a:t>mapeo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aplican</a:t>
            </a:r>
            <a:r>
              <a:rPr lang="en-US" dirty="0">
                <a:sym typeface="Symbol"/>
              </a:rPr>
              <a:t>.</a:t>
            </a:r>
          </a:p>
          <a:p>
            <a:r>
              <a:rPr lang="en-US" dirty="0">
                <a:sym typeface="Symbol"/>
              </a:rPr>
              <a:t>Se </a:t>
            </a:r>
            <a:r>
              <a:rPr lang="en-US" dirty="0" err="1">
                <a:sym typeface="Symbol"/>
              </a:rPr>
              <a:t>emplean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las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mismas</a:t>
            </a:r>
            <a:r>
              <a:rPr lang="en-US" dirty="0">
                <a:sym typeface="Symbol"/>
              </a:rPr>
              <a:t> </a:t>
            </a:r>
            <a:r>
              <a:rPr lang="en-US" dirty="0" err="1">
                <a:sym typeface="Symbol"/>
              </a:rPr>
              <a:t>instrucciones</a:t>
            </a:r>
            <a:r>
              <a:rPr lang="en-US" dirty="0">
                <a:sym typeface="Symbol"/>
              </a:rPr>
              <a:t> para </a:t>
            </a:r>
            <a:r>
              <a:rPr lang="en-US" dirty="0" err="1">
                <a:sym typeface="Symbol"/>
              </a:rPr>
              <a:t>acceder</a:t>
            </a:r>
            <a:r>
              <a:rPr lang="en-US" dirty="0">
                <a:sym typeface="Symbol"/>
              </a:rPr>
              <a:t> a M y E/S, </a:t>
            </a:r>
            <a:r>
              <a:rPr lang="en-US" dirty="0" err="1">
                <a:sym typeface="Symbol"/>
              </a:rPr>
              <a:t>p.e</a:t>
            </a:r>
            <a:r>
              <a:rPr lang="en-US" dirty="0">
                <a:sym typeface="Symbol"/>
              </a:rPr>
              <a:t>: MOV.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Mapeo</a:t>
            </a:r>
            <a:r>
              <a:rPr lang="en-US" dirty="0"/>
              <a:t> </a:t>
            </a:r>
            <a:r>
              <a:rPr lang="en-US" dirty="0" err="1"/>
              <a:t>integrado</a:t>
            </a:r>
            <a:r>
              <a:rPr lang="en-US" dirty="0"/>
              <a:t> M-E/S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973564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mapa</a:t>
            </a:r>
            <a:r>
              <a:rPr lang="en-US" dirty="0"/>
              <a:t> </a:t>
            </a:r>
            <a:r>
              <a:rPr lang="en-US" dirty="0" err="1"/>
              <a:t>independiente</a:t>
            </a:r>
            <a:r>
              <a:rPr lang="en-US" dirty="0"/>
              <a:t> para M y </a:t>
            </a:r>
            <a:r>
              <a:rPr lang="en-US" dirty="0" err="1"/>
              <a:t>otro</a:t>
            </a:r>
            <a:r>
              <a:rPr lang="en-US" dirty="0"/>
              <a:t> para E/S.</a:t>
            </a:r>
          </a:p>
          <a:p>
            <a:r>
              <a:rPr lang="en-US" dirty="0"/>
              <a:t>Dos </a:t>
            </a:r>
            <a:r>
              <a:rPr lang="en-US" dirty="0" err="1"/>
              <a:t>direcciones</a:t>
            </a:r>
            <a:r>
              <a:rPr lang="en-US" dirty="0"/>
              <a:t> </a:t>
            </a:r>
            <a:r>
              <a:rPr lang="en-US" dirty="0" err="1"/>
              <a:t>posibles</a:t>
            </a:r>
            <a:r>
              <a:rPr lang="en-US" dirty="0"/>
              <a:t>. </a:t>
            </a:r>
            <a:r>
              <a:rPr lang="en-US" dirty="0" err="1"/>
              <a:t>Ejemplo</a:t>
            </a:r>
            <a:r>
              <a:rPr lang="en-US" dirty="0"/>
              <a:t> en la PC: La </a:t>
            </a:r>
            <a:r>
              <a:rPr lang="en-US" dirty="0" err="1"/>
              <a:t>dirección</a:t>
            </a:r>
            <a:r>
              <a:rPr lang="en-US" dirty="0"/>
              <a:t> 378H </a:t>
            </a:r>
            <a:r>
              <a:rPr lang="en-US" dirty="0" err="1"/>
              <a:t>corresponde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localización</a:t>
            </a:r>
            <a:r>
              <a:rPr lang="en-US" dirty="0"/>
              <a:t> de M en el </a:t>
            </a:r>
            <a:r>
              <a:rPr lang="en-US" dirty="0" err="1"/>
              <a:t>área</a:t>
            </a:r>
            <a:r>
              <a:rPr lang="en-US" dirty="0"/>
              <a:t> de la BIOS, y </a:t>
            </a:r>
            <a:r>
              <a:rPr lang="en-US" dirty="0" err="1"/>
              <a:t>también</a:t>
            </a:r>
            <a:r>
              <a:rPr lang="en-US" dirty="0"/>
              <a:t> al </a:t>
            </a:r>
            <a:r>
              <a:rPr lang="en-US" dirty="0" err="1"/>
              <a:t>puerto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del </a:t>
            </a:r>
            <a:r>
              <a:rPr lang="en-US" dirty="0" err="1"/>
              <a:t>puerto</a:t>
            </a:r>
            <a:r>
              <a:rPr lang="en-US" dirty="0"/>
              <a:t> </a:t>
            </a:r>
            <a:r>
              <a:rPr lang="en-US" dirty="0" err="1"/>
              <a:t>paralelo</a:t>
            </a:r>
            <a:r>
              <a:rPr lang="en-US" dirty="0"/>
              <a:t> LPT1.</a:t>
            </a:r>
          </a:p>
          <a:p>
            <a:r>
              <a:rPr lang="en-US" dirty="0"/>
              <a:t>Se </a:t>
            </a:r>
            <a:r>
              <a:rPr lang="en-US" dirty="0" err="1"/>
              <a:t>requiere</a:t>
            </a:r>
            <a:r>
              <a:rPr lang="en-US" dirty="0"/>
              <a:t> </a:t>
            </a:r>
            <a:r>
              <a:rPr lang="en-US" dirty="0" err="1"/>
              <a:t>soporte</a:t>
            </a:r>
            <a:r>
              <a:rPr lang="en-US" dirty="0"/>
              <a:t> del CPU para </a:t>
            </a:r>
            <a:r>
              <a:rPr lang="en-US" dirty="0" err="1"/>
              <a:t>diferenciar</a:t>
            </a:r>
            <a:r>
              <a:rPr lang="en-US" dirty="0"/>
              <a:t> entre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dirección</a:t>
            </a:r>
            <a:r>
              <a:rPr lang="en-US" dirty="0"/>
              <a:t> de M y E/S, </a:t>
            </a:r>
            <a:r>
              <a:rPr lang="en-US" dirty="0" err="1"/>
              <a:t>p.e.</a:t>
            </a:r>
            <a:r>
              <a:rPr lang="en-US" dirty="0"/>
              <a:t>: IO¬M.</a:t>
            </a:r>
          </a:p>
          <a:p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especiales</a:t>
            </a:r>
            <a:r>
              <a:rPr lang="en-US" dirty="0"/>
              <a:t> de E/S: IN, OUT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Mapeo</a:t>
            </a:r>
            <a:r>
              <a:rPr lang="en-US" dirty="0"/>
              <a:t> </a:t>
            </a:r>
            <a:r>
              <a:rPr lang="en-US" dirty="0" err="1"/>
              <a:t>separado</a:t>
            </a:r>
            <a:r>
              <a:rPr lang="en-US" dirty="0"/>
              <a:t> M, E/S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93803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700808"/>
            <a:ext cx="8219256" cy="475942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Conociendo</a:t>
            </a:r>
            <a:r>
              <a:rPr lang="en-US" dirty="0"/>
              <a:t> la </a:t>
            </a:r>
            <a:r>
              <a:rPr lang="en-US" dirty="0" err="1"/>
              <a:t>dirección</a:t>
            </a:r>
            <a:r>
              <a:rPr lang="en-US" dirty="0"/>
              <a:t> de los </a:t>
            </a:r>
            <a:r>
              <a:rPr lang="en-US" dirty="0" err="1"/>
              <a:t>dispositivos</a:t>
            </a:r>
            <a:r>
              <a:rPr lang="en-US" dirty="0"/>
              <a:t>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realizar</a:t>
            </a:r>
            <a:r>
              <a:rPr lang="en-US" dirty="0"/>
              <a:t> la </a:t>
            </a:r>
            <a:r>
              <a:rPr lang="en-US" b="1" dirty="0" err="1"/>
              <a:t>Transferencia</a:t>
            </a:r>
            <a:r>
              <a:rPr lang="en-US" b="1" dirty="0"/>
              <a:t> de </a:t>
            </a:r>
            <a:r>
              <a:rPr lang="en-US" b="1" dirty="0" err="1"/>
              <a:t>Datos</a:t>
            </a:r>
            <a:r>
              <a:rPr lang="en-US" b="1" dirty="0"/>
              <a:t> </a:t>
            </a:r>
            <a:r>
              <a:rPr lang="en-US" dirty="0"/>
              <a:t>con los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b="1" dirty="0" err="1"/>
              <a:t>dirigido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programa</a:t>
            </a:r>
            <a:r>
              <a:rPr lang="en-US" dirty="0"/>
              <a:t>.</a:t>
            </a:r>
          </a:p>
          <a:p>
            <a:r>
              <a:rPr lang="en-US" dirty="0" err="1"/>
              <a:t>Necesario</a:t>
            </a:r>
            <a:r>
              <a:rPr lang="en-US" dirty="0"/>
              <a:t> </a:t>
            </a:r>
            <a:r>
              <a:rPr lang="en-US" dirty="0" err="1"/>
              <a:t>conocer</a:t>
            </a:r>
            <a:r>
              <a:rPr lang="en-US" dirty="0"/>
              <a:t> el </a:t>
            </a:r>
            <a:r>
              <a:rPr lang="en-US" dirty="0" err="1"/>
              <a:t>estado</a:t>
            </a:r>
            <a:r>
              <a:rPr lang="en-US" dirty="0"/>
              <a:t> del </a:t>
            </a:r>
            <a:r>
              <a:rPr lang="en-US" dirty="0" err="1"/>
              <a:t>dispositivo</a:t>
            </a:r>
            <a:r>
              <a:rPr lang="en-US" dirty="0"/>
              <a:t> para </a:t>
            </a:r>
            <a:r>
              <a:rPr lang="en-US" dirty="0" err="1"/>
              <a:t>sincronizar</a:t>
            </a:r>
            <a:r>
              <a:rPr lang="en-US" dirty="0"/>
              <a:t> la </a:t>
            </a:r>
            <a:r>
              <a:rPr lang="en-US" dirty="0" err="1"/>
              <a:t>transferencia</a:t>
            </a:r>
            <a:r>
              <a:rPr lang="en-US" dirty="0"/>
              <a:t>: </a:t>
            </a:r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periódicamente</a:t>
            </a:r>
            <a:r>
              <a:rPr lang="en-US" dirty="0"/>
              <a:t> el </a:t>
            </a:r>
            <a:r>
              <a:rPr lang="en-US" dirty="0" err="1"/>
              <a:t>estado</a:t>
            </a:r>
            <a:r>
              <a:rPr lang="en-US" dirty="0"/>
              <a:t> (</a:t>
            </a:r>
            <a:r>
              <a:rPr lang="en-US" b="1" dirty="0"/>
              <a:t>polling</a:t>
            </a:r>
            <a:r>
              <a:rPr lang="en-US" dirty="0"/>
              <a:t>).</a:t>
            </a:r>
          </a:p>
          <a:p>
            <a:r>
              <a:rPr lang="en-US" dirty="0"/>
              <a:t>Polling consume mucho </a:t>
            </a:r>
            <a:r>
              <a:rPr lang="en-US" dirty="0" err="1"/>
              <a:t>tiempo</a:t>
            </a:r>
            <a:r>
              <a:rPr lang="en-US" dirty="0"/>
              <a:t> de CPU, </a:t>
            </a:r>
            <a:r>
              <a:rPr lang="en-US" dirty="0" err="1"/>
              <a:t>otro</a:t>
            </a:r>
            <a:r>
              <a:rPr lang="en-US" dirty="0"/>
              <a:t>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requerido</a:t>
            </a:r>
            <a:r>
              <a:rPr lang="en-US" dirty="0"/>
              <a:t>: </a:t>
            </a:r>
            <a:r>
              <a:rPr lang="en-US" b="1" dirty="0" err="1"/>
              <a:t>interrupciones</a:t>
            </a:r>
            <a:r>
              <a:rPr lang="en-US" dirty="0"/>
              <a:t>.</a:t>
            </a:r>
          </a:p>
          <a:p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dirty="0" err="1"/>
              <a:t>mejorado</a:t>
            </a:r>
            <a:r>
              <a:rPr lang="en-US" dirty="0"/>
              <a:t>: </a:t>
            </a:r>
            <a:r>
              <a:rPr lang="en-US" dirty="0" err="1"/>
              <a:t>Uso</a:t>
            </a:r>
            <a:r>
              <a:rPr lang="en-US" dirty="0"/>
              <a:t> de un </a:t>
            </a:r>
            <a:r>
              <a:rPr lang="en-US" dirty="0" err="1"/>
              <a:t>procesador</a:t>
            </a:r>
            <a:r>
              <a:rPr lang="en-US" dirty="0"/>
              <a:t> </a:t>
            </a:r>
            <a:r>
              <a:rPr lang="en-US" dirty="0" err="1"/>
              <a:t>auxiliar</a:t>
            </a:r>
            <a:r>
              <a:rPr lang="en-US" dirty="0"/>
              <a:t> para </a:t>
            </a:r>
            <a:r>
              <a:rPr lang="en-US" dirty="0" err="1"/>
              <a:t>apoyar</a:t>
            </a:r>
            <a:r>
              <a:rPr lang="en-US" dirty="0"/>
              <a:t> </a:t>
            </a:r>
            <a:r>
              <a:rPr lang="en-US" dirty="0" err="1"/>
              <a:t>transferencia</a:t>
            </a:r>
            <a:r>
              <a:rPr lang="en-US" dirty="0"/>
              <a:t>: </a:t>
            </a:r>
            <a:r>
              <a:rPr lang="en-US" b="1" dirty="0"/>
              <a:t>DMA</a:t>
            </a:r>
            <a:r>
              <a:rPr lang="en-US" dirty="0"/>
              <a:t> e </a:t>
            </a:r>
            <a:r>
              <a:rPr lang="en-US" b="1" dirty="0"/>
              <a:t>IOPs</a:t>
            </a:r>
            <a:r>
              <a:rPr lang="en-US" dirty="0"/>
              <a:t>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Técnicas</a:t>
            </a:r>
            <a:r>
              <a:rPr lang="en-US" dirty="0"/>
              <a:t> de </a:t>
            </a:r>
            <a:r>
              <a:rPr lang="en-US" dirty="0" err="1"/>
              <a:t>comunicación</a:t>
            </a:r>
            <a:r>
              <a:rPr lang="en-US" dirty="0"/>
              <a:t> con </a:t>
            </a:r>
            <a:r>
              <a:rPr lang="en-US" dirty="0" err="1"/>
              <a:t>Dispositivos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13821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924944"/>
            <a:ext cx="7301156" cy="3828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Mecanismo</a:t>
            </a:r>
            <a:r>
              <a:rPr lang="en-US" dirty="0"/>
              <a:t> para suspender en el CPU </a:t>
            </a:r>
            <a:r>
              <a:rPr lang="en-US" dirty="0" err="1"/>
              <a:t>temporalmente</a:t>
            </a:r>
            <a:r>
              <a:rPr lang="en-US" dirty="0"/>
              <a:t> la </a:t>
            </a:r>
            <a:r>
              <a:rPr lang="en-US" dirty="0" err="1"/>
              <a:t>ejecución</a:t>
            </a:r>
            <a:r>
              <a:rPr lang="en-US" dirty="0"/>
              <a:t> de un </a:t>
            </a:r>
            <a:r>
              <a:rPr lang="en-US" dirty="0" err="1"/>
              <a:t>programa</a:t>
            </a:r>
            <a:r>
              <a:rPr lang="en-US" dirty="0"/>
              <a:t> para </a:t>
            </a:r>
            <a:r>
              <a:rPr lang="en-US" dirty="0" err="1"/>
              <a:t>servir</a:t>
            </a:r>
            <a:r>
              <a:rPr lang="en-US" dirty="0"/>
              <a:t> a un </a:t>
            </a:r>
            <a:r>
              <a:rPr lang="en-US" dirty="0" err="1"/>
              <a:t>evento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requiere</a:t>
            </a:r>
            <a:r>
              <a:rPr lang="en-US" dirty="0"/>
              <a:t> </a:t>
            </a:r>
            <a:r>
              <a:rPr lang="en-US" dirty="0" err="1"/>
              <a:t>atención</a:t>
            </a:r>
            <a:r>
              <a:rPr lang="en-US" dirty="0"/>
              <a:t>.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Interrupciones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648701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95536" y="1196752"/>
            <a:ext cx="8219256" cy="51845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 </a:t>
            </a:r>
            <a:r>
              <a:rPr lang="en-US" dirty="0" err="1"/>
              <a:t>Existen</a:t>
            </a:r>
            <a:r>
              <a:rPr lang="en-US" dirty="0"/>
              <a:t> dos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interrupciones</a:t>
            </a:r>
            <a:r>
              <a:rPr lang="en-US" dirty="0"/>
              <a:t>:</a:t>
            </a:r>
          </a:p>
          <a:p>
            <a:pPr lvl="1"/>
            <a:r>
              <a:rPr lang="en-US" sz="2400" dirty="0" err="1"/>
              <a:t>Síncronas</a:t>
            </a:r>
            <a:r>
              <a:rPr lang="en-US" sz="2400" dirty="0"/>
              <a:t>, de software o </a:t>
            </a:r>
            <a:r>
              <a:rPr lang="en-US" sz="2400" dirty="0" err="1"/>
              <a:t>Excepciones</a:t>
            </a:r>
            <a:endParaRPr lang="en-US" sz="2400" dirty="0"/>
          </a:p>
          <a:p>
            <a:pPr lvl="1"/>
            <a:r>
              <a:rPr lang="en-US" sz="2400" dirty="0" err="1"/>
              <a:t>Asíncronas</a:t>
            </a:r>
            <a:r>
              <a:rPr lang="en-US" sz="2400" dirty="0"/>
              <a:t>, de hardware o </a:t>
            </a:r>
            <a:r>
              <a:rPr lang="en-US" sz="2400" dirty="0" err="1"/>
              <a:t>simplemente</a:t>
            </a:r>
            <a:r>
              <a:rPr lang="en-US" sz="2400" dirty="0"/>
              <a:t> </a:t>
            </a:r>
            <a:r>
              <a:rPr lang="en-US" sz="2400" dirty="0" err="1"/>
              <a:t>interrupciones</a:t>
            </a:r>
            <a:endParaRPr lang="en-US" sz="2400" dirty="0"/>
          </a:p>
          <a:p>
            <a:pPr lvl="1"/>
            <a:endParaRPr lang="en-US" sz="1900" dirty="0"/>
          </a:p>
          <a:p>
            <a:r>
              <a:rPr lang="en-US" sz="3200" dirty="0"/>
              <a:t> </a:t>
            </a:r>
            <a:r>
              <a:rPr lang="en-US" b="1" dirty="0" err="1"/>
              <a:t>Interrupciones</a:t>
            </a:r>
            <a:r>
              <a:rPr lang="en-US" b="1" dirty="0"/>
              <a:t> </a:t>
            </a:r>
            <a:r>
              <a:rPr lang="en-US" b="1" dirty="0" err="1"/>
              <a:t>síncronas</a:t>
            </a:r>
            <a:r>
              <a:rPr lang="en-US" dirty="0"/>
              <a:t>: Son </a:t>
            </a:r>
            <a:r>
              <a:rPr lang="en-US" dirty="0" err="1"/>
              <a:t>producidas</a:t>
            </a:r>
            <a:r>
              <a:rPr lang="en-US" dirty="0"/>
              <a:t> de forma </a:t>
            </a:r>
            <a:r>
              <a:rPr lang="en-US" dirty="0" err="1"/>
              <a:t>síncrona</a:t>
            </a:r>
            <a:r>
              <a:rPr lang="en-US" dirty="0"/>
              <a:t> (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efecto</a:t>
            </a:r>
            <a:r>
              <a:rPr lang="en-US" dirty="0"/>
              <a:t>) con la </a:t>
            </a:r>
            <a:r>
              <a:rPr lang="en-US" dirty="0" err="1"/>
              <a:t>ejecución</a:t>
            </a:r>
            <a:r>
              <a:rPr lang="en-US" dirty="0"/>
              <a:t> de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. Son </a:t>
            </a:r>
            <a:r>
              <a:rPr lang="en-US" dirty="0" err="1"/>
              <a:t>consecuencia</a:t>
            </a:r>
            <a:r>
              <a:rPr lang="en-US" dirty="0"/>
              <a:t> de un error de </a:t>
            </a:r>
            <a:r>
              <a:rPr lang="en-US" dirty="0" err="1"/>
              <a:t>programación</a:t>
            </a:r>
            <a:r>
              <a:rPr lang="en-US" dirty="0"/>
              <a:t> o </a:t>
            </a:r>
            <a:r>
              <a:rPr lang="en-US" dirty="0" err="1"/>
              <a:t>ocurrencia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situación</a:t>
            </a:r>
            <a:r>
              <a:rPr lang="en-US" dirty="0"/>
              <a:t> </a:t>
            </a:r>
            <a:r>
              <a:rPr lang="en-US" dirty="0" err="1"/>
              <a:t>excepcional</a:t>
            </a:r>
            <a:r>
              <a:rPr lang="en-US" dirty="0"/>
              <a:t> en la </a:t>
            </a:r>
            <a:r>
              <a:rPr lang="en-US" dirty="0" err="1"/>
              <a:t>ejecución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lo </a:t>
            </a:r>
            <a:r>
              <a:rPr lang="en-US" dirty="0" err="1"/>
              <a:t>cual</a:t>
            </a:r>
            <a:r>
              <a:rPr lang="en-US" dirty="0"/>
              <a:t> se les da en </a:t>
            </a:r>
            <a:r>
              <a:rPr lang="en-US" dirty="0" err="1"/>
              <a:t>llamar</a:t>
            </a:r>
            <a:r>
              <a:rPr lang="en-US" dirty="0"/>
              <a:t> </a:t>
            </a:r>
            <a:r>
              <a:rPr lang="en-US" dirty="0" err="1"/>
              <a:t>excepciones</a:t>
            </a:r>
            <a:r>
              <a:rPr lang="en-US" dirty="0"/>
              <a:t>. </a:t>
            </a:r>
            <a:r>
              <a:rPr lang="en-US" dirty="0" err="1"/>
              <a:t>P.e</a:t>
            </a:r>
            <a:r>
              <a:rPr lang="en-US" dirty="0"/>
              <a:t>: </a:t>
            </a:r>
            <a:r>
              <a:rPr lang="en-US" dirty="0" err="1"/>
              <a:t>división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cero. </a:t>
            </a:r>
          </a:p>
          <a:p>
            <a:endParaRPr lang="en-US" sz="2400" dirty="0"/>
          </a:p>
          <a:p>
            <a:r>
              <a:rPr lang="en-US" b="1" dirty="0" err="1"/>
              <a:t>Interrupciones</a:t>
            </a:r>
            <a:r>
              <a:rPr lang="en-US" b="1" dirty="0"/>
              <a:t> </a:t>
            </a:r>
            <a:r>
              <a:rPr lang="en-US" b="1" dirty="0" err="1"/>
              <a:t>asíncronas</a:t>
            </a:r>
            <a:r>
              <a:rPr lang="en-US" dirty="0"/>
              <a:t>: Son </a:t>
            </a:r>
            <a:r>
              <a:rPr lang="en-US" dirty="0" err="1"/>
              <a:t>producidas</a:t>
            </a:r>
            <a:r>
              <a:rPr lang="en-US" dirty="0"/>
              <a:t> de forma </a:t>
            </a:r>
            <a:r>
              <a:rPr lang="en-US" dirty="0" err="1"/>
              <a:t>asíncrona</a:t>
            </a:r>
            <a:r>
              <a:rPr lang="en-US" dirty="0"/>
              <a:t> a la </a:t>
            </a:r>
            <a:r>
              <a:rPr lang="en-US" dirty="0" err="1"/>
              <a:t>ejecución</a:t>
            </a:r>
            <a:r>
              <a:rPr lang="en-US" dirty="0"/>
              <a:t> del </a:t>
            </a:r>
            <a:r>
              <a:rPr lang="en-US" dirty="0" err="1"/>
              <a:t>programa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parte de los </a:t>
            </a:r>
            <a:r>
              <a:rPr lang="en-US" dirty="0" err="1"/>
              <a:t>dispositivos</a:t>
            </a:r>
            <a:r>
              <a:rPr lang="en-US" dirty="0"/>
              <a:t> hardware de la </a:t>
            </a:r>
            <a:r>
              <a:rPr lang="en-US" dirty="0" err="1"/>
              <a:t>computadora</a:t>
            </a:r>
            <a:r>
              <a:rPr lang="en-US" dirty="0"/>
              <a:t> o </a:t>
            </a:r>
            <a:r>
              <a:rPr lang="en-US" dirty="0" err="1"/>
              <a:t>periféricos</a:t>
            </a:r>
            <a:r>
              <a:rPr lang="en-US" dirty="0"/>
              <a:t>, </a:t>
            </a:r>
            <a:r>
              <a:rPr lang="en-US" dirty="0" err="1"/>
              <a:t>solicitando</a:t>
            </a:r>
            <a:r>
              <a:rPr lang="en-US" dirty="0"/>
              <a:t> la </a:t>
            </a:r>
            <a:r>
              <a:rPr lang="en-US" dirty="0" err="1"/>
              <a:t>atención</a:t>
            </a:r>
            <a:r>
              <a:rPr lang="en-US" dirty="0"/>
              <a:t> del CPU.</a:t>
            </a:r>
            <a:endParaRPr lang="es-NI" sz="3200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Interrupciones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99996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19256" cy="5184576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Mecanismos de coordinación y sincronización que permite a los dispositivos de E/S solicitar servicio del CPU.</a:t>
            </a:r>
          </a:p>
          <a:p>
            <a:endParaRPr lang="es-ES" sz="2600" dirty="0"/>
          </a:p>
          <a:p>
            <a:r>
              <a:rPr lang="es-ES" dirty="0"/>
              <a:t>Al final del ciclo de instrucción el CPU verifica las solicitudes de interrupción.</a:t>
            </a:r>
          </a:p>
          <a:p>
            <a:endParaRPr lang="es-ES" sz="2600" dirty="0"/>
          </a:p>
          <a:p>
            <a:r>
              <a:rPr lang="es-ES" dirty="0"/>
              <a:t>El CPU provee señal de control de entrada para aceptar interrupciones de los dispositivos y una señal de salida para indicar atención a solicitud (ejecuta rutina de servicio de Interrupción).</a:t>
            </a:r>
          </a:p>
          <a:p>
            <a:endParaRPr lang="es-ES" dirty="0"/>
          </a:p>
          <a:p>
            <a:r>
              <a:rPr lang="es-ES" dirty="0"/>
              <a:t>Dado que el CPU tiene solo una señal y los dispositivos son muchos, se debe implementar un árbitro para coordinar el servicio a los diferentes dispositivos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Interrupciones</a:t>
            </a:r>
            <a:r>
              <a:rPr lang="en-US" dirty="0"/>
              <a:t> de hardware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728647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1520" y="1196752"/>
            <a:ext cx="8424936" cy="5328592"/>
          </a:xfrm>
        </p:spPr>
        <p:txBody>
          <a:bodyPr>
            <a:normAutofit/>
          </a:bodyPr>
          <a:lstStyle/>
          <a:p>
            <a:r>
              <a:rPr lang="es-ES" dirty="0"/>
              <a:t> Selección del dispositivo a atender</a:t>
            </a:r>
          </a:p>
          <a:p>
            <a:pPr lvl="1"/>
            <a:r>
              <a:rPr lang="es-ES" dirty="0"/>
              <a:t> </a:t>
            </a:r>
            <a:r>
              <a:rPr lang="es-ES" sz="2400" dirty="0"/>
              <a:t>Se asignan prioridades a cada dispositivo.</a:t>
            </a:r>
          </a:p>
          <a:p>
            <a:pPr lvl="1"/>
            <a:r>
              <a:rPr lang="es-ES" sz="2400" dirty="0"/>
              <a:t>Se emplea él árbitro para coordinar y se atiende al de mayor prioridad:</a:t>
            </a:r>
          </a:p>
          <a:p>
            <a:pPr lvl="2"/>
            <a:r>
              <a:rPr lang="es-ES" sz="2400" dirty="0"/>
              <a:t>Arbitro Paralelo</a:t>
            </a:r>
            <a:r>
              <a:rPr lang="es-ES" dirty="0"/>
              <a:t>.</a:t>
            </a:r>
          </a:p>
          <a:p>
            <a:pPr lvl="2"/>
            <a:endParaRPr lang="es-ES" dirty="0"/>
          </a:p>
          <a:p>
            <a:pPr lvl="2"/>
            <a:endParaRPr lang="es-ES" dirty="0"/>
          </a:p>
          <a:p>
            <a:pPr lvl="2"/>
            <a:endParaRPr lang="es-ES" dirty="0"/>
          </a:p>
          <a:p>
            <a:pPr lvl="2"/>
            <a:r>
              <a:rPr lang="es-ES" sz="2400" dirty="0"/>
              <a:t>Arbitro Serial.</a:t>
            </a:r>
          </a:p>
          <a:p>
            <a:pPr lvl="2"/>
            <a:endParaRPr lang="es-ES" sz="2400" dirty="0"/>
          </a:p>
          <a:p>
            <a:pPr lvl="2"/>
            <a:endParaRPr lang="es-ES" sz="2400" dirty="0"/>
          </a:p>
          <a:p>
            <a:pPr lvl="2"/>
            <a:r>
              <a:rPr lang="es-ES" sz="2400" dirty="0"/>
              <a:t>Arbitro híbrido.</a:t>
            </a:r>
          </a:p>
          <a:p>
            <a:pPr lvl="2"/>
            <a:endParaRPr lang="es-ES" sz="2400" dirty="0"/>
          </a:p>
          <a:p>
            <a:pPr lvl="2"/>
            <a:endParaRPr lang="es-ES" dirty="0"/>
          </a:p>
          <a:p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Múltiples</a:t>
            </a:r>
            <a:r>
              <a:rPr lang="en-US" dirty="0"/>
              <a:t> solicitudes de </a:t>
            </a:r>
            <a:r>
              <a:rPr lang="en-US" dirty="0" err="1"/>
              <a:t>interrupción</a:t>
            </a:r>
            <a:r>
              <a:rPr lang="en-US" dirty="0"/>
              <a:t> 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606" y="2782415"/>
            <a:ext cx="4680520" cy="14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235" y="4211584"/>
            <a:ext cx="5173269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370" y="5301208"/>
            <a:ext cx="4296554" cy="1482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90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 </a:t>
            </a:r>
            <a:r>
              <a:rPr lang="es-ES" b="1" dirty="0"/>
              <a:t>Identificación del Dispositivo</a:t>
            </a:r>
          </a:p>
          <a:p>
            <a:pPr lvl="1"/>
            <a:r>
              <a:rPr lang="es-ES" sz="2400" b="1" dirty="0"/>
              <a:t>Escrutinio</a:t>
            </a:r>
            <a:r>
              <a:rPr lang="es-ES" sz="2400" dirty="0"/>
              <a:t>: organización en colector abierto para detectar solicitud y </a:t>
            </a:r>
            <a:r>
              <a:rPr lang="es-ES" sz="2400" dirty="0" err="1"/>
              <a:t>polling</a:t>
            </a:r>
            <a:r>
              <a:rPr lang="es-ES" sz="2400" dirty="0"/>
              <a:t> de controladores.</a:t>
            </a:r>
          </a:p>
          <a:p>
            <a:pPr lvl="1"/>
            <a:endParaRPr lang="es-ES" sz="2400" dirty="0"/>
          </a:p>
          <a:p>
            <a:pPr lvl="1"/>
            <a:endParaRPr lang="es-ES" sz="2400" dirty="0"/>
          </a:p>
          <a:p>
            <a:pPr lvl="1"/>
            <a:endParaRPr lang="es-ES" sz="2400" dirty="0"/>
          </a:p>
          <a:p>
            <a:pPr lvl="1"/>
            <a:endParaRPr lang="es-ES" sz="2400" dirty="0"/>
          </a:p>
          <a:p>
            <a:pPr lvl="1"/>
            <a:r>
              <a:rPr lang="es-ES" sz="2400" b="1" dirty="0"/>
              <a:t>ID de dispositivo y Vector de Interrupción</a:t>
            </a:r>
            <a:r>
              <a:rPr lang="es-ES" sz="2400" dirty="0"/>
              <a:t>: cada dispositivo tiene ID el cual corresponde a una entrada en la tabla de vectores. El vector es un puntero a la ISR correspondiente.</a:t>
            </a:r>
            <a:endParaRPr lang="es-ES" dirty="0"/>
          </a:p>
          <a:p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Múltiples</a:t>
            </a:r>
            <a:r>
              <a:rPr lang="en-US" dirty="0"/>
              <a:t> solicitudes de </a:t>
            </a:r>
            <a:r>
              <a:rPr lang="en-US" dirty="0" err="1"/>
              <a:t>interrupción</a:t>
            </a:r>
            <a:r>
              <a:rPr lang="en-US" dirty="0"/>
              <a:t> 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5254051"/>
              </p:ext>
            </p:extLst>
          </p:nvPr>
        </p:nvGraphicFramePr>
        <p:xfrm>
          <a:off x="2627784" y="2852936"/>
          <a:ext cx="4057650" cy="151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name="Visio" r:id="rId3" imgW="3387852" imgH="1261872" progId="Visio.Drawing.11">
                  <p:embed/>
                </p:oleObj>
              </mc:Choice>
              <mc:Fallback>
                <p:oleObj name="Visio" r:id="rId3" imgW="3387852" imgH="1261872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2852936"/>
                        <a:ext cx="4057650" cy="1514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65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196752"/>
            <a:ext cx="8363272" cy="5544616"/>
          </a:xfrm>
        </p:spPr>
        <p:txBody>
          <a:bodyPr>
            <a:normAutofit fontScale="92500" lnSpcReduction="20000"/>
          </a:bodyPr>
          <a:lstStyle/>
          <a:p>
            <a:r>
              <a:rPr lang="es-NI" dirty="0"/>
              <a:t> Habilitación e Inhabilitación de Interrupciones</a:t>
            </a:r>
          </a:p>
          <a:p>
            <a:pPr lvl="1"/>
            <a:r>
              <a:rPr lang="en-US" sz="2400" dirty="0"/>
              <a:t>En </a:t>
            </a:r>
            <a:r>
              <a:rPr lang="en-US" sz="2400" dirty="0" err="1"/>
              <a:t>ciertos</a:t>
            </a:r>
            <a:r>
              <a:rPr lang="en-US" sz="2400" dirty="0"/>
              <a:t> </a:t>
            </a:r>
            <a:r>
              <a:rPr lang="en-US" sz="2400" dirty="0" err="1"/>
              <a:t>casos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requerido</a:t>
            </a:r>
            <a:r>
              <a:rPr lang="en-US" sz="2400" dirty="0"/>
              <a:t> </a:t>
            </a:r>
            <a:r>
              <a:rPr lang="en-US" sz="2400" dirty="0" err="1"/>
              <a:t>inhabilitar</a:t>
            </a:r>
            <a:r>
              <a:rPr lang="en-US" sz="2400" dirty="0"/>
              <a:t> </a:t>
            </a:r>
            <a:r>
              <a:rPr lang="en-US" sz="2400" dirty="0" err="1"/>
              <a:t>interrupciones</a:t>
            </a:r>
            <a:r>
              <a:rPr lang="en-US" sz="2400" dirty="0"/>
              <a:t>,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ejemplo</a:t>
            </a:r>
            <a:r>
              <a:rPr lang="en-US" sz="2400" dirty="0"/>
              <a:t> para no </a:t>
            </a:r>
            <a:r>
              <a:rPr lang="en-US" sz="2400" dirty="0" err="1"/>
              <a:t>interrumpir</a:t>
            </a:r>
            <a:r>
              <a:rPr lang="en-US" sz="2400" dirty="0"/>
              <a:t> la ISR.</a:t>
            </a:r>
          </a:p>
          <a:p>
            <a:pPr lvl="1"/>
            <a:r>
              <a:rPr lang="en-US" sz="2400" dirty="0"/>
              <a:t>CPU </a:t>
            </a:r>
            <a:r>
              <a:rPr lang="en-US" sz="2400" dirty="0" err="1"/>
              <a:t>verifica</a:t>
            </a:r>
            <a:r>
              <a:rPr lang="en-US" sz="2400" dirty="0"/>
              <a:t> el </a:t>
            </a:r>
            <a:r>
              <a:rPr lang="en-US" sz="2400" dirty="0" err="1"/>
              <a:t>estado</a:t>
            </a:r>
            <a:r>
              <a:rPr lang="en-US" sz="2400" dirty="0"/>
              <a:t> en </a:t>
            </a:r>
            <a:r>
              <a:rPr lang="en-US" sz="2400" dirty="0" err="1"/>
              <a:t>Código</a:t>
            </a:r>
            <a:r>
              <a:rPr lang="en-US" sz="2400" dirty="0"/>
              <a:t> de </a:t>
            </a:r>
            <a:r>
              <a:rPr lang="en-US" sz="2400" dirty="0" err="1"/>
              <a:t>condición</a:t>
            </a:r>
            <a:r>
              <a:rPr lang="en-US" sz="2400" dirty="0"/>
              <a:t> </a:t>
            </a:r>
            <a:r>
              <a:rPr lang="en-US" sz="2400" dirty="0" err="1"/>
              <a:t>seteado</a:t>
            </a:r>
            <a:r>
              <a:rPr lang="en-US" sz="2400" dirty="0"/>
              <a:t>/</a:t>
            </a:r>
            <a:r>
              <a:rPr lang="en-US" sz="2400" dirty="0" err="1"/>
              <a:t>reseteado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las</a:t>
            </a:r>
            <a:r>
              <a:rPr lang="en-US" sz="2400" dirty="0"/>
              <a:t> </a:t>
            </a:r>
            <a:r>
              <a:rPr lang="en-US" sz="2400" dirty="0" err="1"/>
              <a:t>instrucciones</a:t>
            </a:r>
            <a:r>
              <a:rPr lang="en-US" sz="2400" dirty="0"/>
              <a:t> Enable/Disable.</a:t>
            </a:r>
          </a:p>
          <a:p>
            <a:pPr lvl="1"/>
            <a:r>
              <a:rPr lang="en-US" sz="2400" dirty="0" err="1"/>
              <a:t>Apropiada</a:t>
            </a:r>
            <a:r>
              <a:rPr lang="en-US" sz="2400" dirty="0"/>
              <a:t> para </a:t>
            </a:r>
            <a:r>
              <a:rPr lang="en-US" sz="2400" dirty="0" err="1"/>
              <a:t>codificar</a:t>
            </a:r>
            <a:r>
              <a:rPr lang="en-US" sz="2400" dirty="0"/>
              <a:t> </a:t>
            </a:r>
            <a:r>
              <a:rPr lang="en-US" sz="2400" dirty="0" err="1"/>
              <a:t>las</a:t>
            </a:r>
            <a:r>
              <a:rPr lang="en-US" sz="2400" dirty="0"/>
              <a:t> ISR </a:t>
            </a:r>
            <a:r>
              <a:rPr lang="en-US" sz="2400" dirty="0" err="1"/>
              <a:t>que</a:t>
            </a:r>
            <a:r>
              <a:rPr lang="en-US" sz="2400" dirty="0"/>
              <a:t> no </a:t>
            </a:r>
            <a:r>
              <a:rPr lang="en-US" sz="2400" dirty="0" err="1"/>
              <a:t>sean</a:t>
            </a:r>
            <a:r>
              <a:rPr lang="en-US" sz="2400" dirty="0"/>
              <a:t> </a:t>
            </a:r>
            <a:r>
              <a:rPr lang="en-US" sz="2400" dirty="0" err="1"/>
              <a:t>interrumpibles</a:t>
            </a:r>
            <a:r>
              <a:rPr lang="en-US" sz="2400" dirty="0"/>
              <a:t>:</a:t>
            </a:r>
          </a:p>
          <a:p>
            <a:pPr lvl="1"/>
            <a:endParaRPr lang="en-US" sz="900" dirty="0"/>
          </a:p>
          <a:p>
            <a:pPr marL="594360" lvl="3" indent="0">
              <a:buNone/>
            </a:pPr>
            <a:r>
              <a:rPr lang="en-US" dirty="0" err="1"/>
              <a:t>Comienza</a:t>
            </a:r>
            <a:r>
              <a:rPr lang="en-US" dirty="0"/>
              <a:t> ISR</a:t>
            </a:r>
            <a:endParaRPr lang="es-NI" dirty="0"/>
          </a:p>
          <a:p>
            <a:pPr marL="594360" lvl="3" indent="0">
              <a:buNone/>
            </a:pPr>
            <a:r>
              <a:rPr lang="en-US" dirty="0"/>
              <a:t>	</a:t>
            </a:r>
            <a:r>
              <a:rPr lang="es-ES" dirty="0" err="1"/>
              <a:t>Desabilitar</a:t>
            </a:r>
            <a:r>
              <a:rPr lang="es-ES" dirty="0"/>
              <a:t> interrupciones</a:t>
            </a:r>
            <a:endParaRPr lang="es-NI" dirty="0"/>
          </a:p>
          <a:p>
            <a:pPr marL="594360" lvl="3" indent="0">
              <a:buNone/>
            </a:pPr>
            <a:r>
              <a:rPr lang="es-ES" dirty="0"/>
              <a:t>	</a:t>
            </a:r>
            <a:r>
              <a:rPr lang="es-ES" dirty="0" err="1"/>
              <a:t>Codigo</a:t>
            </a:r>
            <a:r>
              <a:rPr lang="es-ES" dirty="0"/>
              <a:t> de la ISR</a:t>
            </a:r>
            <a:endParaRPr lang="es-NI" dirty="0"/>
          </a:p>
          <a:p>
            <a:pPr marL="594360" lvl="3" indent="0">
              <a:buNone/>
            </a:pPr>
            <a:r>
              <a:rPr lang="es-ES" dirty="0"/>
              <a:t>	Habilitar interrupciones</a:t>
            </a:r>
            <a:endParaRPr lang="es-NI" dirty="0"/>
          </a:p>
          <a:p>
            <a:pPr marL="594360" lvl="3" indent="0">
              <a:buNone/>
            </a:pPr>
            <a:r>
              <a:rPr lang="en-US" dirty="0" err="1"/>
              <a:t>Finaliza</a:t>
            </a:r>
            <a:r>
              <a:rPr lang="en-US" dirty="0"/>
              <a:t> ISR</a:t>
            </a:r>
            <a:endParaRPr lang="es-NI" dirty="0"/>
          </a:p>
          <a:p>
            <a:pPr lvl="1"/>
            <a:endParaRPr lang="en-US" sz="1500" dirty="0"/>
          </a:p>
          <a:p>
            <a:pPr lvl="1"/>
            <a:r>
              <a:rPr lang="en-US" sz="2400" dirty="0"/>
              <a:t>Se </a:t>
            </a:r>
            <a:r>
              <a:rPr lang="en-US" sz="2400" dirty="0" err="1"/>
              <a:t>puede</a:t>
            </a:r>
            <a:r>
              <a:rPr lang="en-US" sz="2400" dirty="0"/>
              <a:t> </a:t>
            </a:r>
            <a:r>
              <a:rPr lang="en-US" sz="2400" dirty="0" err="1"/>
              <a:t>asimismo</a:t>
            </a:r>
            <a:r>
              <a:rPr lang="en-US" sz="2400" dirty="0"/>
              <a:t> </a:t>
            </a:r>
            <a:r>
              <a:rPr lang="en-US" sz="2400" dirty="0" err="1"/>
              <a:t>enmascarar</a:t>
            </a:r>
            <a:r>
              <a:rPr lang="en-US" sz="2400" dirty="0"/>
              <a:t> </a:t>
            </a:r>
            <a:r>
              <a:rPr lang="en-US" sz="2400" dirty="0" err="1"/>
              <a:t>interrupciones</a:t>
            </a:r>
            <a:r>
              <a:rPr lang="en-US" sz="2400" dirty="0"/>
              <a:t> </a:t>
            </a:r>
            <a:r>
              <a:rPr lang="en-US" sz="2400" dirty="0" err="1"/>
              <a:t>selectivamente</a:t>
            </a:r>
            <a:r>
              <a:rPr lang="en-US" sz="2400" dirty="0"/>
              <a:t> en el </a:t>
            </a:r>
            <a:r>
              <a:rPr lang="en-US" sz="2400" dirty="0" err="1"/>
              <a:t>árbitro</a:t>
            </a:r>
            <a:r>
              <a:rPr lang="en-US" sz="2400" dirty="0"/>
              <a:t>.</a:t>
            </a:r>
          </a:p>
          <a:p>
            <a:pPr lvl="1"/>
            <a:r>
              <a:rPr lang="en-US" sz="2400" dirty="0" err="1"/>
              <a:t>Algunas</a:t>
            </a:r>
            <a:r>
              <a:rPr lang="en-US" sz="2400" dirty="0"/>
              <a:t> </a:t>
            </a:r>
            <a:r>
              <a:rPr lang="en-US" sz="2400" dirty="0" err="1"/>
              <a:t>interrupciones</a:t>
            </a:r>
            <a:r>
              <a:rPr lang="en-US" sz="2400" dirty="0"/>
              <a:t> no son </a:t>
            </a:r>
            <a:r>
              <a:rPr lang="en-US" sz="2400" dirty="0" err="1"/>
              <a:t>enmascarables</a:t>
            </a:r>
            <a:r>
              <a:rPr lang="en-US" sz="2400" dirty="0"/>
              <a:t> (NMI), </a:t>
            </a:r>
            <a:r>
              <a:rPr lang="en-US" sz="2400" dirty="0" err="1"/>
              <a:t>p.e</a:t>
            </a:r>
            <a:r>
              <a:rPr lang="en-US" sz="2400" dirty="0"/>
              <a:t>: </a:t>
            </a:r>
            <a:r>
              <a:rPr lang="en-US" sz="2400" dirty="0" err="1"/>
              <a:t>refresco</a:t>
            </a:r>
            <a:r>
              <a:rPr lang="en-US" sz="2400" dirty="0"/>
              <a:t> de la </a:t>
            </a:r>
            <a:r>
              <a:rPr lang="en-US" sz="2400" dirty="0" err="1"/>
              <a:t>memoria</a:t>
            </a:r>
            <a:r>
              <a:rPr lang="en-US" sz="2400" dirty="0"/>
              <a:t> </a:t>
            </a:r>
            <a:r>
              <a:rPr lang="en-US" sz="2400" dirty="0" err="1"/>
              <a:t>dinámica</a:t>
            </a:r>
            <a:r>
              <a:rPr lang="en-US" sz="2400" dirty="0"/>
              <a:t>.</a:t>
            </a:r>
            <a:endParaRPr lang="es-NI" sz="2400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Múltiples</a:t>
            </a:r>
            <a:r>
              <a:rPr lang="en-US" dirty="0"/>
              <a:t> solicitudes de </a:t>
            </a:r>
            <a:r>
              <a:rPr lang="en-US" dirty="0" err="1"/>
              <a:t>interrupción</a:t>
            </a:r>
            <a:r>
              <a:rPr lang="en-US" dirty="0"/>
              <a:t> 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48310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2372" y="1268760"/>
            <a:ext cx="8219256" cy="4759423"/>
          </a:xfrm>
        </p:spPr>
        <p:txBody>
          <a:bodyPr/>
          <a:lstStyle/>
          <a:p>
            <a:r>
              <a:rPr lang="en-US" dirty="0" err="1"/>
              <a:t>Árbitro</a:t>
            </a:r>
            <a:r>
              <a:rPr lang="en-US" dirty="0"/>
              <a:t> </a:t>
            </a:r>
            <a:r>
              <a:rPr lang="en-US" dirty="0" err="1"/>
              <a:t>paralelo</a:t>
            </a:r>
            <a:r>
              <a:rPr lang="en-US" dirty="0"/>
              <a:t> del PC y compatibles</a:t>
            </a:r>
          </a:p>
          <a:p>
            <a:r>
              <a:rPr lang="en-US" dirty="0" err="1"/>
              <a:t>Atiende</a:t>
            </a:r>
            <a:r>
              <a:rPr lang="en-US" dirty="0"/>
              <a:t> 8 solicitudes de </a:t>
            </a:r>
            <a:r>
              <a:rPr lang="en-US" dirty="0" err="1"/>
              <a:t>interrupción</a:t>
            </a:r>
            <a:r>
              <a:rPr lang="en-US" dirty="0"/>
              <a:t> (IRQ)</a:t>
            </a:r>
          </a:p>
          <a:p>
            <a:r>
              <a:rPr lang="en-US" dirty="0"/>
              <a:t>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conectar</a:t>
            </a:r>
            <a:r>
              <a:rPr lang="en-US" dirty="0"/>
              <a:t> en </a:t>
            </a:r>
            <a:r>
              <a:rPr lang="en-US" dirty="0" err="1"/>
              <a:t>cascada</a:t>
            </a:r>
            <a:r>
              <a:rPr lang="en-US" dirty="0"/>
              <a:t> para </a:t>
            </a:r>
            <a:r>
              <a:rPr lang="en-US" dirty="0" err="1"/>
              <a:t>incrementar</a:t>
            </a:r>
            <a:r>
              <a:rPr lang="en-US" dirty="0"/>
              <a:t> la </a:t>
            </a:r>
            <a:r>
              <a:rPr lang="en-US" dirty="0" err="1"/>
              <a:t>cantidad</a:t>
            </a:r>
            <a:r>
              <a:rPr lang="en-US" dirty="0"/>
              <a:t> de </a:t>
            </a:r>
            <a:r>
              <a:rPr lang="en-US" dirty="0" err="1"/>
              <a:t>interrupciones</a:t>
            </a:r>
            <a:r>
              <a:rPr lang="en-US" dirty="0"/>
              <a:t> a </a:t>
            </a:r>
            <a:r>
              <a:rPr lang="en-US" dirty="0" err="1"/>
              <a:t>arbitrar</a:t>
            </a:r>
            <a:r>
              <a:rPr lang="en-US" dirty="0"/>
              <a:t> 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PIC INTEL 8259A 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5" name="4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572020"/>
              </p:ext>
            </p:extLst>
          </p:nvPr>
        </p:nvGraphicFramePr>
        <p:xfrm>
          <a:off x="1079612" y="3861048"/>
          <a:ext cx="6984776" cy="2914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Visio" r:id="rId3" imgW="3127248" imgH="1556004" progId="Visio.Drawing.11">
                  <p:embed/>
                </p:oleObj>
              </mc:Choice>
              <mc:Fallback>
                <p:oleObj name="Visio" r:id="rId3" imgW="3127248" imgH="155600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612" y="3861048"/>
                        <a:ext cx="6984776" cy="29144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895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79512" y="2276872"/>
            <a:ext cx="3029508" cy="43204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070C0"/>
                </a:solidFill>
              </a:rPr>
              <a:t>Tabla</a:t>
            </a:r>
            <a:r>
              <a:rPr lang="en-US" sz="1400" b="1" dirty="0">
                <a:solidFill>
                  <a:srgbClr val="0070C0"/>
                </a:solidFill>
              </a:rPr>
              <a:t> de </a:t>
            </a:r>
            <a:r>
              <a:rPr lang="en-US" sz="1400" b="1" dirty="0" err="1">
                <a:solidFill>
                  <a:srgbClr val="0070C0"/>
                </a:solidFill>
              </a:rPr>
              <a:t>interrupciones</a:t>
            </a:r>
            <a:r>
              <a:rPr lang="en-US" sz="1400" b="1" dirty="0">
                <a:solidFill>
                  <a:srgbClr val="0070C0"/>
                </a:solidFill>
              </a:rPr>
              <a:t> del PC</a:t>
            </a:r>
            <a:endParaRPr lang="es-NI" sz="1400" b="1" dirty="0">
              <a:solidFill>
                <a:srgbClr val="0070C0"/>
              </a:solidFill>
            </a:endParaRP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 PIC INTEL 8259A </a:t>
            </a:r>
            <a:endParaRPr lang="es-NI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pic>
        <p:nvPicPr>
          <p:cNvPr id="9218" name="Picture 2" descr="PIC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059461"/>
            <a:ext cx="5040560" cy="5798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464503"/>
              </p:ext>
            </p:extLst>
          </p:nvPr>
        </p:nvGraphicFramePr>
        <p:xfrm>
          <a:off x="179512" y="2636912"/>
          <a:ext cx="3312369" cy="40272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609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1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IRQ</a:t>
                      </a:r>
                      <a:endParaRPr lang="es-NI" sz="1200" b="1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dirty="0" err="1">
                          <a:effectLst/>
                        </a:rPr>
                        <a:t>Indice</a:t>
                      </a:r>
                      <a:r>
                        <a:rPr lang="en-US" sz="900" dirty="0">
                          <a:effectLst/>
                        </a:rPr>
                        <a:t> del vector</a:t>
                      </a:r>
                      <a:endParaRPr lang="es-NI" sz="1200" b="1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 dirty="0" err="1">
                          <a:effectLst/>
                        </a:rPr>
                        <a:t>Dispositivo</a:t>
                      </a:r>
                      <a:endParaRPr lang="es-NI" sz="1200" b="1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IRQ0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08h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Pulso del reloj (18.2)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IRQ1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09h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Teclado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IRQ2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0Ah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s-ES" sz="1200" dirty="0">
                          <a:effectLst/>
                        </a:rPr>
                        <a:t>Reservado para cascada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IRQ3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0Bh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COM2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IRQ4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0Ch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COM1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IRQ5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0Dh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Controlador</a:t>
                      </a:r>
                      <a:r>
                        <a:rPr lang="en-US" sz="1200" dirty="0">
                          <a:effectLst/>
                        </a:rPr>
                        <a:t> de Disco </a:t>
                      </a:r>
                      <a:r>
                        <a:rPr lang="en-US" sz="1200" dirty="0" err="1">
                          <a:effectLst/>
                        </a:rPr>
                        <a:t>Duro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IRQ6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0Eh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Controlador</a:t>
                      </a:r>
                      <a:r>
                        <a:rPr lang="en-US" sz="1200" dirty="0">
                          <a:effectLst/>
                        </a:rPr>
                        <a:t> de </a:t>
                      </a:r>
                      <a:r>
                        <a:rPr lang="en-US" sz="1200" dirty="0" err="1">
                          <a:effectLst/>
                        </a:rPr>
                        <a:t>disquete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IRQ7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0Fh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Controlador</a:t>
                      </a:r>
                      <a:r>
                        <a:rPr lang="en-US" sz="1200" dirty="0">
                          <a:effectLst/>
                        </a:rPr>
                        <a:t> de </a:t>
                      </a:r>
                      <a:r>
                        <a:rPr lang="en-US" sz="1200" dirty="0" err="1">
                          <a:effectLst/>
                        </a:rPr>
                        <a:t>impresora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IRQ8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70h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Reloj</a:t>
                      </a:r>
                      <a:r>
                        <a:rPr lang="en-US" sz="1200" dirty="0">
                          <a:effectLst/>
                        </a:rPr>
                        <a:t> de </a:t>
                      </a:r>
                      <a:r>
                        <a:rPr lang="en-US" sz="1200" dirty="0" err="1">
                          <a:effectLst/>
                        </a:rPr>
                        <a:t>tiempo</a:t>
                      </a:r>
                      <a:r>
                        <a:rPr lang="en-US" sz="1200" dirty="0">
                          <a:effectLst/>
                        </a:rPr>
                        <a:t> real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IRQ9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71h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Redirección</a:t>
                      </a:r>
                      <a:r>
                        <a:rPr lang="en-US" sz="1200" dirty="0">
                          <a:effectLst/>
                        </a:rPr>
                        <a:t> de </a:t>
                      </a:r>
                      <a:r>
                        <a:rPr lang="en-US" sz="1200" dirty="0" err="1">
                          <a:effectLst/>
                        </a:rPr>
                        <a:t>cascada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IRQ10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72h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Libre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IRQ11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73h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Libre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IRQ12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74h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Dispositivo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auxiliar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IRQ13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75h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Excepción</a:t>
                      </a:r>
                      <a:r>
                        <a:rPr lang="en-US" sz="1200" dirty="0">
                          <a:effectLst/>
                        </a:rPr>
                        <a:t> FPU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IRQ14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76h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Libre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455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IRQ15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77h</a:t>
                      </a:r>
                      <a:endParaRPr lang="es-NI" sz="120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Reservado</a:t>
                      </a:r>
                      <a:endParaRPr lang="es-NI" sz="1200" dirty="0">
                        <a:effectLst/>
                        <a:latin typeface="Calibri"/>
                        <a:ea typeface="Times New Roman"/>
                        <a:cs typeface="Arial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1 Marcador de contenido"/>
          <p:cNvSpPr txBox="1">
            <a:spLocks/>
          </p:cNvSpPr>
          <p:nvPr/>
        </p:nvSpPr>
        <p:spPr>
          <a:xfrm>
            <a:off x="899592" y="1412776"/>
            <a:ext cx="3029508" cy="4320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800" kern="1200">
                <a:solidFill>
                  <a:srgbClr val="000099"/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000" kern="1200">
                <a:solidFill>
                  <a:srgbClr val="0070C0"/>
                </a:solidFill>
                <a:latin typeface="Century Gothic" pitchFamily="34" charset="0"/>
                <a:ea typeface="+mn-ea"/>
                <a:cs typeface="+mn-cs"/>
              </a:defRPr>
            </a:lvl2pPr>
            <a:lvl3pPr marL="59436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000" kern="1200">
                <a:solidFill>
                  <a:srgbClr val="006600"/>
                </a:solidFill>
                <a:latin typeface="Century Gothic" pitchFamily="34" charset="0"/>
                <a:ea typeface="+mn-ea"/>
                <a:cs typeface="+mn-cs"/>
              </a:defRPr>
            </a:lvl3pPr>
            <a:lvl4pPr marL="77724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000" kern="1200">
                <a:solidFill>
                  <a:srgbClr val="FF0000"/>
                </a:solidFill>
                <a:latin typeface="Century Gothic" pitchFamily="34" charset="0"/>
                <a:ea typeface="+mn-ea"/>
                <a:cs typeface="+mn-cs"/>
              </a:defRPr>
            </a:lvl4pPr>
            <a:lvl5pPr marL="96012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8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5pPr>
            <a:lvl6pPr marL="114300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2588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9164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sz="1400" b="1" dirty="0" err="1"/>
              <a:t>Organización</a:t>
            </a:r>
            <a:r>
              <a:rPr lang="en-US" sz="1400" b="1" dirty="0"/>
              <a:t> </a:t>
            </a:r>
            <a:r>
              <a:rPr lang="en-US" sz="1400" b="1" dirty="0" err="1"/>
              <a:t>Interna</a:t>
            </a:r>
            <a:r>
              <a:rPr lang="en-US" sz="1400" b="1" dirty="0"/>
              <a:t> del PIC </a:t>
            </a:r>
            <a:r>
              <a:rPr lang="en-US" sz="1400" b="1" dirty="0">
                <a:sym typeface="Wingdings" pitchFamily="2" charset="2"/>
              </a:rPr>
              <a:t></a:t>
            </a:r>
            <a:endParaRPr lang="es-NI" sz="1400" b="1" dirty="0"/>
          </a:p>
        </p:txBody>
      </p:sp>
    </p:spTree>
    <p:extLst>
      <p:ext uri="{BB962C8B-B14F-4D97-AF65-F5344CB8AC3E}">
        <p14:creationId xmlns:p14="http://schemas.microsoft.com/office/powerpoint/2010/main" val="1345543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Dispositivo</a:t>
            </a:r>
            <a:r>
              <a:rPr lang="en-US" dirty="0"/>
              <a:t> lee o </a:t>
            </a:r>
            <a:r>
              <a:rPr lang="en-US" dirty="0" err="1"/>
              <a:t>escribe</a:t>
            </a:r>
            <a:r>
              <a:rPr lang="en-US" dirty="0"/>
              <a:t> </a:t>
            </a:r>
            <a:r>
              <a:rPr lang="en-US" dirty="0" err="1"/>
              <a:t>directamente</a:t>
            </a:r>
            <a:r>
              <a:rPr lang="en-US" dirty="0"/>
              <a:t> en </a:t>
            </a:r>
            <a:r>
              <a:rPr lang="en-US" dirty="0" err="1"/>
              <a:t>memoria</a:t>
            </a:r>
            <a:r>
              <a:rPr lang="en-US" dirty="0"/>
              <a:t>.</a:t>
            </a:r>
          </a:p>
          <a:p>
            <a:r>
              <a:rPr lang="en-US" dirty="0" err="1"/>
              <a:t>Mejora</a:t>
            </a:r>
            <a:r>
              <a:rPr lang="en-US" dirty="0"/>
              <a:t> la </a:t>
            </a:r>
            <a:r>
              <a:rPr lang="en-US" dirty="0" err="1"/>
              <a:t>velocidad</a:t>
            </a:r>
            <a:r>
              <a:rPr lang="en-US" dirty="0"/>
              <a:t> de </a:t>
            </a:r>
            <a:r>
              <a:rPr lang="en-US" dirty="0" err="1"/>
              <a:t>transferencia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r>
              <a:rPr lang="en-US" dirty="0" err="1"/>
              <a:t>Exime</a:t>
            </a:r>
            <a:r>
              <a:rPr lang="en-US" dirty="0"/>
              <a:t> al CPU la </a:t>
            </a:r>
            <a:r>
              <a:rPr lang="en-US" dirty="0" err="1"/>
              <a:t>tarea</a:t>
            </a:r>
            <a:r>
              <a:rPr lang="en-US" dirty="0"/>
              <a:t> de </a:t>
            </a:r>
            <a:r>
              <a:rPr lang="en-US" dirty="0" err="1"/>
              <a:t>transferencia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r>
              <a:rPr lang="en-US" dirty="0"/>
              <a:t>Un </a:t>
            </a:r>
            <a:r>
              <a:rPr lang="en-US" dirty="0" err="1"/>
              <a:t>controlador</a:t>
            </a:r>
            <a:r>
              <a:rPr lang="en-US" dirty="0"/>
              <a:t> de DMA </a:t>
            </a:r>
            <a:r>
              <a:rPr lang="en-US" dirty="0" err="1"/>
              <a:t>ejecuta</a:t>
            </a:r>
            <a:r>
              <a:rPr lang="en-US" dirty="0"/>
              <a:t> un </a:t>
            </a:r>
            <a:r>
              <a:rPr lang="en-US" dirty="0" err="1"/>
              <a:t>programa</a:t>
            </a:r>
            <a:r>
              <a:rPr lang="en-US" dirty="0"/>
              <a:t> para </a:t>
            </a:r>
            <a:r>
              <a:rPr lang="en-US" dirty="0" err="1"/>
              <a:t>transferir</a:t>
            </a:r>
            <a:r>
              <a:rPr lang="en-US"/>
              <a:t> 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el </a:t>
            </a:r>
            <a:r>
              <a:rPr lang="en-US" dirty="0" err="1"/>
              <a:t>dispositivo</a:t>
            </a:r>
            <a:r>
              <a:rPr lang="en-US" dirty="0"/>
              <a:t> a </a:t>
            </a:r>
            <a:r>
              <a:rPr lang="en-US" dirty="0" err="1"/>
              <a:t>Memoria</a:t>
            </a:r>
            <a:r>
              <a:rPr lang="en-US" dirty="0"/>
              <a:t> y </a:t>
            </a:r>
            <a:r>
              <a:rPr lang="en-US" dirty="0" err="1"/>
              <a:t>viceversa</a:t>
            </a:r>
            <a:r>
              <a:rPr lang="en-US" dirty="0"/>
              <a:t>.</a:t>
            </a:r>
          </a:p>
          <a:p>
            <a:r>
              <a:rPr lang="en-US" dirty="0" err="1"/>
              <a:t>Controlador</a:t>
            </a:r>
            <a:r>
              <a:rPr lang="en-US" dirty="0"/>
              <a:t> DMA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capaz</a:t>
            </a:r>
            <a:r>
              <a:rPr lang="en-US" dirty="0"/>
              <a:t> de </a:t>
            </a:r>
            <a:r>
              <a:rPr lang="en-US" dirty="0" err="1"/>
              <a:t>tomar</a:t>
            </a:r>
            <a:r>
              <a:rPr lang="en-US" dirty="0"/>
              <a:t> control del bus (</a:t>
            </a:r>
            <a:r>
              <a:rPr lang="en-US" dirty="0" err="1"/>
              <a:t>p.e.</a:t>
            </a:r>
            <a:r>
              <a:rPr lang="en-US" dirty="0"/>
              <a:t> con </a:t>
            </a:r>
            <a:r>
              <a:rPr lang="en-US" dirty="0" err="1"/>
              <a:t>señal</a:t>
            </a:r>
            <a:r>
              <a:rPr lang="en-US" dirty="0"/>
              <a:t> HOLD, CPU lo cede con HLDA) para </a:t>
            </a:r>
            <a:r>
              <a:rPr lang="en-US" dirty="0" err="1"/>
              <a:t>realizar</a:t>
            </a:r>
            <a:r>
              <a:rPr lang="en-US" dirty="0"/>
              <a:t> la </a:t>
            </a:r>
            <a:r>
              <a:rPr lang="en-US" dirty="0" err="1"/>
              <a:t>transferencia</a:t>
            </a:r>
            <a:r>
              <a:rPr lang="en-US" dirty="0"/>
              <a:t>.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Acceso</a:t>
            </a:r>
            <a:r>
              <a:rPr lang="en-US" dirty="0"/>
              <a:t> </a:t>
            </a:r>
            <a:r>
              <a:rPr lang="en-US" dirty="0" err="1"/>
              <a:t>Directo</a:t>
            </a:r>
            <a:r>
              <a:rPr lang="en-US" dirty="0"/>
              <a:t> a </a:t>
            </a:r>
            <a:r>
              <a:rPr lang="en-US" dirty="0" err="1"/>
              <a:t>Memoria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61059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395536" y="1268760"/>
            <a:ext cx="8219256" cy="2952328"/>
          </a:xfrm>
        </p:spPr>
        <p:txBody>
          <a:bodyPr>
            <a:normAutofit fontScale="92500" lnSpcReduction="20000"/>
          </a:bodyPr>
          <a:lstStyle/>
          <a:p>
            <a:r>
              <a:rPr lang="es-NI" dirty="0"/>
              <a:t>Cuando se va a realizar una transferencia empleando DMA, el CPU inicializa los parámetros de la misma e indica al Módulo DMA:</a:t>
            </a:r>
          </a:p>
          <a:p>
            <a:pPr lvl="1"/>
            <a:r>
              <a:rPr lang="es-NI" sz="2400" dirty="0"/>
              <a:t>Dirección de la Operación (E/S</a:t>
            </a:r>
            <a:r>
              <a:rPr lang="es-NI" sz="2400" dirty="0">
                <a:sym typeface="Wingdings" pitchFamily="2" charset="2"/>
              </a:rPr>
              <a:t></a:t>
            </a:r>
            <a:r>
              <a:rPr lang="es-NI" sz="2400" dirty="0"/>
              <a:t>M o M</a:t>
            </a:r>
            <a:r>
              <a:rPr lang="es-NI" sz="2400" dirty="0">
                <a:sym typeface="Wingdings" pitchFamily="2" charset="2"/>
              </a:rPr>
              <a:t></a:t>
            </a:r>
            <a:r>
              <a:rPr lang="es-NI" sz="2400" dirty="0"/>
              <a:t>E/S).</a:t>
            </a:r>
          </a:p>
          <a:p>
            <a:pPr lvl="1"/>
            <a:r>
              <a:rPr lang="es-NI" sz="2400" dirty="0"/>
              <a:t>Se indica la dirección base del dispositivo de E/S.</a:t>
            </a:r>
          </a:p>
          <a:p>
            <a:pPr lvl="1"/>
            <a:r>
              <a:rPr lang="es-NI" sz="2400" dirty="0"/>
              <a:t>Se indica la posición inicial de memoria.</a:t>
            </a:r>
          </a:p>
          <a:p>
            <a:pPr lvl="1"/>
            <a:r>
              <a:rPr lang="es-NI" sz="2400" dirty="0"/>
              <a:t>Se indica el número de bytes que se van a transferir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Acceso</a:t>
            </a:r>
            <a:r>
              <a:rPr lang="en-US" dirty="0"/>
              <a:t> </a:t>
            </a:r>
            <a:r>
              <a:rPr lang="en-US" dirty="0" err="1"/>
              <a:t>Directo</a:t>
            </a:r>
            <a:r>
              <a:rPr lang="en-US" dirty="0"/>
              <a:t> a </a:t>
            </a:r>
            <a:r>
              <a:rPr lang="en-US" dirty="0" err="1"/>
              <a:t>Memoria</a:t>
            </a:r>
            <a:endParaRPr lang="es-NI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7" y="4077072"/>
            <a:ext cx="667940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8847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996952"/>
            <a:ext cx="6120680" cy="3864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196752"/>
            <a:ext cx="8219256" cy="1944216"/>
          </a:xfrm>
        </p:spPr>
        <p:txBody>
          <a:bodyPr>
            <a:noAutofit/>
          </a:bodyPr>
          <a:lstStyle/>
          <a:p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vez</a:t>
            </a:r>
            <a:r>
              <a:rPr lang="en-US" sz="2000" dirty="0"/>
              <a:t> </a:t>
            </a:r>
            <a:r>
              <a:rPr lang="en-US" sz="2000" dirty="0" err="1"/>
              <a:t>definidos</a:t>
            </a:r>
            <a:r>
              <a:rPr lang="en-US" sz="2000" dirty="0"/>
              <a:t> los </a:t>
            </a:r>
            <a:r>
              <a:rPr lang="en-US" sz="2000" dirty="0" err="1"/>
              <a:t>parámetros</a:t>
            </a:r>
            <a:r>
              <a:rPr lang="en-US" sz="2000" dirty="0"/>
              <a:t>, el CPU se </a:t>
            </a:r>
            <a:r>
              <a:rPr lang="en-US" sz="2000" dirty="0" err="1"/>
              <a:t>desentiende</a:t>
            </a:r>
            <a:r>
              <a:rPr lang="en-US" sz="2000" dirty="0"/>
              <a:t> y el </a:t>
            </a:r>
            <a:r>
              <a:rPr lang="en-US" sz="2000" dirty="0" err="1"/>
              <a:t>controlador</a:t>
            </a:r>
            <a:r>
              <a:rPr lang="en-US" sz="2000" dirty="0"/>
              <a:t> de DMA </a:t>
            </a:r>
            <a:r>
              <a:rPr lang="en-US" sz="2000" dirty="0" err="1"/>
              <a:t>realiza</a:t>
            </a:r>
            <a:r>
              <a:rPr lang="en-US" sz="2000" dirty="0"/>
              <a:t> la </a:t>
            </a:r>
            <a:r>
              <a:rPr lang="en-US" sz="2000" dirty="0" err="1"/>
              <a:t>transferencia</a:t>
            </a:r>
            <a:r>
              <a:rPr lang="en-US" sz="2000" dirty="0"/>
              <a:t>. </a:t>
            </a:r>
          </a:p>
          <a:p>
            <a:r>
              <a:rPr lang="en-US" sz="2000" dirty="0"/>
              <a:t>El </a:t>
            </a:r>
            <a:r>
              <a:rPr lang="en-US" sz="2000" dirty="0" err="1"/>
              <a:t>controlador</a:t>
            </a:r>
            <a:r>
              <a:rPr lang="en-US" sz="2000" dirty="0"/>
              <a:t> de DMA </a:t>
            </a:r>
            <a:r>
              <a:rPr lang="en-US" sz="2000" dirty="0" err="1"/>
              <a:t>notifica</a:t>
            </a:r>
            <a:r>
              <a:rPr lang="en-US" sz="2000" dirty="0"/>
              <a:t> fin de la </a:t>
            </a:r>
            <a:r>
              <a:rPr lang="en-US" sz="2000" dirty="0" err="1"/>
              <a:t>transferencia</a:t>
            </a:r>
            <a:r>
              <a:rPr lang="en-US" sz="2000" dirty="0"/>
              <a:t>.</a:t>
            </a:r>
          </a:p>
          <a:p>
            <a:endParaRPr lang="en-US" sz="1800" dirty="0"/>
          </a:p>
          <a:p>
            <a:r>
              <a:rPr lang="en-US" sz="2000" dirty="0" err="1"/>
              <a:t>Ejemplo</a:t>
            </a:r>
            <a:r>
              <a:rPr lang="en-US" sz="2000" dirty="0"/>
              <a:t> de </a:t>
            </a:r>
            <a:r>
              <a:rPr lang="en-US" sz="2000" dirty="0" err="1"/>
              <a:t>configuración</a:t>
            </a:r>
            <a:r>
              <a:rPr lang="en-US" sz="2000" dirty="0"/>
              <a:t> DMA: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Acceso</a:t>
            </a:r>
            <a:r>
              <a:rPr lang="en-US" dirty="0"/>
              <a:t> </a:t>
            </a:r>
            <a:r>
              <a:rPr lang="en-US" dirty="0" err="1"/>
              <a:t>Directo</a:t>
            </a:r>
            <a:r>
              <a:rPr lang="en-US" dirty="0"/>
              <a:t> a </a:t>
            </a:r>
            <a:r>
              <a:rPr lang="en-US" dirty="0" err="1"/>
              <a:t>Memoria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101488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052736"/>
            <a:ext cx="8219256" cy="5544616"/>
          </a:xfrm>
        </p:spPr>
        <p:txBody>
          <a:bodyPr>
            <a:normAutofit/>
          </a:bodyPr>
          <a:lstStyle/>
          <a:p>
            <a:r>
              <a:rPr lang="en-US" dirty="0"/>
              <a:t>DMA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modos</a:t>
            </a:r>
            <a:r>
              <a:rPr lang="en-US" dirty="0"/>
              <a:t> de </a:t>
            </a:r>
            <a:r>
              <a:rPr lang="en-US" dirty="0" err="1"/>
              <a:t>transferencia</a:t>
            </a:r>
            <a:r>
              <a:rPr lang="en-US" dirty="0"/>
              <a:t>: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Acceso</a:t>
            </a:r>
            <a:r>
              <a:rPr lang="en-US" dirty="0"/>
              <a:t> </a:t>
            </a:r>
            <a:r>
              <a:rPr lang="en-US" dirty="0" err="1"/>
              <a:t>Directo</a:t>
            </a:r>
            <a:r>
              <a:rPr lang="en-US" dirty="0"/>
              <a:t> a </a:t>
            </a:r>
            <a:r>
              <a:rPr lang="en-US" dirty="0" err="1"/>
              <a:t>Memoria</a:t>
            </a:r>
            <a:endParaRPr lang="es-NI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28800"/>
            <a:ext cx="7920880" cy="5181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269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052736"/>
            <a:ext cx="8219256" cy="5544616"/>
          </a:xfrm>
        </p:spPr>
        <p:txBody>
          <a:bodyPr>
            <a:normAutofit/>
          </a:bodyPr>
          <a:lstStyle/>
          <a:p>
            <a:r>
              <a:rPr lang="en-US" dirty="0" err="1"/>
              <a:t>Múltiples</a:t>
            </a:r>
            <a:r>
              <a:rPr lang="en-US" dirty="0"/>
              <a:t> </a:t>
            </a:r>
            <a:r>
              <a:rPr lang="en-US" dirty="0" err="1"/>
              <a:t>controladores</a:t>
            </a:r>
            <a:r>
              <a:rPr lang="en-US" dirty="0"/>
              <a:t> de DMA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requerir</a:t>
            </a:r>
            <a:r>
              <a:rPr lang="en-US" dirty="0"/>
              <a:t> </a:t>
            </a:r>
            <a:r>
              <a:rPr lang="en-US" dirty="0" err="1"/>
              <a:t>arbitraje</a:t>
            </a:r>
            <a:r>
              <a:rPr lang="en-US" dirty="0"/>
              <a:t> de bus (bus mastering)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Acceso</a:t>
            </a:r>
            <a:r>
              <a:rPr lang="en-US" dirty="0"/>
              <a:t> </a:t>
            </a:r>
            <a:r>
              <a:rPr lang="en-US" dirty="0" err="1"/>
              <a:t>Directo</a:t>
            </a:r>
            <a:r>
              <a:rPr lang="en-US" dirty="0"/>
              <a:t> a </a:t>
            </a:r>
            <a:r>
              <a:rPr lang="en-US" dirty="0" err="1"/>
              <a:t>Memoria</a:t>
            </a:r>
            <a:endParaRPr lang="es-NI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681" y="1988840"/>
            <a:ext cx="6959679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813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251520" y="1628800"/>
            <a:ext cx="3250704" cy="5040560"/>
          </a:xfrm>
        </p:spPr>
        <p:txBody>
          <a:bodyPr>
            <a:normAutofit fontScale="62500" lnSpcReduction="20000"/>
          </a:bodyPr>
          <a:lstStyle/>
          <a:p>
            <a:r>
              <a:rPr lang="en-US" altLang="ko-KR" sz="2600" dirty="0" err="1"/>
              <a:t>Proceso</a:t>
            </a:r>
            <a:r>
              <a:rPr lang="en-US" altLang="ko-KR" sz="2600" dirty="0"/>
              <a:t> DMA </a:t>
            </a:r>
            <a:r>
              <a:rPr lang="en-US" altLang="ko-KR" sz="2600" dirty="0" err="1"/>
              <a:t>Inicia</a:t>
            </a:r>
            <a:endParaRPr lang="en-US" altLang="ko-KR" sz="2600" dirty="0"/>
          </a:p>
          <a:p>
            <a:pPr lvl="1"/>
            <a:r>
              <a:rPr lang="en-US" altLang="ko-KR" b="1" dirty="0">
                <a:solidFill>
                  <a:schemeClr val="accent1"/>
                </a:solidFill>
              </a:rPr>
              <a:t>1</a:t>
            </a:r>
            <a:r>
              <a:rPr lang="en-US" altLang="ko-KR" sz="2300" b="1" dirty="0">
                <a:solidFill>
                  <a:schemeClr val="accent1"/>
                </a:solidFill>
              </a:rPr>
              <a:t>)</a:t>
            </a:r>
            <a:r>
              <a:rPr lang="en-US" altLang="ko-KR" sz="2300" dirty="0"/>
              <a:t> Se </a:t>
            </a:r>
            <a:r>
              <a:rPr lang="en-US" altLang="ko-KR" sz="2300" dirty="0" err="1"/>
              <a:t>escribe</a:t>
            </a:r>
            <a:r>
              <a:rPr lang="en-US" altLang="ko-KR" sz="2300" dirty="0"/>
              <a:t> el </a:t>
            </a:r>
            <a:r>
              <a:rPr lang="en-US" altLang="ko-KR" sz="2300" dirty="0" err="1"/>
              <a:t>registro</a:t>
            </a:r>
            <a:r>
              <a:rPr lang="en-US" altLang="ko-KR" sz="2300" dirty="0"/>
              <a:t> de </a:t>
            </a:r>
            <a:r>
              <a:rPr lang="en-US" altLang="ko-KR" sz="2300" dirty="0" err="1"/>
              <a:t>Direcciones</a:t>
            </a:r>
            <a:r>
              <a:rPr lang="en-US" altLang="ko-KR" sz="2300" dirty="0"/>
              <a:t> (Address Register): </a:t>
            </a:r>
          </a:p>
          <a:p>
            <a:pPr lvl="2"/>
            <a:r>
              <a:rPr lang="en-US" altLang="ko-KR" sz="2300" dirty="0" err="1"/>
              <a:t>Dirección</a:t>
            </a:r>
            <a:r>
              <a:rPr lang="en-US" altLang="ko-KR" sz="2300" dirty="0"/>
              <a:t> de memory a read/write</a:t>
            </a:r>
          </a:p>
          <a:p>
            <a:pPr lvl="1"/>
            <a:r>
              <a:rPr lang="en-US" altLang="ko-KR" sz="2300" b="1" dirty="0">
                <a:solidFill>
                  <a:schemeClr val="accent1"/>
                </a:solidFill>
              </a:rPr>
              <a:t>2)</a:t>
            </a:r>
            <a:r>
              <a:rPr lang="en-US" altLang="ko-KR" sz="2300" dirty="0"/>
              <a:t> Se </a:t>
            </a:r>
            <a:r>
              <a:rPr lang="en-US" altLang="ko-KR" sz="2300" dirty="0" err="1"/>
              <a:t>escribe</a:t>
            </a:r>
            <a:r>
              <a:rPr lang="en-US" altLang="ko-KR" sz="2300" dirty="0"/>
              <a:t> el </a:t>
            </a:r>
            <a:r>
              <a:rPr lang="en-US" altLang="ko-KR" sz="2300" dirty="0" err="1"/>
              <a:t>registro</a:t>
            </a:r>
            <a:r>
              <a:rPr lang="en-US" altLang="ko-KR" sz="2300" dirty="0"/>
              <a:t> de </a:t>
            </a:r>
            <a:r>
              <a:rPr lang="en-US" altLang="ko-KR" sz="2300" dirty="0" err="1"/>
              <a:t>conteo</a:t>
            </a:r>
            <a:r>
              <a:rPr lang="en-US" altLang="ko-KR" sz="2300" dirty="0"/>
              <a:t> (Word count register):</a:t>
            </a:r>
          </a:p>
          <a:p>
            <a:pPr lvl="2"/>
            <a:r>
              <a:rPr lang="en-US" altLang="ko-KR" sz="2300" dirty="0"/>
              <a:t> </a:t>
            </a:r>
            <a:r>
              <a:rPr lang="en-US" altLang="ko-KR" sz="2300" dirty="0" err="1"/>
              <a:t>Cantidad</a:t>
            </a:r>
            <a:r>
              <a:rPr lang="en-US" altLang="ko-KR" sz="2300" dirty="0"/>
              <a:t> de </a:t>
            </a:r>
            <a:r>
              <a:rPr lang="en-US" altLang="ko-KR" sz="2300" dirty="0" err="1"/>
              <a:t>palabras</a:t>
            </a:r>
            <a:r>
              <a:rPr lang="en-US" altLang="ko-KR" sz="2300" dirty="0"/>
              <a:t> a </a:t>
            </a:r>
            <a:r>
              <a:rPr lang="en-US" altLang="ko-KR" sz="2300" dirty="0" err="1"/>
              <a:t>transferir</a:t>
            </a:r>
            <a:endParaRPr lang="en-US" altLang="ko-KR" sz="2300" dirty="0"/>
          </a:p>
          <a:p>
            <a:pPr lvl="1"/>
            <a:r>
              <a:rPr lang="en-US" altLang="ko-KR" sz="2300" b="1" dirty="0">
                <a:solidFill>
                  <a:schemeClr val="accent1"/>
                </a:solidFill>
              </a:rPr>
              <a:t>3)</a:t>
            </a:r>
            <a:r>
              <a:rPr lang="en-US" altLang="ko-KR" sz="2300" dirty="0"/>
              <a:t> Se define el </a:t>
            </a:r>
            <a:r>
              <a:rPr lang="en-US" altLang="ko-KR" sz="2300" dirty="0" err="1"/>
              <a:t>modo</a:t>
            </a:r>
            <a:r>
              <a:rPr lang="en-US" altLang="ko-KR" sz="2300" dirty="0"/>
              <a:t> de </a:t>
            </a:r>
            <a:r>
              <a:rPr lang="en-US" altLang="ko-KR" sz="2300" dirty="0" err="1"/>
              <a:t>transferencia</a:t>
            </a:r>
            <a:r>
              <a:rPr lang="en-US" altLang="ko-KR" sz="2300" dirty="0"/>
              <a:t>: </a:t>
            </a:r>
          </a:p>
          <a:p>
            <a:pPr lvl="2"/>
            <a:r>
              <a:rPr lang="en-US" altLang="ko-KR" sz="2300" dirty="0"/>
              <a:t>read/write, </a:t>
            </a:r>
          </a:p>
          <a:p>
            <a:pPr lvl="2"/>
            <a:r>
              <a:rPr lang="en-US" altLang="ko-KR" sz="2300" dirty="0"/>
              <a:t>burst/cycle stealing, </a:t>
            </a:r>
          </a:p>
          <a:p>
            <a:pPr lvl="2"/>
            <a:r>
              <a:rPr lang="en-US" altLang="ko-KR" sz="2300" dirty="0"/>
              <a:t>I/O to I/O, </a:t>
            </a:r>
          </a:p>
          <a:p>
            <a:pPr lvl="2"/>
            <a:r>
              <a:rPr lang="en-US" altLang="ko-KR" sz="2300" dirty="0"/>
              <a:t>I/O to Memory, </a:t>
            </a:r>
          </a:p>
          <a:p>
            <a:pPr lvl="2"/>
            <a:r>
              <a:rPr lang="en-US" altLang="ko-KR" sz="2300" dirty="0"/>
              <a:t>Memory to Memory</a:t>
            </a:r>
          </a:p>
          <a:p>
            <a:pPr lvl="2"/>
            <a:r>
              <a:rPr lang="en-US" altLang="ko-KR" sz="2300" dirty="0"/>
              <a:t>Memory search</a:t>
            </a:r>
          </a:p>
          <a:p>
            <a:pPr lvl="2"/>
            <a:r>
              <a:rPr lang="en-US" altLang="ko-KR" sz="2300" dirty="0"/>
              <a:t>I/O search</a:t>
            </a:r>
          </a:p>
          <a:p>
            <a:pPr lvl="1"/>
            <a:r>
              <a:rPr lang="en-US" altLang="ko-KR" sz="2300" dirty="0"/>
              <a:t>4) Se </a:t>
            </a:r>
            <a:r>
              <a:rPr lang="en-US" altLang="ko-KR" sz="2300" dirty="0" err="1"/>
              <a:t>Inicia</a:t>
            </a:r>
            <a:r>
              <a:rPr lang="en-US" altLang="ko-KR" sz="2300" dirty="0"/>
              <a:t> </a:t>
            </a:r>
            <a:r>
              <a:rPr lang="en-US" altLang="ko-KR" sz="2300" dirty="0" err="1"/>
              <a:t>transferencia</a:t>
            </a:r>
            <a:r>
              <a:rPr lang="en-US" altLang="ko-KR" sz="2300" dirty="0"/>
              <a:t> DMA </a:t>
            </a:r>
          </a:p>
          <a:p>
            <a:pPr lvl="1"/>
            <a:r>
              <a:rPr lang="en-US" altLang="ko-KR" sz="2300" dirty="0"/>
              <a:t>5) Se </a:t>
            </a:r>
            <a:r>
              <a:rPr lang="en-US" altLang="ko-KR" sz="2300" dirty="0" err="1"/>
              <a:t>notifica</a:t>
            </a:r>
            <a:r>
              <a:rPr lang="en-US" altLang="ko-KR" sz="2300" dirty="0"/>
              <a:t> el fin de la </a:t>
            </a:r>
            <a:r>
              <a:rPr lang="en-US" altLang="ko-KR" sz="2300" dirty="0" err="1"/>
              <a:t>transferencia</a:t>
            </a:r>
            <a:r>
              <a:rPr lang="en-US" altLang="ko-KR" sz="2300" dirty="0"/>
              <a:t>: </a:t>
            </a:r>
          </a:p>
          <a:p>
            <a:pPr lvl="2"/>
            <a:r>
              <a:rPr lang="en-US" altLang="ko-KR" sz="2300" dirty="0" err="1"/>
              <a:t>Interrupción</a:t>
            </a:r>
            <a:r>
              <a:rPr lang="en-US" altLang="ko-KR" sz="2300" dirty="0"/>
              <a:t> EOT</a:t>
            </a:r>
            <a:endParaRPr lang="es-NI" sz="2300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Intel 8237 DMAC</a:t>
            </a:r>
          </a:p>
        </p:txBody>
      </p:sp>
      <p:graphicFrame>
        <p:nvGraphicFramePr>
          <p:cNvPr id="4" name="3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863514"/>
              </p:ext>
            </p:extLst>
          </p:nvPr>
        </p:nvGraphicFramePr>
        <p:xfrm>
          <a:off x="3871664" y="1596862"/>
          <a:ext cx="4876800" cy="4856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3" name="Visio" r:id="rId3" imgW="6923226" imgH="5382294" progId="Visio.Drawing.11">
                  <p:embed/>
                </p:oleObj>
              </mc:Choice>
              <mc:Fallback>
                <p:oleObj name="Visio" r:id="rId3" imgW="6923226" imgH="538229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664" y="1596862"/>
                        <a:ext cx="4876800" cy="4856474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4 CuadroTexto"/>
          <p:cNvSpPr txBox="1"/>
          <p:nvPr/>
        </p:nvSpPr>
        <p:spPr>
          <a:xfrm>
            <a:off x="3923928" y="1196752"/>
            <a:ext cx="482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</a:rPr>
              <a:t>Estructura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interna</a:t>
            </a:r>
            <a:r>
              <a:rPr lang="en-US" sz="2000" b="1" dirty="0">
                <a:solidFill>
                  <a:srgbClr val="0070C0"/>
                </a:solidFill>
              </a:rPr>
              <a:t> del 8237 DMAC</a:t>
            </a:r>
            <a:endParaRPr lang="es-NI" sz="2000" b="1" dirty="0">
              <a:solidFill>
                <a:srgbClr val="0070C0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323528" y="1228690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</a:rPr>
              <a:t>Funcionamiento</a:t>
            </a:r>
            <a:endParaRPr lang="es-NI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3623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80920" cy="1008112"/>
          </a:xfrm>
        </p:spPr>
        <p:txBody>
          <a:bodyPr/>
          <a:lstStyle/>
          <a:p>
            <a:r>
              <a:rPr lang="es-NI" dirty="0"/>
              <a:t>Intel 8237 DMAC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07504" y="1484784"/>
            <a:ext cx="3960440" cy="489654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800" kern="1200">
                <a:solidFill>
                  <a:srgbClr val="000099"/>
                </a:solidFill>
                <a:latin typeface="Century Gothic" pitchFamily="34" charset="0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000" kern="1200">
                <a:solidFill>
                  <a:srgbClr val="0070C0"/>
                </a:solidFill>
                <a:latin typeface="Century Gothic" pitchFamily="34" charset="0"/>
                <a:ea typeface="+mn-ea"/>
                <a:cs typeface="+mn-cs"/>
              </a:defRPr>
            </a:lvl2pPr>
            <a:lvl3pPr marL="59436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000" kern="1200">
                <a:solidFill>
                  <a:srgbClr val="006600"/>
                </a:solidFill>
                <a:latin typeface="Century Gothic" pitchFamily="34" charset="0"/>
                <a:ea typeface="+mn-ea"/>
                <a:cs typeface="+mn-cs"/>
              </a:defRPr>
            </a:lvl3pPr>
            <a:lvl4pPr marL="77724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000" kern="1200">
                <a:solidFill>
                  <a:srgbClr val="FF0000"/>
                </a:solidFill>
                <a:latin typeface="Century Gothic" pitchFamily="34" charset="0"/>
                <a:ea typeface="+mn-ea"/>
                <a:cs typeface="+mn-cs"/>
              </a:defRPr>
            </a:lvl4pPr>
            <a:lvl5pPr marL="960120" indent="-182880" algn="l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2000" kern="1200">
                <a:solidFill>
                  <a:schemeClr val="tx1">
                    <a:lumMod val="8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lvl5pPr>
            <a:lvl6pPr marL="114300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2588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0876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91640" indent="-182880" algn="l" defTabSz="914400" rtl="0" eaLnBrk="1" latinLnBrk="0" hangingPunct="1">
              <a:spcBef>
                <a:spcPts val="288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§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b="1" dirty="0" err="1">
                <a:solidFill>
                  <a:srgbClr val="7030A0"/>
                </a:solidFill>
              </a:rPr>
              <a:t>Transferencia</a:t>
            </a:r>
            <a:r>
              <a:rPr lang="en-US" altLang="ko-KR" sz="2400" b="1" dirty="0">
                <a:solidFill>
                  <a:srgbClr val="7030A0"/>
                </a:solidFill>
              </a:rPr>
              <a:t> DMA (</a:t>
            </a:r>
            <a:r>
              <a:rPr lang="en-US" altLang="ko-KR" sz="1600" b="1" dirty="0">
                <a:solidFill>
                  <a:srgbClr val="7030A0"/>
                </a:solidFill>
              </a:rPr>
              <a:t>E/S</a:t>
            </a:r>
            <a:r>
              <a:rPr lang="en-US" altLang="ko-KR" sz="1600" b="1" dirty="0">
                <a:solidFill>
                  <a:srgbClr val="7030A0"/>
                </a:solidFill>
                <a:sym typeface="Wingdings" pitchFamily="2" charset="2"/>
              </a:rPr>
              <a:t></a:t>
            </a:r>
            <a:r>
              <a:rPr lang="en-US" altLang="ko-KR" sz="1600" b="1" dirty="0">
                <a:solidFill>
                  <a:srgbClr val="7030A0"/>
                </a:solidFill>
              </a:rPr>
              <a:t>M</a:t>
            </a:r>
            <a:r>
              <a:rPr lang="en-US" altLang="ko-KR" sz="2400" b="1" dirty="0">
                <a:solidFill>
                  <a:srgbClr val="7030A0"/>
                </a:solidFill>
              </a:rPr>
              <a:t>)</a:t>
            </a:r>
          </a:p>
          <a:p>
            <a:endParaRPr lang="en-US" altLang="ko-KR" sz="2300" b="1" dirty="0">
              <a:solidFill>
                <a:srgbClr val="7030A0"/>
              </a:solidFill>
            </a:endParaRPr>
          </a:p>
          <a:p>
            <a:pPr lvl="1"/>
            <a:r>
              <a:rPr lang="en-US" altLang="ko-KR" sz="2100" dirty="0"/>
              <a:t>1) El </a:t>
            </a:r>
            <a:r>
              <a:rPr lang="en-US" altLang="ko-KR" sz="2100" dirty="0" err="1"/>
              <a:t>dispositivo</a:t>
            </a:r>
            <a:r>
              <a:rPr lang="en-US" altLang="ko-KR" sz="2100" dirty="0"/>
              <a:t> de  E/S </a:t>
            </a:r>
            <a:r>
              <a:rPr lang="en-US" altLang="ko-KR" sz="2100" dirty="0" err="1"/>
              <a:t>envía</a:t>
            </a:r>
            <a:r>
              <a:rPr lang="en-US" altLang="ko-KR" sz="2100" dirty="0"/>
              <a:t> </a:t>
            </a:r>
            <a:r>
              <a:rPr lang="en-US" altLang="ko-KR" sz="2100" dirty="0" err="1"/>
              <a:t>solicitud</a:t>
            </a:r>
            <a:r>
              <a:rPr lang="en-US" altLang="ko-KR" sz="2100" dirty="0"/>
              <a:t> DMA</a:t>
            </a:r>
          </a:p>
          <a:p>
            <a:pPr lvl="1"/>
            <a:r>
              <a:rPr lang="en-US" altLang="ko-KR" sz="2100" dirty="0"/>
              <a:t>2) El DMAC </a:t>
            </a:r>
            <a:r>
              <a:rPr lang="en-US" altLang="ko-KR" sz="2100" dirty="0" err="1"/>
              <a:t>activa</a:t>
            </a:r>
            <a:r>
              <a:rPr lang="en-US" altLang="ko-KR" sz="2100" dirty="0"/>
              <a:t> la </a:t>
            </a:r>
            <a:r>
              <a:rPr lang="en-US" altLang="ko-KR" sz="2100" dirty="0" err="1"/>
              <a:t>línea</a:t>
            </a:r>
            <a:r>
              <a:rPr lang="en-US" altLang="ko-KR" sz="2100" dirty="0"/>
              <a:t> </a:t>
            </a:r>
            <a:r>
              <a:rPr lang="en-US" altLang="ko-KR" sz="2100" b="1" dirty="0"/>
              <a:t>BR</a:t>
            </a:r>
            <a:endParaRPr lang="en-US" altLang="ko-KR" sz="2100" dirty="0"/>
          </a:p>
          <a:p>
            <a:pPr lvl="1"/>
            <a:r>
              <a:rPr lang="en-US" altLang="ko-KR" sz="2100" dirty="0"/>
              <a:t>3) El CPU </a:t>
            </a:r>
            <a:r>
              <a:rPr lang="en-US" altLang="ko-KR" sz="2100" dirty="0" err="1"/>
              <a:t>responde</a:t>
            </a:r>
            <a:r>
              <a:rPr lang="en-US" altLang="ko-KR" sz="2100" dirty="0"/>
              <a:t> </a:t>
            </a:r>
            <a:r>
              <a:rPr lang="en-US" altLang="ko-KR" sz="2100" dirty="0" err="1"/>
              <a:t>por</a:t>
            </a:r>
            <a:r>
              <a:rPr lang="en-US" altLang="ko-KR" sz="2100" dirty="0"/>
              <a:t> </a:t>
            </a:r>
            <a:r>
              <a:rPr lang="en-US" altLang="ko-KR" sz="2100" b="1" dirty="0"/>
              <a:t>BG</a:t>
            </a:r>
            <a:endParaRPr lang="en-US" altLang="ko-KR" sz="2100" dirty="0"/>
          </a:p>
          <a:p>
            <a:pPr lvl="1"/>
            <a:r>
              <a:rPr lang="en-US" altLang="ko-KR" sz="2100" dirty="0"/>
              <a:t>4) El DMAC </a:t>
            </a:r>
            <a:r>
              <a:rPr lang="en-US" altLang="ko-KR" sz="2100" dirty="0" err="1"/>
              <a:t>envía</a:t>
            </a:r>
            <a:r>
              <a:rPr lang="en-US" altLang="ko-KR" sz="2100" dirty="0"/>
              <a:t> un  DMA acknowledge al </a:t>
            </a:r>
            <a:r>
              <a:rPr lang="en-US" altLang="ko-KR" sz="2100" dirty="0" err="1"/>
              <a:t>dispositivo</a:t>
            </a:r>
            <a:endParaRPr lang="en-US" altLang="ko-KR" sz="2100" dirty="0"/>
          </a:p>
          <a:p>
            <a:pPr lvl="1"/>
            <a:r>
              <a:rPr lang="en-US" altLang="ko-KR" sz="2100" dirty="0"/>
              <a:t>5) El </a:t>
            </a:r>
            <a:r>
              <a:rPr lang="en-US" altLang="ko-KR" sz="2100" dirty="0" err="1"/>
              <a:t>dispositivo</a:t>
            </a:r>
            <a:r>
              <a:rPr lang="en-US" altLang="ko-KR" sz="2100" dirty="0"/>
              <a:t> pone </a:t>
            </a:r>
            <a:r>
              <a:rPr lang="en-US" altLang="ko-KR" sz="2100" dirty="0" err="1"/>
              <a:t>una</a:t>
            </a:r>
            <a:r>
              <a:rPr lang="en-US" altLang="ko-KR" sz="2100" dirty="0"/>
              <a:t> </a:t>
            </a:r>
            <a:r>
              <a:rPr lang="en-US" altLang="ko-KR" sz="2100" dirty="0" err="1"/>
              <a:t>palabra</a:t>
            </a:r>
            <a:r>
              <a:rPr lang="en-US" altLang="ko-KR" sz="2100" dirty="0"/>
              <a:t> en el bus de </a:t>
            </a:r>
            <a:r>
              <a:rPr lang="en-US" altLang="ko-KR" sz="2100" dirty="0" err="1"/>
              <a:t>datos</a:t>
            </a:r>
            <a:r>
              <a:rPr lang="en-US" altLang="ko-KR" sz="2100" dirty="0"/>
              <a:t> (para </a:t>
            </a:r>
            <a:r>
              <a:rPr lang="en-US" altLang="ko-KR" sz="2100" dirty="0" err="1"/>
              <a:t>escritura</a:t>
            </a:r>
            <a:r>
              <a:rPr lang="en-US" altLang="ko-KR" sz="2100" dirty="0"/>
              <a:t>)</a:t>
            </a:r>
          </a:p>
          <a:p>
            <a:pPr lvl="1"/>
            <a:r>
              <a:rPr lang="en-US" altLang="ko-KR" sz="2100" dirty="0"/>
              <a:t>6) El DMAC </a:t>
            </a:r>
            <a:r>
              <a:rPr lang="en-US" altLang="ko-KR" sz="2100" dirty="0" err="1"/>
              <a:t>escribe</a:t>
            </a:r>
            <a:r>
              <a:rPr lang="en-US" altLang="ko-KR" sz="2100" dirty="0"/>
              <a:t> la </a:t>
            </a:r>
            <a:r>
              <a:rPr lang="en-US" altLang="ko-KR" sz="2100" dirty="0" err="1"/>
              <a:t>palabra</a:t>
            </a:r>
            <a:r>
              <a:rPr lang="en-US" altLang="ko-KR" sz="2100" dirty="0"/>
              <a:t> a la </a:t>
            </a:r>
            <a:r>
              <a:rPr lang="en-US" altLang="ko-KR" sz="2100" dirty="0" err="1"/>
              <a:t>dirección</a:t>
            </a:r>
            <a:r>
              <a:rPr lang="en-US" altLang="ko-KR" sz="2100" dirty="0"/>
              <a:t> </a:t>
            </a:r>
            <a:r>
              <a:rPr lang="en-US" altLang="ko-KR" sz="2100" dirty="0" err="1"/>
              <a:t>apuntada</a:t>
            </a:r>
            <a:r>
              <a:rPr lang="en-US" altLang="ko-KR" sz="2100" dirty="0"/>
              <a:t> </a:t>
            </a:r>
            <a:r>
              <a:rPr lang="en-US" altLang="ko-KR" sz="2100" dirty="0" err="1"/>
              <a:t>por</a:t>
            </a:r>
            <a:r>
              <a:rPr lang="en-US" altLang="ko-KR" sz="2100" dirty="0"/>
              <a:t> el </a:t>
            </a:r>
            <a:r>
              <a:rPr lang="en-US" altLang="ko-KR" sz="2100" b="1" dirty="0"/>
              <a:t>Address register</a:t>
            </a:r>
            <a:endParaRPr lang="en-US" altLang="ko-KR" sz="2100" dirty="0"/>
          </a:p>
          <a:p>
            <a:pPr lvl="1"/>
            <a:r>
              <a:rPr lang="en-US" altLang="ko-KR" sz="2100" dirty="0"/>
              <a:t>7) </a:t>
            </a:r>
            <a:r>
              <a:rPr lang="en-US" altLang="ko-KR" sz="2100" dirty="0" err="1"/>
              <a:t>Decrementa</a:t>
            </a:r>
            <a:r>
              <a:rPr lang="en-US" altLang="ko-KR" sz="2100" dirty="0"/>
              <a:t> el </a:t>
            </a:r>
            <a:r>
              <a:rPr lang="en-US" altLang="ko-KR" sz="2100" b="1" dirty="0"/>
              <a:t>Word count register</a:t>
            </a:r>
            <a:endParaRPr lang="en-US" altLang="ko-KR" sz="2100" dirty="0"/>
          </a:p>
          <a:p>
            <a:pPr lvl="1"/>
            <a:r>
              <a:rPr lang="en-US" altLang="ko-KR" sz="2100" dirty="0"/>
              <a:t>8) Si el </a:t>
            </a:r>
            <a:r>
              <a:rPr lang="en-US" altLang="ko-KR" sz="2100" b="1" dirty="0"/>
              <a:t>Word count register</a:t>
            </a:r>
            <a:r>
              <a:rPr lang="en-US" altLang="ko-KR" sz="2100" dirty="0"/>
              <a:t> = 0,  genera </a:t>
            </a:r>
            <a:r>
              <a:rPr lang="en-US" altLang="ko-KR" sz="2100" b="1" dirty="0"/>
              <a:t>EOT</a:t>
            </a:r>
            <a:r>
              <a:rPr lang="en-US" altLang="ko-KR" sz="2100" dirty="0"/>
              <a:t> interrupt </a:t>
            </a:r>
          </a:p>
          <a:p>
            <a:pPr lvl="1"/>
            <a:r>
              <a:rPr lang="ko-KR" altLang="en-US" sz="2100" dirty="0"/>
              <a:t>9) </a:t>
            </a:r>
            <a:r>
              <a:rPr lang="en-US" altLang="ko-KR" sz="2100" dirty="0"/>
              <a:t>Si el </a:t>
            </a:r>
            <a:r>
              <a:rPr lang="en-US" altLang="ko-KR" sz="2100" b="1" dirty="0"/>
              <a:t>Word count register</a:t>
            </a:r>
            <a:r>
              <a:rPr lang="en-US" altLang="ko-KR" sz="2100" dirty="0"/>
              <a:t> </a:t>
            </a:r>
            <a:r>
              <a:rPr lang="en-US" altLang="ko-KR" sz="2100" dirty="0">
                <a:sym typeface="Symbol" pitchFamily="18" charset="2"/>
              </a:rPr>
              <a:t></a:t>
            </a:r>
            <a:r>
              <a:rPr lang="en-US" altLang="ko-KR" sz="2100" dirty="0"/>
              <a:t> 0 </a:t>
            </a:r>
            <a:r>
              <a:rPr lang="en-US" altLang="ko-KR" sz="2100" dirty="0" err="1"/>
              <a:t>verifica</a:t>
            </a:r>
            <a:r>
              <a:rPr lang="en-US" altLang="ko-KR" sz="2100" dirty="0"/>
              <a:t> la </a:t>
            </a:r>
            <a:r>
              <a:rPr lang="en-US" altLang="ko-KR" sz="2100" dirty="0" err="1"/>
              <a:t>línea</a:t>
            </a:r>
            <a:r>
              <a:rPr lang="en-US" altLang="ko-KR" sz="2100" dirty="0"/>
              <a:t> DMA request del </a:t>
            </a:r>
            <a:r>
              <a:rPr lang="en-US" altLang="ko-KR" sz="2100" dirty="0" err="1"/>
              <a:t>dispositivo</a:t>
            </a:r>
            <a:r>
              <a:rPr lang="en-US" altLang="ko-KR" sz="2100" dirty="0"/>
              <a:t> y </a:t>
            </a:r>
            <a:r>
              <a:rPr lang="en-US" altLang="ko-KR" sz="2100" dirty="0" err="1"/>
              <a:t>repite</a:t>
            </a:r>
            <a:r>
              <a:rPr lang="en-US" altLang="ko-KR" sz="2100" dirty="0"/>
              <a:t> hasta </a:t>
            </a:r>
            <a:r>
              <a:rPr lang="en-US" altLang="ko-KR" sz="2100" dirty="0" err="1"/>
              <a:t>finalizar</a:t>
            </a:r>
            <a:r>
              <a:rPr lang="en-US" altLang="ko-KR" sz="2100" dirty="0"/>
              <a:t>.</a:t>
            </a:r>
            <a:r>
              <a:rPr lang="ko-KR" altLang="en-US" sz="2100" dirty="0"/>
              <a:t>  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785106"/>
              </p:ext>
            </p:extLst>
          </p:nvPr>
        </p:nvGraphicFramePr>
        <p:xfrm>
          <a:off x="4120861" y="1636737"/>
          <a:ext cx="4495800" cy="459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name="VISIO" r:id="rId3" imgW="8310600" imgH="7351200" progId="Visio.Drawing.5">
                  <p:embed/>
                </p:oleObj>
              </mc:Choice>
              <mc:Fallback>
                <p:oleObj name="VISIO" r:id="rId3" imgW="8310600" imgH="7351200" progId="Visio.Drawing.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0861" y="1636737"/>
                        <a:ext cx="4495800" cy="45926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4067944" y="1196752"/>
            <a:ext cx="4752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</a:rPr>
              <a:t>Esquema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 err="1">
                <a:solidFill>
                  <a:srgbClr val="0070C0"/>
                </a:solidFill>
              </a:rPr>
              <a:t>interconexión</a:t>
            </a:r>
            <a:r>
              <a:rPr lang="en-US" sz="2000" b="1" dirty="0">
                <a:solidFill>
                  <a:srgbClr val="0070C0"/>
                </a:solidFill>
              </a:rPr>
              <a:t> CPU-M-DMAC-I/O </a:t>
            </a:r>
            <a:endParaRPr lang="es-NI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670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Arquitecturas</a:t>
            </a:r>
            <a:r>
              <a:rPr lang="en-US" dirty="0"/>
              <a:t> de </a:t>
            </a:r>
            <a:r>
              <a:rPr lang="en-US" dirty="0" err="1"/>
              <a:t>altas</a:t>
            </a:r>
            <a:r>
              <a:rPr lang="en-US" dirty="0"/>
              <a:t> </a:t>
            </a:r>
            <a:r>
              <a:rPr lang="en-US" dirty="0" err="1"/>
              <a:t>prestaciones</a:t>
            </a:r>
            <a:r>
              <a:rPr lang="en-US" dirty="0"/>
              <a:t> </a:t>
            </a:r>
            <a:r>
              <a:rPr lang="en-US" dirty="0" err="1"/>
              <a:t>disponen</a:t>
            </a:r>
            <a:r>
              <a:rPr lang="en-US" dirty="0"/>
              <a:t> de </a:t>
            </a:r>
            <a:r>
              <a:rPr lang="en-US" dirty="0" err="1"/>
              <a:t>procesadores</a:t>
            </a:r>
            <a:r>
              <a:rPr lang="en-US" dirty="0"/>
              <a:t> </a:t>
            </a:r>
            <a:r>
              <a:rPr lang="en-US" dirty="0" err="1"/>
              <a:t>dedicados</a:t>
            </a:r>
            <a:r>
              <a:rPr lang="en-US" dirty="0"/>
              <a:t> a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transferencias</a:t>
            </a:r>
            <a:r>
              <a:rPr lang="en-US" dirty="0"/>
              <a:t> de E/S, </a:t>
            </a:r>
            <a:r>
              <a:rPr lang="en-US" dirty="0" err="1"/>
              <a:t>llamados</a:t>
            </a:r>
            <a:r>
              <a:rPr lang="en-US" dirty="0"/>
              <a:t> Canales de E/S.</a:t>
            </a:r>
          </a:p>
          <a:p>
            <a:pPr lvl="1"/>
            <a:r>
              <a:rPr lang="en-US" dirty="0" err="1"/>
              <a:t>Podemos</a:t>
            </a:r>
            <a:r>
              <a:rPr lang="en-US" dirty="0"/>
              <a:t> </a:t>
            </a:r>
            <a:r>
              <a:rPr lang="en-US" dirty="0" err="1"/>
              <a:t>decir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evolución</a:t>
            </a:r>
            <a:r>
              <a:rPr lang="en-US" dirty="0"/>
              <a:t> del DMA.</a:t>
            </a:r>
          </a:p>
          <a:p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canales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además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local </a:t>
            </a:r>
            <a:r>
              <a:rPr lang="en-US" dirty="0" err="1"/>
              <a:t>operativa</a:t>
            </a:r>
            <a:r>
              <a:rPr lang="en-US" dirty="0"/>
              <a:t> para </a:t>
            </a:r>
            <a:r>
              <a:rPr lang="en-US" dirty="0" err="1"/>
              <a:t>orquestar</a:t>
            </a:r>
            <a:r>
              <a:rPr lang="en-US" dirty="0"/>
              <a:t> </a:t>
            </a:r>
            <a:r>
              <a:rPr lang="en-US" dirty="0" err="1"/>
              <a:t>complejas</a:t>
            </a:r>
            <a:r>
              <a:rPr lang="en-US" dirty="0"/>
              <a:t> </a:t>
            </a:r>
            <a:r>
              <a:rPr lang="en-US" dirty="0" err="1"/>
              <a:t>transferencias</a:t>
            </a:r>
            <a:r>
              <a:rPr lang="en-US" dirty="0"/>
              <a:t> </a:t>
            </a:r>
            <a:r>
              <a:rPr lang="en-US" dirty="0" err="1"/>
              <a:t>múltiples</a:t>
            </a:r>
            <a:r>
              <a:rPr lang="en-US" dirty="0"/>
              <a:t> a la </a:t>
            </a:r>
            <a:r>
              <a:rPr lang="en-US" dirty="0" err="1"/>
              <a:t>vez</a:t>
            </a:r>
            <a:r>
              <a:rPr lang="en-US" dirty="0"/>
              <a:t> se </a:t>
            </a:r>
            <a:r>
              <a:rPr lang="en-US" dirty="0" err="1"/>
              <a:t>llaman</a:t>
            </a:r>
            <a:r>
              <a:rPr lang="en-US" dirty="0"/>
              <a:t> </a:t>
            </a:r>
            <a:r>
              <a:rPr lang="en-US" dirty="0" err="1"/>
              <a:t>Procesador</a:t>
            </a:r>
            <a:r>
              <a:rPr lang="en-US" dirty="0"/>
              <a:t> de E/S o IOP. </a:t>
            </a:r>
          </a:p>
          <a:p>
            <a:r>
              <a:rPr lang="en-US" dirty="0" err="1"/>
              <a:t>Cada</a:t>
            </a:r>
            <a:r>
              <a:rPr lang="en-US" dirty="0"/>
              <a:t> canal </a:t>
            </a:r>
            <a:r>
              <a:rPr lang="en-US" dirty="0" err="1"/>
              <a:t>provee</a:t>
            </a:r>
            <a:r>
              <a:rPr lang="en-US" dirty="0"/>
              <a:t> un bus de E/S </a:t>
            </a:r>
            <a:r>
              <a:rPr lang="en-US" dirty="0" err="1"/>
              <a:t>capaz</a:t>
            </a:r>
            <a:r>
              <a:rPr lang="en-US" dirty="0"/>
              <a:t> de </a:t>
            </a:r>
            <a:r>
              <a:rPr lang="en-US" dirty="0" err="1"/>
              <a:t>atender</a:t>
            </a:r>
            <a:r>
              <a:rPr lang="en-US" dirty="0"/>
              <a:t> a </a:t>
            </a:r>
            <a:r>
              <a:rPr lang="en-US" dirty="0" err="1"/>
              <a:t>uno</a:t>
            </a:r>
            <a:r>
              <a:rPr lang="en-US" dirty="0"/>
              <a:t> o </a:t>
            </a: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 de E/S. </a:t>
            </a:r>
          </a:p>
          <a:p>
            <a:r>
              <a:rPr lang="en-US" dirty="0" err="1"/>
              <a:t>Cada</a:t>
            </a:r>
            <a:r>
              <a:rPr lang="en-US" dirty="0"/>
              <a:t> canal de E/S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operar</a:t>
            </a:r>
            <a:r>
              <a:rPr lang="en-US" dirty="0"/>
              <a:t> en un </a:t>
            </a:r>
            <a:r>
              <a:rPr lang="en-US" dirty="0" err="1"/>
              <a:t>modo</a:t>
            </a:r>
            <a:r>
              <a:rPr lang="en-US" dirty="0"/>
              <a:t> de </a:t>
            </a:r>
            <a:r>
              <a:rPr lang="en-US" dirty="0" err="1"/>
              <a:t>transferencia</a:t>
            </a:r>
            <a:r>
              <a:rPr lang="en-US" dirty="0"/>
              <a:t>.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Canales y </a:t>
            </a:r>
            <a:r>
              <a:rPr lang="en-US" dirty="0" err="1"/>
              <a:t>Procesadores</a:t>
            </a:r>
            <a:r>
              <a:rPr lang="en-US" dirty="0"/>
              <a:t> de E/S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66120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57200" y="1340768"/>
            <a:ext cx="8219256" cy="4759423"/>
          </a:xfrm>
        </p:spPr>
        <p:txBody>
          <a:bodyPr/>
          <a:lstStyle/>
          <a:p>
            <a:r>
              <a:rPr lang="en-US" dirty="0" err="1"/>
              <a:t>Tipos</a:t>
            </a:r>
            <a:r>
              <a:rPr lang="en-US" dirty="0"/>
              <a:t> de Canales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modos</a:t>
            </a:r>
            <a:r>
              <a:rPr lang="en-US" dirty="0"/>
              <a:t> de </a:t>
            </a:r>
            <a:r>
              <a:rPr lang="en-US" dirty="0" err="1"/>
              <a:t>transferencia</a:t>
            </a:r>
            <a:endParaRPr lang="en-US" dirty="0"/>
          </a:p>
          <a:p>
            <a:pPr lvl="1"/>
            <a:r>
              <a:rPr lang="en-US" sz="2400" dirty="0">
                <a:solidFill>
                  <a:srgbClr val="006600"/>
                </a:solidFill>
              </a:rPr>
              <a:t>Canal selector</a:t>
            </a:r>
            <a:r>
              <a:rPr lang="en-US" sz="2400" dirty="0"/>
              <a:t>: </a:t>
            </a:r>
            <a:r>
              <a:rPr lang="en-US" sz="2400" dirty="0" err="1"/>
              <a:t>dedicado</a:t>
            </a:r>
            <a:r>
              <a:rPr lang="en-US" sz="2400" dirty="0"/>
              <a:t> a un </a:t>
            </a:r>
            <a:r>
              <a:rPr lang="en-US" sz="2400" dirty="0" err="1"/>
              <a:t>dispositivo</a:t>
            </a:r>
            <a:r>
              <a:rPr lang="en-US" sz="2400" dirty="0"/>
              <a:t> a la </a:t>
            </a:r>
            <a:r>
              <a:rPr lang="en-US" sz="2400" dirty="0" err="1"/>
              <a:t>vez</a:t>
            </a:r>
            <a:r>
              <a:rPr lang="en-US" sz="2400" dirty="0"/>
              <a:t>.</a:t>
            </a:r>
          </a:p>
          <a:p>
            <a:pPr lvl="1"/>
            <a:r>
              <a:rPr lang="en-US" sz="2400" dirty="0" err="1"/>
              <a:t>Permite</a:t>
            </a:r>
            <a:r>
              <a:rPr lang="en-US" sz="2400" dirty="0"/>
              <a:t> </a:t>
            </a:r>
            <a:r>
              <a:rPr lang="en-US" sz="2400" dirty="0" err="1"/>
              <a:t>realizar</a:t>
            </a:r>
            <a:r>
              <a:rPr lang="en-US" sz="2400" dirty="0"/>
              <a:t> </a:t>
            </a:r>
            <a:r>
              <a:rPr lang="en-US" sz="2400" dirty="0" err="1"/>
              <a:t>transferencias</a:t>
            </a:r>
            <a:r>
              <a:rPr lang="en-US" sz="2400" dirty="0"/>
              <a:t> de </a:t>
            </a:r>
            <a:r>
              <a:rPr lang="en-US" sz="2400" dirty="0" err="1"/>
              <a:t>grandes</a:t>
            </a:r>
            <a:r>
              <a:rPr lang="en-US" sz="2400" dirty="0"/>
              <a:t> </a:t>
            </a:r>
            <a:r>
              <a:rPr lang="en-US" sz="2400" dirty="0" err="1"/>
              <a:t>bloques</a:t>
            </a:r>
            <a:r>
              <a:rPr lang="en-US" sz="2400" dirty="0"/>
              <a:t> de </a:t>
            </a:r>
            <a:r>
              <a:rPr lang="en-US" sz="2400" dirty="0" err="1"/>
              <a:t>datos</a:t>
            </a:r>
            <a:r>
              <a:rPr lang="en-US" sz="2400" dirty="0"/>
              <a:t>. </a:t>
            </a:r>
          </a:p>
          <a:p>
            <a:pPr lvl="1"/>
            <a:r>
              <a:rPr lang="en-US" sz="2400" dirty="0" err="1"/>
              <a:t>Propio</a:t>
            </a:r>
            <a:r>
              <a:rPr lang="en-US" sz="2400" dirty="0"/>
              <a:t> para </a:t>
            </a:r>
            <a:r>
              <a:rPr lang="en-US" sz="2400" dirty="0" err="1"/>
              <a:t>dispositivos</a:t>
            </a:r>
            <a:r>
              <a:rPr lang="en-US" sz="2400" dirty="0"/>
              <a:t> de </a:t>
            </a:r>
            <a:r>
              <a:rPr lang="en-US" sz="2400" dirty="0" err="1"/>
              <a:t>muy</a:t>
            </a:r>
            <a:r>
              <a:rPr lang="en-US" sz="2400" dirty="0"/>
              <a:t> </a:t>
            </a:r>
            <a:r>
              <a:rPr lang="en-US" sz="2400" dirty="0" err="1"/>
              <a:t>alta</a:t>
            </a:r>
            <a:r>
              <a:rPr lang="en-US" sz="2400" dirty="0"/>
              <a:t> </a:t>
            </a:r>
            <a:r>
              <a:rPr lang="en-US" sz="2400" dirty="0" err="1"/>
              <a:t>velocidad</a:t>
            </a:r>
            <a:r>
              <a:rPr lang="en-US" sz="2400" dirty="0"/>
              <a:t> </a:t>
            </a:r>
            <a:r>
              <a:rPr lang="en-US" sz="2400" dirty="0" err="1"/>
              <a:t>como</a:t>
            </a:r>
            <a:r>
              <a:rPr lang="en-US" sz="2400" dirty="0"/>
              <a:t> discos </a:t>
            </a:r>
            <a:r>
              <a:rPr lang="en-US" sz="2400" dirty="0" err="1"/>
              <a:t>duros</a:t>
            </a:r>
            <a:r>
              <a:rPr lang="en-US" sz="2400" dirty="0"/>
              <a:t> e </a:t>
            </a:r>
            <a:r>
              <a:rPr lang="en-US" sz="2400" dirty="0" err="1"/>
              <a:t>impresoras</a:t>
            </a:r>
            <a:r>
              <a:rPr lang="en-US" sz="2400" dirty="0"/>
              <a:t> de </a:t>
            </a:r>
            <a:r>
              <a:rPr lang="en-US" sz="2400" dirty="0" err="1"/>
              <a:t>línea</a:t>
            </a:r>
            <a:endParaRPr lang="es-NI" sz="2400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Canales </a:t>
            </a:r>
            <a:r>
              <a:rPr lang="en-US" dirty="0" err="1"/>
              <a:t>Procesadores</a:t>
            </a:r>
            <a:r>
              <a:rPr lang="en-US" dirty="0"/>
              <a:t> de E/S</a:t>
            </a:r>
            <a:endParaRPr lang="es-NI" dirty="0"/>
          </a:p>
        </p:txBody>
      </p:sp>
      <p:pic>
        <p:nvPicPr>
          <p:cNvPr id="22530" name="Imagen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077072"/>
            <a:ext cx="5409434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8596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4" y="1333873"/>
            <a:ext cx="8219256" cy="2599183"/>
          </a:xfrm>
        </p:spPr>
        <p:txBody>
          <a:bodyPr>
            <a:normAutofit/>
          </a:bodyPr>
          <a:lstStyle/>
          <a:p>
            <a:r>
              <a:rPr lang="en-US" dirty="0" err="1"/>
              <a:t>Tipos</a:t>
            </a:r>
            <a:r>
              <a:rPr lang="en-US" dirty="0"/>
              <a:t> de Canales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modo</a:t>
            </a:r>
            <a:r>
              <a:rPr lang="en-US" dirty="0"/>
              <a:t> de </a:t>
            </a:r>
            <a:r>
              <a:rPr lang="en-US" dirty="0" err="1"/>
              <a:t>transferencia</a:t>
            </a:r>
            <a:endParaRPr lang="en-US" dirty="0"/>
          </a:p>
          <a:p>
            <a:pPr lvl="1"/>
            <a:r>
              <a:rPr lang="en-US" sz="2400" dirty="0">
                <a:solidFill>
                  <a:srgbClr val="006600"/>
                </a:solidFill>
              </a:rPr>
              <a:t>Canal multiplexor</a:t>
            </a:r>
            <a:r>
              <a:rPr lang="en-US" sz="2400" dirty="0"/>
              <a:t>: </a:t>
            </a:r>
            <a:r>
              <a:rPr lang="es-NI" sz="2400" dirty="0"/>
              <a:t>atiende muchos dispositivos de mediana y baja velocidad a la vez en un esquema round-</a:t>
            </a:r>
            <a:r>
              <a:rPr lang="es-NI" sz="2400" dirty="0" err="1"/>
              <a:t>robin</a:t>
            </a:r>
            <a:r>
              <a:rPr lang="es-NI" sz="2400" dirty="0"/>
              <a:t>. </a:t>
            </a:r>
          </a:p>
          <a:p>
            <a:pPr lvl="1"/>
            <a:r>
              <a:rPr lang="es-NI" sz="2400" dirty="0"/>
              <a:t>Permite dos modos: Entresacado de bytes (byte a byte) y modo ráfaga (bloques). 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Canales </a:t>
            </a:r>
            <a:r>
              <a:rPr lang="en-US" dirty="0" err="1"/>
              <a:t>Procesadores</a:t>
            </a:r>
            <a:r>
              <a:rPr lang="en-US" dirty="0"/>
              <a:t> de E/S</a:t>
            </a:r>
            <a:endParaRPr lang="es-NI" dirty="0"/>
          </a:p>
        </p:txBody>
      </p:sp>
      <p:sp>
        <p:nvSpPr>
          <p:cNvPr id="4" name="3 CuadroTexto"/>
          <p:cNvSpPr txBox="1"/>
          <p:nvPr/>
        </p:nvSpPr>
        <p:spPr>
          <a:xfrm>
            <a:off x="386652" y="3942713"/>
            <a:ext cx="49685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buFont typeface="Wingdings" pitchFamily="2" charset="2"/>
              <a:buChar char="§"/>
            </a:pPr>
            <a:r>
              <a:rPr lang="es-NI" sz="2400" dirty="0">
                <a:solidFill>
                  <a:srgbClr val="0070C0"/>
                </a:solidFill>
                <a:latin typeface="Century Gothic" pitchFamily="34" charset="0"/>
              </a:rPr>
              <a:t>Toda transferencia comienza en modo de entresacado de bytes, cuando se termina el quantum inicial y aún hay datos se conmuta a modo ráfaga en un segundo quantum.</a:t>
            </a:r>
            <a:endParaRPr lang="es-NI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924709"/>
            <a:ext cx="3456384" cy="293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79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dirty="0" err="1"/>
              <a:t>Permiten</a:t>
            </a:r>
            <a:r>
              <a:rPr lang="en-US" dirty="0"/>
              <a:t> la </a:t>
            </a:r>
            <a:r>
              <a:rPr lang="en-US" dirty="0" err="1"/>
              <a:t>interconexión</a:t>
            </a:r>
            <a:r>
              <a:rPr lang="en-US" dirty="0"/>
              <a:t> con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dispositivos</a:t>
            </a:r>
            <a:r>
              <a:rPr lang="en-US" dirty="0"/>
              <a:t> sin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implementar</a:t>
            </a:r>
            <a:r>
              <a:rPr lang="en-US" dirty="0"/>
              <a:t> un </a:t>
            </a:r>
            <a:r>
              <a:rPr lang="en-US" dirty="0" err="1"/>
              <a:t>módulo</a:t>
            </a:r>
            <a:r>
              <a:rPr lang="en-US" dirty="0"/>
              <a:t> de E/S.</a:t>
            </a:r>
          </a:p>
          <a:p>
            <a:r>
              <a:rPr lang="en-US" dirty="0"/>
              <a:t> </a:t>
            </a:r>
            <a:r>
              <a:rPr lang="en-US" dirty="0" err="1"/>
              <a:t>Estándares</a:t>
            </a:r>
            <a:r>
              <a:rPr lang="en-US" dirty="0"/>
              <a:t> </a:t>
            </a:r>
            <a:r>
              <a:rPr lang="en-US" dirty="0" err="1"/>
              <a:t>correspondientes</a:t>
            </a:r>
            <a:r>
              <a:rPr lang="en-US" dirty="0"/>
              <a:t> </a:t>
            </a:r>
            <a:r>
              <a:rPr lang="en-US" dirty="0" err="1"/>
              <a:t>establecen</a:t>
            </a:r>
            <a:r>
              <a:rPr lang="en-US" dirty="0"/>
              <a:t> </a:t>
            </a:r>
            <a:r>
              <a:rPr lang="en-US" dirty="0" err="1"/>
              <a:t>especificaciones</a:t>
            </a:r>
            <a:r>
              <a:rPr lang="en-US" dirty="0"/>
              <a:t> a </a:t>
            </a:r>
            <a:r>
              <a:rPr lang="en-US" dirty="0" err="1"/>
              <a:t>las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apagarse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Así</a:t>
            </a:r>
            <a:r>
              <a:rPr lang="en-US" dirty="0"/>
              <a:t> el </a:t>
            </a:r>
            <a:r>
              <a:rPr lang="en-US" dirty="0" err="1"/>
              <a:t>diseñador</a:t>
            </a:r>
            <a:r>
              <a:rPr lang="en-US" dirty="0"/>
              <a:t> solo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adquirir</a:t>
            </a:r>
            <a:r>
              <a:rPr lang="en-US" dirty="0"/>
              <a:t> el hardware de </a:t>
            </a:r>
            <a:r>
              <a:rPr lang="en-US" dirty="0" err="1"/>
              <a:t>interfaz</a:t>
            </a:r>
            <a:r>
              <a:rPr lang="en-US" dirty="0"/>
              <a:t> del </a:t>
            </a:r>
            <a:r>
              <a:rPr lang="en-US" dirty="0" err="1"/>
              <a:t>lado</a:t>
            </a:r>
            <a:r>
              <a:rPr lang="en-US" dirty="0"/>
              <a:t> del </a:t>
            </a:r>
            <a:r>
              <a:rPr lang="en-US" dirty="0" err="1"/>
              <a:t>dispositivo</a:t>
            </a:r>
            <a:r>
              <a:rPr lang="en-US" dirty="0"/>
              <a:t>.</a:t>
            </a:r>
          </a:p>
          <a:p>
            <a:r>
              <a:rPr lang="en-US" dirty="0" err="1"/>
              <a:t>Ejemplos</a:t>
            </a:r>
            <a:r>
              <a:rPr lang="en-US" dirty="0"/>
              <a:t>: </a:t>
            </a:r>
            <a:r>
              <a:rPr lang="en-US" dirty="0" err="1"/>
              <a:t>dispositivos</a:t>
            </a:r>
            <a:r>
              <a:rPr lang="en-US" dirty="0"/>
              <a:t> </a:t>
            </a:r>
            <a:r>
              <a:rPr lang="en-US" dirty="0" err="1"/>
              <a:t>apuntadores</a:t>
            </a:r>
            <a:r>
              <a:rPr lang="en-US" dirty="0"/>
              <a:t> (mouse, pads, </a:t>
            </a:r>
            <a:r>
              <a:rPr lang="en-US" dirty="0" err="1"/>
              <a:t>etc</a:t>
            </a:r>
            <a:r>
              <a:rPr lang="en-US" dirty="0"/>
              <a:t>), </a:t>
            </a:r>
            <a:r>
              <a:rPr lang="en-US" dirty="0" err="1"/>
              <a:t>dispositivos</a:t>
            </a:r>
            <a:r>
              <a:rPr lang="en-US" dirty="0"/>
              <a:t> de </a:t>
            </a:r>
            <a:r>
              <a:rPr lang="en-US" dirty="0" err="1"/>
              <a:t>comunicación</a:t>
            </a:r>
            <a:r>
              <a:rPr lang="en-US" dirty="0"/>
              <a:t>, </a:t>
            </a:r>
            <a:r>
              <a:rPr lang="en-US" dirty="0" err="1"/>
              <a:t>tarjetas</a:t>
            </a:r>
            <a:r>
              <a:rPr lang="en-US" dirty="0"/>
              <a:t> de </a:t>
            </a:r>
            <a:r>
              <a:rPr lang="en-US" dirty="0" err="1"/>
              <a:t>interfaz</a:t>
            </a:r>
            <a:r>
              <a:rPr lang="en-US" dirty="0"/>
              <a:t> de red, </a:t>
            </a:r>
            <a:r>
              <a:rPr lang="en-US" dirty="0" err="1"/>
              <a:t>instrumentos</a:t>
            </a:r>
            <a:r>
              <a:rPr lang="en-US" dirty="0"/>
              <a:t> de </a:t>
            </a:r>
            <a:r>
              <a:rPr lang="en-US" dirty="0" err="1"/>
              <a:t>medición</a:t>
            </a:r>
            <a:r>
              <a:rPr lang="en-US" dirty="0"/>
              <a:t>, </a:t>
            </a:r>
            <a:r>
              <a:rPr lang="en-US" dirty="0" err="1"/>
              <a:t>redes</a:t>
            </a:r>
            <a:r>
              <a:rPr lang="en-US" dirty="0"/>
              <a:t> ad-hoc, etc.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</a:t>
            </a:r>
            <a:r>
              <a:rPr lang="en-US" dirty="0" err="1"/>
              <a:t>externas</a:t>
            </a:r>
            <a:r>
              <a:rPr lang="en-US" dirty="0"/>
              <a:t> </a:t>
            </a:r>
            <a:r>
              <a:rPr lang="en-US" dirty="0" err="1"/>
              <a:t>estándares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218106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Interfaces </a:t>
            </a:r>
            <a:r>
              <a:rPr lang="en-US" dirty="0" err="1"/>
              <a:t>Paralelas</a:t>
            </a:r>
            <a:endParaRPr lang="en-US" dirty="0"/>
          </a:p>
          <a:p>
            <a:pPr lvl="1"/>
            <a:r>
              <a:rPr lang="es-NI" sz="2400" dirty="0"/>
              <a:t>Trasmiten n bits simultáneamente. Las líneas de transmisión pueden ser unidireccionales o bidireccionales.  </a:t>
            </a:r>
          </a:p>
          <a:p>
            <a:pPr lvl="1"/>
            <a:r>
              <a:rPr lang="es-NI" sz="2400" dirty="0"/>
              <a:t>Además de las líneas de transferencia se requieren líneas de sincronización y control. </a:t>
            </a:r>
          </a:p>
          <a:p>
            <a:pPr lvl="1"/>
            <a:r>
              <a:rPr lang="es-NI" sz="2400" dirty="0"/>
              <a:t>La más reconocida es la interfaz Centronics de 8 bits que se ha usado en las </a:t>
            </a:r>
            <a:r>
              <a:rPr lang="es-NI" sz="2400" dirty="0" err="1"/>
              <a:t>PCs</a:t>
            </a:r>
            <a:r>
              <a:rPr lang="es-NI" sz="2400" dirty="0"/>
              <a:t> para la comunicación con las impresoras, antes de la introducción masiva de USB.</a:t>
            </a:r>
          </a:p>
          <a:p>
            <a:pPr lvl="1"/>
            <a:r>
              <a:rPr lang="en-US" sz="2400" dirty="0" err="1"/>
              <a:t>Limitada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tasa</a:t>
            </a:r>
            <a:r>
              <a:rPr lang="en-US" sz="2400" dirty="0"/>
              <a:t> de </a:t>
            </a:r>
            <a:r>
              <a:rPr lang="en-US" sz="2400" dirty="0" err="1"/>
              <a:t>transferencia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las</a:t>
            </a:r>
            <a:r>
              <a:rPr lang="en-US" sz="2400" dirty="0"/>
              <a:t> </a:t>
            </a:r>
            <a:r>
              <a:rPr lang="en-US" sz="2400" dirty="0" err="1"/>
              <a:t>posibles</a:t>
            </a:r>
            <a:r>
              <a:rPr lang="en-US" sz="2400" dirty="0"/>
              <a:t> </a:t>
            </a:r>
            <a:r>
              <a:rPr lang="en-US" sz="2400" dirty="0" err="1"/>
              <a:t>capacidades</a:t>
            </a:r>
            <a:r>
              <a:rPr lang="en-US" sz="2400" dirty="0"/>
              <a:t> </a:t>
            </a:r>
            <a:r>
              <a:rPr lang="en-US" sz="2400" dirty="0" err="1"/>
              <a:t>parásitas</a:t>
            </a:r>
            <a:r>
              <a:rPr lang="en-US" sz="2400" dirty="0"/>
              <a:t>.</a:t>
            </a:r>
            <a:endParaRPr lang="es-NI" sz="2400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</a:t>
            </a:r>
            <a:r>
              <a:rPr lang="en-US" dirty="0" err="1"/>
              <a:t>externas</a:t>
            </a:r>
            <a:r>
              <a:rPr lang="en-US" dirty="0"/>
              <a:t> </a:t>
            </a:r>
            <a:r>
              <a:rPr lang="en-US" dirty="0" err="1"/>
              <a:t>estándares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4578413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467544" y="1268760"/>
            <a:ext cx="8219256" cy="4759423"/>
          </a:xfrm>
        </p:spPr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a </a:t>
            </a:r>
            <a:r>
              <a:rPr lang="en-US" dirty="0" err="1"/>
              <a:t>bloques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interfaz</a:t>
            </a:r>
            <a:r>
              <a:rPr lang="en-US" dirty="0"/>
              <a:t> </a:t>
            </a:r>
            <a:r>
              <a:rPr lang="en-US" dirty="0" err="1"/>
              <a:t>paralela</a:t>
            </a:r>
            <a:endParaRPr lang="es-NI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Interfaz</a:t>
            </a:r>
            <a:r>
              <a:rPr lang="en-US" dirty="0"/>
              <a:t> </a:t>
            </a:r>
            <a:r>
              <a:rPr lang="en-US" dirty="0" err="1"/>
              <a:t>Paralela</a:t>
            </a:r>
            <a:endParaRPr lang="es-NI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037483"/>
            <a:ext cx="6665175" cy="4373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56966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Interfaces </a:t>
            </a:r>
            <a:r>
              <a:rPr lang="en-US" dirty="0" err="1"/>
              <a:t>Seriales</a:t>
            </a:r>
            <a:endParaRPr lang="en-US" dirty="0"/>
          </a:p>
          <a:p>
            <a:pPr lvl="1"/>
            <a:r>
              <a:rPr lang="es-NI" sz="2400" dirty="0"/>
              <a:t>Transmiten un solo bit a la vez, ya sea simplex (en una sola dirección), </a:t>
            </a:r>
            <a:r>
              <a:rPr lang="es-NI" sz="2400" dirty="0" err="1"/>
              <a:t>semiduplex</a:t>
            </a:r>
            <a:r>
              <a:rPr lang="es-NI" sz="2400" dirty="0"/>
              <a:t> o </a:t>
            </a:r>
            <a:r>
              <a:rPr lang="es-NI" sz="2400" dirty="0" err="1"/>
              <a:t>duplex</a:t>
            </a:r>
            <a:r>
              <a:rPr lang="es-NI" sz="2400" dirty="0"/>
              <a:t>. </a:t>
            </a:r>
          </a:p>
          <a:p>
            <a:pPr lvl="1"/>
            <a:r>
              <a:rPr lang="es-NI" sz="2400" dirty="0"/>
              <a:t>Interfaz TIA </a:t>
            </a:r>
            <a:r>
              <a:rPr lang="es-NI" sz="2400" b="1" dirty="0"/>
              <a:t>RS-232</a:t>
            </a:r>
            <a:r>
              <a:rPr lang="es-NI" sz="2400" dirty="0"/>
              <a:t>: puerto de comunicaciones asíncronas en la PC.  </a:t>
            </a:r>
          </a:p>
          <a:p>
            <a:pPr lvl="1"/>
            <a:r>
              <a:rPr lang="es-NI" sz="2400" b="1" dirty="0"/>
              <a:t>Bus serial Universal o USB </a:t>
            </a:r>
            <a:r>
              <a:rPr lang="es-NI" sz="2400" dirty="0"/>
              <a:t>que admite estándar </a:t>
            </a:r>
            <a:r>
              <a:rPr lang="es-NI" sz="2400" dirty="0" err="1"/>
              <a:t>pnp</a:t>
            </a:r>
            <a:r>
              <a:rPr lang="es-NI" sz="2400" dirty="0"/>
              <a:t> permitiendo gran variedad de usos y mejora grandemente las tasas de transferencia</a:t>
            </a:r>
          </a:p>
          <a:p>
            <a:pPr lvl="1"/>
            <a:r>
              <a:rPr lang="es-NI" sz="2400" b="1" dirty="0"/>
              <a:t>Interfaz IEEE 1394 o </a:t>
            </a:r>
            <a:r>
              <a:rPr lang="es-NI" sz="2400" b="1" dirty="0" err="1"/>
              <a:t>Firewire</a:t>
            </a:r>
            <a:r>
              <a:rPr lang="es-NI" sz="2400" dirty="0"/>
              <a:t>, disponible en computadoras de alto desempeño para multimedia pero se puede contar con ésta mediante tarjetas de extensión. Permite crear redes ad-hoc.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</a:t>
            </a:r>
            <a:r>
              <a:rPr lang="en-US" dirty="0" err="1"/>
              <a:t>externas</a:t>
            </a:r>
            <a:r>
              <a:rPr lang="en-US" dirty="0"/>
              <a:t> </a:t>
            </a:r>
            <a:r>
              <a:rPr lang="en-US" dirty="0" err="1"/>
              <a:t>estándares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9907426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Serialización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endParaRPr lang="es-NI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2776"/>
            <a:ext cx="7697816" cy="5220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172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Muchas Gracias</a:t>
            </a:r>
          </a:p>
        </p:txBody>
      </p:sp>
    </p:spTree>
    <p:extLst>
      <p:ext uri="{BB962C8B-B14F-4D97-AF65-F5344CB8AC3E}">
        <p14:creationId xmlns:p14="http://schemas.microsoft.com/office/powerpoint/2010/main" val="2730133865"/>
      </p:ext>
    </p:extLst>
  </p:cSld>
  <p:clrMapOvr>
    <a:masterClrMapping/>
  </p:clrMapOvr>
</p:sld>
</file>

<file path=ppt/theme/theme1.xml><?xml version="1.0" encoding="utf-8"?>
<a:theme xmlns:a="http://schemas.openxmlformats.org/drawingml/2006/main" name="Compuesto">
  <a:themeElements>
    <a:clrScheme name="Compuesto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Compuest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mpuest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965</TotalTime>
  <Words>2344</Words>
  <Application>Microsoft Office PowerPoint</Application>
  <PresentationFormat>Presentación en pantalla (4:3)</PresentationFormat>
  <Paragraphs>292</Paragraphs>
  <Slides>39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39</vt:i4>
      </vt:variant>
    </vt:vector>
  </HeadingPairs>
  <TitlesOfParts>
    <vt:vector size="51" baseType="lpstr">
      <vt:lpstr>맑은 고딕</vt:lpstr>
      <vt:lpstr>Aharoni</vt:lpstr>
      <vt:lpstr>Arial</vt:lpstr>
      <vt:lpstr>Berlin Sans FB Demi</vt:lpstr>
      <vt:lpstr>Calibri</vt:lpstr>
      <vt:lpstr>Century Gothic</vt:lpstr>
      <vt:lpstr>Symbol</vt:lpstr>
      <vt:lpstr>Times New Roman</vt:lpstr>
      <vt:lpstr>Wingdings</vt:lpstr>
      <vt:lpstr>Compuesto</vt:lpstr>
      <vt:lpstr>Visio</vt:lpstr>
      <vt:lpstr>VISIO</vt:lpstr>
      <vt:lpstr>Unidad VII: Sistema de Entrada / Salida</vt:lpstr>
      <vt:lpstr>Sistema de Entrada / Salida</vt:lpstr>
      <vt:lpstr>Función de transferencia externa</vt:lpstr>
      <vt:lpstr>Estructura de Interconexión</vt:lpstr>
      <vt:lpstr>Estructura de Interconexión</vt:lpstr>
      <vt:lpstr>Estandarización de Entrada/Salida</vt:lpstr>
      <vt:lpstr>Diseño del Bus</vt:lpstr>
      <vt:lpstr>Ejemplos de Buses estándares</vt:lpstr>
      <vt:lpstr>Arquitectura de Buses de la PC</vt:lpstr>
      <vt:lpstr>Módulo de Entrada/Salida</vt:lpstr>
      <vt:lpstr>Módulo de Entrada/Salida</vt:lpstr>
      <vt:lpstr>Direccionamiento de Dispositivos</vt:lpstr>
      <vt:lpstr>Mapeo integrado M-E/S</vt:lpstr>
      <vt:lpstr>Mapeo separado M, E/S</vt:lpstr>
      <vt:lpstr>Técnicas de comunicación con Dispositivos</vt:lpstr>
      <vt:lpstr>Interrupciones</vt:lpstr>
      <vt:lpstr>Interrupciones</vt:lpstr>
      <vt:lpstr>Interrupciones de hardware</vt:lpstr>
      <vt:lpstr>Múltiples solicitudes de interrupción </vt:lpstr>
      <vt:lpstr>Múltiples solicitudes de interrupción </vt:lpstr>
      <vt:lpstr>Múltiples solicitudes de interrupción </vt:lpstr>
      <vt:lpstr>El PIC INTEL 8259A </vt:lpstr>
      <vt:lpstr>El PIC INTEL 8259A </vt:lpstr>
      <vt:lpstr>Acceso Directo a Memoria</vt:lpstr>
      <vt:lpstr>Acceso Directo a Memoria</vt:lpstr>
      <vt:lpstr>Acceso Directo a Memoria</vt:lpstr>
      <vt:lpstr>Acceso Directo a Memoria</vt:lpstr>
      <vt:lpstr>Acceso Directo a Memoria</vt:lpstr>
      <vt:lpstr>Intel 8237 DMAC</vt:lpstr>
      <vt:lpstr>Intel 8237 DMAC</vt:lpstr>
      <vt:lpstr>Canales y Procesadores de E/S</vt:lpstr>
      <vt:lpstr>Canales Procesadores de E/S</vt:lpstr>
      <vt:lpstr>Canales Procesadores de E/S</vt:lpstr>
      <vt:lpstr>Interfaces externas estándares</vt:lpstr>
      <vt:lpstr>Interfaces externas estándares</vt:lpstr>
      <vt:lpstr>Interfaz Paralela</vt:lpstr>
      <vt:lpstr>Interfaces externas estándares</vt:lpstr>
      <vt:lpstr>Serialización de datos</vt:lpstr>
      <vt:lpstr>Muchas 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VII: Sistema de Entrada / Salida</dc:title>
  <dc:creator>ING. MARLOVIO JOSE SEVILLA HERNANDEZ</dc:creator>
  <cp:lastModifiedBy>UNI-ADMON</cp:lastModifiedBy>
  <cp:revision>85</cp:revision>
  <dcterms:created xsi:type="dcterms:W3CDTF">2013-01-06T14:00:24Z</dcterms:created>
  <dcterms:modified xsi:type="dcterms:W3CDTF">2025-10-14T17:53:49Z</dcterms:modified>
</cp:coreProperties>
</file>