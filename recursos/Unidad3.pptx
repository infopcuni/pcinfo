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1"/>
  </p:notesMasterIdLst>
  <p:sldIdLst>
    <p:sldId id="256" r:id="rId2"/>
    <p:sldId id="261" r:id="rId3"/>
    <p:sldId id="258" r:id="rId4"/>
    <p:sldId id="260" r:id="rId5"/>
    <p:sldId id="259" r:id="rId6"/>
    <p:sldId id="262" r:id="rId7"/>
    <p:sldId id="263" r:id="rId8"/>
    <p:sldId id="264" r:id="rId9"/>
    <p:sldId id="265" r:id="rId10"/>
    <p:sldId id="298" r:id="rId11"/>
    <p:sldId id="301" r:id="rId12"/>
    <p:sldId id="266" r:id="rId13"/>
    <p:sldId id="268" r:id="rId14"/>
    <p:sldId id="267" r:id="rId15"/>
    <p:sldId id="269" r:id="rId16"/>
    <p:sldId id="299" r:id="rId17"/>
    <p:sldId id="300" r:id="rId18"/>
    <p:sldId id="271" r:id="rId19"/>
    <p:sldId id="303" r:id="rId20"/>
    <p:sldId id="305" r:id="rId21"/>
    <p:sldId id="304" r:id="rId22"/>
    <p:sldId id="306" r:id="rId23"/>
    <p:sldId id="319" r:id="rId24"/>
    <p:sldId id="307" r:id="rId25"/>
    <p:sldId id="308" r:id="rId26"/>
    <p:sldId id="309" r:id="rId27"/>
    <p:sldId id="310" r:id="rId28"/>
    <p:sldId id="311" r:id="rId29"/>
    <p:sldId id="317" r:id="rId30"/>
    <p:sldId id="318" r:id="rId31"/>
    <p:sldId id="272" r:id="rId32"/>
    <p:sldId id="273" r:id="rId33"/>
    <p:sldId id="274" r:id="rId34"/>
    <p:sldId id="275" r:id="rId35"/>
    <p:sldId id="276" r:id="rId36"/>
    <p:sldId id="277" r:id="rId37"/>
    <p:sldId id="278" r:id="rId38"/>
    <p:sldId id="279" r:id="rId39"/>
    <p:sldId id="280" r:id="rId40"/>
    <p:sldId id="281" r:id="rId41"/>
    <p:sldId id="284" r:id="rId42"/>
    <p:sldId id="283" r:id="rId43"/>
    <p:sldId id="285" r:id="rId44"/>
    <p:sldId id="286" r:id="rId45"/>
    <p:sldId id="287" r:id="rId46"/>
    <p:sldId id="288" r:id="rId47"/>
    <p:sldId id="289" r:id="rId48"/>
    <p:sldId id="282" r:id="rId49"/>
    <p:sldId id="290" r:id="rId50"/>
    <p:sldId id="291" r:id="rId51"/>
    <p:sldId id="292" r:id="rId52"/>
    <p:sldId id="295" r:id="rId53"/>
    <p:sldId id="293" r:id="rId54"/>
    <p:sldId id="294" r:id="rId55"/>
    <p:sldId id="296" r:id="rId56"/>
    <p:sldId id="297" r:id="rId57"/>
    <p:sldId id="312" r:id="rId58"/>
    <p:sldId id="313" r:id="rId59"/>
    <p:sldId id="314" r:id="rId60"/>
  </p:sldIdLst>
  <p:sldSz cx="9144000" cy="5143500" type="screen16x9"/>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900FF"/>
    <a:srgbClr val="99FF99"/>
    <a:srgbClr val="99CCFF"/>
    <a:srgbClr val="6600CC"/>
    <a:srgbClr val="FF66FF"/>
    <a:srgbClr val="CC66FF"/>
    <a:srgbClr val="FF9900"/>
    <a:srgbClr val="FF3399"/>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43" autoAdjust="0"/>
    <p:restoredTop sz="94652" autoAdjust="0"/>
  </p:normalViewPr>
  <p:slideViewPr>
    <p:cSldViewPr>
      <p:cViewPr varScale="1">
        <p:scale>
          <a:sx n="102" d="100"/>
          <a:sy n="102" d="100"/>
        </p:scale>
        <p:origin x="994"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NI"/>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661BBB-C9CE-4FFA-B816-53EC2B551FC3}" type="datetimeFigureOut">
              <a:rPr lang="es-NI" smtClean="0"/>
              <a:t>14/10/2025</a:t>
            </a:fld>
            <a:endParaRPr lang="es-NI"/>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NI"/>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NI"/>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BE7A4B-51F2-4540-8458-18024DA92140}" type="slidenum">
              <a:rPr lang="es-NI" smtClean="0"/>
              <a:t>‹Nº›</a:t>
            </a:fld>
            <a:endParaRPr lang="es-NI"/>
          </a:p>
        </p:txBody>
      </p:sp>
    </p:spTree>
    <p:extLst>
      <p:ext uri="{BB962C8B-B14F-4D97-AF65-F5344CB8AC3E}">
        <p14:creationId xmlns:p14="http://schemas.microsoft.com/office/powerpoint/2010/main" val="2738698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NI" dirty="0"/>
          </a:p>
        </p:txBody>
      </p:sp>
      <p:sp>
        <p:nvSpPr>
          <p:cNvPr id="4" name="3 Marcador de número de diapositiva"/>
          <p:cNvSpPr>
            <a:spLocks noGrp="1"/>
          </p:cNvSpPr>
          <p:nvPr>
            <p:ph type="sldNum" sz="quarter" idx="10"/>
          </p:nvPr>
        </p:nvSpPr>
        <p:spPr/>
        <p:txBody>
          <a:bodyPr/>
          <a:lstStyle/>
          <a:p>
            <a:fld id="{F6BE7A4B-51F2-4540-8458-18024DA92140}" type="slidenum">
              <a:rPr lang="es-NI" smtClean="0"/>
              <a:t>59</a:t>
            </a:fld>
            <a:endParaRPr lang="es-NI"/>
          </a:p>
        </p:txBody>
      </p:sp>
    </p:spTree>
    <p:extLst>
      <p:ext uri="{BB962C8B-B14F-4D97-AF65-F5344CB8AC3E}">
        <p14:creationId xmlns:p14="http://schemas.microsoft.com/office/powerpoint/2010/main" val="117375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BEB2CED-CC57-441E-8102-6819682853EE}" type="slidenum">
              <a:rPr lang="es-ES" smtClean="0"/>
              <a:pPr/>
              <a:t>‹Nº›</a:t>
            </a:fld>
            <a:endParaRPr lang="es-ES"/>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9" name="8 Imagen"/>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6403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467544" y="267494"/>
            <a:ext cx="8229600" cy="742950"/>
          </a:xfrm>
        </p:spPr>
        <p:txBody>
          <a:bodyPr/>
          <a:lstStyle/>
          <a:p>
            <a:r>
              <a:rPr lang="es-ES" dirty="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7A72C35-41C5-4C66-B30C-6693DFC56A73}"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1189F6A-95A1-47DB-A2C1-DE7E5027F26A}" type="slidenum">
              <a:rPr lang="es-ES" smtClean="0"/>
              <a:pPr/>
              <a:t>‹Nº›</a:t>
            </a:fld>
            <a:endParaRPr lang="es-ES"/>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6816A0C7-413E-4E46-B96D-C0616A961BC4}"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F1D58DF-35EB-442A-A370-CF8B88267F4E}" type="slidenum">
              <a:rPr lang="es-ES" smtClean="0"/>
              <a:pPr/>
              <a:t>‹Nº›</a:t>
            </a:fld>
            <a:endParaRPr lang="es-ES"/>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803B509-348F-486B-AFE7-22E1BF43DBDB}"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7874A624-CADD-4437-815C-B8B604E31CFF}"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69C2BCB-A25E-4AAC-83FC-4638F1FB47A8}" type="slidenum">
              <a:rPr lang="es-ES" smtClean="0"/>
              <a:pPr/>
              <a:t>‹Nº›</a:t>
            </a:fld>
            <a:endParaRPr lang="es-ES"/>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225671A-20E6-4CAA-8342-2BC33F9038B3}"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9F50D1B3-BEF4-4701-85D6-8B9464120D42}"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4805914-4ADD-4289-9AF2-871B9A0925CE}"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endParaRPr lang="es-ES"/>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endParaRPr lang="es-ES"/>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5855E209-39CF-48F1-8432-D992D4E062F0}"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2.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3.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4.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5.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6.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 name="Rectangle 25"/>
          <p:cNvSpPr>
            <a:spLocks noGrp="1" noChangeArrowheads="1"/>
          </p:cNvSpPr>
          <p:nvPr>
            <p:ph type="ctrTitle"/>
          </p:nvPr>
        </p:nvSpPr>
        <p:spPr>
          <a:xfrm>
            <a:off x="23570" y="3645132"/>
            <a:ext cx="9144000" cy="1102519"/>
          </a:xfrm>
        </p:spPr>
        <p:txBody>
          <a:bodyPr>
            <a:normAutofit/>
          </a:bodyPr>
          <a:lstStyle/>
          <a:p>
            <a:pPr algn="ctr"/>
            <a:r>
              <a:rPr lang="es-UY" sz="3200" b="1" dirty="0" err="1">
                <a:solidFill>
                  <a:srgbClr val="FF9900"/>
                </a:solidFill>
              </a:rPr>
              <a:t>diseÑo</a:t>
            </a:r>
            <a:r>
              <a:rPr lang="es-UY" sz="3200" b="1" dirty="0">
                <a:solidFill>
                  <a:srgbClr val="FF9900"/>
                </a:solidFill>
              </a:rPr>
              <a:t> del </a:t>
            </a:r>
            <a:br>
              <a:rPr lang="es-UY" sz="3200" b="1" dirty="0">
                <a:solidFill>
                  <a:srgbClr val="FF9900"/>
                </a:solidFill>
              </a:rPr>
            </a:br>
            <a:r>
              <a:rPr lang="es-UY" sz="3200" b="1" dirty="0">
                <a:solidFill>
                  <a:srgbClr val="FF9900"/>
                </a:solidFill>
              </a:rPr>
              <a:t>Conjunto</a:t>
            </a:r>
            <a:r>
              <a:rPr lang="es-UY" sz="3200" b="1" dirty="0">
                <a:solidFill>
                  <a:schemeClr val="accent5">
                    <a:lumMod val="60000"/>
                    <a:lumOff val="40000"/>
                  </a:schemeClr>
                </a:solidFill>
              </a:rPr>
              <a:t> </a:t>
            </a:r>
            <a:r>
              <a:rPr lang="es-UY" sz="3200" b="1" dirty="0">
                <a:solidFill>
                  <a:srgbClr val="FF9900"/>
                </a:solidFill>
              </a:rPr>
              <a:t>de Instrucciones</a:t>
            </a:r>
            <a:endParaRPr lang="es-ES" sz="3200" b="1" dirty="0">
              <a:solidFill>
                <a:srgbClr val="FF9900"/>
              </a:solidFill>
            </a:endParaRPr>
          </a:p>
        </p:txBody>
      </p:sp>
      <p:sp>
        <p:nvSpPr>
          <p:cNvPr id="5" name="2 Subtítulo"/>
          <p:cNvSpPr>
            <a:spLocks noGrp="1"/>
          </p:cNvSpPr>
          <p:nvPr>
            <p:ph type="subTitle" idx="1"/>
          </p:nvPr>
        </p:nvSpPr>
        <p:spPr>
          <a:xfrm>
            <a:off x="1711434" y="72395"/>
            <a:ext cx="7109038" cy="1275220"/>
          </a:xfrm>
          <a:solidFill>
            <a:schemeClr val="tx1"/>
          </a:solidFill>
        </p:spPr>
        <p:txBody>
          <a:bodyPr anchor="t">
            <a:noAutofit/>
          </a:bodyPr>
          <a:lstStyle/>
          <a:p>
            <a:pPr algn="ctr"/>
            <a:r>
              <a:rPr lang="en-US" sz="2800" b="1" dirty="0">
                <a:solidFill>
                  <a:srgbClr val="FFC000"/>
                </a:solidFill>
                <a:latin typeface="Candara" pitchFamily="34" charset="0"/>
              </a:rPr>
              <a:t>Universidad </a:t>
            </a:r>
            <a:r>
              <a:rPr lang="en-US" sz="2800" b="1" dirty="0" err="1">
                <a:solidFill>
                  <a:srgbClr val="FFC000"/>
                </a:solidFill>
                <a:latin typeface="Candara" pitchFamily="34" charset="0"/>
              </a:rPr>
              <a:t>Nacional</a:t>
            </a:r>
            <a:r>
              <a:rPr lang="en-US" sz="2800" b="1" dirty="0">
                <a:solidFill>
                  <a:srgbClr val="FFC000"/>
                </a:solidFill>
                <a:latin typeface="Candara" pitchFamily="34" charset="0"/>
              </a:rPr>
              <a:t> de </a:t>
            </a:r>
            <a:r>
              <a:rPr lang="en-US" sz="2800" b="1" dirty="0" err="1">
                <a:solidFill>
                  <a:srgbClr val="FFC000"/>
                </a:solidFill>
                <a:latin typeface="Candara" pitchFamily="34" charset="0"/>
              </a:rPr>
              <a:t>Ingeniería</a:t>
            </a:r>
            <a:endParaRPr lang="en-US" sz="2800" b="1" dirty="0">
              <a:solidFill>
                <a:srgbClr val="FFC000"/>
              </a:solidFill>
              <a:latin typeface="Candara" pitchFamily="34" charset="0"/>
            </a:endParaRPr>
          </a:p>
          <a:p>
            <a:pPr algn="ctr"/>
            <a:endParaRPr lang="en-US" sz="1800" b="1" dirty="0">
              <a:solidFill>
                <a:srgbClr val="FFC000"/>
              </a:solidFill>
              <a:latin typeface="Candara" pitchFamily="34" charset="0"/>
            </a:endParaRPr>
          </a:p>
          <a:p>
            <a:pPr algn="ctr"/>
            <a:r>
              <a:rPr lang="en-US" sz="2400" b="1" dirty="0" err="1">
                <a:solidFill>
                  <a:schemeClr val="accent6">
                    <a:lumMod val="40000"/>
                    <a:lumOff val="60000"/>
                  </a:schemeClr>
                </a:solidFill>
                <a:latin typeface="Candara" pitchFamily="34" charset="0"/>
              </a:rPr>
              <a:t>Arquitectura</a:t>
            </a:r>
            <a:r>
              <a:rPr lang="en-US" sz="2400" b="1" dirty="0">
                <a:solidFill>
                  <a:schemeClr val="accent6">
                    <a:lumMod val="40000"/>
                    <a:lumOff val="60000"/>
                  </a:schemeClr>
                </a:solidFill>
                <a:latin typeface="Candara" pitchFamily="34" charset="0"/>
              </a:rPr>
              <a:t> de </a:t>
            </a:r>
            <a:r>
              <a:rPr lang="en-US" sz="2400" b="1" dirty="0" err="1">
                <a:solidFill>
                  <a:schemeClr val="accent6">
                    <a:lumMod val="40000"/>
                    <a:lumOff val="60000"/>
                  </a:schemeClr>
                </a:solidFill>
                <a:latin typeface="Candara" pitchFamily="34" charset="0"/>
              </a:rPr>
              <a:t>Máquinas</a:t>
            </a:r>
            <a:r>
              <a:rPr lang="en-US" sz="2400" b="1" dirty="0">
                <a:solidFill>
                  <a:schemeClr val="accent6">
                    <a:lumMod val="40000"/>
                    <a:lumOff val="60000"/>
                  </a:schemeClr>
                </a:solidFill>
                <a:latin typeface="Candara" pitchFamily="34" charset="0"/>
              </a:rPr>
              <a:t> </a:t>
            </a:r>
            <a:r>
              <a:rPr lang="en-US" sz="2400" b="1" dirty="0" err="1">
                <a:solidFill>
                  <a:schemeClr val="accent6">
                    <a:lumMod val="40000"/>
                    <a:lumOff val="60000"/>
                  </a:schemeClr>
                </a:solidFill>
                <a:latin typeface="Candara" pitchFamily="34" charset="0"/>
              </a:rPr>
              <a:t>Computadoras</a:t>
            </a:r>
            <a:r>
              <a:rPr lang="en-US" sz="2400" b="1" dirty="0">
                <a:solidFill>
                  <a:schemeClr val="accent6">
                    <a:lumMod val="40000"/>
                    <a:lumOff val="60000"/>
                  </a:schemeClr>
                </a:solidFill>
                <a:latin typeface="Candara" pitchFamily="34" charset="0"/>
              </a:rPr>
              <a:t> II</a:t>
            </a:r>
            <a:endParaRPr lang="es-NI" sz="2400" b="1" dirty="0">
              <a:solidFill>
                <a:schemeClr val="accent6">
                  <a:lumMod val="40000"/>
                  <a:lumOff val="60000"/>
                </a:schemeClr>
              </a:solidFill>
              <a:latin typeface="Candara" pitchFamily="34" charset="0"/>
            </a:endParaRPr>
          </a:p>
        </p:txBody>
      </p:sp>
      <p:pic>
        <p:nvPicPr>
          <p:cNvPr id="6" name="5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141480"/>
            <a:ext cx="1459914" cy="844858"/>
          </a:xfrm>
          <a:prstGeom prst="rect">
            <a:avLst/>
          </a:prstGeom>
        </p:spPr>
      </p:pic>
      <p:sp>
        <p:nvSpPr>
          <p:cNvPr id="7" name="Rectangle 25"/>
          <p:cNvSpPr txBox="1">
            <a:spLocks noChangeArrowheads="1"/>
          </p:cNvSpPr>
          <p:nvPr/>
        </p:nvSpPr>
        <p:spPr bwMode="auto">
          <a:xfrm>
            <a:off x="0" y="3579862"/>
            <a:ext cx="3456384" cy="55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r>
              <a:rPr lang="es-UY" sz="3600" b="1" dirty="0">
                <a:solidFill>
                  <a:schemeClr val="accent6">
                    <a:lumMod val="40000"/>
                    <a:lumOff val="60000"/>
                  </a:schemeClr>
                </a:solidFill>
              </a:rPr>
              <a:t>Unidad 3:</a:t>
            </a:r>
            <a:endParaRPr lang="es-ES" sz="3600" b="1" dirty="0">
              <a:solidFill>
                <a:schemeClr val="accent6">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3600" dirty="0" err="1"/>
              <a:t>Conjunto</a:t>
            </a:r>
            <a:r>
              <a:rPr lang="en-US" sz="3600" dirty="0"/>
              <a:t> de </a:t>
            </a:r>
            <a:r>
              <a:rPr lang="en-US" sz="3600" dirty="0" err="1"/>
              <a:t>Instrucciones</a:t>
            </a:r>
            <a:endParaRPr lang="es-NI" sz="3600" dirty="0"/>
          </a:p>
        </p:txBody>
      </p:sp>
      <p:sp>
        <p:nvSpPr>
          <p:cNvPr id="3" name="2 Marcador de contenido"/>
          <p:cNvSpPr>
            <a:spLocks noGrp="1"/>
          </p:cNvSpPr>
          <p:nvPr>
            <p:ph idx="1"/>
          </p:nvPr>
        </p:nvSpPr>
        <p:spPr>
          <a:xfrm>
            <a:off x="971600" y="1200150"/>
            <a:ext cx="7715200" cy="3099792"/>
          </a:xfrm>
        </p:spPr>
        <p:txBody>
          <a:bodyPr/>
          <a:lstStyle/>
          <a:p>
            <a:pPr algn="just"/>
            <a:r>
              <a:rPr lang="en-US" dirty="0" err="1"/>
              <a:t>Conjunto</a:t>
            </a:r>
            <a:r>
              <a:rPr lang="en-US" dirty="0"/>
              <a:t> </a:t>
            </a:r>
            <a:r>
              <a:rPr lang="en-US" dirty="0" err="1"/>
              <a:t>formado</a:t>
            </a:r>
            <a:r>
              <a:rPr lang="en-US" dirty="0"/>
              <a:t> </a:t>
            </a:r>
            <a:r>
              <a:rPr lang="en-US" dirty="0" err="1"/>
              <a:t>por</a:t>
            </a:r>
            <a:r>
              <a:rPr lang="en-US" dirty="0"/>
              <a:t> </a:t>
            </a:r>
            <a:r>
              <a:rPr lang="en-US" dirty="0" err="1"/>
              <a:t>todas</a:t>
            </a:r>
            <a:r>
              <a:rPr lang="en-US" dirty="0"/>
              <a:t> </a:t>
            </a:r>
            <a:r>
              <a:rPr lang="en-US" dirty="0" err="1"/>
              <a:t>las</a:t>
            </a:r>
            <a:r>
              <a:rPr lang="en-US" dirty="0"/>
              <a:t> </a:t>
            </a:r>
            <a:r>
              <a:rPr lang="en-US" dirty="0" err="1"/>
              <a:t>instrucciones</a:t>
            </a:r>
            <a:r>
              <a:rPr lang="en-US" dirty="0"/>
              <a:t> de un </a:t>
            </a:r>
            <a:r>
              <a:rPr lang="en-US" dirty="0" err="1"/>
              <a:t>procesador</a:t>
            </a:r>
            <a:r>
              <a:rPr lang="en-US" dirty="0"/>
              <a:t> </a:t>
            </a:r>
            <a:r>
              <a:rPr lang="en-US" dirty="0" err="1"/>
              <a:t>específico</a:t>
            </a:r>
            <a:r>
              <a:rPr lang="en-US" dirty="0"/>
              <a:t>.</a:t>
            </a:r>
          </a:p>
          <a:p>
            <a:pPr lvl="1" algn="just"/>
            <a:r>
              <a:rPr lang="en-US" dirty="0" err="1"/>
              <a:t>Notacion</a:t>
            </a:r>
            <a:r>
              <a:rPr lang="en-US" dirty="0"/>
              <a:t>: I</a:t>
            </a:r>
          </a:p>
          <a:p>
            <a:pPr algn="just"/>
            <a:r>
              <a:rPr lang="en-US" dirty="0" err="1"/>
              <a:t>También</a:t>
            </a:r>
            <a:r>
              <a:rPr lang="en-US" dirty="0"/>
              <a:t> </a:t>
            </a:r>
            <a:r>
              <a:rPr lang="en-US" dirty="0" err="1"/>
              <a:t>denominado</a:t>
            </a:r>
            <a:r>
              <a:rPr lang="en-US" dirty="0"/>
              <a:t> “</a:t>
            </a:r>
            <a:r>
              <a:rPr lang="en-US" dirty="0" err="1"/>
              <a:t>repertorio</a:t>
            </a:r>
            <a:r>
              <a:rPr lang="en-US" dirty="0"/>
              <a:t> de </a:t>
            </a:r>
            <a:r>
              <a:rPr lang="en-US" dirty="0" err="1"/>
              <a:t>instrucciones</a:t>
            </a:r>
            <a:r>
              <a:rPr lang="es-NI" dirty="0"/>
              <a:t>”</a:t>
            </a:r>
          </a:p>
          <a:p>
            <a:pPr algn="just"/>
            <a:r>
              <a:rPr lang="en-US" dirty="0"/>
              <a:t>Principal </a:t>
            </a:r>
            <a:r>
              <a:rPr lang="en-US" dirty="0" err="1"/>
              <a:t>atributo</a:t>
            </a:r>
            <a:r>
              <a:rPr lang="en-US" dirty="0"/>
              <a:t> de </a:t>
            </a:r>
            <a:r>
              <a:rPr lang="en-US" dirty="0" err="1"/>
              <a:t>una</a:t>
            </a:r>
            <a:r>
              <a:rPr lang="en-US" dirty="0"/>
              <a:t> </a:t>
            </a:r>
            <a:r>
              <a:rPr lang="en-US" dirty="0" err="1"/>
              <a:t>arquitectura</a:t>
            </a:r>
            <a:r>
              <a:rPr lang="en-US" dirty="0"/>
              <a:t>.</a:t>
            </a:r>
          </a:p>
          <a:p>
            <a:pPr algn="just"/>
            <a:r>
              <a:rPr lang="en-US" dirty="0" err="1"/>
              <a:t>Habilita</a:t>
            </a:r>
            <a:r>
              <a:rPr lang="en-US" dirty="0"/>
              <a:t> al </a:t>
            </a:r>
            <a:r>
              <a:rPr lang="en-US" dirty="0" err="1"/>
              <a:t>programador</a:t>
            </a:r>
            <a:r>
              <a:rPr lang="en-US" dirty="0"/>
              <a:t> para </a:t>
            </a:r>
            <a:r>
              <a:rPr lang="en-US" dirty="0" err="1"/>
              <a:t>interactuar</a:t>
            </a:r>
            <a:r>
              <a:rPr lang="en-US" dirty="0"/>
              <a:t> con el </a:t>
            </a:r>
            <a:r>
              <a:rPr lang="en-US" dirty="0" err="1"/>
              <a:t>procesador</a:t>
            </a:r>
            <a:r>
              <a:rPr lang="en-US" dirty="0"/>
              <a:t>.</a:t>
            </a:r>
          </a:p>
        </p:txBody>
      </p:sp>
    </p:spTree>
    <p:extLst>
      <p:ext uri="{BB962C8B-B14F-4D97-AF65-F5344CB8AC3E}">
        <p14:creationId xmlns:p14="http://schemas.microsoft.com/office/powerpoint/2010/main" val="76102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r>
              <a:rPr lang="en-US" dirty="0" err="1"/>
              <a:t>Características</a:t>
            </a:r>
            <a:r>
              <a:rPr lang="en-US" dirty="0"/>
              <a:t> del </a:t>
            </a:r>
            <a:r>
              <a:rPr lang="en-US" dirty="0" err="1"/>
              <a:t>Conjunto</a:t>
            </a:r>
            <a:r>
              <a:rPr lang="en-US" dirty="0"/>
              <a:t> de </a:t>
            </a:r>
            <a:r>
              <a:rPr lang="en-US" dirty="0" err="1"/>
              <a:t>Instrucciones</a:t>
            </a:r>
            <a:endParaRPr lang="es-NI" dirty="0"/>
          </a:p>
        </p:txBody>
      </p:sp>
      <p:graphicFrame>
        <p:nvGraphicFramePr>
          <p:cNvPr id="2" name="1 Tabla"/>
          <p:cNvGraphicFramePr>
            <a:graphicFrameLocks noGrp="1"/>
          </p:cNvGraphicFramePr>
          <p:nvPr>
            <p:extLst>
              <p:ext uri="{D42A27DB-BD31-4B8C-83A1-F6EECF244321}">
                <p14:modId xmlns:p14="http://schemas.microsoft.com/office/powerpoint/2010/main" val="4992973"/>
              </p:ext>
            </p:extLst>
          </p:nvPr>
        </p:nvGraphicFramePr>
        <p:xfrm>
          <a:off x="395536" y="1419622"/>
          <a:ext cx="8029400" cy="3294365"/>
        </p:xfrm>
        <a:graphic>
          <a:graphicData uri="http://schemas.openxmlformats.org/drawingml/2006/table">
            <a:tbl>
              <a:tblPr>
                <a:tableStyleId>{775DCB02-9BB8-47FD-8907-85C794F793BA}</a:tableStyleId>
              </a:tblPr>
              <a:tblGrid>
                <a:gridCol w="2447056">
                  <a:extLst>
                    <a:ext uri="{9D8B030D-6E8A-4147-A177-3AD203B41FA5}">
                      <a16:colId xmlns:a16="http://schemas.microsoft.com/office/drawing/2014/main" val="20000"/>
                    </a:ext>
                  </a:extLst>
                </a:gridCol>
                <a:gridCol w="5582344">
                  <a:extLst>
                    <a:ext uri="{9D8B030D-6E8A-4147-A177-3AD203B41FA5}">
                      <a16:colId xmlns:a16="http://schemas.microsoft.com/office/drawing/2014/main" val="20001"/>
                    </a:ext>
                  </a:extLst>
                </a:gridCol>
              </a:tblGrid>
              <a:tr h="823591">
                <a:tc>
                  <a:txBody>
                    <a:bodyPr/>
                    <a:lstStyle/>
                    <a:p>
                      <a:pPr>
                        <a:spcAft>
                          <a:spcPts val="0"/>
                        </a:spcAft>
                      </a:pPr>
                      <a:r>
                        <a:rPr lang="en-US" sz="1800" b="0" dirty="0" err="1">
                          <a:effectLst/>
                        </a:rPr>
                        <a:t>Completitud</a:t>
                      </a:r>
                      <a:r>
                        <a:rPr lang="en-US" sz="1800" b="0" dirty="0">
                          <a:effectLst/>
                        </a:rPr>
                        <a:t>:</a:t>
                      </a:r>
                      <a:endParaRPr lang="es-NI" sz="1200" b="0" dirty="0">
                        <a:effectLst/>
                        <a:latin typeface="Garamond"/>
                        <a:ea typeface="Times New Roman"/>
                        <a:cs typeface="Arial"/>
                      </a:endParaRPr>
                    </a:p>
                  </a:txBody>
                  <a:tcPr marL="68580" marR="68580" marT="0" marB="0"/>
                </a:tc>
                <a:tc>
                  <a:txBody>
                    <a:bodyPr/>
                    <a:lstStyle/>
                    <a:p>
                      <a:pPr>
                        <a:spcAft>
                          <a:spcPts val="0"/>
                        </a:spcAft>
                      </a:pPr>
                      <a:r>
                        <a:rPr lang="es-ES" sz="1600" dirty="0">
                          <a:effectLst/>
                        </a:rPr>
                        <a:t>El conjunto de instrucciones debe permitir ejecutar todas las operaciones que es capaz de realizar el procesador.</a:t>
                      </a:r>
                      <a:endParaRPr lang="es-NI" sz="1600" dirty="0">
                        <a:effectLst/>
                        <a:latin typeface="Garamond"/>
                        <a:ea typeface="Times New Roman"/>
                        <a:cs typeface="Arial"/>
                      </a:endParaRPr>
                    </a:p>
                  </a:txBody>
                  <a:tcPr marL="68580" marR="68580" marT="0" marB="0"/>
                </a:tc>
                <a:extLst>
                  <a:ext uri="{0D108BD9-81ED-4DB2-BD59-A6C34878D82A}">
                    <a16:rowId xmlns:a16="http://schemas.microsoft.com/office/drawing/2014/main" val="10000"/>
                  </a:ext>
                </a:extLst>
              </a:tr>
              <a:tr h="823591">
                <a:tc>
                  <a:txBody>
                    <a:bodyPr/>
                    <a:lstStyle/>
                    <a:p>
                      <a:pPr>
                        <a:spcAft>
                          <a:spcPts val="0"/>
                        </a:spcAft>
                      </a:pPr>
                      <a:r>
                        <a:rPr lang="en-US" sz="1800" b="0">
                          <a:effectLst/>
                        </a:rPr>
                        <a:t>Ortogonalidad:</a:t>
                      </a:r>
                      <a:endParaRPr lang="es-NI" sz="1200" b="0">
                        <a:effectLst/>
                        <a:latin typeface="Garamond"/>
                        <a:ea typeface="Times New Roman"/>
                        <a:cs typeface="Arial"/>
                      </a:endParaRPr>
                    </a:p>
                  </a:txBody>
                  <a:tcPr marL="68580" marR="68580" marT="0" marB="0"/>
                </a:tc>
                <a:tc>
                  <a:txBody>
                    <a:bodyPr/>
                    <a:lstStyle/>
                    <a:p>
                      <a:pPr>
                        <a:spcAft>
                          <a:spcPts val="0"/>
                        </a:spcAft>
                      </a:pPr>
                      <a:r>
                        <a:rPr lang="es-ES" sz="1600" dirty="0">
                          <a:effectLst/>
                        </a:rPr>
                        <a:t>Debe permitir que todas las operaciones se realicen con todos los tipos de datos que aplican para la misma.</a:t>
                      </a:r>
                      <a:endParaRPr lang="es-NI" sz="1600" dirty="0">
                        <a:effectLst/>
                        <a:latin typeface="Garamond"/>
                        <a:ea typeface="Times New Roman"/>
                        <a:cs typeface="Arial"/>
                      </a:endParaRPr>
                    </a:p>
                  </a:txBody>
                  <a:tcPr marL="68580" marR="68580" marT="0" marB="0"/>
                </a:tc>
                <a:extLst>
                  <a:ext uri="{0D108BD9-81ED-4DB2-BD59-A6C34878D82A}">
                    <a16:rowId xmlns:a16="http://schemas.microsoft.com/office/drawing/2014/main" val="10001"/>
                  </a:ext>
                </a:extLst>
              </a:tr>
              <a:tr h="1647183">
                <a:tc>
                  <a:txBody>
                    <a:bodyPr/>
                    <a:lstStyle/>
                    <a:p>
                      <a:pPr>
                        <a:spcAft>
                          <a:spcPts val="0"/>
                        </a:spcAft>
                      </a:pPr>
                      <a:r>
                        <a:rPr lang="en-US" sz="1800" b="0" dirty="0" err="1">
                          <a:effectLst/>
                        </a:rPr>
                        <a:t>Eficiencia</a:t>
                      </a:r>
                      <a:r>
                        <a:rPr lang="en-US" sz="1800" b="0" dirty="0">
                          <a:effectLst/>
                        </a:rPr>
                        <a:t>:</a:t>
                      </a:r>
                      <a:endParaRPr lang="es-NI" sz="1200" b="0" dirty="0">
                        <a:effectLst/>
                        <a:latin typeface="Garamond"/>
                        <a:ea typeface="Times New Roman"/>
                        <a:cs typeface="Arial"/>
                      </a:endParaRPr>
                    </a:p>
                  </a:txBody>
                  <a:tcPr marL="68580" marR="68580" marT="0" marB="0"/>
                </a:tc>
                <a:tc>
                  <a:txBody>
                    <a:bodyPr/>
                    <a:lstStyle/>
                    <a:p>
                      <a:pPr>
                        <a:spcAft>
                          <a:spcPts val="0"/>
                        </a:spcAft>
                      </a:pPr>
                      <a:r>
                        <a:rPr lang="es-ES" sz="1600" dirty="0">
                          <a:effectLst/>
                        </a:rPr>
                        <a:t>Debe permitir ejecutar todas las operaciones del procesador pero sin redundancias. Si ya una operación puede realizarse con una instrucción x no es eficiente que exista una instrucción y para la misma operación.</a:t>
                      </a:r>
                      <a:endParaRPr lang="es-NI" sz="1600" dirty="0">
                        <a:effectLst/>
                        <a:latin typeface="Garamond"/>
                        <a:ea typeface="Times New Roman"/>
                        <a:cs typeface="Arial"/>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sz="3600" dirty="0" err="1"/>
              <a:t>Instrucción</a:t>
            </a:r>
            <a:endParaRPr lang="es-NI" sz="3600" dirty="0"/>
          </a:p>
        </p:txBody>
      </p:sp>
      <p:sp>
        <p:nvSpPr>
          <p:cNvPr id="62467" name="Rectangle 3"/>
          <p:cNvSpPr>
            <a:spLocks noGrp="1" noChangeArrowheads="1"/>
          </p:cNvSpPr>
          <p:nvPr>
            <p:ph idx="1"/>
          </p:nvPr>
        </p:nvSpPr>
        <p:spPr>
          <a:xfrm>
            <a:off x="179512" y="1491630"/>
            <a:ext cx="8856984" cy="3384376"/>
          </a:xfrm>
        </p:spPr>
        <p:txBody>
          <a:bodyPr>
            <a:normAutofit fontScale="85000" lnSpcReduction="20000"/>
          </a:bodyPr>
          <a:lstStyle/>
          <a:p>
            <a:pPr algn="just"/>
            <a:r>
              <a:rPr lang="en-US" sz="3600" dirty="0" err="1"/>
              <a:t>Tipo</a:t>
            </a:r>
            <a:r>
              <a:rPr lang="en-US" sz="3600" dirty="0"/>
              <a:t> de “</a:t>
            </a:r>
            <a:r>
              <a:rPr lang="en-US" sz="3600" dirty="0" err="1"/>
              <a:t>dato</a:t>
            </a:r>
            <a:r>
              <a:rPr lang="en-US" sz="3600" dirty="0"/>
              <a:t>” especial </a:t>
            </a:r>
            <a:r>
              <a:rPr lang="en-US" sz="3600" dirty="0" err="1"/>
              <a:t>que</a:t>
            </a:r>
            <a:r>
              <a:rPr lang="en-US" sz="3600" dirty="0"/>
              <a:t> se </a:t>
            </a:r>
            <a:r>
              <a:rPr lang="en-US" sz="3600" dirty="0" err="1"/>
              <a:t>almacena</a:t>
            </a:r>
            <a:r>
              <a:rPr lang="en-US" sz="3600" dirty="0"/>
              <a:t> en </a:t>
            </a:r>
            <a:r>
              <a:rPr lang="en-US" sz="3600" dirty="0" err="1"/>
              <a:t>memoria</a:t>
            </a:r>
            <a:r>
              <a:rPr lang="en-US" sz="3600" dirty="0"/>
              <a:t>: </a:t>
            </a:r>
            <a:r>
              <a:rPr lang="en-US" sz="3600" dirty="0" err="1"/>
              <a:t>tira</a:t>
            </a:r>
            <a:r>
              <a:rPr lang="en-US" sz="3600" dirty="0"/>
              <a:t> de bits</a:t>
            </a:r>
          </a:p>
          <a:p>
            <a:pPr algn="just"/>
            <a:r>
              <a:rPr lang="en-US" sz="3600" dirty="0" err="1"/>
              <a:t>Ordena</a:t>
            </a:r>
            <a:r>
              <a:rPr lang="en-US" sz="3600" dirty="0"/>
              <a:t> o </a:t>
            </a:r>
            <a:r>
              <a:rPr lang="en-US" sz="3600" dirty="0" err="1"/>
              <a:t>instruye</a:t>
            </a:r>
            <a:r>
              <a:rPr lang="en-US" sz="3600" dirty="0"/>
              <a:t> al </a:t>
            </a:r>
            <a:r>
              <a:rPr lang="en-US" sz="3600" dirty="0" err="1"/>
              <a:t>procesador</a:t>
            </a:r>
            <a:r>
              <a:rPr lang="en-US" sz="3600" dirty="0"/>
              <a:t> </a:t>
            </a:r>
            <a:r>
              <a:rPr lang="en-US" sz="3600" dirty="0" err="1"/>
              <a:t>que</a:t>
            </a:r>
            <a:r>
              <a:rPr lang="en-US" sz="3600" dirty="0"/>
              <a:t> </a:t>
            </a:r>
            <a:r>
              <a:rPr lang="en-US" sz="3600" dirty="0" err="1"/>
              <a:t>realice</a:t>
            </a:r>
            <a:r>
              <a:rPr lang="en-US" sz="3600" dirty="0"/>
              <a:t> </a:t>
            </a:r>
            <a:r>
              <a:rPr lang="en-US" sz="3600" dirty="0" err="1"/>
              <a:t>una</a:t>
            </a:r>
            <a:r>
              <a:rPr lang="en-US" sz="3600" dirty="0"/>
              <a:t> de </a:t>
            </a:r>
            <a:r>
              <a:rPr lang="en-US" sz="3600" dirty="0" err="1"/>
              <a:t>sus</a:t>
            </a:r>
            <a:r>
              <a:rPr lang="en-US" sz="3600" dirty="0"/>
              <a:t> </a:t>
            </a:r>
            <a:r>
              <a:rPr lang="en-US" sz="3600" dirty="0" err="1"/>
              <a:t>operaciones</a:t>
            </a:r>
            <a:r>
              <a:rPr lang="en-US" sz="3600" dirty="0"/>
              <a:t>.</a:t>
            </a:r>
          </a:p>
          <a:p>
            <a:pPr algn="just"/>
            <a:r>
              <a:rPr lang="en-US" sz="3600" dirty="0" err="1"/>
              <a:t>Proporciona</a:t>
            </a:r>
            <a:r>
              <a:rPr lang="en-US" sz="3600" dirty="0"/>
              <a:t> al </a:t>
            </a:r>
            <a:r>
              <a:rPr lang="en-US" sz="3600" dirty="0" err="1"/>
              <a:t>procesador</a:t>
            </a:r>
            <a:r>
              <a:rPr lang="en-US" sz="3600" dirty="0"/>
              <a:t> </a:t>
            </a:r>
            <a:r>
              <a:rPr lang="en-US" sz="3600" dirty="0" err="1"/>
              <a:t>toda</a:t>
            </a:r>
            <a:r>
              <a:rPr lang="en-US" sz="3600" dirty="0"/>
              <a:t> la </a:t>
            </a:r>
            <a:r>
              <a:rPr lang="en-US" sz="3600" dirty="0" err="1"/>
              <a:t>información</a:t>
            </a:r>
            <a:r>
              <a:rPr lang="en-US" sz="3600" dirty="0"/>
              <a:t> </a:t>
            </a:r>
            <a:r>
              <a:rPr lang="en-US" sz="3600" dirty="0" err="1"/>
              <a:t>requerida</a:t>
            </a:r>
            <a:r>
              <a:rPr lang="en-US" sz="3600" dirty="0"/>
              <a:t> para </a:t>
            </a:r>
            <a:r>
              <a:rPr lang="en-US" sz="3600" dirty="0" err="1"/>
              <a:t>ejecutarla</a:t>
            </a:r>
            <a:r>
              <a:rPr lang="en-US" sz="3600" dirty="0"/>
              <a:t>:</a:t>
            </a:r>
          </a:p>
          <a:p>
            <a:pPr lvl="1" algn="just"/>
            <a:r>
              <a:rPr lang="en-US" sz="3200" dirty="0" err="1"/>
              <a:t>Operación</a:t>
            </a:r>
            <a:endParaRPr lang="en-US" sz="3200" dirty="0"/>
          </a:p>
          <a:p>
            <a:pPr lvl="1" algn="just"/>
            <a:r>
              <a:rPr lang="en-US" sz="3200" dirty="0"/>
              <a:t>Operandos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67544" y="123478"/>
            <a:ext cx="8229600" cy="733772"/>
          </a:xfrm>
        </p:spPr>
        <p:txBody>
          <a:bodyPr>
            <a:normAutofit/>
          </a:bodyPr>
          <a:lstStyle/>
          <a:p>
            <a:r>
              <a:rPr lang="en-US" dirty="0" err="1"/>
              <a:t>Tipos</a:t>
            </a:r>
            <a:r>
              <a:rPr lang="en-US" dirty="0"/>
              <a:t> de </a:t>
            </a:r>
            <a:r>
              <a:rPr lang="en-US" dirty="0" err="1"/>
              <a:t>Instrucciones</a:t>
            </a:r>
            <a:endParaRPr lang="es-NI" dirty="0"/>
          </a:p>
        </p:txBody>
      </p:sp>
      <p:graphicFrame>
        <p:nvGraphicFramePr>
          <p:cNvPr id="2" name="1 Tabla"/>
          <p:cNvGraphicFramePr>
            <a:graphicFrameLocks noGrp="1"/>
          </p:cNvGraphicFramePr>
          <p:nvPr>
            <p:extLst>
              <p:ext uri="{D42A27DB-BD31-4B8C-83A1-F6EECF244321}">
                <p14:modId xmlns:p14="http://schemas.microsoft.com/office/powerpoint/2010/main" val="3491181563"/>
              </p:ext>
            </p:extLst>
          </p:nvPr>
        </p:nvGraphicFramePr>
        <p:xfrm>
          <a:off x="107504" y="963952"/>
          <a:ext cx="8886558" cy="4186122"/>
        </p:xfrm>
        <a:graphic>
          <a:graphicData uri="http://schemas.openxmlformats.org/drawingml/2006/table">
            <a:tbl>
              <a:tblPr>
                <a:tableStyleId>{775DCB02-9BB8-47FD-8907-85C794F793BA}</a:tableStyleId>
              </a:tblPr>
              <a:tblGrid>
                <a:gridCol w="1037686">
                  <a:extLst>
                    <a:ext uri="{9D8B030D-6E8A-4147-A177-3AD203B41FA5}">
                      <a16:colId xmlns:a16="http://schemas.microsoft.com/office/drawing/2014/main" val="20000"/>
                    </a:ext>
                  </a:extLst>
                </a:gridCol>
                <a:gridCol w="2592288">
                  <a:extLst>
                    <a:ext uri="{9D8B030D-6E8A-4147-A177-3AD203B41FA5}">
                      <a16:colId xmlns:a16="http://schemas.microsoft.com/office/drawing/2014/main" val="20001"/>
                    </a:ext>
                  </a:extLst>
                </a:gridCol>
                <a:gridCol w="3456384">
                  <a:extLst>
                    <a:ext uri="{9D8B030D-6E8A-4147-A177-3AD203B41FA5}">
                      <a16:colId xmlns:a16="http://schemas.microsoft.com/office/drawing/2014/main" val="20002"/>
                    </a:ext>
                  </a:extLst>
                </a:gridCol>
                <a:gridCol w="1800200">
                  <a:extLst>
                    <a:ext uri="{9D8B030D-6E8A-4147-A177-3AD203B41FA5}">
                      <a16:colId xmlns:a16="http://schemas.microsoft.com/office/drawing/2014/main" val="20003"/>
                    </a:ext>
                  </a:extLst>
                </a:gridCol>
              </a:tblGrid>
              <a:tr h="137160">
                <a:tc>
                  <a:txBody>
                    <a:bodyPr/>
                    <a:lstStyle/>
                    <a:p>
                      <a:pPr algn="ctr">
                        <a:spcAft>
                          <a:spcPts val="0"/>
                        </a:spcAft>
                      </a:pPr>
                      <a:r>
                        <a:rPr lang="en-US" sz="1000" b="1" dirty="0" err="1">
                          <a:solidFill>
                            <a:schemeClr val="accent5">
                              <a:lumMod val="75000"/>
                            </a:schemeClr>
                          </a:solidFill>
                          <a:effectLst/>
                        </a:rPr>
                        <a:t>Tipo</a:t>
                      </a:r>
                      <a:endParaRPr lang="es-NI" sz="1000" b="1" dirty="0">
                        <a:solidFill>
                          <a:schemeClr val="accent5">
                            <a:lumMod val="75000"/>
                          </a:schemeClr>
                        </a:solidFill>
                        <a:effectLst/>
                        <a:latin typeface="Garamond"/>
                        <a:ea typeface="Times New Roman"/>
                        <a:cs typeface="Arial"/>
                      </a:endParaRPr>
                    </a:p>
                  </a:txBody>
                  <a:tcPr marL="53597" marR="53597" marT="0" marB="0">
                    <a:solidFill>
                      <a:schemeClr val="accent2">
                        <a:lumMod val="40000"/>
                        <a:lumOff val="60000"/>
                      </a:schemeClr>
                    </a:solidFill>
                  </a:tcPr>
                </a:tc>
                <a:tc>
                  <a:txBody>
                    <a:bodyPr/>
                    <a:lstStyle/>
                    <a:p>
                      <a:pPr algn="ctr">
                        <a:spcAft>
                          <a:spcPts val="0"/>
                        </a:spcAft>
                      </a:pPr>
                      <a:r>
                        <a:rPr lang="en-US" sz="1000" b="1" dirty="0" err="1">
                          <a:solidFill>
                            <a:schemeClr val="accent5">
                              <a:lumMod val="75000"/>
                            </a:schemeClr>
                          </a:solidFill>
                          <a:effectLst/>
                        </a:rPr>
                        <a:t>Categoría</a:t>
                      </a:r>
                      <a:endParaRPr lang="es-NI" sz="1000" b="1" dirty="0">
                        <a:solidFill>
                          <a:schemeClr val="accent5">
                            <a:lumMod val="75000"/>
                          </a:schemeClr>
                        </a:solidFill>
                        <a:effectLst/>
                        <a:latin typeface="Garamond"/>
                        <a:ea typeface="Times New Roman"/>
                        <a:cs typeface="Arial"/>
                      </a:endParaRPr>
                    </a:p>
                  </a:txBody>
                  <a:tcPr marL="53597" marR="53597" marT="0" marB="0">
                    <a:solidFill>
                      <a:schemeClr val="accent2">
                        <a:lumMod val="40000"/>
                        <a:lumOff val="60000"/>
                      </a:schemeClr>
                    </a:solidFill>
                  </a:tcPr>
                </a:tc>
                <a:tc>
                  <a:txBody>
                    <a:bodyPr/>
                    <a:lstStyle/>
                    <a:p>
                      <a:pPr algn="ctr">
                        <a:spcAft>
                          <a:spcPts val="0"/>
                        </a:spcAft>
                      </a:pPr>
                      <a:r>
                        <a:rPr lang="en-US" sz="1000" b="1" dirty="0" err="1">
                          <a:solidFill>
                            <a:schemeClr val="accent5">
                              <a:lumMod val="75000"/>
                            </a:schemeClr>
                          </a:solidFill>
                          <a:effectLst/>
                        </a:rPr>
                        <a:t>Uso</a:t>
                      </a:r>
                      <a:endParaRPr lang="es-NI" sz="1000" b="1" dirty="0">
                        <a:solidFill>
                          <a:schemeClr val="accent5">
                            <a:lumMod val="75000"/>
                          </a:schemeClr>
                        </a:solidFill>
                        <a:effectLst/>
                        <a:latin typeface="Garamond"/>
                        <a:ea typeface="Times New Roman"/>
                        <a:cs typeface="Arial"/>
                      </a:endParaRPr>
                    </a:p>
                  </a:txBody>
                  <a:tcPr marL="53597" marR="53597" marT="0" marB="0">
                    <a:solidFill>
                      <a:schemeClr val="accent2">
                        <a:lumMod val="40000"/>
                        <a:lumOff val="60000"/>
                      </a:schemeClr>
                    </a:solidFill>
                  </a:tcPr>
                </a:tc>
                <a:tc>
                  <a:txBody>
                    <a:bodyPr/>
                    <a:lstStyle/>
                    <a:p>
                      <a:pPr algn="ctr">
                        <a:spcAft>
                          <a:spcPts val="0"/>
                        </a:spcAft>
                      </a:pPr>
                      <a:r>
                        <a:rPr lang="en-US" sz="1000" b="1" dirty="0" err="1">
                          <a:solidFill>
                            <a:schemeClr val="accent5">
                              <a:lumMod val="75000"/>
                            </a:schemeClr>
                          </a:solidFill>
                          <a:effectLst/>
                        </a:rPr>
                        <a:t>Ejemplos</a:t>
                      </a:r>
                      <a:endParaRPr lang="es-NI" sz="1000" b="1" dirty="0">
                        <a:solidFill>
                          <a:schemeClr val="accent5">
                            <a:lumMod val="75000"/>
                          </a:schemeClr>
                        </a:solidFill>
                        <a:effectLst/>
                        <a:latin typeface="Garamond"/>
                        <a:ea typeface="Times New Roman"/>
                        <a:cs typeface="Arial"/>
                      </a:endParaRPr>
                    </a:p>
                  </a:txBody>
                  <a:tcPr marL="53597" marR="53597" marT="0" marB="0">
                    <a:solidFill>
                      <a:schemeClr val="accent2">
                        <a:lumMod val="40000"/>
                        <a:lumOff val="60000"/>
                      </a:schemeClr>
                    </a:solidFill>
                  </a:tcPr>
                </a:tc>
                <a:extLst>
                  <a:ext uri="{0D108BD9-81ED-4DB2-BD59-A6C34878D82A}">
                    <a16:rowId xmlns:a16="http://schemas.microsoft.com/office/drawing/2014/main" val="10000"/>
                  </a:ext>
                </a:extLst>
              </a:tr>
              <a:tr h="384321">
                <a:tc rowSpan="6">
                  <a:txBody>
                    <a:bodyPr/>
                    <a:lstStyle/>
                    <a:p>
                      <a:pPr>
                        <a:spcAft>
                          <a:spcPts val="0"/>
                        </a:spcAft>
                      </a:pPr>
                      <a:r>
                        <a:rPr lang="en-US" sz="1000" dirty="0" err="1">
                          <a:effectLst/>
                        </a:rPr>
                        <a:t>Propósito</a:t>
                      </a:r>
                      <a:r>
                        <a:rPr lang="en-US" sz="1000" dirty="0">
                          <a:effectLst/>
                        </a:rPr>
                        <a:t> General</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err="1">
                          <a:effectLst/>
                        </a:rPr>
                        <a:t>Transferencia</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dirty="0">
                          <a:effectLst/>
                        </a:rPr>
                        <a:t>Mover datos entre operandos </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a:effectLst/>
                        </a:rPr>
                        <a:t>MOVE, LOAD, STORE</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1"/>
                  </a:ext>
                </a:extLst>
              </a:tr>
              <a:tr h="302192">
                <a:tc vMerge="1">
                  <a:txBody>
                    <a:bodyPr/>
                    <a:lstStyle/>
                    <a:p>
                      <a:endParaRPr lang="es-NI"/>
                    </a:p>
                  </a:txBody>
                  <a:tcPr/>
                </a:tc>
                <a:tc>
                  <a:txBody>
                    <a:bodyPr/>
                    <a:lstStyle/>
                    <a:p>
                      <a:pPr>
                        <a:spcAft>
                          <a:spcPts val="0"/>
                        </a:spcAft>
                      </a:pPr>
                      <a:r>
                        <a:rPr lang="en-US" sz="1000" dirty="0" err="1">
                          <a:effectLst/>
                        </a:rPr>
                        <a:t>Aritméticas</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err="1">
                          <a:effectLst/>
                        </a:rPr>
                        <a:t>Operaciones</a:t>
                      </a:r>
                      <a:r>
                        <a:rPr lang="en-US" sz="1000" dirty="0">
                          <a:effectLst/>
                        </a:rPr>
                        <a:t> </a:t>
                      </a:r>
                      <a:r>
                        <a:rPr lang="en-US" sz="1000" dirty="0" err="1">
                          <a:effectLst/>
                        </a:rPr>
                        <a:t>aritméticas</a:t>
                      </a:r>
                      <a:r>
                        <a:rPr lang="en-US" sz="1000" dirty="0">
                          <a:effectLst/>
                        </a:rPr>
                        <a:t>.</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a:effectLst/>
                        </a:rPr>
                        <a:t>ADD, SUB, DIV, MUL, INC, DEC</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2"/>
                  </a:ext>
                </a:extLst>
              </a:tr>
              <a:tr h="297189">
                <a:tc vMerge="1">
                  <a:txBody>
                    <a:bodyPr/>
                    <a:lstStyle/>
                    <a:p>
                      <a:endParaRPr lang="es-NI"/>
                    </a:p>
                  </a:txBody>
                  <a:tcPr/>
                </a:tc>
                <a:tc>
                  <a:txBody>
                    <a:bodyPr/>
                    <a:lstStyle/>
                    <a:p>
                      <a:pPr>
                        <a:spcAft>
                          <a:spcPts val="0"/>
                        </a:spcAft>
                      </a:pPr>
                      <a:r>
                        <a:rPr lang="es-ES" sz="1000" dirty="0">
                          <a:effectLst/>
                        </a:rPr>
                        <a:t>Lógicas y manejo de bits (</a:t>
                      </a:r>
                      <a:r>
                        <a:rPr lang="es-ES" sz="1000" dirty="0" err="1">
                          <a:effectLst/>
                        </a:rPr>
                        <a:t>bitwise</a:t>
                      </a:r>
                      <a:r>
                        <a:rPr lang="es-ES" sz="1000" dirty="0">
                          <a:effectLst/>
                        </a:rPr>
                        <a:t>)</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dirty="0">
                          <a:effectLst/>
                        </a:rPr>
                        <a:t>Operaciones lógicas</a:t>
                      </a:r>
                      <a:r>
                        <a:rPr lang="es-ES" sz="1000" baseline="0" dirty="0">
                          <a:effectLst/>
                        </a:rPr>
                        <a:t> y de </a:t>
                      </a:r>
                      <a:r>
                        <a:rPr lang="es-ES" sz="1000" dirty="0">
                          <a:effectLst/>
                        </a:rPr>
                        <a:t>corrimiento de bits.</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a:effectLst/>
                        </a:rPr>
                        <a:t>AND, OR,  NOT, RSH, LROT</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3"/>
                  </a:ext>
                </a:extLst>
              </a:tr>
              <a:tr h="384321">
                <a:tc vMerge="1">
                  <a:txBody>
                    <a:bodyPr/>
                    <a:lstStyle/>
                    <a:p>
                      <a:endParaRPr lang="es-NI"/>
                    </a:p>
                  </a:txBody>
                  <a:tcPr/>
                </a:tc>
                <a:tc>
                  <a:txBody>
                    <a:bodyPr/>
                    <a:lstStyle/>
                    <a:p>
                      <a:pPr>
                        <a:spcAft>
                          <a:spcPts val="0"/>
                        </a:spcAft>
                      </a:pPr>
                      <a:r>
                        <a:rPr lang="en-US" sz="1000" dirty="0">
                          <a:effectLst/>
                        </a:rPr>
                        <a:t>De </a:t>
                      </a:r>
                      <a:r>
                        <a:rPr lang="en-US" sz="1000" dirty="0" err="1">
                          <a:effectLst/>
                        </a:rPr>
                        <a:t>Comparación</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dirty="0">
                          <a:effectLst/>
                        </a:rPr>
                        <a:t>Operaciones que comparan los valores de los operandos. Sirven de base para las de saltos</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dirty="0">
                          <a:effectLst/>
                        </a:rPr>
                        <a:t>CMP</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4"/>
                  </a:ext>
                </a:extLst>
              </a:tr>
              <a:tr h="512428">
                <a:tc vMerge="1">
                  <a:txBody>
                    <a:bodyPr/>
                    <a:lstStyle/>
                    <a:p>
                      <a:endParaRPr lang="es-NI"/>
                    </a:p>
                  </a:txBody>
                  <a:tcPr/>
                </a:tc>
                <a:tc>
                  <a:txBody>
                    <a:bodyPr/>
                    <a:lstStyle/>
                    <a:p>
                      <a:pPr>
                        <a:spcAft>
                          <a:spcPts val="0"/>
                        </a:spcAft>
                      </a:pPr>
                      <a:r>
                        <a:rPr lang="es-ES" sz="1000" dirty="0">
                          <a:effectLst/>
                        </a:rPr>
                        <a:t>Control de flujo de </a:t>
                      </a:r>
                      <a:endParaRPr lang="es-NI" sz="1000" dirty="0">
                        <a:effectLst/>
                      </a:endParaRPr>
                    </a:p>
                    <a:p>
                      <a:pPr>
                        <a:spcAft>
                          <a:spcPts val="0"/>
                        </a:spcAft>
                      </a:pPr>
                      <a:r>
                        <a:rPr lang="es-ES" sz="1000" dirty="0">
                          <a:effectLst/>
                        </a:rPr>
                        <a:t>Programa</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dirty="0">
                          <a:effectLst/>
                        </a:rPr>
                        <a:t>Permite modificar la secuencia del programa para implementar sentencias de selección, ciclos y llamadas a subrutinas.</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a:effectLst/>
                        </a:rPr>
                        <a:t>JP, JR, BRN, CALL, RET</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5"/>
                  </a:ext>
                </a:extLst>
              </a:tr>
              <a:tr h="291383">
                <a:tc vMerge="1">
                  <a:txBody>
                    <a:bodyPr/>
                    <a:lstStyle/>
                    <a:p>
                      <a:endParaRPr lang="es-NI"/>
                    </a:p>
                  </a:txBody>
                  <a:tcPr/>
                </a:tc>
                <a:tc>
                  <a:txBody>
                    <a:bodyPr/>
                    <a:lstStyle/>
                    <a:p>
                      <a:pPr>
                        <a:spcAft>
                          <a:spcPts val="0"/>
                        </a:spcAft>
                      </a:pPr>
                      <a:r>
                        <a:rPr lang="en-US" sz="1000" dirty="0" err="1">
                          <a:effectLst/>
                          <a:latin typeface="+mn-lt"/>
                          <a:ea typeface="+mn-ea"/>
                          <a:cs typeface="+mn-cs"/>
                        </a:rPr>
                        <a:t>Entrada</a:t>
                      </a:r>
                      <a:r>
                        <a:rPr lang="en-US" sz="1000" baseline="0" dirty="0">
                          <a:effectLst/>
                          <a:latin typeface="+mn-lt"/>
                          <a:ea typeface="+mn-ea"/>
                          <a:cs typeface="+mn-cs"/>
                        </a:rPr>
                        <a:t> / </a:t>
                      </a:r>
                      <a:r>
                        <a:rPr lang="en-US" sz="1000" baseline="0" dirty="0" err="1">
                          <a:effectLst/>
                          <a:latin typeface="+mn-lt"/>
                          <a:ea typeface="+mn-ea"/>
                          <a:cs typeface="+mn-cs"/>
                        </a:rPr>
                        <a:t>Salida</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dirty="0">
                          <a:effectLst/>
                        </a:rPr>
                        <a:t>Permite el acceso a direcciones del espacio de E/S. </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dirty="0">
                          <a:effectLst/>
                        </a:rPr>
                        <a:t>IN, OUT</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6"/>
                  </a:ext>
                </a:extLst>
              </a:tr>
              <a:tr h="274320">
                <a:tc rowSpan="2">
                  <a:txBody>
                    <a:bodyPr/>
                    <a:lstStyle/>
                    <a:p>
                      <a:pPr>
                        <a:spcAft>
                          <a:spcPts val="0"/>
                        </a:spcAft>
                      </a:pPr>
                      <a:r>
                        <a:rPr lang="en-US" sz="1000">
                          <a:effectLst/>
                        </a:rPr>
                        <a:t>Propósito Específico</a:t>
                      </a:r>
                      <a:endParaRPr lang="es-NI" sz="1000">
                        <a:effectLst/>
                        <a:latin typeface="Garamond"/>
                        <a:ea typeface="Times New Roman"/>
                        <a:cs typeface="Arial"/>
                      </a:endParaRPr>
                    </a:p>
                  </a:txBody>
                  <a:tcPr marL="53597" marR="53597" marT="0" marB="0"/>
                </a:tc>
                <a:tc>
                  <a:txBody>
                    <a:bodyPr/>
                    <a:lstStyle/>
                    <a:p>
                      <a:pPr>
                        <a:spcAft>
                          <a:spcPts val="0"/>
                        </a:spcAft>
                      </a:pPr>
                      <a:r>
                        <a:rPr lang="en-US" sz="1000">
                          <a:effectLst/>
                        </a:rPr>
                        <a:t>Tratamiento de Cadenas (Strings)</a:t>
                      </a:r>
                      <a:endParaRPr lang="es-NI" sz="1000">
                        <a:effectLst/>
                      </a:endParaRPr>
                    </a:p>
                    <a:p>
                      <a:pPr>
                        <a:spcAft>
                          <a:spcPts val="0"/>
                        </a:spcAft>
                      </a:pPr>
                      <a:r>
                        <a:rPr lang="en-US" sz="1000">
                          <a:effectLst/>
                        </a:rPr>
                        <a:t> </a:t>
                      </a:r>
                      <a:endParaRPr lang="es-NI" sz="1000">
                        <a:effectLst/>
                        <a:latin typeface="Garamond"/>
                        <a:ea typeface="Times New Roman"/>
                        <a:cs typeface="Arial"/>
                      </a:endParaRPr>
                    </a:p>
                  </a:txBody>
                  <a:tcPr marL="53597" marR="53597" marT="0" marB="0"/>
                </a:tc>
                <a:tc>
                  <a:txBody>
                    <a:bodyPr/>
                    <a:lstStyle/>
                    <a:p>
                      <a:pPr>
                        <a:spcAft>
                          <a:spcPts val="0"/>
                        </a:spcAft>
                      </a:pPr>
                      <a:r>
                        <a:rPr lang="en-US" sz="1000" dirty="0" err="1">
                          <a:effectLst/>
                        </a:rPr>
                        <a:t>Manipulación</a:t>
                      </a:r>
                      <a:r>
                        <a:rPr lang="en-US" sz="1000" dirty="0">
                          <a:effectLst/>
                        </a:rPr>
                        <a:t> de </a:t>
                      </a:r>
                      <a:r>
                        <a:rPr lang="en-US" sz="1000" dirty="0" err="1">
                          <a:effectLst/>
                        </a:rPr>
                        <a:t>cadenas</a:t>
                      </a:r>
                      <a:endParaRPr lang="es-NI" sz="1000" dirty="0">
                        <a:effectLst/>
                      </a:endParaRPr>
                    </a:p>
                    <a:p>
                      <a:pPr>
                        <a:spcAft>
                          <a:spcPts val="0"/>
                        </a:spcAft>
                      </a:pPr>
                      <a:r>
                        <a:rPr lang="en-US" sz="1000" dirty="0">
                          <a:effectLst/>
                        </a:rPr>
                        <a:t> </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a:effectLst/>
                        </a:rPr>
                        <a:t>COMSTR, CATSTR</a:t>
                      </a:r>
                      <a:endParaRPr lang="es-NI" sz="1000">
                        <a:effectLst/>
                        <a:latin typeface="Garamond"/>
                        <a:ea typeface="Times New Roman"/>
                        <a:cs typeface="Arial"/>
                      </a:endParaRPr>
                    </a:p>
                  </a:txBody>
                  <a:tcPr marL="53597" marR="53597" marT="0" marB="0"/>
                </a:tc>
                <a:extLst>
                  <a:ext uri="{0D108BD9-81ED-4DB2-BD59-A6C34878D82A}">
                    <a16:rowId xmlns:a16="http://schemas.microsoft.com/office/drawing/2014/main" val="10007"/>
                  </a:ext>
                </a:extLst>
              </a:tr>
              <a:tr h="548640">
                <a:tc vMerge="1">
                  <a:txBody>
                    <a:bodyPr/>
                    <a:lstStyle/>
                    <a:p>
                      <a:endParaRPr lang="es-NI"/>
                    </a:p>
                  </a:txBody>
                  <a:tcPr/>
                </a:tc>
                <a:tc>
                  <a:txBody>
                    <a:bodyPr/>
                    <a:lstStyle/>
                    <a:p>
                      <a:pPr>
                        <a:spcAft>
                          <a:spcPts val="0"/>
                        </a:spcAft>
                      </a:pPr>
                      <a:r>
                        <a:rPr lang="es-ES" sz="1000">
                          <a:effectLst/>
                        </a:rPr>
                        <a:t>Polinomios y funciones científicas, Vectores y Matrices</a:t>
                      </a:r>
                      <a:endParaRPr lang="es-NI" sz="1000">
                        <a:effectLst/>
                        <a:latin typeface="Garamond"/>
                        <a:ea typeface="Times New Roman"/>
                        <a:cs typeface="Arial"/>
                      </a:endParaRPr>
                    </a:p>
                  </a:txBody>
                  <a:tcPr marL="53597" marR="53597" marT="0" marB="0"/>
                </a:tc>
                <a:tc>
                  <a:txBody>
                    <a:bodyPr/>
                    <a:lstStyle/>
                    <a:p>
                      <a:pPr>
                        <a:spcAft>
                          <a:spcPts val="0"/>
                        </a:spcAft>
                      </a:pPr>
                      <a:r>
                        <a:rPr lang="es-ES" sz="1000" dirty="0">
                          <a:effectLst/>
                        </a:rPr>
                        <a:t>Para aplicaciones científicas. La instrucción implementada en Hardware acelera la ejecución. También se consideran datos especiales como Vectores, Listas y Matrices</a:t>
                      </a:r>
                      <a:endParaRPr lang="es-NI" sz="1000" dirty="0">
                        <a:effectLst/>
                        <a:latin typeface="Garamond"/>
                        <a:ea typeface="Times New Roman"/>
                        <a:cs typeface="Arial"/>
                      </a:endParaRPr>
                    </a:p>
                  </a:txBody>
                  <a:tcPr marL="53597" marR="53597" marT="0" marB="0"/>
                </a:tc>
                <a:tc>
                  <a:txBody>
                    <a:bodyPr/>
                    <a:lstStyle/>
                    <a:p>
                      <a:pPr>
                        <a:spcAft>
                          <a:spcPts val="0"/>
                        </a:spcAft>
                      </a:pPr>
                      <a:r>
                        <a:rPr lang="en-US" sz="1000">
                          <a:effectLst/>
                        </a:rPr>
                        <a:t>EVALUATEPOL, VADD</a:t>
                      </a:r>
                      <a:endParaRPr lang="es-NI" sz="1000">
                        <a:effectLst/>
                        <a:latin typeface="Garamond"/>
                        <a:ea typeface="Times New Roman"/>
                        <a:cs typeface="Arial"/>
                      </a:endParaRPr>
                    </a:p>
                  </a:txBody>
                  <a:tcPr marL="53597" marR="53597" marT="0" marB="0"/>
                </a:tc>
                <a:extLst>
                  <a:ext uri="{0D108BD9-81ED-4DB2-BD59-A6C34878D82A}">
                    <a16:rowId xmlns:a16="http://schemas.microsoft.com/office/drawing/2014/main" val="10008"/>
                  </a:ext>
                </a:extLst>
              </a:tr>
              <a:tr h="548640">
                <a:tc rowSpan="2">
                  <a:txBody>
                    <a:bodyPr/>
                    <a:lstStyle/>
                    <a:p>
                      <a:pPr>
                        <a:spcAft>
                          <a:spcPts val="0"/>
                        </a:spcAft>
                      </a:pPr>
                      <a:r>
                        <a:rPr lang="en-US" sz="1000">
                          <a:effectLst/>
                        </a:rPr>
                        <a:t>Privilegiadas</a:t>
                      </a:r>
                      <a:endParaRPr lang="es-NI" sz="1000">
                        <a:effectLst/>
                        <a:latin typeface="Garamond"/>
                        <a:ea typeface="Times New Roman"/>
                        <a:cs typeface="Arial"/>
                      </a:endParaRPr>
                    </a:p>
                  </a:txBody>
                  <a:tcPr marL="53597" marR="53597" marT="0" marB="0"/>
                </a:tc>
                <a:tc>
                  <a:txBody>
                    <a:bodyPr/>
                    <a:lstStyle/>
                    <a:p>
                      <a:pPr>
                        <a:spcAft>
                          <a:spcPts val="0"/>
                        </a:spcAft>
                      </a:pPr>
                      <a:r>
                        <a:rPr lang="en-US" sz="1000">
                          <a:effectLst/>
                        </a:rPr>
                        <a:t>Interrupciones y Excepciones</a:t>
                      </a:r>
                      <a:endParaRPr lang="es-NI" sz="1000">
                        <a:effectLst/>
                        <a:latin typeface="Garamond"/>
                        <a:ea typeface="Times New Roman"/>
                        <a:cs typeface="Arial"/>
                      </a:endParaRPr>
                    </a:p>
                  </a:txBody>
                  <a:tcPr marL="53597" marR="53597" marT="0" marB="0"/>
                </a:tc>
                <a:tc>
                  <a:txBody>
                    <a:bodyPr/>
                    <a:lstStyle/>
                    <a:p>
                      <a:pPr>
                        <a:spcAft>
                          <a:spcPts val="0"/>
                        </a:spcAft>
                      </a:pPr>
                      <a:r>
                        <a:rPr lang="es-ES" sz="1000">
                          <a:effectLst/>
                        </a:rPr>
                        <a:t>Solicitud de atención de los dispositivos de E/S y Tratamiento de condiciones anormales del procesador</a:t>
                      </a:r>
                      <a:endParaRPr lang="es-NI" sz="1000">
                        <a:effectLst/>
                      </a:endParaRPr>
                    </a:p>
                    <a:p>
                      <a:pPr>
                        <a:spcAft>
                          <a:spcPts val="0"/>
                        </a:spcAft>
                      </a:pPr>
                      <a:r>
                        <a:rPr lang="es-ES" sz="1000">
                          <a:effectLst/>
                        </a:rPr>
                        <a:t> </a:t>
                      </a:r>
                      <a:endParaRPr lang="es-NI" sz="1000">
                        <a:effectLst/>
                        <a:latin typeface="Garamond"/>
                        <a:ea typeface="Times New Roman"/>
                        <a:cs typeface="Arial"/>
                      </a:endParaRPr>
                    </a:p>
                  </a:txBody>
                  <a:tcPr marL="53597" marR="53597" marT="0" marB="0"/>
                </a:tc>
                <a:tc>
                  <a:txBody>
                    <a:bodyPr/>
                    <a:lstStyle/>
                    <a:p>
                      <a:pPr>
                        <a:spcAft>
                          <a:spcPts val="0"/>
                        </a:spcAft>
                      </a:pPr>
                      <a:r>
                        <a:rPr lang="en-US" sz="1000" dirty="0">
                          <a:effectLst/>
                        </a:rPr>
                        <a:t>INT, TRAP</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09"/>
                  </a:ext>
                </a:extLst>
              </a:tr>
              <a:tr h="411480">
                <a:tc vMerge="1">
                  <a:txBody>
                    <a:bodyPr/>
                    <a:lstStyle/>
                    <a:p>
                      <a:endParaRPr lang="es-NI"/>
                    </a:p>
                  </a:txBody>
                  <a:tcPr/>
                </a:tc>
                <a:tc>
                  <a:txBody>
                    <a:bodyPr/>
                    <a:lstStyle/>
                    <a:p>
                      <a:pPr>
                        <a:spcAft>
                          <a:spcPts val="0"/>
                        </a:spcAft>
                      </a:pPr>
                      <a:r>
                        <a:rPr lang="en-US" sz="1000" dirty="0">
                          <a:effectLst/>
                        </a:rPr>
                        <a:t>De control del </a:t>
                      </a:r>
                      <a:r>
                        <a:rPr lang="en-US" sz="1000" dirty="0" err="1">
                          <a:effectLst/>
                        </a:rPr>
                        <a:t>Sistema</a:t>
                      </a:r>
                      <a:endParaRPr lang="es-NI" sz="1000" dirty="0">
                        <a:effectLst/>
                        <a:latin typeface="Garamond"/>
                        <a:ea typeface="Times New Roman"/>
                        <a:cs typeface="Arial"/>
                      </a:endParaRPr>
                    </a:p>
                  </a:txBody>
                  <a:tcPr marL="53597" marR="53597" marT="0" marB="0"/>
                </a:tc>
                <a:tc>
                  <a:txBody>
                    <a:bodyPr/>
                    <a:lstStyle/>
                    <a:p>
                      <a:pPr>
                        <a:spcAft>
                          <a:spcPts val="0"/>
                        </a:spcAft>
                      </a:pPr>
                      <a:r>
                        <a:rPr lang="es-ES" sz="1000">
                          <a:effectLst/>
                        </a:rPr>
                        <a:t>Protección de Memoria, Detención del programa, reinicio o detención del ordenador, etc.</a:t>
                      </a:r>
                      <a:endParaRPr lang="es-NI" sz="1000">
                        <a:effectLst/>
                      </a:endParaRPr>
                    </a:p>
                    <a:p>
                      <a:pPr>
                        <a:spcAft>
                          <a:spcPts val="0"/>
                        </a:spcAft>
                      </a:pPr>
                      <a:r>
                        <a:rPr lang="es-ES" sz="1000">
                          <a:effectLst/>
                        </a:rPr>
                        <a:t> </a:t>
                      </a:r>
                      <a:endParaRPr lang="es-NI" sz="1000">
                        <a:effectLst/>
                        <a:latin typeface="Garamond"/>
                        <a:ea typeface="Times New Roman"/>
                        <a:cs typeface="Arial"/>
                      </a:endParaRPr>
                    </a:p>
                  </a:txBody>
                  <a:tcPr marL="53597" marR="53597" marT="0" marB="0"/>
                </a:tc>
                <a:tc>
                  <a:txBody>
                    <a:bodyPr/>
                    <a:lstStyle/>
                    <a:p>
                      <a:pPr>
                        <a:spcAft>
                          <a:spcPts val="0"/>
                        </a:spcAft>
                      </a:pPr>
                      <a:r>
                        <a:rPr lang="en-US" sz="1000" dirty="0">
                          <a:effectLst/>
                        </a:rPr>
                        <a:t>HALT, NOP</a:t>
                      </a:r>
                      <a:endParaRPr lang="es-NI" sz="1000" dirty="0">
                        <a:effectLst/>
                        <a:latin typeface="Garamond"/>
                        <a:ea typeface="Times New Roman"/>
                        <a:cs typeface="Arial"/>
                      </a:endParaRPr>
                    </a:p>
                  </a:txBody>
                  <a:tcPr marL="53597" marR="53597"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Formato</a:t>
            </a:r>
            <a:r>
              <a:rPr lang="en-US" dirty="0"/>
              <a:t> de </a:t>
            </a:r>
            <a:r>
              <a:rPr lang="en-US" dirty="0" err="1"/>
              <a:t>Instrucción</a:t>
            </a:r>
            <a:endParaRPr lang="es-NI" dirty="0"/>
          </a:p>
        </p:txBody>
      </p:sp>
      <p:sp>
        <p:nvSpPr>
          <p:cNvPr id="3" name="2 Marcador de contenido"/>
          <p:cNvSpPr>
            <a:spLocks noGrp="1"/>
          </p:cNvSpPr>
          <p:nvPr>
            <p:ph idx="1"/>
          </p:nvPr>
        </p:nvSpPr>
        <p:spPr>
          <a:xfrm>
            <a:off x="179512" y="1347614"/>
            <a:ext cx="8712968" cy="3528392"/>
          </a:xfrm>
        </p:spPr>
        <p:txBody>
          <a:bodyPr>
            <a:normAutofit/>
          </a:bodyPr>
          <a:lstStyle/>
          <a:p>
            <a:pPr algn="just"/>
            <a:r>
              <a:rPr lang="en-US" sz="2400" dirty="0" err="1"/>
              <a:t>Estructura</a:t>
            </a:r>
            <a:r>
              <a:rPr lang="en-US" sz="2400" dirty="0"/>
              <a:t> </a:t>
            </a:r>
            <a:r>
              <a:rPr lang="en-US" sz="2400" dirty="0" err="1"/>
              <a:t>interna</a:t>
            </a:r>
            <a:r>
              <a:rPr lang="en-US" sz="2400" dirty="0"/>
              <a:t> de la </a:t>
            </a:r>
            <a:r>
              <a:rPr lang="en-US" sz="2400" dirty="0" err="1"/>
              <a:t>cadena</a:t>
            </a:r>
            <a:r>
              <a:rPr lang="en-US" sz="2400" dirty="0"/>
              <a:t> de bits </a:t>
            </a:r>
            <a:r>
              <a:rPr lang="en-US" sz="2400" dirty="0" err="1"/>
              <a:t>dentro</a:t>
            </a:r>
            <a:r>
              <a:rPr lang="en-US" sz="2400" dirty="0"/>
              <a:t> de la </a:t>
            </a:r>
            <a:r>
              <a:rPr lang="en-US" sz="2400" dirty="0" err="1"/>
              <a:t>instrucción</a:t>
            </a:r>
            <a:endParaRPr lang="en-US" sz="2400" dirty="0"/>
          </a:p>
          <a:p>
            <a:pPr algn="just"/>
            <a:r>
              <a:rPr lang="en-US" sz="2400" dirty="0" err="1"/>
              <a:t>Organizada</a:t>
            </a:r>
            <a:r>
              <a:rPr lang="en-US" sz="2400" dirty="0"/>
              <a:t> en </a:t>
            </a:r>
            <a:r>
              <a:rPr lang="en-US" sz="2400" dirty="0" err="1"/>
              <a:t>bloques</a:t>
            </a:r>
            <a:r>
              <a:rPr lang="en-US" sz="2400" dirty="0"/>
              <a:t>, </a:t>
            </a:r>
            <a:r>
              <a:rPr lang="en-US" sz="2400" dirty="0" err="1"/>
              <a:t>cada</a:t>
            </a:r>
            <a:r>
              <a:rPr lang="en-US" sz="2400" dirty="0"/>
              <a:t> </a:t>
            </a:r>
            <a:r>
              <a:rPr lang="en-US" sz="2400" dirty="0" err="1"/>
              <a:t>uno</a:t>
            </a:r>
            <a:r>
              <a:rPr lang="en-US" sz="2400" dirty="0"/>
              <a:t> de los </a:t>
            </a:r>
            <a:r>
              <a:rPr lang="en-US" sz="2400" dirty="0" err="1"/>
              <a:t>cuales</a:t>
            </a:r>
            <a:r>
              <a:rPr lang="en-US" sz="2400" dirty="0"/>
              <a:t> se </a:t>
            </a:r>
            <a:r>
              <a:rPr lang="en-US" sz="2400" dirty="0" err="1"/>
              <a:t>organiza</a:t>
            </a:r>
            <a:r>
              <a:rPr lang="en-US" sz="2400" dirty="0"/>
              <a:t> en “</a:t>
            </a:r>
            <a:r>
              <a:rPr lang="en-US" sz="2400" dirty="0" err="1"/>
              <a:t>campos</a:t>
            </a:r>
            <a:r>
              <a:rPr lang="en-US" sz="2400" dirty="0"/>
              <a:t> de bits”</a:t>
            </a:r>
          </a:p>
          <a:p>
            <a:pPr algn="just"/>
            <a:r>
              <a:rPr lang="en-US" sz="2400" dirty="0"/>
              <a:t>Dos </a:t>
            </a:r>
            <a:r>
              <a:rPr lang="en-US" sz="2400" dirty="0" err="1"/>
              <a:t>Bloques</a:t>
            </a:r>
            <a:r>
              <a:rPr lang="en-US" sz="2400" dirty="0"/>
              <a:t>: </a:t>
            </a:r>
            <a:r>
              <a:rPr lang="en-US" sz="2400" dirty="0" err="1"/>
              <a:t>Identificación</a:t>
            </a:r>
            <a:r>
              <a:rPr lang="en-US" sz="2400" dirty="0"/>
              <a:t> y </a:t>
            </a:r>
            <a:r>
              <a:rPr lang="en-US" sz="2400" dirty="0" err="1"/>
              <a:t>Direccionamiento</a:t>
            </a:r>
            <a:endParaRPr lang="en-US" sz="2400" dirty="0"/>
          </a:p>
          <a:p>
            <a:pPr lvl="1" algn="just"/>
            <a:r>
              <a:rPr lang="en-US" sz="2000" dirty="0" err="1"/>
              <a:t>Bloque</a:t>
            </a:r>
            <a:r>
              <a:rPr lang="en-US" sz="2000" dirty="0"/>
              <a:t> de </a:t>
            </a:r>
            <a:r>
              <a:rPr lang="en-US" sz="2000" dirty="0" err="1"/>
              <a:t>identificación</a:t>
            </a:r>
            <a:r>
              <a:rPr lang="en-US" sz="2000" dirty="0"/>
              <a:t>: un solo campo de </a:t>
            </a:r>
            <a:r>
              <a:rPr lang="en-US" sz="2000" dirty="0" err="1"/>
              <a:t>Código</a:t>
            </a:r>
            <a:r>
              <a:rPr lang="en-US" sz="2000" dirty="0"/>
              <a:t> de </a:t>
            </a:r>
            <a:r>
              <a:rPr lang="en-US" sz="2000" dirty="0" err="1"/>
              <a:t>operación</a:t>
            </a:r>
            <a:endParaRPr lang="en-US" sz="2000" dirty="0"/>
          </a:p>
          <a:p>
            <a:pPr lvl="1" algn="just"/>
            <a:r>
              <a:rPr lang="en-US" sz="2000" dirty="0" err="1"/>
              <a:t>Bloque</a:t>
            </a:r>
            <a:r>
              <a:rPr lang="en-US" sz="2000" dirty="0"/>
              <a:t> de </a:t>
            </a:r>
            <a:r>
              <a:rPr lang="en-US" sz="2000" dirty="0" err="1"/>
              <a:t>direccionamiento</a:t>
            </a:r>
            <a:r>
              <a:rPr lang="en-US" sz="2000" dirty="0"/>
              <a:t>: 0 a </a:t>
            </a:r>
            <a:r>
              <a:rPr lang="en-US" sz="2000" dirty="0" err="1"/>
              <a:t>más</a:t>
            </a:r>
            <a:r>
              <a:rPr lang="en-US" sz="2000" dirty="0"/>
              <a:t> </a:t>
            </a:r>
            <a:r>
              <a:rPr lang="en-US" sz="2000" dirty="0" err="1"/>
              <a:t>campos</a:t>
            </a:r>
            <a:r>
              <a:rPr lang="en-US" sz="2000" dirty="0"/>
              <a:t> de </a:t>
            </a:r>
            <a:r>
              <a:rPr lang="en-US" sz="2000" dirty="0" err="1"/>
              <a:t>dirección</a:t>
            </a:r>
            <a:r>
              <a:rPr lang="en-US" sz="2000" dirty="0"/>
              <a:t> u operando.</a:t>
            </a:r>
          </a:p>
        </p:txBody>
      </p:sp>
    </p:spTree>
    <p:extLst>
      <p:ext uri="{BB962C8B-B14F-4D97-AF65-F5344CB8AC3E}">
        <p14:creationId xmlns:p14="http://schemas.microsoft.com/office/powerpoint/2010/main" val="883034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Formato</a:t>
            </a:r>
            <a:r>
              <a:rPr lang="en-US" dirty="0"/>
              <a:t> de </a:t>
            </a:r>
            <a:r>
              <a:rPr lang="en-US" dirty="0" err="1"/>
              <a:t>Instrucción</a:t>
            </a:r>
            <a:endParaRPr lang="es-NI" dirty="0"/>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5" name="4 Objeto"/>
          <p:cNvGraphicFramePr>
            <a:graphicFrameLocks noChangeAspect="1"/>
          </p:cNvGraphicFramePr>
          <p:nvPr>
            <p:extLst>
              <p:ext uri="{D42A27DB-BD31-4B8C-83A1-F6EECF244321}">
                <p14:modId xmlns:p14="http://schemas.microsoft.com/office/powerpoint/2010/main" val="851725883"/>
              </p:ext>
            </p:extLst>
          </p:nvPr>
        </p:nvGraphicFramePr>
        <p:xfrm>
          <a:off x="1117228" y="1335413"/>
          <a:ext cx="7416822" cy="2561087"/>
        </p:xfrm>
        <a:graphic>
          <a:graphicData uri="http://schemas.openxmlformats.org/presentationml/2006/ole">
            <mc:AlternateContent xmlns:mc="http://schemas.openxmlformats.org/markup-compatibility/2006">
              <mc:Choice xmlns:v="urn:schemas-microsoft-com:vml" Requires="v">
                <p:oleObj spid="_x0000_s1110" name="Visio" r:id="rId3" imgW="4024630" imgH="1868170" progId="Visio.Drawing.11">
                  <p:embed/>
                </p:oleObj>
              </mc:Choice>
              <mc:Fallback>
                <p:oleObj name="Visio" r:id="rId3" imgW="4024630" imgH="186817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228" y="1335413"/>
                        <a:ext cx="7416822" cy="2561087"/>
                      </a:xfrm>
                      <a:prstGeom prst="rect">
                        <a:avLst/>
                      </a:prstGeom>
                      <a:noFill/>
                    </p:spPr>
                  </p:pic>
                </p:oleObj>
              </mc:Fallback>
            </mc:AlternateContent>
          </a:graphicData>
        </a:graphic>
      </p:graphicFrame>
      <p:sp>
        <p:nvSpPr>
          <p:cNvPr id="6" name="5 CuadroTexto"/>
          <p:cNvSpPr txBox="1"/>
          <p:nvPr/>
        </p:nvSpPr>
        <p:spPr>
          <a:xfrm>
            <a:off x="32493" y="2645247"/>
            <a:ext cx="2232248" cy="1200329"/>
          </a:xfrm>
          <a:prstGeom prst="rect">
            <a:avLst/>
          </a:prstGeom>
          <a:noFill/>
        </p:spPr>
        <p:txBody>
          <a:bodyPr wrap="square" rtlCol="0">
            <a:spAutoFit/>
          </a:bodyPr>
          <a:lstStyle/>
          <a:p>
            <a:r>
              <a:rPr lang="en-US" b="1" dirty="0" err="1"/>
              <a:t>Código</a:t>
            </a:r>
            <a:r>
              <a:rPr lang="en-US" b="1" dirty="0"/>
              <a:t> de </a:t>
            </a:r>
            <a:r>
              <a:rPr lang="en-US" b="1" dirty="0" err="1"/>
              <a:t>Operación</a:t>
            </a:r>
            <a:r>
              <a:rPr lang="en-US" b="1" dirty="0"/>
              <a:t>: </a:t>
            </a:r>
            <a:r>
              <a:rPr lang="en-US" dirty="0" err="1"/>
              <a:t>Indica</a:t>
            </a:r>
            <a:r>
              <a:rPr lang="en-US" dirty="0"/>
              <a:t> </a:t>
            </a:r>
            <a:r>
              <a:rPr lang="en-US" dirty="0" err="1"/>
              <a:t>qué</a:t>
            </a:r>
            <a:r>
              <a:rPr lang="en-US" dirty="0"/>
              <a:t> </a:t>
            </a:r>
            <a:r>
              <a:rPr lang="en-US" dirty="0" err="1"/>
              <a:t>operación</a:t>
            </a:r>
            <a:r>
              <a:rPr lang="en-US" dirty="0"/>
              <a:t> se </a:t>
            </a:r>
            <a:r>
              <a:rPr lang="en-US" dirty="0" err="1"/>
              <a:t>debe</a:t>
            </a:r>
            <a:r>
              <a:rPr lang="en-US" dirty="0"/>
              <a:t> </a:t>
            </a:r>
            <a:r>
              <a:rPr lang="en-US" dirty="0" err="1"/>
              <a:t>realizar</a:t>
            </a:r>
            <a:endParaRPr lang="es-NI" dirty="0"/>
          </a:p>
        </p:txBody>
      </p:sp>
      <p:cxnSp>
        <p:nvCxnSpPr>
          <p:cNvPr id="8" name="7 Conector recto de flecha"/>
          <p:cNvCxnSpPr/>
          <p:nvPr/>
        </p:nvCxnSpPr>
        <p:spPr>
          <a:xfrm flipV="1">
            <a:off x="1331640" y="2505630"/>
            <a:ext cx="792088" cy="299804"/>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6300192" y="2876186"/>
            <a:ext cx="2758002" cy="1200329"/>
          </a:xfrm>
          <a:prstGeom prst="rect">
            <a:avLst/>
          </a:prstGeom>
          <a:noFill/>
        </p:spPr>
        <p:txBody>
          <a:bodyPr wrap="square" rtlCol="0">
            <a:spAutoFit/>
          </a:bodyPr>
          <a:lstStyle/>
          <a:p>
            <a:r>
              <a:rPr lang="en-US" b="1" dirty="0"/>
              <a:t>Campo de </a:t>
            </a:r>
            <a:r>
              <a:rPr lang="en-US" b="1" dirty="0" err="1"/>
              <a:t>Dirección</a:t>
            </a:r>
            <a:r>
              <a:rPr lang="en-US" b="1" dirty="0"/>
              <a:t> u Operando: </a:t>
            </a:r>
            <a:r>
              <a:rPr lang="en-US" dirty="0" err="1"/>
              <a:t>Indican</a:t>
            </a:r>
            <a:r>
              <a:rPr lang="en-US" dirty="0"/>
              <a:t> con </a:t>
            </a:r>
            <a:r>
              <a:rPr lang="en-US" dirty="0" err="1"/>
              <a:t>qué</a:t>
            </a:r>
            <a:r>
              <a:rPr lang="en-US" dirty="0"/>
              <a:t> operandos se </a:t>
            </a:r>
            <a:r>
              <a:rPr lang="en-US" dirty="0" err="1"/>
              <a:t>realizará</a:t>
            </a:r>
            <a:r>
              <a:rPr lang="en-US" dirty="0"/>
              <a:t> la </a:t>
            </a:r>
            <a:r>
              <a:rPr lang="en-US" dirty="0" err="1"/>
              <a:t>operación</a:t>
            </a:r>
            <a:r>
              <a:rPr lang="en-US" dirty="0"/>
              <a:t> </a:t>
            </a:r>
            <a:endParaRPr lang="es-NI" dirty="0"/>
          </a:p>
        </p:txBody>
      </p:sp>
      <p:cxnSp>
        <p:nvCxnSpPr>
          <p:cNvPr id="11" name="10 Conector recto de flecha"/>
          <p:cNvCxnSpPr>
            <a:stCxn id="9" idx="0"/>
          </p:cNvCxnSpPr>
          <p:nvPr/>
        </p:nvCxnSpPr>
        <p:spPr>
          <a:xfrm flipH="1" flipV="1">
            <a:off x="6732245" y="2355728"/>
            <a:ext cx="946948" cy="52045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184732" y="4173369"/>
            <a:ext cx="4464496" cy="923330"/>
          </a:xfrm>
          <a:prstGeom prst="rect">
            <a:avLst/>
          </a:prstGeom>
          <a:noFill/>
        </p:spPr>
        <p:txBody>
          <a:bodyPr wrap="square" rtlCol="0">
            <a:spAutoFit/>
          </a:bodyPr>
          <a:lstStyle/>
          <a:p>
            <a:r>
              <a:rPr lang="en-US" b="1" dirty="0" err="1"/>
              <a:t>Modo</a:t>
            </a:r>
            <a:r>
              <a:rPr lang="en-US" b="1" dirty="0"/>
              <a:t> de </a:t>
            </a:r>
            <a:r>
              <a:rPr lang="en-US" b="1" dirty="0" err="1"/>
              <a:t>Direccionamiento</a:t>
            </a:r>
            <a:r>
              <a:rPr lang="en-US" b="1" dirty="0"/>
              <a:t>: </a:t>
            </a:r>
            <a:r>
              <a:rPr lang="en-US" dirty="0" err="1"/>
              <a:t>Dónde</a:t>
            </a:r>
            <a:r>
              <a:rPr lang="en-US" dirty="0"/>
              <a:t> </a:t>
            </a:r>
            <a:r>
              <a:rPr lang="en-US" dirty="0" err="1"/>
              <a:t>está</a:t>
            </a:r>
            <a:r>
              <a:rPr lang="en-US" dirty="0"/>
              <a:t> y </a:t>
            </a:r>
            <a:r>
              <a:rPr lang="en-US" dirty="0" err="1"/>
              <a:t>cómo</a:t>
            </a:r>
            <a:r>
              <a:rPr lang="en-US" dirty="0"/>
              <a:t> </a:t>
            </a:r>
            <a:r>
              <a:rPr lang="en-US" dirty="0" err="1"/>
              <a:t>obtener</a:t>
            </a:r>
            <a:r>
              <a:rPr lang="en-US" dirty="0"/>
              <a:t> el operando: </a:t>
            </a:r>
            <a:r>
              <a:rPr lang="en-US" dirty="0" err="1"/>
              <a:t>Determina</a:t>
            </a:r>
            <a:r>
              <a:rPr lang="en-US" dirty="0"/>
              <a:t> la </a:t>
            </a:r>
            <a:r>
              <a:rPr lang="en-US" dirty="0" err="1"/>
              <a:t>dirección</a:t>
            </a:r>
            <a:r>
              <a:rPr lang="en-US" dirty="0"/>
              <a:t> </a:t>
            </a:r>
            <a:r>
              <a:rPr lang="en-US" dirty="0" err="1"/>
              <a:t>efectiva</a:t>
            </a:r>
            <a:r>
              <a:rPr lang="en-US" dirty="0"/>
              <a:t> (EA) del operando</a:t>
            </a:r>
            <a:endParaRPr lang="es-NI" dirty="0"/>
          </a:p>
        </p:txBody>
      </p:sp>
      <p:cxnSp>
        <p:nvCxnSpPr>
          <p:cNvPr id="19" name="18 Conector recto de flecha"/>
          <p:cNvCxnSpPr>
            <a:stCxn id="12" idx="0"/>
          </p:cNvCxnSpPr>
          <p:nvPr/>
        </p:nvCxnSpPr>
        <p:spPr>
          <a:xfrm flipV="1">
            <a:off x="2416980" y="3687315"/>
            <a:ext cx="792088" cy="486054"/>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4788024" y="4258334"/>
            <a:ext cx="4104456" cy="923330"/>
          </a:xfrm>
          <a:prstGeom prst="rect">
            <a:avLst/>
          </a:prstGeom>
          <a:noFill/>
        </p:spPr>
        <p:txBody>
          <a:bodyPr wrap="square" rtlCol="0">
            <a:spAutoFit/>
          </a:bodyPr>
          <a:lstStyle/>
          <a:p>
            <a:r>
              <a:rPr lang="en-US" b="1" dirty="0" err="1"/>
              <a:t>Valores</a:t>
            </a:r>
            <a:r>
              <a:rPr lang="en-US" b="1" dirty="0"/>
              <a:t>: </a:t>
            </a:r>
            <a:r>
              <a:rPr lang="en-US" dirty="0" err="1"/>
              <a:t>Necesarios</a:t>
            </a:r>
            <a:r>
              <a:rPr lang="en-US" dirty="0"/>
              <a:t> para </a:t>
            </a:r>
            <a:r>
              <a:rPr lang="en-US" dirty="0" err="1"/>
              <a:t>Calcular</a:t>
            </a:r>
            <a:r>
              <a:rPr lang="en-US" dirty="0"/>
              <a:t> la EA del </a:t>
            </a:r>
            <a:r>
              <a:rPr lang="en-US" dirty="0" err="1"/>
              <a:t>opernado</a:t>
            </a:r>
            <a:r>
              <a:rPr lang="en-US" dirty="0"/>
              <a:t>: R, @ o valor del operando: N.</a:t>
            </a:r>
            <a:endParaRPr lang="es-NI" dirty="0"/>
          </a:p>
        </p:txBody>
      </p:sp>
      <p:cxnSp>
        <p:nvCxnSpPr>
          <p:cNvPr id="26" name="25 Conector recto de flecha"/>
          <p:cNvCxnSpPr>
            <a:stCxn id="21" idx="0"/>
          </p:cNvCxnSpPr>
          <p:nvPr/>
        </p:nvCxnSpPr>
        <p:spPr>
          <a:xfrm flipH="1" flipV="1">
            <a:off x="5436096" y="3705876"/>
            <a:ext cx="1404156" cy="55245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64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par>
                          <p:cTn id="15" fill="hold">
                            <p:stCondLst>
                              <p:cond delay="500"/>
                            </p:stCondLst>
                            <p:childTnLst>
                              <p:par>
                                <p:cTn id="16" presetID="22" presetClass="entr" presetSubtype="4"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par>
                          <p:cTn id="24" fill="hold">
                            <p:stCondLst>
                              <p:cond delay="500"/>
                            </p:stCondLst>
                            <p:childTnLst>
                              <p:par>
                                <p:cTn id="25" presetID="22" presetClass="entr" presetSubtype="4"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down)">
                                      <p:cBhvr>
                                        <p:cTn id="41" dur="500"/>
                                        <p:tgtEl>
                                          <p:spTgt spid="21"/>
                                        </p:tgtEl>
                                      </p:cBhvr>
                                    </p:animEffect>
                                  </p:childTnLst>
                                </p:cTn>
                              </p:par>
                            </p:childTnLst>
                          </p:cTn>
                        </p:par>
                        <p:par>
                          <p:cTn id="42" fill="hold">
                            <p:stCondLst>
                              <p:cond delay="500"/>
                            </p:stCondLst>
                            <p:childTnLst>
                              <p:par>
                                <p:cTn id="43" presetID="22" presetClass="entr" presetSubtype="4" fill="hold"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down)">
                                      <p:cBhvr>
                                        <p:cTn id="4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Formato</a:t>
            </a:r>
            <a:r>
              <a:rPr lang="en-US" dirty="0"/>
              <a:t> de </a:t>
            </a:r>
            <a:r>
              <a:rPr lang="en-US" dirty="0" err="1"/>
              <a:t>Instrucción</a:t>
            </a:r>
            <a:endParaRPr lang="es-NI" dirty="0"/>
          </a:p>
        </p:txBody>
      </p:sp>
      <p:sp>
        <p:nvSpPr>
          <p:cNvPr id="3" name="2 Marcador de contenido"/>
          <p:cNvSpPr>
            <a:spLocks noGrp="1"/>
          </p:cNvSpPr>
          <p:nvPr>
            <p:ph idx="1"/>
          </p:nvPr>
        </p:nvSpPr>
        <p:spPr/>
        <p:txBody>
          <a:bodyPr>
            <a:normAutofit/>
          </a:bodyPr>
          <a:lstStyle/>
          <a:p>
            <a:r>
              <a:rPr lang="en-US" dirty="0" err="1"/>
              <a:t>Puede</a:t>
            </a:r>
            <a:r>
              <a:rPr lang="en-US" dirty="0"/>
              <a:t> </a:t>
            </a:r>
            <a:r>
              <a:rPr lang="en-US" dirty="0" err="1"/>
              <a:t>ser</a:t>
            </a:r>
            <a:r>
              <a:rPr lang="en-US" dirty="0"/>
              <a:t> </a:t>
            </a:r>
            <a:r>
              <a:rPr lang="en-US" dirty="0" err="1">
                <a:solidFill>
                  <a:srgbClr val="7030A0"/>
                </a:solidFill>
              </a:rPr>
              <a:t>Fijo</a:t>
            </a:r>
            <a:r>
              <a:rPr lang="en-US" dirty="0">
                <a:solidFill>
                  <a:srgbClr val="7030A0"/>
                </a:solidFill>
              </a:rPr>
              <a:t> </a:t>
            </a:r>
            <a:r>
              <a:rPr lang="en-US" dirty="0"/>
              <a:t>o </a:t>
            </a:r>
            <a:r>
              <a:rPr lang="en-US" dirty="0">
                <a:solidFill>
                  <a:schemeClr val="accent1">
                    <a:lumMod val="75000"/>
                  </a:schemeClr>
                </a:solidFill>
              </a:rPr>
              <a:t>Variable</a:t>
            </a:r>
          </a:p>
          <a:p>
            <a:pPr lvl="1"/>
            <a:r>
              <a:rPr lang="en-US" dirty="0" err="1">
                <a:solidFill>
                  <a:srgbClr val="7030A0"/>
                </a:solidFill>
              </a:rPr>
              <a:t>Fijo</a:t>
            </a:r>
            <a:r>
              <a:rPr lang="en-US" dirty="0"/>
              <a:t>: </a:t>
            </a:r>
            <a:r>
              <a:rPr lang="en-US" dirty="0" err="1"/>
              <a:t>Todas</a:t>
            </a:r>
            <a:r>
              <a:rPr lang="en-US" dirty="0"/>
              <a:t> </a:t>
            </a:r>
            <a:r>
              <a:rPr lang="en-US" dirty="0" err="1"/>
              <a:t>las</a:t>
            </a:r>
            <a:r>
              <a:rPr lang="en-US" dirty="0"/>
              <a:t> </a:t>
            </a:r>
            <a:r>
              <a:rPr lang="en-US" dirty="0" err="1"/>
              <a:t>instrucciones</a:t>
            </a:r>
            <a:r>
              <a:rPr lang="en-US" dirty="0"/>
              <a:t> del </a:t>
            </a:r>
            <a:r>
              <a:rPr lang="en-US" dirty="0" err="1"/>
              <a:t>mismo</a:t>
            </a:r>
            <a:r>
              <a:rPr lang="en-US" dirty="0"/>
              <a:t> </a:t>
            </a:r>
            <a:r>
              <a:rPr lang="en-US" dirty="0" err="1"/>
              <a:t>tamaño</a:t>
            </a:r>
            <a:r>
              <a:rPr lang="en-US" dirty="0"/>
              <a:t>. (</a:t>
            </a:r>
            <a:r>
              <a:rPr lang="en-US" dirty="0" err="1"/>
              <a:t>P.e</a:t>
            </a:r>
            <a:r>
              <a:rPr lang="en-US" dirty="0"/>
              <a:t>: 32 bits)</a:t>
            </a:r>
          </a:p>
          <a:p>
            <a:pPr lvl="1"/>
            <a:r>
              <a:rPr lang="en-US" dirty="0">
                <a:solidFill>
                  <a:schemeClr val="accent1">
                    <a:lumMod val="75000"/>
                  </a:schemeClr>
                </a:solidFill>
              </a:rPr>
              <a:t>Variable</a:t>
            </a:r>
            <a:r>
              <a:rPr lang="en-US" dirty="0"/>
              <a:t>: Las </a:t>
            </a:r>
            <a:r>
              <a:rPr lang="en-US" dirty="0" err="1"/>
              <a:t>instrucciones</a:t>
            </a:r>
            <a:r>
              <a:rPr lang="en-US" dirty="0"/>
              <a:t> </a:t>
            </a:r>
            <a:r>
              <a:rPr lang="en-US" dirty="0" err="1"/>
              <a:t>varían</a:t>
            </a:r>
            <a:r>
              <a:rPr lang="en-US" dirty="0"/>
              <a:t> en </a:t>
            </a:r>
            <a:r>
              <a:rPr lang="en-US" dirty="0" err="1"/>
              <a:t>tamaño</a:t>
            </a:r>
            <a:r>
              <a:rPr lang="en-US" dirty="0"/>
              <a:t>, en </a:t>
            </a:r>
            <a:r>
              <a:rPr lang="en-US" dirty="0" err="1"/>
              <a:t>dependencia</a:t>
            </a:r>
            <a:r>
              <a:rPr lang="en-US" dirty="0"/>
              <a:t> de la </a:t>
            </a:r>
            <a:r>
              <a:rPr lang="en-US" dirty="0" err="1"/>
              <a:t>operación</a:t>
            </a:r>
            <a:r>
              <a:rPr lang="en-US" dirty="0"/>
              <a:t> o la </a:t>
            </a:r>
            <a:r>
              <a:rPr lang="en-US" dirty="0" err="1"/>
              <a:t>cantidad</a:t>
            </a:r>
            <a:r>
              <a:rPr lang="en-US" dirty="0"/>
              <a:t> o </a:t>
            </a:r>
            <a:r>
              <a:rPr lang="en-US" dirty="0" err="1"/>
              <a:t>tipos</a:t>
            </a:r>
            <a:r>
              <a:rPr lang="en-US" dirty="0"/>
              <a:t> de operandos: No </a:t>
            </a:r>
            <a:r>
              <a:rPr lang="en-US" dirty="0" err="1"/>
              <a:t>es</a:t>
            </a:r>
            <a:r>
              <a:rPr lang="en-US" dirty="0"/>
              <a:t> lo </a:t>
            </a:r>
            <a:r>
              <a:rPr lang="en-US" dirty="0" err="1"/>
              <a:t>mismo</a:t>
            </a:r>
            <a:r>
              <a:rPr lang="en-US" dirty="0"/>
              <a:t> </a:t>
            </a:r>
            <a:r>
              <a:rPr lang="en-US" dirty="0" err="1"/>
              <a:t>especificar</a:t>
            </a:r>
            <a:r>
              <a:rPr lang="en-US" dirty="0"/>
              <a:t> </a:t>
            </a:r>
            <a:r>
              <a:rPr lang="en-US" dirty="0" err="1"/>
              <a:t>uno</a:t>
            </a:r>
            <a:r>
              <a:rPr lang="en-US" dirty="0"/>
              <a:t> de </a:t>
            </a:r>
            <a:r>
              <a:rPr lang="en-US" dirty="0" err="1"/>
              <a:t>ocho</a:t>
            </a:r>
            <a:r>
              <a:rPr lang="en-US" dirty="0"/>
              <a:t> </a:t>
            </a:r>
            <a:r>
              <a:rPr lang="en-US" dirty="0" err="1"/>
              <a:t>registros</a:t>
            </a:r>
            <a:r>
              <a:rPr lang="en-US" dirty="0"/>
              <a:t> (3 bits) </a:t>
            </a:r>
            <a:r>
              <a:rPr lang="en-US" dirty="0" err="1"/>
              <a:t>que</a:t>
            </a:r>
            <a:r>
              <a:rPr lang="en-US" dirty="0"/>
              <a:t> </a:t>
            </a:r>
            <a:r>
              <a:rPr lang="en-US" dirty="0" err="1"/>
              <a:t>una</a:t>
            </a:r>
            <a:r>
              <a:rPr lang="en-US" dirty="0"/>
              <a:t> </a:t>
            </a:r>
            <a:r>
              <a:rPr lang="en-US" dirty="0" err="1"/>
              <a:t>dirección</a:t>
            </a:r>
            <a:r>
              <a:rPr lang="en-US" dirty="0"/>
              <a:t> de 16 bits.</a:t>
            </a:r>
          </a:p>
          <a:p>
            <a:r>
              <a:rPr lang="en-US" sz="4000" dirty="0">
                <a:latin typeface="Edwardian Script ITC" pitchFamily="66" charset="0"/>
              </a:rPr>
              <a:t>L</a:t>
            </a:r>
            <a:r>
              <a:rPr lang="en-US" dirty="0">
                <a:latin typeface="Vladimir Script" pitchFamily="66" charset="0"/>
              </a:rPr>
              <a:t> </a:t>
            </a:r>
            <a:r>
              <a:rPr lang="en-US" dirty="0"/>
              <a:t>(F) = </a:t>
            </a:r>
            <a:r>
              <a:rPr lang="en-US" dirty="0" err="1"/>
              <a:t>tamaño</a:t>
            </a:r>
            <a:r>
              <a:rPr lang="en-US" dirty="0"/>
              <a:t> en bits del </a:t>
            </a:r>
            <a:r>
              <a:rPr lang="en-US" dirty="0" err="1"/>
              <a:t>formato</a:t>
            </a:r>
            <a:r>
              <a:rPr lang="en-US" dirty="0"/>
              <a:t> de </a:t>
            </a:r>
            <a:r>
              <a:rPr lang="en-US" dirty="0" err="1"/>
              <a:t>instrucción</a:t>
            </a:r>
            <a:r>
              <a:rPr lang="en-US" dirty="0"/>
              <a:t>.</a:t>
            </a:r>
            <a:endParaRPr lang="es-NI" dirty="0"/>
          </a:p>
        </p:txBody>
      </p:sp>
    </p:spTree>
    <p:extLst>
      <p:ext uri="{BB962C8B-B14F-4D97-AF65-F5344CB8AC3E}">
        <p14:creationId xmlns:p14="http://schemas.microsoft.com/office/powerpoint/2010/main" val="3166534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Codificación</a:t>
            </a:r>
            <a:r>
              <a:rPr lang="en-US" dirty="0"/>
              <a:t> de la </a:t>
            </a:r>
            <a:r>
              <a:rPr lang="en-US" dirty="0" err="1"/>
              <a:t>Operación</a:t>
            </a:r>
            <a:endParaRPr lang="es-NI" dirty="0"/>
          </a:p>
        </p:txBody>
      </p:sp>
      <p:sp>
        <p:nvSpPr>
          <p:cNvPr id="3" name="2 Marcador de contenido"/>
          <p:cNvSpPr>
            <a:spLocks noGrp="1"/>
          </p:cNvSpPr>
          <p:nvPr>
            <p:ph idx="1"/>
          </p:nvPr>
        </p:nvSpPr>
        <p:spPr>
          <a:xfrm>
            <a:off x="179512" y="1203598"/>
            <a:ext cx="8712968" cy="3867894"/>
          </a:xfrm>
        </p:spPr>
        <p:txBody>
          <a:bodyPr>
            <a:normAutofit lnSpcReduction="10000"/>
          </a:bodyPr>
          <a:lstStyle/>
          <a:p>
            <a:r>
              <a:rPr lang="en-US" dirty="0" err="1"/>
              <a:t>Código</a:t>
            </a:r>
            <a:r>
              <a:rPr lang="en-US" dirty="0"/>
              <a:t> de </a:t>
            </a:r>
            <a:r>
              <a:rPr lang="en-US" dirty="0" err="1"/>
              <a:t>Operación</a:t>
            </a:r>
            <a:r>
              <a:rPr lang="en-US" dirty="0"/>
              <a:t>: </a:t>
            </a:r>
            <a:r>
              <a:rPr lang="en-US" dirty="0" err="1"/>
              <a:t>identificar</a:t>
            </a:r>
            <a:r>
              <a:rPr lang="en-US" dirty="0"/>
              <a:t> la </a:t>
            </a:r>
            <a:r>
              <a:rPr lang="en-US" dirty="0" err="1"/>
              <a:t>operación</a:t>
            </a:r>
            <a:r>
              <a:rPr lang="en-US" dirty="0"/>
              <a:t> a </a:t>
            </a:r>
            <a:r>
              <a:rPr lang="en-US" dirty="0" err="1"/>
              <a:t>realizar</a:t>
            </a:r>
            <a:endParaRPr lang="en-US" dirty="0"/>
          </a:p>
          <a:p>
            <a:pPr lvl="1"/>
            <a:r>
              <a:rPr lang="en-US" sz="2200" dirty="0">
                <a:solidFill>
                  <a:srgbClr val="FF0000"/>
                </a:solidFill>
              </a:rPr>
              <a:t>¿</a:t>
            </a:r>
            <a:r>
              <a:rPr lang="en-US" sz="2200" dirty="0" err="1">
                <a:solidFill>
                  <a:srgbClr val="FF0000"/>
                </a:solidFill>
              </a:rPr>
              <a:t>Cómo</a:t>
            </a:r>
            <a:r>
              <a:rPr lang="en-US" sz="2200" dirty="0">
                <a:solidFill>
                  <a:srgbClr val="FF0000"/>
                </a:solidFill>
              </a:rPr>
              <a:t> lo </a:t>
            </a:r>
            <a:r>
              <a:rPr lang="en-US" sz="2200" dirty="0" err="1">
                <a:solidFill>
                  <a:srgbClr val="FF0000"/>
                </a:solidFill>
              </a:rPr>
              <a:t>definimos</a:t>
            </a:r>
            <a:r>
              <a:rPr lang="en-US" sz="2200" dirty="0">
                <a:solidFill>
                  <a:srgbClr val="FF0000"/>
                </a:solidFill>
              </a:rPr>
              <a:t>?</a:t>
            </a:r>
          </a:p>
          <a:p>
            <a:pPr lvl="2"/>
            <a:r>
              <a:rPr lang="en-US" sz="2000" dirty="0" err="1">
                <a:solidFill>
                  <a:schemeClr val="accent5">
                    <a:lumMod val="75000"/>
                  </a:schemeClr>
                </a:solidFill>
              </a:rPr>
              <a:t>Primera</a:t>
            </a:r>
            <a:r>
              <a:rPr lang="en-US" sz="2000" dirty="0">
                <a:solidFill>
                  <a:schemeClr val="accent5">
                    <a:lumMod val="75000"/>
                  </a:schemeClr>
                </a:solidFill>
              </a:rPr>
              <a:t> </a:t>
            </a:r>
            <a:r>
              <a:rPr lang="en-US" sz="2000" dirty="0" err="1">
                <a:solidFill>
                  <a:schemeClr val="accent5">
                    <a:lumMod val="75000"/>
                  </a:schemeClr>
                </a:solidFill>
              </a:rPr>
              <a:t>opción</a:t>
            </a:r>
            <a:r>
              <a:rPr lang="en-US" sz="2000" dirty="0">
                <a:solidFill>
                  <a:schemeClr val="accent5">
                    <a:lumMod val="75000"/>
                  </a:schemeClr>
                </a:solidFill>
              </a:rPr>
              <a:t>:  </a:t>
            </a:r>
            <a:r>
              <a:rPr lang="en-US" sz="2000" dirty="0" err="1">
                <a:solidFill>
                  <a:srgbClr val="0070C0"/>
                </a:solidFill>
              </a:rPr>
              <a:t>Darle</a:t>
            </a:r>
            <a:r>
              <a:rPr lang="en-US" sz="2000" dirty="0">
                <a:solidFill>
                  <a:srgbClr val="0070C0"/>
                </a:solidFill>
              </a:rPr>
              <a:t> un </a:t>
            </a:r>
            <a:r>
              <a:rPr lang="en-US" sz="2000" dirty="0" err="1">
                <a:solidFill>
                  <a:srgbClr val="0070C0"/>
                </a:solidFill>
              </a:rPr>
              <a:t>número</a:t>
            </a:r>
            <a:r>
              <a:rPr lang="en-US" sz="2000" dirty="0">
                <a:solidFill>
                  <a:srgbClr val="0070C0"/>
                </a:solidFill>
              </a:rPr>
              <a:t> </a:t>
            </a:r>
            <a:r>
              <a:rPr lang="en-US" sz="2000" dirty="0" err="1">
                <a:solidFill>
                  <a:srgbClr val="0070C0"/>
                </a:solidFill>
              </a:rPr>
              <a:t>consecutivo</a:t>
            </a:r>
            <a:r>
              <a:rPr lang="en-US" sz="2000" dirty="0">
                <a:solidFill>
                  <a:srgbClr val="0070C0"/>
                </a:solidFill>
              </a:rPr>
              <a:t> de </a:t>
            </a:r>
            <a:r>
              <a:rPr lang="en-US" sz="2000" dirty="0" err="1">
                <a:solidFill>
                  <a:srgbClr val="0070C0"/>
                </a:solidFill>
              </a:rPr>
              <a:t>identificación</a:t>
            </a:r>
            <a:r>
              <a:rPr lang="en-US" sz="2000" dirty="0">
                <a:solidFill>
                  <a:srgbClr val="0070C0"/>
                </a:solidFill>
              </a:rPr>
              <a:t> a </a:t>
            </a:r>
            <a:r>
              <a:rPr lang="en-US" sz="2000" dirty="0" err="1">
                <a:solidFill>
                  <a:srgbClr val="0070C0"/>
                </a:solidFill>
              </a:rPr>
              <a:t>cada</a:t>
            </a:r>
            <a:r>
              <a:rPr lang="en-US" sz="2000" dirty="0">
                <a:solidFill>
                  <a:srgbClr val="0070C0"/>
                </a:solidFill>
              </a:rPr>
              <a:t> </a:t>
            </a:r>
            <a:r>
              <a:rPr lang="en-US" sz="2000" dirty="0" err="1">
                <a:solidFill>
                  <a:srgbClr val="0070C0"/>
                </a:solidFill>
              </a:rPr>
              <a:t>instrucción</a:t>
            </a:r>
            <a:endParaRPr lang="en-US" sz="2000" dirty="0">
              <a:solidFill>
                <a:srgbClr val="0070C0"/>
              </a:solidFill>
            </a:endParaRPr>
          </a:p>
          <a:p>
            <a:pPr lvl="2"/>
            <a:r>
              <a:rPr lang="en-US" dirty="0" err="1">
                <a:solidFill>
                  <a:srgbClr val="7030A0"/>
                </a:solidFill>
              </a:rPr>
              <a:t>Por</a:t>
            </a:r>
            <a:r>
              <a:rPr lang="en-US" dirty="0">
                <a:solidFill>
                  <a:srgbClr val="7030A0"/>
                </a:solidFill>
              </a:rPr>
              <a:t> </a:t>
            </a:r>
            <a:r>
              <a:rPr lang="en-US" dirty="0" err="1">
                <a:solidFill>
                  <a:srgbClr val="7030A0"/>
                </a:solidFill>
              </a:rPr>
              <a:t>ejemplo</a:t>
            </a:r>
            <a:r>
              <a:rPr lang="en-US" dirty="0">
                <a:solidFill>
                  <a:srgbClr val="7030A0"/>
                </a:solidFill>
              </a:rPr>
              <a:t>: </a:t>
            </a:r>
            <a:r>
              <a:rPr lang="en-US" dirty="0" err="1">
                <a:solidFill>
                  <a:srgbClr val="7030A0"/>
                </a:solidFill>
              </a:rPr>
              <a:t>Supongamos</a:t>
            </a:r>
            <a:r>
              <a:rPr lang="en-US" dirty="0">
                <a:solidFill>
                  <a:srgbClr val="7030A0"/>
                </a:solidFill>
              </a:rPr>
              <a:t> </a:t>
            </a:r>
            <a:r>
              <a:rPr lang="en-US" dirty="0" err="1">
                <a:solidFill>
                  <a:srgbClr val="7030A0"/>
                </a:solidFill>
              </a:rPr>
              <a:t>que</a:t>
            </a:r>
            <a:r>
              <a:rPr lang="en-US" dirty="0">
                <a:solidFill>
                  <a:srgbClr val="7030A0"/>
                </a:solidFill>
              </a:rPr>
              <a:t> </a:t>
            </a:r>
            <a:r>
              <a:rPr lang="en-US" dirty="0" err="1">
                <a:solidFill>
                  <a:srgbClr val="7030A0"/>
                </a:solidFill>
              </a:rPr>
              <a:t>estamos</a:t>
            </a:r>
            <a:r>
              <a:rPr lang="en-US" dirty="0">
                <a:solidFill>
                  <a:srgbClr val="7030A0"/>
                </a:solidFill>
              </a:rPr>
              <a:t> </a:t>
            </a:r>
            <a:r>
              <a:rPr lang="en-US" dirty="0" err="1">
                <a:solidFill>
                  <a:srgbClr val="7030A0"/>
                </a:solidFill>
              </a:rPr>
              <a:t>diseñando</a:t>
            </a:r>
            <a:r>
              <a:rPr lang="en-US" dirty="0">
                <a:solidFill>
                  <a:srgbClr val="7030A0"/>
                </a:solidFill>
              </a:rPr>
              <a:t> </a:t>
            </a:r>
            <a:r>
              <a:rPr lang="en-US" dirty="0" err="1">
                <a:solidFill>
                  <a:srgbClr val="7030A0"/>
                </a:solidFill>
              </a:rPr>
              <a:t>una</a:t>
            </a:r>
            <a:r>
              <a:rPr lang="en-US" dirty="0">
                <a:solidFill>
                  <a:srgbClr val="7030A0"/>
                </a:solidFill>
              </a:rPr>
              <a:t> </a:t>
            </a:r>
            <a:r>
              <a:rPr lang="en-US" dirty="0" err="1">
                <a:solidFill>
                  <a:srgbClr val="7030A0"/>
                </a:solidFill>
              </a:rPr>
              <a:t>arquitectura</a:t>
            </a:r>
            <a:r>
              <a:rPr lang="en-US" dirty="0">
                <a:solidFill>
                  <a:srgbClr val="7030A0"/>
                </a:solidFill>
              </a:rPr>
              <a:t> </a:t>
            </a:r>
            <a:r>
              <a:rPr lang="en-US" dirty="0" err="1">
                <a:solidFill>
                  <a:srgbClr val="7030A0"/>
                </a:solidFill>
              </a:rPr>
              <a:t>mínima</a:t>
            </a:r>
            <a:r>
              <a:rPr lang="en-US" dirty="0">
                <a:solidFill>
                  <a:srgbClr val="7030A0"/>
                </a:solidFill>
              </a:rPr>
              <a:t> de R2 y </a:t>
            </a:r>
            <a:r>
              <a:rPr lang="en-US" dirty="0" err="1">
                <a:solidFill>
                  <a:srgbClr val="7030A0"/>
                </a:solidFill>
              </a:rPr>
              <a:t>tenemos</a:t>
            </a:r>
            <a:r>
              <a:rPr lang="en-US" dirty="0">
                <a:solidFill>
                  <a:srgbClr val="7030A0"/>
                </a:solidFill>
              </a:rPr>
              <a:t> 8 </a:t>
            </a:r>
            <a:r>
              <a:rPr lang="en-US" dirty="0" err="1">
                <a:solidFill>
                  <a:srgbClr val="7030A0"/>
                </a:solidFill>
              </a:rPr>
              <a:t>instrucciones</a:t>
            </a:r>
            <a:r>
              <a:rPr lang="en-US" dirty="0">
                <a:solidFill>
                  <a:srgbClr val="7030A0"/>
                </a:solidFill>
              </a:rPr>
              <a:t>: MOV, AND, ADD, SUB, DIV, MUL, JGZ y JEZ. </a:t>
            </a:r>
          </a:p>
          <a:p>
            <a:pPr lvl="2"/>
            <a:r>
              <a:rPr lang="en-US" dirty="0" err="1">
                <a:solidFill>
                  <a:srgbClr val="7030A0"/>
                </a:solidFill>
              </a:rPr>
              <a:t>Entonces</a:t>
            </a:r>
            <a:r>
              <a:rPr lang="en-US" dirty="0">
                <a:solidFill>
                  <a:srgbClr val="7030A0"/>
                </a:solidFill>
              </a:rPr>
              <a:t>, </a:t>
            </a:r>
            <a:r>
              <a:rPr lang="en-US" dirty="0" err="1">
                <a:solidFill>
                  <a:srgbClr val="7030A0"/>
                </a:solidFill>
              </a:rPr>
              <a:t>podemos</a:t>
            </a:r>
            <a:r>
              <a:rPr lang="en-US" dirty="0">
                <a:solidFill>
                  <a:srgbClr val="7030A0"/>
                </a:solidFill>
              </a:rPr>
              <a:t> </a:t>
            </a:r>
            <a:r>
              <a:rPr lang="en-US" dirty="0" err="1">
                <a:solidFill>
                  <a:srgbClr val="7030A0"/>
                </a:solidFill>
              </a:rPr>
              <a:t>asignarle</a:t>
            </a:r>
            <a:r>
              <a:rPr lang="en-US" dirty="0">
                <a:solidFill>
                  <a:srgbClr val="7030A0"/>
                </a:solidFill>
              </a:rPr>
              <a:t> un </a:t>
            </a:r>
            <a:r>
              <a:rPr lang="en-US" dirty="0" err="1">
                <a:solidFill>
                  <a:srgbClr val="7030A0"/>
                </a:solidFill>
              </a:rPr>
              <a:t>número</a:t>
            </a:r>
            <a:r>
              <a:rPr lang="en-US" dirty="0">
                <a:solidFill>
                  <a:srgbClr val="7030A0"/>
                </a:solidFill>
              </a:rPr>
              <a:t> a </a:t>
            </a:r>
            <a:r>
              <a:rPr lang="en-US" dirty="0" err="1">
                <a:solidFill>
                  <a:srgbClr val="7030A0"/>
                </a:solidFill>
              </a:rPr>
              <a:t>cada</a:t>
            </a:r>
            <a:r>
              <a:rPr lang="en-US" dirty="0">
                <a:solidFill>
                  <a:srgbClr val="7030A0"/>
                </a:solidFill>
              </a:rPr>
              <a:t> </a:t>
            </a:r>
            <a:r>
              <a:rPr lang="en-US" dirty="0" err="1">
                <a:solidFill>
                  <a:srgbClr val="7030A0"/>
                </a:solidFill>
              </a:rPr>
              <a:t>instrucción</a:t>
            </a:r>
            <a:r>
              <a:rPr lang="en-US" dirty="0">
                <a:solidFill>
                  <a:srgbClr val="7030A0"/>
                </a:solidFill>
              </a:rPr>
              <a:t>: MOV= 0, AND= 1, ADD = 2, SUB = 3, DIV = 4, MUL =5, JGZ = 6 y JEZ = 7. </a:t>
            </a:r>
          </a:p>
          <a:p>
            <a:pPr lvl="2"/>
            <a:r>
              <a:rPr lang="en-US" dirty="0">
                <a:solidFill>
                  <a:srgbClr val="7030A0"/>
                </a:solidFill>
              </a:rPr>
              <a:t>El </a:t>
            </a:r>
            <a:r>
              <a:rPr lang="en-US" dirty="0" err="1">
                <a:solidFill>
                  <a:srgbClr val="7030A0"/>
                </a:solidFill>
              </a:rPr>
              <a:t>código</a:t>
            </a:r>
            <a:r>
              <a:rPr lang="en-US" dirty="0">
                <a:solidFill>
                  <a:srgbClr val="7030A0"/>
                </a:solidFill>
              </a:rPr>
              <a:t> de </a:t>
            </a:r>
            <a:r>
              <a:rPr lang="en-US" dirty="0" err="1">
                <a:solidFill>
                  <a:srgbClr val="7030A0"/>
                </a:solidFill>
              </a:rPr>
              <a:t>operación</a:t>
            </a:r>
            <a:r>
              <a:rPr lang="en-US" dirty="0">
                <a:solidFill>
                  <a:srgbClr val="7030A0"/>
                </a:solidFill>
              </a:rPr>
              <a:t> (CO) </a:t>
            </a:r>
            <a:r>
              <a:rPr lang="en-US" dirty="0" err="1">
                <a:solidFill>
                  <a:srgbClr val="7030A0"/>
                </a:solidFill>
              </a:rPr>
              <a:t>es</a:t>
            </a:r>
            <a:r>
              <a:rPr lang="en-US" dirty="0">
                <a:solidFill>
                  <a:srgbClr val="7030A0"/>
                </a:solidFill>
              </a:rPr>
              <a:t> </a:t>
            </a:r>
            <a:r>
              <a:rPr lang="en-US" dirty="0" err="1">
                <a:solidFill>
                  <a:srgbClr val="7030A0"/>
                </a:solidFill>
              </a:rPr>
              <a:t>entonces</a:t>
            </a:r>
            <a:r>
              <a:rPr lang="en-US" dirty="0">
                <a:solidFill>
                  <a:srgbClr val="7030A0"/>
                </a:solidFill>
              </a:rPr>
              <a:t>, el </a:t>
            </a:r>
            <a:r>
              <a:rPr lang="en-US" dirty="0" err="1">
                <a:solidFill>
                  <a:srgbClr val="7030A0"/>
                </a:solidFill>
              </a:rPr>
              <a:t>número</a:t>
            </a:r>
            <a:r>
              <a:rPr lang="en-US" dirty="0">
                <a:solidFill>
                  <a:srgbClr val="7030A0"/>
                </a:solidFill>
              </a:rPr>
              <a:t> </a:t>
            </a:r>
            <a:r>
              <a:rPr lang="en-US" dirty="0" err="1">
                <a:solidFill>
                  <a:srgbClr val="7030A0"/>
                </a:solidFill>
              </a:rPr>
              <a:t>asignado</a:t>
            </a:r>
            <a:r>
              <a:rPr lang="en-US" dirty="0">
                <a:solidFill>
                  <a:srgbClr val="7030A0"/>
                </a:solidFill>
              </a:rPr>
              <a:t> en </a:t>
            </a:r>
            <a:r>
              <a:rPr lang="en-US" dirty="0" err="1">
                <a:solidFill>
                  <a:srgbClr val="7030A0"/>
                </a:solidFill>
              </a:rPr>
              <a:t>binario</a:t>
            </a:r>
            <a:r>
              <a:rPr lang="en-US" dirty="0">
                <a:solidFill>
                  <a:srgbClr val="7030A0"/>
                </a:solidFill>
              </a:rPr>
              <a:t>.</a:t>
            </a:r>
          </a:p>
          <a:p>
            <a:pPr lvl="2"/>
            <a:r>
              <a:rPr lang="en-US" dirty="0">
                <a:solidFill>
                  <a:srgbClr val="7030A0"/>
                </a:solidFill>
              </a:rPr>
              <a:t>Como son 8 </a:t>
            </a:r>
            <a:r>
              <a:rPr lang="en-US" dirty="0" err="1">
                <a:solidFill>
                  <a:srgbClr val="7030A0"/>
                </a:solidFill>
              </a:rPr>
              <a:t>instrucciones</a:t>
            </a:r>
            <a:r>
              <a:rPr lang="en-US" dirty="0">
                <a:solidFill>
                  <a:srgbClr val="7030A0"/>
                </a:solidFill>
              </a:rPr>
              <a:t>, </a:t>
            </a:r>
            <a:r>
              <a:rPr lang="en-US" dirty="0" err="1">
                <a:solidFill>
                  <a:srgbClr val="7030A0"/>
                </a:solidFill>
              </a:rPr>
              <a:t>requerimos</a:t>
            </a:r>
            <a:r>
              <a:rPr lang="en-US" dirty="0">
                <a:solidFill>
                  <a:srgbClr val="7030A0"/>
                </a:solidFill>
              </a:rPr>
              <a:t> solo 3 bits </a:t>
            </a:r>
            <a:r>
              <a:rPr lang="en-US" dirty="0" err="1">
                <a:solidFill>
                  <a:srgbClr val="7030A0"/>
                </a:solidFill>
              </a:rPr>
              <a:t>para</a:t>
            </a:r>
            <a:r>
              <a:rPr lang="en-US" dirty="0">
                <a:solidFill>
                  <a:srgbClr val="7030A0"/>
                </a:solidFill>
              </a:rPr>
              <a:t> el CO. </a:t>
            </a:r>
            <a:r>
              <a:rPr lang="en-US" dirty="0" err="1">
                <a:solidFill>
                  <a:srgbClr val="7030A0"/>
                </a:solidFill>
              </a:rPr>
              <a:t>Así</a:t>
            </a:r>
            <a:r>
              <a:rPr lang="en-US" dirty="0">
                <a:solidFill>
                  <a:srgbClr val="7030A0"/>
                </a:solidFill>
              </a:rPr>
              <a:t>: MOV= 000, AND= 001, ADD = 010, SUB = 011, DIV = 100, MUL = 101, JGZ = 110 y JEZ = 111.</a:t>
            </a:r>
          </a:p>
        </p:txBody>
      </p:sp>
    </p:spTree>
    <p:extLst>
      <p:ext uri="{BB962C8B-B14F-4D97-AF65-F5344CB8AC3E}">
        <p14:creationId xmlns:p14="http://schemas.microsoft.com/office/powerpoint/2010/main" val="318416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Fijo</a:t>
            </a:r>
            <a:endParaRPr lang="es-NI" dirty="0"/>
          </a:p>
        </p:txBody>
      </p:sp>
      <p:sp>
        <p:nvSpPr>
          <p:cNvPr id="3" name="2 Marcador de contenido"/>
          <p:cNvSpPr>
            <a:spLocks noGrp="1"/>
          </p:cNvSpPr>
          <p:nvPr>
            <p:ph idx="1"/>
          </p:nvPr>
        </p:nvSpPr>
        <p:spPr>
          <a:xfrm>
            <a:off x="179512" y="1275606"/>
            <a:ext cx="8712968" cy="3672408"/>
          </a:xfrm>
        </p:spPr>
        <p:txBody>
          <a:bodyPr>
            <a:normAutofit lnSpcReduction="10000"/>
          </a:bodyPr>
          <a:lstStyle/>
          <a:p>
            <a:r>
              <a:rPr lang="en-US" dirty="0" err="1"/>
              <a:t>Esta</a:t>
            </a:r>
            <a:r>
              <a:rPr lang="en-US" dirty="0"/>
              <a:t> </a:t>
            </a:r>
            <a:r>
              <a:rPr lang="en-US" dirty="0" err="1"/>
              <a:t>técnica</a:t>
            </a:r>
            <a:r>
              <a:rPr lang="en-US" dirty="0"/>
              <a:t> se </a:t>
            </a:r>
            <a:r>
              <a:rPr lang="en-US" dirty="0" err="1"/>
              <a:t>denomina</a:t>
            </a:r>
            <a:r>
              <a:rPr lang="en-US" dirty="0"/>
              <a:t> </a:t>
            </a:r>
            <a:r>
              <a:rPr lang="en-US" dirty="0" err="1"/>
              <a:t>Código</a:t>
            </a:r>
            <a:r>
              <a:rPr lang="en-US" dirty="0"/>
              <a:t> de </a:t>
            </a:r>
            <a:r>
              <a:rPr lang="en-US" dirty="0" err="1"/>
              <a:t>bloque</a:t>
            </a:r>
            <a:r>
              <a:rPr lang="en-US" dirty="0"/>
              <a:t> </a:t>
            </a:r>
            <a:r>
              <a:rPr lang="en-US" dirty="0" err="1"/>
              <a:t>fijo</a:t>
            </a:r>
            <a:endParaRPr lang="en-US" dirty="0"/>
          </a:p>
          <a:p>
            <a:pPr lvl="1"/>
            <a:r>
              <a:rPr lang="en-US" dirty="0" err="1"/>
              <a:t>Usamos</a:t>
            </a:r>
            <a:r>
              <a:rPr lang="en-US" dirty="0"/>
              <a:t> </a:t>
            </a:r>
            <a:r>
              <a:rPr lang="en-US" dirty="0" err="1"/>
              <a:t>una</a:t>
            </a:r>
            <a:r>
              <a:rPr lang="en-US" dirty="0"/>
              <a:t> </a:t>
            </a:r>
            <a:r>
              <a:rPr lang="en-US" dirty="0" err="1"/>
              <a:t>cantidad</a:t>
            </a:r>
            <a:r>
              <a:rPr lang="en-US" dirty="0"/>
              <a:t> </a:t>
            </a:r>
            <a:r>
              <a:rPr lang="en-US" dirty="0" err="1"/>
              <a:t>fija</a:t>
            </a:r>
            <a:r>
              <a:rPr lang="en-US" dirty="0"/>
              <a:t> de bits </a:t>
            </a:r>
            <a:r>
              <a:rPr lang="en-US" dirty="0" err="1"/>
              <a:t>para</a:t>
            </a:r>
            <a:r>
              <a:rPr lang="en-US" dirty="0"/>
              <a:t> </a:t>
            </a:r>
            <a:r>
              <a:rPr lang="en-US" dirty="0" err="1"/>
              <a:t>codificar</a:t>
            </a:r>
            <a:r>
              <a:rPr lang="en-US" dirty="0"/>
              <a:t> la </a:t>
            </a:r>
            <a:r>
              <a:rPr lang="en-US" dirty="0" err="1"/>
              <a:t>operación</a:t>
            </a:r>
            <a:endParaRPr lang="en-US" dirty="0"/>
          </a:p>
          <a:p>
            <a:pPr lvl="1"/>
            <a:r>
              <a:rPr lang="en-US" dirty="0" err="1">
                <a:solidFill>
                  <a:schemeClr val="accent1">
                    <a:lumMod val="75000"/>
                  </a:schemeClr>
                </a:solidFill>
              </a:rPr>
              <a:t>Cada</a:t>
            </a:r>
            <a:r>
              <a:rPr lang="en-US" dirty="0">
                <a:solidFill>
                  <a:schemeClr val="accent1">
                    <a:lumMod val="75000"/>
                  </a:schemeClr>
                </a:solidFill>
              </a:rPr>
              <a:t> </a:t>
            </a:r>
            <a:r>
              <a:rPr lang="en-US" dirty="0" err="1">
                <a:solidFill>
                  <a:schemeClr val="accent1">
                    <a:lumMod val="75000"/>
                  </a:schemeClr>
                </a:solidFill>
              </a:rPr>
              <a:t>instrucción</a:t>
            </a:r>
            <a:r>
              <a:rPr lang="en-US" dirty="0">
                <a:solidFill>
                  <a:schemeClr val="accent1">
                    <a:lumMod val="75000"/>
                  </a:schemeClr>
                </a:solidFill>
              </a:rPr>
              <a:t> </a:t>
            </a:r>
            <a:r>
              <a:rPr lang="en-US" dirty="0" err="1">
                <a:solidFill>
                  <a:schemeClr val="accent1">
                    <a:lumMod val="75000"/>
                  </a:schemeClr>
                </a:solidFill>
              </a:rPr>
              <a:t>tiene</a:t>
            </a:r>
            <a:r>
              <a:rPr lang="en-US" dirty="0">
                <a:solidFill>
                  <a:schemeClr val="accent1">
                    <a:lumMod val="75000"/>
                  </a:schemeClr>
                </a:solidFill>
              </a:rPr>
              <a:t> un </a:t>
            </a:r>
            <a:r>
              <a:rPr lang="en-US" dirty="0" err="1">
                <a:solidFill>
                  <a:schemeClr val="accent1">
                    <a:lumMod val="75000"/>
                  </a:schemeClr>
                </a:solidFill>
              </a:rPr>
              <a:t>número</a:t>
            </a:r>
            <a:r>
              <a:rPr lang="en-US" dirty="0">
                <a:solidFill>
                  <a:schemeClr val="accent1">
                    <a:lumMod val="75000"/>
                  </a:schemeClr>
                </a:solidFill>
              </a:rPr>
              <a:t> </a:t>
            </a:r>
            <a:r>
              <a:rPr lang="en-US" dirty="0" err="1">
                <a:solidFill>
                  <a:schemeClr val="accent1">
                    <a:lumMod val="75000"/>
                  </a:schemeClr>
                </a:solidFill>
              </a:rPr>
              <a:t>consecutivo</a:t>
            </a:r>
            <a:r>
              <a:rPr lang="en-US" dirty="0">
                <a:solidFill>
                  <a:schemeClr val="accent1">
                    <a:lumMod val="75000"/>
                  </a:schemeClr>
                </a:solidFill>
              </a:rPr>
              <a:t> de </a:t>
            </a:r>
            <a:r>
              <a:rPr lang="en-US" dirty="0" err="1">
                <a:solidFill>
                  <a:schemeClr val="accent1">
                    <a:lumMod val="75000"/>
                  </a:schemeClr>
                </a:solidFill>
              </a:rPr>
              <a:t>identificación</a:t>
            </a:r>
            <a:r>
              <a:rPr lang="en-US" dirty="0">
                <a:solidFill>
                  <a:schemeClr val="accent1">
                    <a:lumMod val="75000"/>
                  </a:schemeClr>
                </a:solidFill>
              </a:rPr>
              <a:t> </a:t>
            </a:r>
          </a:p>
          <a:p>
            <a:r>
              <a:rPr lang="en-US" dirty="0"/>
              <a:t>Simple y </a:t>
            </a:r>
            <a:r>
              <a:rPr lang="en-US" dirty="0" err="1"/>
              <a:t>fácil</a:t>
            </a:r>
            <a:r>
              <a:rPr lang="en-US" dirty="0"/>
              <a:t> de </a:t>
            </a:r>
            <a:r>
              <a:rPr lang="en-US" dirty="0" err="1"/>
              <a:t>enteder</a:t>
            </a:r>
            <a:endParaRPr lang="en-US" dirty="0"/>
          </a:p>
          <a:p>
            <a:r>
              <a:rPr lang="en-US" dirty="0" err="1"/>
              <a:t>Fácil</a:t>
            </a:r>
            <a:r>
              <a:rPr lang="en-US" dirty="0"/>
              <a:t> de </a:t>
            </a:r>
            <a:r>
              <a:rPr lang="en-US" dirty="0" err="1"/>
              <a:t>implementar</a:t>
            </a:r>
            <a:r>
              <a:rPr lang="en-US" dirty="0"/>
              <a:t> (</a:t>
            </a:r>
            <a:r>
              <a:rPr lang="en-US" dirty="0" err="1"/>
              <a:t>decodificador</a:t>
            </a:r>
            <a:r>
              <a:rPr lang="en-US" dirty="0"/>
              <a:t> </a:t>
            </a:r>
            <a:r>
              <a:rPr lang="en-US" dirty="0" err="1"/>
              <a:t>determina</a:t>
            </a:r>
            <a:r>
              <a:rPr lang="en-US" dirty="0"/>
              <a:t> la </a:t>
            </a:r>
            <a:r>
              <a:rPr lang="en-US" dirty="0" err="1"/>
              <a:t>instrucción</a:t>
            </a:r>
            <a:r>
              <a:rPr lang="en-US" dirty="0"/>
              <a:t>)</a:t>
            </a:r>
          </a:p>
          <a:p>
            <a:r>
              <a:rPr lang="en-US" dirty="0"/>
              <a:t>La </a:t>
            </a:r>
            <a:r>
              <a:rPr lang="en-US" dirty="0" err="1"/>
              <a:t>cantidad</a:t>
            </a:r>
            <a:r>
              <a:rPr lang="en-US" dirty="0"/>
              <a:t> de bits </a:t>
            </a:r>
            <a:r>
              <a:rPr lang="en-US" dirty="0" err="1"/>
              <a:t>depende</a:t>
            </a:r>
            <a:r>
              <a:rPr lang="en-US" dirty="0"/>
              <a:t> del </a:t>
            </a:r>
            <a:r>
              <a:rPr lang="en-US" dirty="0" err="1"/>
              <a:t>número</a:t>
            </a:r>
            <a:r>
              <a:rPr lang="en-US" dirty="0"/>
              <a:t> de </a:t>
            </a:r>
            <a:r>
              <a:rPr lang="en-US" dirty="0" err="1"/>
              <a:t>istrucciones</a:t>
            </a:r>
            <a:r>
              <a:rPr lang="en-US" dirty="0"/>
              <a:t> de </a:t>
            </a:r>
            <a:r>
              <a:rPr lang="en-US" dirty="0" err="1"/>
              <a:t>conjunto</a:t>
            </a:r>
            <a:r>
              <a:rPr lang="en-US" dirty="0"/>
              <a:t>:  Dado </a:t>
            </a:r>
            <a:r>
              <a:rPr lang="en-US" i="1" dirty="0" err="1">
                <a:latin typeface="Times New Roman" pitchFamily="18" charset="0"/>
                <a:cs typeface="Times New Roman" pitchFamily="18" charset="0"/>
              </a:rPr>
              <a:t>i</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n</a:t>
            </a:r>
            <a:r>
              <a:rPr lang="en-US" dirty="0">
                <a:latin typeface="Times New Roman" pitchFamily="18" charset="0"/>
                <a:cs typeface="Times New Roman" pitchFamily="18" charset="0"/>
              </a:rPr>
              <a:t>(I) </a:t>
            </a:r>
            <a:r>
              <a:rPr lang="en-US" dirty="0" err="1"/>
              <a:t>entonces</a:t>
            </a:r>
            <a:r>
              <a:rPr lang="en-US" dirty="0"/>
              <a:t>: </a:t>
            </a:r>
          </a:p>
          <a:p>
            <a:endParaRPr lang="en-US" sz="1200" dirty="0"/>
          </a:p>
          <a:p>
            <a:pPr marL="800100" lvl="2" indent="0">
              <a:buNone/>
            </a:pPr>
            <a:r>
              <a:rPr lang="en-US" sz="3600" dirty="0">
                <a:latin typeface="Edwardian Script ITC" pitchFamily="66" charset="0"/>
              </a:rPr>
              <a:t>L </a:t>
            </a:r>
            <a:r>
              <a:rPr lang="en-US" sz="3600" baseline="-25000" dirty="0"/>
              <a:t>(co) </a:t>
            </a:r>
            <a:r>
              <a:rPr lang="en-US" sz="3600" dirty="0"/>
              <a:t>= </a:t>
            </a:r>
            <a:r>
              <a:rPr lang="en-US" sz="3600" dirty="0">
                <a:sym typeface="Symbol"/>
              </a:rPr>
              <a:t></a:t>
            </a:r>
            <a:r>
              <a:rPr lang="en-US" sz="3600" dirty="0"/>
              <a:t>log</a:t>
            </a:r>
            <a:r>
              <a:rPr lang="en-US" sz="3600" baseline="-25000" dirty="0"/>
              <a:t>2</a:t>
            </a:r>
            <a:r>
              <a:rPr lang="en-US" sz="3600" dirty="0"/>
              <a:t>(</a:t>
            </a:r>
            <a:r>
              <a:rPr lang="en-US" sz="3600" i="1" dirty="0" err="1">
                <a:latin typeface="Times New Roman" pitchFamily="18" charset="0"/>
                <a:cs typeface="Times New Roman" pitchFamily="18" charset="0"/>
              </a:rPr>
              <a:t>i</a:t>
            </a:r>
            <a:r>
              <a:rPr lang="en-US" sz="3600" dirty="0"/>
              <a:t>)</a:t>
            </a:r>
            <a:r>
              <a:rPr lang="en-US" sz="3600" dirty="0">
                <a:sym typeface="Symbol"/>
              </a:rPr>
              <a:t></a:t>
            </a:r>
            <a:endParaRPr lang="es-NI" sz="3600" dirty="0"/>
          </a:p>
        </p:txBody>
      </p:sp>
    </p:spTree>
    <p:extLst>
      <p:ext uri="{BB962C8B-B14F-4D97-AF65-F5344CB8AC3E}">
        <p14:creationId xmlns:p14="http://schemas.microsoft.com/office/powerpoint/2010/main" val="162913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Fijo</a:t>
            </a:r>
            <a:endParaRPr lang="es-NI" dirty="0"/>
          </a:p>
        </p:txBody>
      </p:sp>
      <p:sp>
        <p:nvSpPr>
          <p:cNvPr id="3" name="2 Marcador de contenido"/>
          <p:cNvSpPr>
            <a:spLocks noGrp="1"/>
          </p:cNvSpPr>
          <p:nvPr>
            <p:ph idx="1"/>
          </p:nvPr>
        </p:nvSpPr>
        <p:spPr>
          <a:xfrm>
            <a:off x="206939" y="1203598"/>
            <a:ext cx="8712968" cy="464011"/>
          </a:xfrm>
        </p:spPr>
        <p:txBody>
          <a:bodyPr>
            <a:normAutofit/>
          </a:bodyPr>
          <a:lstStyle/>
          <a:p>
            <a:r>
              <a:rPr lang="en-US" dirty="0" err="1"/>
              <a:t>Ejemplo</a:t>
            </a:r>
            <a:r>
              <a:rPr lang="en-US" dirty="0"/>
              <a:t> de </a:t>
            </a:r>
            <a:r>
              <a:rPr lang="en-US" dirty="0" err="1"/>
              <a:t>Implementación</a:t>
            </a:r>
            <a:r>
              <a:rPr lang="en-US" dirty="0"/>
              <a:t>:</a:t>
            </a:r>
            <a:endParaRPr lang="es-NI" sz="3600" dirty="0"/>
          </a:p>
        </p:txBody>
      </p:sp>
      <p:grpSp>
        <p:nvGrpSpPr>
          <p:cNvPr id="45" name="44 Grupo"/>
          <p:cNvGrpSpPr/>
          <p:nvPr/>
        </p:nvGrpSpPr>
        <p:grpSpPr>
          <a:xfrm>
            <a:off x="1547664" y="3003798"/>
            <a:ext cx="1296144" cy="576064"/>
            <a:chOff x="1547664" y="3003798"/>
            <a:chExt cx="1296144" cy="576064"/>
          </a:xfrm>
        </p:grpSpPr>
        <p:cxnSp>
          <p:nvCxnSpPr>
            <p:cNvPr id="10" name="9 Conector recto de flecha"/>
            <p:cNvCxnSpPr/>
            <p:nvPr/>
          </p:nvCxnSpPr>
          <p:spPr>
            <a:xfrm>
              <a:off x="1547664" y="3003798"/>
              <a:ext cx="1296144"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1" name="10 Conector recto de flecha"/>
            <p:cNvCxnSpPr/>
            <p:nvPr/>
          </p:nvCxnSpPr>
          <p:spPr>
            <a:xfrm>
              <a:off x="1547664" y="3291830"/>
              <a:ext cx="1296144"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11 Conector recto de flecha"/>
            <p:cNvCxnSpPr/>
            <p:nvPr/>
          </p:nvCxnSpPr>
          <p:spPr>
            <a:xfrm>
              <a:off x="1547664" y="3579862"/>
              <a:ext cx="1296144"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47" name="46 Grupo"/>
          <p:cNvGrpSpPr/>
          <p:nvPr/>
        </p:nvGrpSpPr>
        <p:grpSpPr>
          <a:xfrm>
            <a:off x="4788024" y="2211710"/>
            <a:ext cx="1305669" cy="2232248"/>
            <a:chOff x="4788024" y="2211710"/>
            <a:chExt cx="1305669" cy="2232248"/>
          </a:xfrm>
        </p:grpSpPr>
        <p:cxnSp>
          <p:nvCxnSpPr>
            <p:cNvPr id="13" name="12 Conector recto de flecha"/>
            <p:cNvCxnSpPr/>
            <p:nvPr/>
          </p:nvCxnSpPr>
          <p:spPr>
            <a:xfrm>
              <a:off x="4788024" y="2211710"/>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4" name="13 Conector recto de flecha"/>
            <p:cNvCxnSpPr/>
            <p:nvPr/>
          </p:nvCxnSpPr>
          <p:spPr>
            <a:xfrm>
              <a:off x="4788024" y="2508895"/>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5" name="14 Conector recto de flecha"/>
            <p:cNvCxnSpPr/>
            <p:nvPr/>
          </p:nvCxnSpPr>
          <p:spPr>
            <a:xfrm>
              <a:off x="4797549" y="2798465"/>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6" name="15 Conector recto de flecha"/>
            <p:cNvCxnSpPr/>
            <p:nvPr/>
          </p:nvCxnSpPr>
          <p:spPr>
            <a:xfrm>
              <a:off x="4788024" y="3147814"/>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8" name="17 Conector recto de flecha"/>
            <p:cNvCxnSpPr/>
            <p:nvPr/>
          </p:nvCxnSpPr>
          <p:spPr>
            <a:xfrm>
              <a:off x="4788024" y="3490602"/>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9" name="18 Conector recto de flecha"/>
            <p:cNvCxnSpPr/>
            <p:nvPr/>
          </p:nvCxnSpPr>
          <p:spPr>
            <a:xfrm>
              <a:off x="4788024" y="3795886"/>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0" name="19 Conector recto de flecha"/>
            <p:cNvCxnSpPr/>
            <p:nvPr/>
          </p:nvCxnSpPr>
          <p:spPr>
            <a:xfrm>
              <a:off x="4788923" y="4121422"/>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1" name="20 Conector recto de flecha"/>
            <p:cNvCxnSpPr/>
            <p:nvPr/>
          </p:nvCxnSpPr>
          <p:spPr>
            <a:xfrm>
              <a:off x="4788024" y="4443958"/>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grpSp>
      <p:sp>
        <p:nvSpPr>
          <p:cNvPr id="22" name="21 CuadroTexto"/>
          <p:cNvSpPr txBox="1"/>
          <p:nvPr/>
        </p:nvSpPr>
        <p:spPr>
          <a:xfrm>
            <a:off x="6121871" y="1913781"/>
            <a:ext cx="898401" cy="369332"/>
          </a:xfrm>
          <a:prstGeom prst="rect">
            <a:avLst/>
          </a:prstGeom>
          <a:noFill/>
        </p:spPr>
        <p:txBody>
          <a:bodyPr wrap="square" rtlCol="0">
            <a:spAutoFit/>
          </a:bodyPr>
          <a:lstStyle/>
          <a:p>
            <a:r>
              <a:rPr lang="en-US" dirty="0"/>
              <a:t>MOV</a:t>
            </a:r>
            <a:endParaRPr lang="es-NI" dirty="0"/>
          </a:p>
        </p:txBody>
      </p:sp>
      <p:sp>
        <p:nvSpPr>
          <p:cNvPr id="23" name="22 CuadroTexto"/>
          <p:cNvSpPr txBox="1"/>
          <p:nvPr/>
        </p:nvSpPr>
        <p:spPr>
          <a:xfrm>
            <a:off x="6124897" y="2250847"/>
            <a:ext cx="1183407" cy="369332"/>
          </a:xfrm>
          <a:prstGeom prst="rect">
            <a:avLst/>
          </a:prstGeom>
          <a:noFill/>
        </p:spPr>
        <p:txBody>
          <a:bodyPr wrap="square" rtlCol="0">
            <a:spAutoFit/>
          </a:bodyPr>
          <a:lstStyle/>
          <a:p>
            <a:r>
              <a:rPr lang="en-US" dirty="0"/>
              <a:t>AND</a:t>
            </a:r>
            <a:endParaRPr lang="es-NI" dirty="0"/>
          </a:p>
        </p:txBody>
      </p:sp>
      <p:sp>
        <p:nvSpPr>
          <p:cNvPr id="24" name="23 CuadroTexto"/>
          <p:cNvSpPr txBox="1"/>
          <p:nvPr/>
        </p:nvSpPr>
        <p:spPr>
          <a:xfrm>
            <a:off x="6156176" y="2562458"/>
            <a:ext cx="898401" cy="369332"/>
          </a:xfrm>
          <a:prstGeom prst="rect">
            <a:avLst/>
          </a:prstGeom>
          <a:noFill/>
        </p:spPr>
        <p:txBody>
          <a:bodyPr wrap="square" rtlCol="0">
            <a:spAutoFit/>
          </a:bodyPr>
          <a:lstStyle/>
          <a:p>
            <a:r>
              <a:rPr lang="en-US" dirty="0"/>
              <a:t>ADD</a:t>
            </a:r>
            <a:endParaRPr lang="es-NI" dirty="0"/>
          </a:p>
        </p:txBody>
      </p:sp>
      <p:sp>
        <p:nvSpPr>
          <p:cNvPr id="25" name="24 CuadroTexto"/>
          <p:cNvSpPr txBox="1"/>
          <p:nvPr/>
        </p:nvSpPr>
        <p:spPr>
          <a:xfrm>
            <a:off x="6156176" y="2894774"/>
            <a:ext cx="898401" cy="369332"/>
          </a:xfrm>
          <a:prstGeom prst="rect">
            <a:avLst/>
          </a:prstGeom>
          <a:noFill/>
        </p:spPr>
        <p:txBody>
          <a:bodyPr wrap="square" rtlCol="0">
            <a:spAutoFit/>
          </a:bodyPr>
          <a:lstStyle/>
          <a:p>
            <a:r>
              <a:rPr lang="en-US" dirty="0"/>
              <a:t>SUB</a:t>
            </a:r>
            <a:endParaRPr lang="es-NI" dirty="0"/>
          </a:p>
        </p:txBody>
      </p:sp>
      <p:sp>
        <p:nvSpPr>
          <p:cNvPr id="26" name="25 CuadroTexto"/>
          <p:cNvSpPr txBox="1"/>
          <p:nvPr/>
        </p:nvSpPr>
        <p:spPr>
          <a:xfrm>
            <a:off x="6156176" y="3219822"/>
            <a:ext cx="898401" cy="369332"/>
          </a:xfrm>
          <a:prstGeom prst="rect">
            <a:avLst/>
          </a:prstGeom>
          <a:noFill/>
        </p:spPr>
        <p:txBody>
          <a:bodyPr wrap="square" rtlCol="0">
            <a:spAutoFit/>
          </a:bodyPr>
          <a:lstStyle/>
          <a:p>
            <a:r>
              <a:rPr lang="en-US" dirty="0"/>
              <a:t>DIV</a:t>
            </a:r>
            <a:endParaRPr lang="es-NI" dirty="0"/>
          </a:p>
        </p:txBody>
      </p:sp>
      <p:sp>
        <p:nvSpPr>
          <p:cNvPr id="27" name="26 CuadroTexto"/>
          <p:cNvSpPr txBox="1"/>
          <p:nvPr/>
        </p:nvSpPr>
        <p:spPr>
          <a:xfrm>
            <a:off x="6159202" y="3556888"/>
            <a:ext cx="1183407" cy="369332"/>
          </a:xfrm>
          <a:prstGeom prst="rect">
            <a:avLst/>
          </a:prstGeom>
          <a:noFill/>
        </p:spPr>
        <p:txBody>
          <a:bodyPr wrap="square" rtlCol="0">
            <a:spAutoFit/>
          </a:bodyPr>
          <a:lstStyle/>
          <a:p>
            <a:r>
              <a:rPr lang="en-US" dirty="0"/>
              <a:t>MUL</a:t>
            </a:r>
            <a:endParaRPr lang="es-NI" dirty="0"/>
          </a:p>
        </p:txBody>
      </p:sp>
      <p:sp>
        <p:nvSpPr>
          <p:cNvPr id="28" name="27 CuadroTexto"/>
          <p:cNvSpPr txBox="1"/>
          <p:nvPr/>
        </p:nvSpPr>
        <p:spPr>
          <a:xfrm>
            <a:off x="6190481" y="3868499"/>
            <a:ext cx="898401" cy="369332"/>
          </a:xfrm>
          <a:prstGeom prst="rect">
            <a:avLst/>
          </a:prstGeom>
          <a:noFill/>
        </p:spPr>
        <p:txBody>
          <a:bodyPr wrap="square" rtlCol="0">
            <a:spAutoFit/>
          </a:bodyPr>
          <a:lstStyle/>
          <a:p>
            <a:r>
              <a:rPr lang="en-US" dirty="0"/>
              <a:t>JGZ</a:t>
            </a:r>
            <a:endParaRPr lang="es-NI" dirty="0"/>
          </a:p>
        </p:txBody>
      </p:sp>
      <p:sp>
        <p:nvSpPr>
          <p:cNvPr id="29" name="28 CuadroTexto"/>
          <p:cNvSpPr txBox="1"/>
          <p:nvPr/>
        </p:nvSpPr>
        <p:spPr>
          <a:xfrm>
            <a:off x="6190481" y="4200815"/>
            <a:ext cx="898401" cy="369332"/>
          </a:xfrm>
          <a:prstGeom prst="rect">
            <a:avLst/>
          </a:prstGeom>
          <a:noFill/>
        </p:spPr>
        <p:txBody>
          <a:bodyPr wrap="square" rtlCol="0">
            <a:spAutoFit/>
          </a:bodyPr>
          <a:lstStyle/>
          <a:p>
            <a:r>
              <a:rPr lang="en-US" dirty="0"/>
              <a:t>JEZ</a:t>
            </a:r>
            <a:endParaRPr lang="es-NI" dirty="0"/>
          </a:p>
        </p:txBody>
      </p:sp>
      <p:sp>
        <p:nvSpPr>
          <p:cNvPr id="4" name="3 Rectángulo"/>
          <p:cNvSpPr/>
          <p:nvPr/>
        </p:nvSpPr>
        <p:spPr>
          <a:xfrm>
            <a:off x="2837731" y="1743658"/>
            <a:ext cx="1944216" cy="3096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DECODER</a:t>
            </a:r>
          </a:p>
        </p:txBody>
      </p:sp>
      <p:grpSp>
        <p:nvGrpSpPr>
          <p:cNvPr id="48" name="47 Grupo"/>
          <p:cNvGrpSpPr/>
          <p:nvPr/>
        </p:nvGrpSpPr>
        <p:grpSpPr>
          <a:xfrm>
            <a:off x="4338823" y="1913781"/>
            <a:ext cx="458729" cy="2656366"/>
            <a:chOff x="4338823" y="1913781"/>
            <a:chExt cx="458729" cy="2656366"/>
          </a:xfrm>
        </p:grpSpPr>
        <p:sp>
          <p:nvSpPr>
            <p:cNvPr id="30" name="29 CuadroTexto"/>
            <p:cNvSpPr txBox="1"/>
            <p:nvPr/>
          </p:nvSpPr>
          <p:spPr>
            <a:xfrm>
              <a:off x="4338823" y="1913781"/>
              <a:ext cx="449201" cy="369332"/>
            </a:xfrm>
            <a:prstGeom prst="rect">
              <a:avLst/>
            </a:prstGeom>
            <a:noFill/>
          </p:spPr>
          <p:txBody>
            <a:bodyPr wrap="square" rtlCol="0">
              <a:spAutoFit/>
            </a:bodyPr>
            <a:lstStyle/>
            <a:p>
              <a:pPr algn="r"/>
              <a:r>
                <a:rPr lang="en-US" dirty="0"/>
                <a:t>0</a:t>
              </a:r>
              <a:endParaRPr lang="es-NI" dirty="0"/>
            </a:p>
          </p:txBody>
        </p:sp>
        <p:sp>
          <p:nvSpPr>
            <p:cNvPr id="31" name="30 CuadroTexto"/>
            <p:cNvSpPr txBox="1"/>
            <p:nvPr/>
          </p:nvSpPr>
          <p:spPr>
            <a:xfrm>
              <a:off x="4341850" y="2250847"/>
              <a:ext cx="455700" cy="369332"/>
            </a:xfrm>
            <a:prstGeom prst="rect">
              <a:avLst/>
            </a:prstGeom>
            <a:noFill/>
          </p:spPr>
          <p:txBody>
            <a:bodyPr wrap="square" rtlCol="0">
              <a:spAutoFit/>
            </a:bodyPr>
            <a:lstStyle/>
            <a:p>
              <a:pPr algn="r"/>
              <a:r>
                <a:rPr lang="en-US" dirty="0"/>
                <a:t>1</a:t>
              </a:r>
              <a:endParaRPr lang="es-NI" dirty="0"/>
            </a:p>
          </p:txBody>
        </p:sp>
        <p:sp>
          <p:nvSpPr>
            <p:cNvPr id="32" name="31 CuadroTexto"/>
            <p:cNvSpPr txBox="1"/>
            <p:nvPr/>
          </p:nvSpPr>
          <p:spPr>
            <a:xfrm>
              <a:off x="4373129" y="2562458"/>
              <a:ext cx="414896" cy="369332"/>
            </a:xfrm>
            <a:prstGeom prst="rect">
              <a:avLst/>
            </a:prstGeom>
            <a:noFill/>
          </p:spPr>
          <p:txBody>
            <a:bodyPr wrap="square" rtlCol="0">
              <a:spAutoFit/>
            </a:bodyPr>
            <a:lstStyle/>
            <a:p>
              <a:pPr algn="r"/>
              <a:r>
                <a:rPr lang="en-US" dirty="0"/>
                <a:t>2</a:t>
              </a:r>
              <a:endParaRPr lang="es-NI" dirty="0"/>
            </a:p>
          </p:txBody>
        </p:sp>
        <p:sp>
          <p:nvSpPr>
            <p:cNvPr id="33" name="32 CuadroTexto"/>
            <p:cNvSpPr txBox="1"/>
            <p:nvPr/>
          </p:nvSpPr>
          <p:spPr>
            <a:xfrm>
              <a:off x="4373129" y="2894774"/>
              <a:ext cx="424422" cy="369332"/>
            </a:xfrm>
            <a:prstGeom prst="rect">
              <a:avLst/>
            </a:prstGeom>
            <a:noFill/>
          </p:spPr>
          <p:txBody>
            <a:bodyPr wrap="square" rtlCol="0">
              <a:spAutoFit/>
            </a:bodyPr>
            <a:lstStyle/>
            <a:p>
              <a:pPr algn="r"/>
              <a:r>
                <a:rPr lang="en-US" dirty="0"/>
                <a:t>3</a:t>
              </a:r>
              <a:endParaRPr lang="es-NI" dirty="0"/>
            </a:p>
          </p:txBody>
        </p:sp>
        <p:sp>
          <p:nvSpPr>
            <p:cNvPr id="34" name="33 CuadroTexto"/>
            <p:cNvSpPr txBox="1"/>
            <p:nvPr/>
          </p:nvSpPr>
          <p:spPr>
            <a:xfrm>
              <a:off x="4407434" y="3219822"/>
              <a:ext cx="390117" cy="369332"/>
            </a:xfrm>
            <a:prstGeom prst="rect">
              <a:avLst/>
            </a:prstGeom>
            <a:noFill/>
          </p:spPr>
          <p:txBody>
            <a:bodyPr wrap="square" rtlCol="0">
              <a:spAutoFit/>
            </a:bodyPr>
            <a:lstStyle/>
            <a:p>
              <a:pPr algn="r"/>
              <a:r>
                <a:rPr lang="en-US" dirty="0"/>
                <a:t>4</a:t>
              </a:r>
              <a:endParaRPr lang="es-NI" dirty="0"/>
            </a:p>
          </p:txBody>
        </p:sp>
        <p:sp>
          <p:nvSpPr>
            <p:cNvPr id="35" name="34 CuadroTexto"/>
            <p:cNvSpPr txBox="1"/>
            <p:nvPr/>
          </p:nvSpPr>
          <p:spPr>
            <a:xfrm>
              <a:off x="4376154" y="3556888"/>
              <a:ext cx="421395" cy="369332"/>
            </a:xfrm>
            <a:prstGeom prst="rect">
              <a:avLst/>
            </a:prstGeom>
            <a:noFill/>
          </p:spPr>
          <p:txBody>
            <a:bodyPr wrap="square" rtlCol="0">
              <a:spAutoFit/>
            </a:bodyPr>
            <a:lstStyle/>
            <a:p>
              <a:pPr algn="r"/>
              <a:r>
                <a:rPr lang="en-US" dirty="0"/>
                <a:t>5</a:t>
              </a:r>
              <a:endParaRPr lang="es-NI" dirty="0"/>
            </a:p>
          </p:txBody>
        </p:sp>
        <p:sp>
          <p:nvSpPr>
            <p:cNvPr id="36" name="35 CuadroTexto"/>
            <p:cNvSpPr txBox="1"/>
            <p:nvPr/>
          </p:nvSpPr>
          <p:spPr>
            <a:xfrm>
              <a:off x="4407434" y="3868499"/>
              <a:ext cx="390118" cy="369332"/>
            </a:xfrm>
            <a:prstGeom prst="rect">
              <a:avLst/>
            </a:prstGeom>
            <a:noFill/>
          </p:spPr>
          <p:txBody>
            <a:bodyPr wrap="square" rtlCol="0">
              <a:spAutoFit/>
            </a:bodyPr>
            <a:lstStyle/>
            <a:p>
              <a:pPr algn="r"/>
              <a:r>
                <a:rPr lang="en-US" dirty="0"/>
                <a:t>6</a:t>
              </a:r>
              <a:endParaRPr lang="es-NI" dirty="0"/>
            </a:p>
          </p:txBody>
        </p:sp>
        <p:sp>
          <p:nvSpPr>
            <p:cNvPr id="37" name="36 CuadroTexto"/>
            <p:cNvSpPr txBox="1"/>
            <p:nvPr/>
          </p:nvSpPr>
          <p:spPr>
            <a:xfrm>
              <a:off x="4407433" y="4200815"/>
              <a:ext cx="380591" cy="369332"/>
            </a:xfrm>
            <a:prstGeom prst="rect">
              <a:avLst/>
            </a:prstGeom>
            <a:noFill/>
          </p:spPr>
          <p:txBody>
            <a:bodyPr wrap="square" rtlCol="0">
              <a:spAutoFit/>
            </a:bodyPr>
            <a:lstStyle/>
            <a:p>
              <a:pPr algn="r"/>
              <a:r>
                <a:rPr lang="en-US" dirty="0"/>
                <a:t>7</a:t>
              </a:r>
              <a:endParaRPr lang="es-NI" dirty="0"/>
            </a:p>
          </p:txBody>
        </p:sp>
      </p:grpSp>
      <p:grpSp>
        <p:nvGrpSpPr>
          <p:cNvPr id="49" name="48 Grupo"/>
          <p:cNvGrpSpPr/>
          <p:nvPr/>
        </p:nvGrpSpPr>
        <p:grpSpPr>
          <a:xfrm>
            <a:off x="2851037" y="2777877"/>
            <a:ext cx="458727" cy="1018009"/>
            <a:chOff x="2851037" y="2705869"/>
            <a:chExt cx="458727" cy="1018009"/>
          </a:xfrm>
        </p:grpSpPr>
        <p:sp>
          <p:nvSpPr>
            <p:cNvPr id="38" name="37 CuadroTexto"/>
            <p:cNvSpPr txBox="1"/>
            <p:nvPr/>
          </p:nvSpPr>
          <p:spPr>
            <a:xfrm>
              <a:off x="2851037" y="2705869"/>
              <a:ext cx="449201" cy="369332"/>
            </a:xfrm>
            <a:prstGeom prst="rect">
              <a:avLst/>
            </a:prstGeom>
            <a:noFill/>
          </p:spPr>
          <p:txBody>
            <a:bodyPr wrap="square" rtlCol="0">
              <a:spAutoFit/>
            </a:bodyPr>
            <a:lstStyle/>
            <a:p>
              <a:r>
                <a:rPr lang="en-US" dirty="0"/>
                <a:t>0</a:t>
              </a:r>
              <a:endParaRPr lang="es-NI" dirty="0"/>
            </a:p>
          </p:txBody>
        </p:sp>
        <p:sp>
          <p:nvSpPr>
            <p:cNvPr id="39" name="38 CuadroTexto"/>
            <p:cNvSpPr txBox="1"/>
            <p:nvPr/>
          </p:nvSpPr>
          <p:spPr>
            <a:xfrm>
              <a:off x="2854064" y="3042935"/>
              <a:ext cx="455700" cy="369332"/>
            </a:xfrm>
            <a:prstGeom prst="rect">
              <a:avLst/>
            </a:prstGeom>
            <a:noFill/>
          </p:spPr>
          <p:txBody>
            <a:bodyPr wrap="square" rtlCol="0">
              <a:spAutoFit/>
            </a:bodyPr>
            <a:lstStyle/>
            <a:p>
              <a:r>
                <a:rPr lang="en-US" dirty="0"/>
                <a:t>1</a:t>
              </a:r>
              <a:endParaRPr lang="es-NI" dirty="0"/>
            </a:p>
          </p:txBody>
        </p:sp>
        <p:sp>
          <p:nvSpPr>
            <p:cNvPr id="40" name="39 CuadroTexto"/>
            <p:cNvSpPr txBox="1"/>
            <p:nvPr/>
          </p:nvSpPr>
          <p:spPr>
            <a:xfrm>
              <a:off x="2860960" y="3354546"/>
              <a:ext cx="414896" cy="369332"/>
            </a:xfrm>
            <a:prstGeom prst="rect">
              <a:avLst/>
            </a:prstGeom>
            <a:noFill/>
          </p:spPr>
          <p:txBody>
            <a:bodyPr wrap="square" rtlCol="0">
              <a:spAutoFit/>
            </a:bodyPr>
            <a:lstStyle/>
            <a:p>
              <a:r>
                <a:rPr lang="en-US" dirty="0"/>
                <a:t>2</a:t>
              </a:r>
              <a:endParaRPr lang="es-NI" dirty="0"/>
            </a:p>
          </p:txBody>
        </p:sp>
      </p:grpSp>
      <p:grpSp>
        <p:nvGrpSpPr>
          <p:cNvPr id="44" name="43 Grupo"/>
          <p:cNvGrpSpPr/>
          <p:nvPr/>
        </p:nvGrpSpPr>
        <p:grpSpPr>
          <a:xfrm>
            <a:off x="1187624" y="2787774"/>
            <a:ext cx="458727" cy="1018009"/>
            <a:chOff x="1187624" y="2787774"/>
            <a:chExt cx="458727" cy="1018009"/>
          </a:xfrm>
        </p:grpSpPr>
        <p:sp>
          <p:nvSpPr>
            <p:cNvPr id="41" name="40 CuadroTexto"/>
            <p:cNvSpPr txBox="1"/>
            <p:nvPr/>
          </p:nvSpPr>
          <p:spPr>
            <a:xfrm>
              <a:off x="1187624" y="2787774"/>
              <a:ext cx="449201" cy="369332"/>
            </a:xfrm>
            <a:prstGeom prst="rect">
              <a:avLst/>
            </a:prstGeom>
            <a:noFill/>
          </p:spPr>
          <p:txBody>
            <a:bodyPr wrap="square" rtlCol="0">
              <a:spAutoFit/>
            </a:bodyPr>
            <a:lstStyle/>
            <a:p>
              <a:r>
                <a:rPr lang="en-US" dirty="0">
                  <a:solidFill>
                    <a:srgbClr val="C00000"/>
                  </a:solidFill>
                </a:rPr>
                <a:t>0</a:t>
              </a:r>
              <a:endParaRPr lang="es-NI" dirty="0">
                <a:solidFill>
                  <a:srgbClr val="C00000"/>
                </a:solidFill>
              </a:endParaRPr>
            </a:p>
          </p:txBody>
        </p:sp>
        <p:sp>
          <p:nvSpPr>
            <p:cNvPr id="42" name="41 CuadroTexto"/>
            <p:cNvSpPr txBox="1"/>
            <p:nvPr/>
          </p:nvSpPr>
          <p:spPr>
            <a:xfrm>
              <a:off x="1190651" y="3124840"/>
              <a:ext cx="455700" cy="369332"/>
            </a:xfrm>
            <a:prstGeom prst="rect">
              <a:avLst/>
            </a:prstGeom>
            <a:noFill/>
          </p:spPr>
          <p:txBody>
            <a:bodyPr wrap="square" rtlCol="0">
              <a:spAutoFit/>
            </a:bodyPr>
            <a:lstStyle/>
            <a:p>
              <a:r>
                <a:rPr lang="en-US" dirty="0">
                  <a:solidFill>
                    <a:srgbClr val="C00000"/>
                  </a:solidFill>
                </a:rPr>
                <a:t>1</a:t>
              </a:r>
              <a:endParaRPr lang="es-NI" dirty="0">
                <a:solidFill>
                  <a:srgbClr val="C00000"/>
                </a:solidFill>
              </a:endParaRPr>
            </a:p>
          </p:txBody>
        </p:sp>
        <p:sp>
          <p:nvSpPr>
            <p:cNvPr id="43" name="42 CuadroTexto"/>
            <p:cNvSpPr txBox="1"/>
            <p:nvPr/>
          </p:nvSpPr>
          <p:spPr>
            <a:xfrm>
              <a:off x="1197547" y="3436451"/>
              <a:ext cx="448804" cy="369332"/>
            </a:xfrm>
            <a:prstGeom prst="rect">
              <a:avLst/>
            </a:prstGeom>
            <a:noFill/>
          </p:spPr>
          <p:txBody>
            <a:bodyPr wrap="square" rtlCol="0">
              <a:spAutoFit/>
            </a:bodyPr>
            <a:lstStyle/>
            <a:p>
              <a:r>
                <a:rPr lang="en-US" dirty="0">
                  <a:solidFill>
                    <a:srgbClr val="C00000"/>
                  </a:solidFill>
                </a:rPr>
                <a:t>0</a:t>
              </a:r>
              <a:endParaRPr lang="es-NI" dirty="0">
                <a:solidFill>
                  <a:srgbClr val="C00000"/>
                </a:solidFill>
              </a:endParaRPr>
            </a:p>
          </p:txBody>
        </p:sp>
      </p:grpSp>
      <p:sp>
        <p:nvSpPr>
          <p:cNvPr id="50" name="49 CuadroTexto"/>
          <p:cNvSpPr txBox="1"/>
          <p:nvPr/>
        </p:nvSpPr>
        <p:spPr>
          <a:xfrm>
            <a:off x="341829" y="4403866"/>
            <a:ext cx="2160240" cy="400110"/>
          </a:xfrm>
          <a:prstGeom prst="rect">
            <a:avLst/>
          </a:prstGeom>
          <a:noFill/>
        </p:spPr>
        <p:txBody>
          <a:bodyPr wrap="square" rtlCol="0">
            <a:spAutoFit/>
          </a:bodyPr>
          <a:lstStyle/>
          <a:p>
            <a:r>
              <a:rPr lang="en-US" sz="2000" dirty="0">
                <a:solidFill>
                  <a:srgbClr val="C00000"/>
                </a:solidFill>
              </a:rPr>
              <a:t>010 = 2 </a:t>
            </a:r>
            <a:r>
              <a:rPr lang="en-US" sz="2000" dirty="0">
                <a:solidFill>
                  <a:srgbClr val="C00000"/>
                </a:solidFill>
                <a:sym typeface="Wingdings" panose="05000000000000000000" pitchFamily="2" charset="2"/>
              </a:rPr>
              <a:t> ADD</a:t>
            </a:r>
            <a:endParaRPr lang="es-NI" sz="2000" dirty="0">
              <a:solidFill>
                <a:srgbClr val="C00000"/>
              </a:solidFill>
            </a:endParaRPr>
          </a:p>
        </p:txBody>
      </p:sp>
      <p:cxnSp>
        <p:nvCxnSpPr>
          <p:cNvPr id="52" name="51 Conector recto de flecha"/>
          <p:cNvCxnSpPr/>
          <p:nvPr/>
        </p:nvCxnSpPr>
        <p:spPr>
          <a:xfrm>
            <a:off x="4792371" y="2798465"/>
            <a:ext cx="1296143" cy="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54" name="53 CuadroTexto"/>
          <p:cNvSpPr txBox="1"/>
          <p:nvPr/>
        </p:nvSpPr>
        <p:spPr>
          <a:xfrm>
            <a:off x="6132692" y="2556010"/>
            <a:ext cx="898401" cy="369332"/>
          </a:xfrm>
          <a:prstGeom prst="rect">
            <a:avLst/>
          </a:prstGeom>
          <a:noFill/>
        </p:spPr>
        <p:txBody>
          <a:bodyPr wrap="square" rtlCol="0">
            <a:spAutoFit/>
          </a:bodyPr>
          <a:lstStyle/>
          <a:p>
            <a:r>
              <a:rPr lang="en-US" b="1" dirty="0">
                <a:solidFill>
                  <a:srgbClr val="C00000"/>
                </a:solidFill>
              </a:rPr>
              <a:t>ADD</a:t>
            </a:r>
            <a:endParaRPr lang="es-NI" b="1" dirty="0">
              <a:solidFill>
                <a:srgbClr val="C00000"/>
              </a:solidFill>
            </a:endParaRPr>
          </a:p>
        </p:txBody>
      </p:sp>
      <p:cxnSp>
        <p:nvCxnSpPr>
          <p:cNvPr id="55" name="54 Conector recto de flecha"/>
          <p:cNvCxnSpPr/>
          <p:nvPr/>
        </p:nvCxnSpPr>
        <p:spPr>
          <a:xfrm>
            <a:off x="2045643" y="2113233"/>
            <a:ext cx="792088"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56" name="55 CuadroTexto"/>
          <p:cNvSpPr txBox="1"/>
          <p:nvPr/>
        </p:nvSpPr>
        <p:spPr>
          <a:xfrm>
            <a:off x="2009639" y="1743901"/>
            <a:ext cx="432048" cy="369332"/>
          </a:xfrm>
          <a:prstGeom prst="rect">
            <a:avLst/>
          </a:prstGeom>
          <a:noFill/>
        </p:spPr>
        <p:txBody>
          <a:bodyPr wrap="square" rtlCol="0">
            <a:spAutoFit/>
          </a:bodyPr>
          <a:lstStyle/>
          <a:p>
            <a:r>
              <a:rPr lang="en-US" dirty="0"/>
              <a:t>E</a:t>
            </a:r>
            <a:endParaRPr lang="es-NI" dirty="0"/>
          </a:p>
        </p:txBody>
      </p:sp>
    </p:spTree>
    <p:extLst>
      <p:ext uri="{BB962C8B-B14F-4D97-AF65-F5344CB8AC3E}">
        <p14:creationId xmlns:p14="http://schemas.microsoft.com/office/powerpoint/2010/main" val="3551725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wipe(left)">
                                      <p:cBhvr>
                                        <p:cTn id="18" dur="500"/>
                                        <p:tgtEl>
                                          <p:spTgt spid="45"/>
                                        </p:tgtEl>
                                      </p:cBhvr>
                                    </p:animEffec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0"/>
                                          </p:stCondLst>
                                        </p:cTn>
                                        <p:tgtEl>
                                          <p:spTgt spid="4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left)">
                                      <p:cBhvr>
                                        <p:cTn id="26" dur="500"/>
                                        <p:tgtEl>
                                          <p:spTgt spid="47"/>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4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250"/>
                                  </p:stCondLst>
                                  <p:childTnLst>
                                    <p:set>
                                      <p:cBhvr>
                                        <p:cTn id="36" dur="1" fill="hold">
                                          <p:stCondLst>
                                            <p:cond delay="0"/>
                                          </p:stCondLst>
                                        </p:cTn>
                                        <p:tgtEl>
                                          <p:spTgt spid="23"/>
                                        </p:tgtEl>
                                        <p:attrNameLst>
                                          <p:attrName>style.visibility</p:attrName>
                                        </p:attrNameLst>
                                      </p:cBhvr>
                                      <p:to>
                                        <p:strVal val="visible"/>
                                      </p:to>
                                    </p:set>
                                  </p:childTnLst>
                                </p:cTn>
                              </p:par>
                            </p:childTnLst>
                          </p:cTn>
                        </p:par>
                        <p:par>
                          <p:cTn id="37" fill="hold">
                            <p:stCondLst>
                              <p:cond delay="250"/>
                            </p:stCondLst>
                            <p:childTnLst>
                              <p:par>
                                <p:cTn id="38" presetID="1" presetClass="entr" presetSubtype="0" fill="hold" grpId="0" nodeType="afterEffect">
                                  <p:stCondLst>
                                    <p:cond delay="250"/>
                                  </p:stCondLst>
                                  <p:childTnLst>
                                    <p:set>
                                      <p:cBhvr>
                                        <p:cTn id="39" dur="1" fill="hold">
                                          <p:stCondLst>
                                            <p:cond delay="0"/>
                                          </p:stCondLst>
                                        </p:cTn>
                                        <p:tgtEl>
                                          <p:spTgt spid="24"/>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250"/>
                                  </p:stCondLst>
                                  <p:childTnLst>
                                    <p:set>
                                      <p:cBhvr>
                                        <p:cTn id="42" dur="1" fill="hold">
                                          <p:stCondLst>
                                            <p:cond delay="0"/>
                                          </p:stCondLst>
                                        </p:cTn>
                                        <p:tgtEl>
                                          <p:spTgt spid="25"/>
                                        </p:tgtEl>
                                        <p:attrNameLst>
                                          <p:attrName>style.visibility</p:attrName>
                                        </p:attrNameLst>
                                      </p:cBhvr>
                                      <p:to>
                                        <p:strVal val="visible"/>
                                      </p:to>
                                    </p:set>
                                  </p:childTnLst>
                                </p:cTn>
                              </p:par>
                            </p:childTnLst>
                          </p:cTn>
                        </p:par>
                        <p:par>
                          <p:cTn id="43" fill="hold">
                            <p:stCondLst>
                              <p:cond delay="750"/>
                            </p:stCondLst>
                            <p:childTnLst>
                              <p:par>
                                <p:cTn id="44" presetID="1" presetClass="entr" presetSubtype="0" fill="hold" grpId="0" nodeType="afterEffect">
                                  <p:stCondLst>
                                    <p:cond delay="250"/>
                                  </p:stCondLst>
                                  <p:childTnLst>
                                    <p:set>
                                      <p:cBhvr>
                                        <p:cTn id="45" dur="1" fill="hold">
                                          <p:stCondLst>
                                            <p:cond delay="0"/>
                                          </p:stCondLst>
                                        </p:cTn>
                                        <p:tgtEl>
                                          <p:spTgt spid="26"/>
                                        </p:tgtEl>
                                        <p:attrNameLst>
                                          <p:attrName>style.visibility</p:attrName>
                                        </p:attrNameLst>
                                      </p:cBhvr>
                                      <p:to>
                                        <p:strVal val="visible"/>
                                      </p:to>
                                    </p:set>
                                  </p:childTnLst>
                                </p:cTn>
                              </p:par>
                            </p:childTnLst>
                          </p:cTn>
                        </p:par>
                        <p:par>
                          <p:cTn id="46" fill="hold">
                            <p:stCondLst>
                              <p:cond delay="1000"/>
                            </p:stCondLst>
                            <p:childTnLst>
                              <p:par>
                                <p:cTn id="47" presetID="1" presetClass="entr" presetSubtype="0" fill="hold" grpId="0" nodeType="afterEffect">
                                  <p:stCondLst>
                                    <p:cond delay="250"/>
                                  </p:stCondLst>
                                  <p:childTnLst>
                                    <p:set>
                                      <p:cBhvr>
                                        <p:cTn id="48" dur="1" fill="hold">
                                          <p:stCondLst>
                                            <p:cond delay="0"/>
                                          </p:stCondLst>
                                        </p:cTn>
                                        <p:tgtEl>
                                          <p:spTgt spid="27"/>
                                        </p:tgtEl>
                                        <p:attrNameLst>
                                          <p:attrName>style.visibility</p:attrName>
                                        </p:attrNameLst>
                                      </p:cBhvr>
                                      <p:to>
                                        <p:strVal val="visible"/>
                                      </p:to>
                                    </p:set>
                                  </p:childTnLst>
                                </p:cTn>
                              </p:par>
                            </p:childTnLst>
                          </p:cTn>
                        </p:par>
                        <p:par>
                          <p:cTn id="49" fill="hold">
                            <p:stCondLst>
                              <p:cond delay="1250"/>
                            </p:stCondLst>
                            <p:childTnLst>
                              <p:par>
                                <p:cTn id="50" presetID="1" presetClass="entr" presetSubtype="0" fill="hold" grpId="0" nodeType="afterEffect">
                                  <p:stCondLst>
                                    <p:cond delay="250"/>
                                  </p:stCondLst>
                                  <p:childTnLst>
                                    <p:set>
                                      <p:cBhvr>
                                        <p:cTn id="51" dur="1" fill="hold">
                                          <p:stCondLst>
                                            <p:cond delay="0"/>
                                          </p:stCondLst>
                                        </p:cTn>
                                        <p:tgtEl>
                                          <p:spTgt spid="28"/>
                                        </p:tgtEl>
                                        <p:attrNameLst>
                                          <p:attrName>style.visibility</p:attrName>
                                        </p:attrNameLst>
                                      </p:cBhvr>
                                      <p:to>
                                        <p:strVal val="visible"/>
                                      </p:to>
                                    </p:set>
                                  </p:childTnLst>
                                </p:cTn>
                              </p:par>
                            </p:childTnLst>
                          </p:cTn>
                        </p:par>
                        <p:par>
                          <p:cTn id="52" fill="hold">
                            <p:stCondLst>
                              <p:cond delay="1500"/>
                            </p:stCondLst>
                            <p:childTnLst>
                              <p:par>
                                <p:cTn id="53" presetID="1" presetClass="entr" presetSubtype="0" fill="hold" grpId="0" nodeType="afterEffect">
                                  <p:stCondLst>
                                    <p:cond delay="25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250"/>
                                  </p:stCondLst>
                                  <p:childTnLst>
                                    <p:set>
                                      <p:cBhvr>
                                        <p:cTn id="64" dur="1" fill="hold">
                                          <p:stCondLst>
                                            <p:cond delay="0"/>
                                          </p:stCondLst>
                                        </p:cTn>
                                        <p:tgtEl>
                                          <p:spTgt spid="44"/>
                                        </p:tgtEl>
                                        <p:attrNameLst>
                                          <p:attrName>style.visibility</p:attrName>
                                        </p:attrNameLst>
                                      </p:cBhvr>
                                      <p:to>
                                        <p:strVal val="visible"/>
                                      </p:to>
                                    </p:set>
                                    <p:anim calcmode="lin" valueType="num">
                                      <p:cBhvr>
                                        <p:cTn id="65" dur="500" fill="hold"/>
                                        <p:tgtEl>
                                          <p:spTgt spid="44"/>
                                        </p:tgtEl>
                                        <p:attrNameLst>
                                          <p:attrName>ppt_w</p:attrName>
                                        </p:attrNameLst>
                                      </p:cBhvr>
                                      <p:tavLst>
                                        <p:tav tm="0">
                                          <p:val>
                                            <p:fltVal val="0"/>
                                          </p:val>
                                        </p:tav>
                                        <p:tav tm="100000">
                                          <p:val>
                                            <p:strVal val="#ppt_w"/>
                                          </p:val>
                                        </p:tav>
                                      </p:tavLst>
                                    </p:anim>
                                    <p:anim calcmode="lin" valueType="num">
                                      <p:cBhvr>
                                        <p:cTn id="66" dur="500" fill="hold"/>
                                        <p:tgtEl>
                                          <p:spTgt spid="44"/>
                                        </p:tgtEl>
                                        <p:attrNameLst>
                                          <p:attrName>ppt_h</p:attrName>
                                        </p:attrNameLst>
                                      </p:cBhvr>
                                      <p:tavLst>
                                        <p:tav tm="0">
                                          <p:val>
                                            <p:fltVal val="0"/>
                                          </p:val>
                                        </p:tav>
                                        <p:tav tm="100000">
                                          <p:val>
                                            <p:strVal val="#ppt_h"/>
                                          </p:val>
                                        </p:tav>
                                      </p:tavLst>
                                    </p:anim>
                                    <p:animEffect transition="in" filter="fade">
                                      <p:cBhvr>
                                        <p:cTn id="67" dur="500"/>
                                        <p:tgtEl>
                                          <p:spTgt spid="44"/>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anim calcmode="lin" valueType="num">
                                      <p:cBhvr>
                                        <p:cTn id="72" dur="500" fill="hold"/>
                                        <p:tgtEl>
                                          <p:spTgt spid="50"/>
                                        </p:tgtEl>
                                        <p:attrNameLst>
                                          <p:attrName>ppt_w</p:attrName>
                                        </p:attrNameLst>
                                      </p:cBhvr>
                                      <p:tavLst>
                                        <p:tav tm="0">
                                          <p:val>
                                            <p:fltVal val="0"/>
                                          </p:val>
                                        </p:tav>
                                        <p:tav tm="100000">
                                          <p:val>
                                            <p:strVal val="#ppt_w"/>
                                          </p:val>
                                        </p:tav>
                                      </p:tavLst>
                                    </p:anim>
                                    <p:anim calcmode="lin" valueType="num">
                                      <p:cBhvr>
                                        <p:cTn id="73" dur="500" fill="hold"/>
                                        <p:tgtEl>
                                          <p:spTgt spid="50"/>
                                        </p:tgtEl>
                                        <p:attrNameLst>
                                          <p:attrName>ppt_h</p:attrName>
                                        </p:attrNameLst>
                                      </p:cBhvr>
                                      <p:tavLst>
                                        <p:tav tm="0">
                                          <p:val>
                                            <p:fltVal val="0"/>
                                          </p:val>
                                        </p:tav>
                                        <p:tav tm="100000">
                                          <p:val>
                                            <p:strVal val="#ppt_h"/>
                                          </p:val>
                                        </p:tav>
                                      </p:tavLst>
                                    </p:anim>
                                    <p:animEffect transition="in" filter="fade">
                                      <p:cBhvr>
                                        <p:cTn id="74" dur="500"/>
                                        <p:tgtEl>
                                          <p:spTgt spid="5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left)">
                                      <p:cBhvr>
                                        <p:cTn id="79" dur="500"/>
                                        <p:tgtEl>
                                          <p:spTgt spid="52"/>
                                        </p:tgtEl>
                                      </p:cBhvr>
                                    </p:animEffect>
                                  </p:childTnLst>
                                </p:cTn>
                              </p:par>
                            </p:childTnLst>
                          </p:cTn>
                        </p:par>
                        <p:par>
                          <p:cTn id="80" fill="hold">
                            <p:stCondLst>
                              <p:cond delay="500"/>
                            </p:stCondLst>
                            <p:childTnLst>
                              <p:par>
                                <p:cTn id="81" presetID="1" presetClass="entr" presetSubtype="0" fill="hold" grpId="0" nodeType="afterEffect">
                                  <p:stCondLst>
                                    <p:cond delay="250"/>
                                  </p:stCondLst>
                                  <p:childTnLst>
                                    <p:set>
                                      <p:cBhvr>
                                        <p:cTn id="8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2" grpId="0"/>
      <p:bldP spid="23" grpId="0"/>
      <p:bldP spid="24" grpId="0"/>
      <p:bldP spid="25" grpId="0"/>
      <p:bldP spid="26" grpId="0"/>
      <p:bldP spid="27" grpId="0"/>
      <p:bldP spid="28" grpId="0"/>
      <p:bldP spid="29" grpId="0"/>
      <p:bldP spid="4" grpId="0" animBg="1"/>
      <p:bldP spid="50" grpId="0"/>
      <p:bldP spid="54" grpId="0"/>
      <p:bldP spid="5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Fijo</a:t>
            </a:r>
            <a:endParaRPr lang="es-NI" dirty="0"/>
          </a:p>
        </p:txBody>
      </p:sp>
      <p:sp>
        <p:nvSpPr>
          <p:cNvPr id="3" name="2 Marcador de contenido"/>
          <p:cNvSpPr>
            <a:spLocks noGrp="1"/>
          </p:cNvSpPr>
          <p:nvPr>
            <p:ph idx="1"/>
          </p:nvPr>
        </p:nvSpPr>
        <p:spPr>
          <a:xfrm>
            <a:off x="179512" y="1347613"/>
            <a:ext cx="8964488" cy="3600401"/>
          </a:xfrm>
        </p:spPr>
        <p:txBody>
          <a:bodyPr>
            <a:normAutofit fontScale="70000" lnSpcReduction="20000"/>
          </a:bodyPr>
          <a:lstStyle/>
          <a:p>
            <a:r>
              <a:rPr lang="en-US" sz="2800" dirty="0" err="1"/>
              <a:t>Ejemplo</a:t>
            </a:r>
            <a:r>
              <a:rPr lang="en-US" dirty="0"/>
              <a:t>:  </a:t>
            </a:r>
            <a:r>
              <a:rPr lang="en-US" sz="2800" dirty="0"/>
              <a:t>Se </a:t>
            </a:r>
            <a:r>
              <a:rPr lang="en-US" sz="2800" dirty="0" err="1"/>
              <a:t>requiere</a:t>
            </a:r>
            <a:r>
              <a:rPr lang="en-US" sz="2800" dirty="0"/>
              <a:t> </a:t>
            </a:r>
            <a:r>
              <a:rPr lang="en-US" sz="2800" dirty="0" err="1"/>
              <a:t>codificar</a:t>
            </a:r>
            <a:r>
              <a:rPr lang="en-US" sz="2800" dirty="0"/>
              <a:t> la </a:t>
            </a:r>
            <a:r>
              <a:rPr lang="en-US" sz="2800" dirty="0" err="1"/>
              <a:t>operación</a:t>
            </a:r>
            <a:r>
              <a:rPr lang="en-US" sz="2800" dirty="0"/>
              <a:t> de un </a:t>
            </a:r>
            <a:r>
              <a:rPr lang="en-US" sz="2800" dirty="0" err="1"/>
              <a:t>conjunto</a:t>
            </a:r>
            <a:r>
              <a:rPr lang="en-US" sz="2800" dirty="0"/>
              <a:t> de </a:t>
            </a:r>
            <a:r>
              <a:rPr lang="en-US" sz="2800" dirty="0" err="1"/>
              <a:t>instrucciones</a:t>
            </a:r>
            <a:r>
              <a:rPr lang="en-US" sz="2800" dirty="0"/>
              <a:t> </a:t>
            </a:r>
            <a:r>
              <a:rPr lang="en-US" sz="2800" dirty="0" err="1"/>
              <a:t>formado</a:t>
            </a:r>
            <a:r>
              <a:rPr lang="en-US" sz="2800" dirty="0"/>
              <a:t> </a:t>
            </a:r>
            <a:r>
              <a:rPr lang="en-US" sz="2800" dirty="0" err="1"/>
              <a:t>por</a:t>
            </a:r>
            <a:r>
              <a:rPr lang="en-US" sz="2800" dirty="0"/>
              <a:t> 10 </a:t>
            </a:r>
            <a:r>
              <a:rPr lang="en-US" sz="2800" dirty="0" err="1"/>
              <a:t>instrucciones</a:t>
            </a:r>
            <a:r>
              <a:rPr lang="en-US" sz="2800" dirty="0"/>
              <a:t> de 3 </a:t>
            </a:r>
            <a:r>
              <a:rPr lang="en-US" sz="2800" dirty="0" err="1"/>
              <a:t>direcciones</a:t>
            </a:r>
            <a:r>
              <a:rPr lang="en-US" sz="2800" dirty="0"/>
              <a:t>, 10 </a:t>
            </a:r>
            <a:r>
              <a:rPr lang="en-US" sz="2800" dirty="0" err="1"/>
              <a:t>instrucciones</a:t>
            </a:r>
            <a:r>
              <a:rPr lang="en-US" sz="2800" dirty="0"/>
              <a:t> de 2 </a:t>
            </a:r>
            <a:r>
              <a:rPr lang="en-US" sz="2800" dirty="0" err="1"/>
              <a:t>direcciones</a:t>
            </a:r>
            <a:r>
              <a:rPr lang="en-US" sz="2800" dirty="0"/>
              <a:t>, 5 </a:t>
            </a:r>
            <a:r>
              <a:rPr lang="en-US" sz="2800" dirty="0" err="1"/>
              <a:t>instrucciones</a:t>
            </a:r>
            <a:r>
              <a:rPr lang="en-US" sz="2800" dirty="0"/>
              <a:t> de 1 </a:t>
            </a:r>
            <a:r>
              <a:rPr lang="en-US" sz="2800" dirty="0" err="1"/>
              <a:t>dirección</a:t>
            </a:r>
            <a:r>
              <a:rPr lang="en-US" sz="2800" dirty="0"/>
              <a:t> y 5 </a:t>
            </a:r>
            <a:r>
              <a:rPr lang="en-US" sz="2800" dirty="0" err="1"/>
              <a:t>instrucciones</a:t>
            </a:r>
            <a:r>
              <a:rPr lang="en-US" sz="2800" dirty="0"/>
              <a:t> de 0 </a:t>
            </a:r>
            <a:r>
              <a:rPr lang="en-US" sz="2800" dirty="0" err="1"/>
              <a:t>direcciones</a:t>
            </a:r>
            <a:r>
              <a:rPr lang="en-US" sz="2800" dirty="0"/>
              <a:t>:</a:t>
            </a:r>
          </a:p>
          <a:p>
            <a:r>
              <a:rPr lang="en-US" sz="2800" dirty="0">
                <a:solidFill>
                  <a:schemeClr val="accent1">
                    <a:lumMod val="75000"/>
                  </a:schemeClr>
                </a:solidFill>
              </a:rPr>
              <a:t>Son en total 10+10+5+5=30 </a:t>
            </a:r>
            <a:r>
              <a:rPr lang="en-US" sz="2800" dirty="0" err="1">
                <a:solidFill>
                  <a:schemeClr val="accent1">
                    <a:lumMod val="75000"/>
                  </a:schemeClr>
                </a:solidFill>
              </a:rPr>
              <a:t>instrucciones</a:t>
            </a:r>
            <a:r>
              <a:rPr lang="en-US" sz="2800" dirty="0">
                <a:solidFill>
                  <a:schemeClr val="accent1">
                    <a:lumMod val="75000"/>
                  </a:schemeClr>
                </a:solidFill>
              </a:rPr>
              <a:t>.</a:t>
            </a:r>
          </a:p>
          <a:p>
            <a:endParaRPr lang="en-US" sz="2600" dirty="0">
              <a:solidFill>
                <a:schemeClr val="accent1">
                  <a:lumMod val="75000"/>
                </a:schemeClr>
              </a:solidFill>
            </a:endParaRPr>
          </a:p>
          <a:p>
            <a:pPr marL="1371600" lvl="5" indent="0">
              <a:buNone/>
            </a:pPr>
            <a:r>
              <a:rPr lang="en-US" sz="3600" dirty="0">
                <a:solidFill>
                  <a:srgbClr val="C00000"/>
                </a:solidFill>
                <a:latin typeface="Edwardian Script ITC" pitchFamily="66" charset="0"/>
              </a:rPr>
              <a:t>L </a:t>
            </a:r>
            <a:r>
              <a:rPr lang="en-US" sz="3600" baseline="-25000" dirty="0">
                <a:solidFill>
                  <a:srgbClr val="C00000"/>
                </a:solidFill>
              </a:rPr>
              <a:t>(co) </a:t>
            </a:r>
            <a:r>
              <a:rPr lang="en-US" sz="3600" dirty="0">
                <a:solidFill>
                  <a:srgbClr val="C00000"/>
                </a:solidFill>
              </a:rPr>
              <a:t>= </a:t>
            </a:r>
            <a:r>
              <a:rPr lang="en-US" sz="3600" dirty="0">
                <a:solidFill>
                  <a:srgbClr val="C00000"/>
                </a:solidFill>
                <a:sym typeface="Symbol"/>
              </a:rPr>
              <a:t></a:t>
            </a:r>
            <a:r>
              <a:rPr lang="en-US" sz="3600" dirty="0">
                <a:solidFill>
                  <a:srgbClr val="C00000"/>
                </a:solidFill>
              </a:rPr>
              <a:t>log</a:t>
            </a:r>
            <a:r>
              <a:rPr lang="en-US" sz="3600" baseline="-25000" dirty="0">
                <a:solidFill>
                  <a:srgbClr val="C00000"/>
                </a:solidFill>
              </a:rPr>
              <a:t>2</a:t>
            </a:r>
            <a:r>
              <a:rPr lang="en-US" sz="3600" dirty="0">
                <a:solidFill>
                  <a:srgbClr val="C00000"/>
                </a:solidFill>
              </a:rPr>
              <a:t>(</a:t>
            </a:r>
            <a:r>
              <a:rPr lang="en-US" sz="3600" i="1" dirty="0" err="1">
                <a:solidFill>
                  <a:srgbClr val="C00000"/>
                </a:solidFill>
                <a:latin typeface="Times New Roman" pitchFamily="18" charset="0"/>
                <a:cs typeface="Times New Roman" pitchFamily="18" charset="0"/>
              </a:rPr>
              <a:t>i</a:t>
            </a:r>
            <a:r>
              <a:rPr lang="en-US" sz="3600" dirty="0">
                <a:solidFill>
                  <a:srgbClr val="C00000"/>
                </a:solidFill>
              </a:rPr>
              <a:t>)</a:t>
            </a:r>
            <a:r>
              <a:rPr lang="en-US" sz="3600" dirty="0">
                <a:solidFill>
                  <a:srgbClr val="C00000"/>
                </a:solidFill>
                <a:sym typeface="Symbol"/>
              </a:rPr>
              <a:t> = 5 bits</a:t>
            </a:r>
          </a:p>
          <a:p>
            <a:pPr marL="1371600" lvl="5" indent="0">
              <a:buNone/>
            </a:pPr>
            <a:endParaRPr lang="en-US" sz="3400" dirty="0">
              <a:solidFill>
                <a:srgbClr val="C00000"/>
              </a:solidFill>
              <a:sym typeface="Symbol"/>
            </a:endParaRPr>
          </a:p>
          <a:p>
            <a:pPr marL="342900" lvl="2" indent="-342900"/>
            <a:r>
              <a:rPr lang="en-US" sz="2800" dirty="0" err="1">
                <a:ea typeface="+mn-ea"/>
                <a:sym typeface="Symbol"/>
              </a:rPr>
              <a:t>Facilita</a:t>
            </a:r>
            <a:r>
              <a:rPr lang="en-US" sz="2800" dirty="0">
                <a:ea typeface="+mn-ea"/>
                <a:sym typeface="Symbol"/>
              </a:rPr>
              <a:t> </a:t>
            </a:r>
            <a:r>
              <a:rPr lang="en-US" sz="2800" dirty="0" err="1">
                <a:ea typeface="+mn-ea"/>
                <a:sym typeface="Symbol"/>
              </a:rPr>
              <a:t>buscar</a:t>
            </a:r>
            <a:r>
              <a:rPr lang="en-US" sz="2800" dirty="0">
                <a:ea typeface="+mn-ea"/>
                <a:sym typeface="Symbol"/>
              </a:rPr>
              <a:t> la </a:t>
            </a:r>
            <a:r>
              <a:rPr lang="en-US" sz="2800" dirty="0" err="1">
                <a:ea typeface="+mn-ea"/>
                <a:sym typeface="Symbol"/>
              </a:rPr>
              <a:t>potencia</a:t>
            </a:r>
            <a:r>
              <a:rPr lang="en-US" sz="2800" dirty="0">
                <a:ea typeface="+mn-ea"/>
                <a:sym typeface="Symbol"/>
              </a:rPr>
              <a:t> de 2 </a:t>
            </a:r>
            <a:r>
              <a:rPr lang="en-US" sz="2800" dirty="0" err="1">
                <a:ea typeface="+mn-ea"/>
                <a:sym typeface="Symbol"/>
              </a:rPr>
              <a:t>inmediata</a:t>
            </a:r>
            <a:r>
              <a:rPr lang="en-US" sz="2800" dirty="0">
                <a:ea typeface="+mn-ea"/>
                <a:sym typeface="Symbol"/>
              </a:rPr>
              <a:t> superior </a:t>
            </a:r>
            <a:r>
              <a:rPr lang="en-US" sz="2800" dirty="0" err="1">
                <a:ea typeface="+mn-ea"/>
                <a:sym typeface="Symbol"/>
              </a:rPr>
              <a:t>que</a:t>
            </a:r>
            <a:r>
              <a:rPr lang="en-US" sz="2800" dirty="0">
                <a:ea typeface="+mn-ea"/>
                <a:sym typeface="Symbol"/>
              </a:rPr>
              <a:t> </a:t>
            </a:r>
            <a:r>
              <a:rPr lang="en-US" sz="2800" dirty="0" err="1">
                <a:ea typeface="+mn-ea"/>
                <a:sym typeface="Symbol"/>
              </a:rPr>
              <a:t>contenga</a:t>
            </a:r>
            <a:r>
              <a:rPr lang="en-US" sz="2800" dirty="0">
                <a:ea typeface="+mn-ea"/>
                <a:sym typeface="Symbol"/>
              </a:rPr>
              <a:t> a 30 =&gt; 25 = 32 </a:t>
            </a:r>
            <a:r>
              <a:rPr lang="en-US" sz="2800" dirty="0">
                <a:ea typeface="+mn-ea"/>
              </a:rPr>
              <a:t> </a:t>
            </a:r>
            <a:r>
              <a:rPr lang="en-US" dirty="0">
                <a:latin typeface="Edwardian Script ITC" pitchFamily="66" charset="0"/>
              </a:rPr>
              <a:t>L </a:t>
            </a:r>
            <a:r>
              <a:rPr lang="en-US" baseline="-25000" dirty="0"/>
              <a:t>(co) </a:t>
            </a:r>
            <a:r>
              <a:rPr lang="en-US" dirty="0"/>
              <a:t>= </a:t>
            </a:r>
            <a:r>
              <a:rPr lang="en-US" sz="2800" dirty="0">
                <a:ea typeface="+mn-ea"/>
              </a:rPr>
              <a:t>5.</a:t>
            </a:r>
          </a:p>
          <a:p>
            <a:pPr marL="617220" lvl="3" indent="-342900"/>
            <a:r>
              <a:rPr lang="en-US" sz="2600" dirty="0" err="1">
                <a:solidFill>
                  <a:srgbClr val="FF0000"/>
                </a:solidFill>
                <a:ea typeface="+mn-ea"/>
              </a:rPr>
              <a:t>Sobran</a:t>
            </a:r>
            <a:r>
              <a:rPr lang="en-US" sz="2600" dirty="0">
                <a:solidFill>
                  <a:srgbClr val="FF0000"/>
                </a:solidFill>
                <a:ea typeface="+mn-ea"/>
              </a:rPr>
              <a:t> dos </a:t>
            </a:r>
            <a:r>
              <a:rPr lang="en-US" sz="2600" dirty="0" err="1">
                <a:solidFill>
                  <a:srgbClr val="FF0000"/>
                </a:solidFill>
                <a:ea typeface="+mn-ea"/>
              </a:rPr>
              <a:t>códigos</a:t>
            </a:r>
            <a:r>
              <a:rPr lang="en-US" sz="2600" dirty="0">
                <a:solidFill>
                  <a:srgbClr val="FF0000"/>
                </a:solidFill>
                <a:ea typeface="+mn-ea"/>
              </a:rPr>
              <a:t> </a:t>
            </a:r>
            <a:r>
              <a:rPr lang="en-US" sz="2600" dirty="0" err="1">
                <a:solidFill>
                  <a:srgbClr val="FF0000"/>
                </a:solidFill>
                <a:ea typeface="+mn-ea"/>
              </a:rPr>
              <a:t>que</a:t>
            </a:r>
            <a:r>
              <a:rPr lang="en-US" sz="2600" dirty="0">
                <a:solidFill>
                  <a:srgbClr val="FF0000"/>
                </a:solidFill>
                <a:ea typeface="+mn-ea"/>
              </a:rPr>
              <a:t> no se </a:t>
            </a:r>
            <a:r>
              <a:rPr lang="en-US" sz="2600" dirty="0" err="1">
                <a:solidFill>
                  <a:srgbClr val="FF0000"/>
                </a:solidFill>
                <a:ea typeface="+mn-ea"/>
              </a:rPr>
              <a:t>usan</a:t>
            </a:r>
            <a:r>
              <a:rPr lang="en-US" sz="2600" dirty="0">
                <a:solidFill>
                  <a:srgbClr val="FF0000"/>
                </a:solidFill>
                <a:ea typeface="+mn-ea"/>
              </a:rPr>
              <a:t> =&gt; </a:t>
            </a:r>
            <a:r>
              <a:rPr lang="en-US" sz="2600" dirty="0" err="1">
                <a:solidFill>
                  <a:srgbClr val="FF0000"/>
                </a:solidFill>
                <a:ea typeface="+mn-ea"/>
              </a:rPr>
              <a:t>Tratar</a:t>
            </a:r>
            <a:r>
              <a:rPr lang="en-US" sz="2600" dirty="0">
                <a:solidFill>
                  <a:srgbClr val="FF0000"/>
                </a:solidFill>
                <a:ea typeface="+mn-ea"/>
              </a:rPr>
              <a:t> </a:t>
            </a:r>
            <a:r>
              <a:rPr lang="en-US" sz="2600" dirty="0" err="1">
                <a:solidFill>
                  <a:srgbClr val="FF0000"/>
                </a:solidFill>
                <a:ea typeface="+mn-ea"/>
              </a:rPr>
              <a:t>casos</a:t>
            </a:r>
            <a:r>
              <a:rPr lang="en-US" sz="2600" dirty="0">
                <a:solidFill>
                  <a:srgbClr val="FF0000"/>
                </a:solidFill>
                <a:ea typeface="+mn-ea"/>
              </a:rPr>
              <a:t> </a:t>
            </a:r>
            <a:r>
              <a:rPr lang="en-US" sz="2600" dirty="0" err="1">
                <a:solidFill>
                  <a:srgbClr val="FF0000"/>
                </a:solidFill>
                <a:ea typeface="+mn-ea"/>
              </a:rPr>
              <a:t>como</a:t>
            </a:r>
            <a:r>
              <a:rPr lang="en-US" sz="2600" dirty="0">
                <a:solidFill>
                  <a:srgbClr val="FF0000"/>
                </a:solidFill>
                <a:ea typeface="+mn-ea"/>
              </a:rPr>
              <a:t> </a:t>
            </a:r>
            <a:r>
              <a:rPr lang="en-US" sz="2600" dirty="0" err="1">
                <a:solidFill>
                  <a:srgbClr val="FF0000"/>
                </a:solidFill>
                <a:ea typeface="+mn-ea"/>
              </a:rPr>
              <a:t>excepción</a:t>
            </a:r>
            <a:r>
              <a:rPr lang="en-US" sz="2600" dirty="0">
                <a:solidFill>
                  <a:srgbClr val="FF0000"/>
                </a:solidFill>
                <a:ea typeface="+mn-ea"/>
              </a:rPr>
              <a:t> de </a:t>
            </a:r>
            <a:r>
              <a:rPr lang="en-US" sz="2600" dirty="0" err="1">
                <a:solidFill>
                  <a:srgbClr val="FF0000"/>
                </a:solidFill>
                <a:ea typeface="+mn-ea"/>
              </a:rPr>
              <a:t>código</a:t>
            </a:r>
            <a:r>
              <a:rPr lang="en-US" sz="2600" dirty="0">
                <a:solidFill>
                  <a:srgbClr val="FF0000"/>
                </a:solidFill>
                <a:ea typeface="+mn-ea"/>
              </a:rPr>
              <a:t> </a:t>
            </a:r>
            <a:r>
              <a:rPr lang="en-US" sz="2600" dirty="0" err="1">
                <a:solidFill>
                  <a:srgbClr val="FF0000"/>
                </a:solidFill>
                <a:ea typeface="+mn-ea"/>
              </a:rPr>
              <a:t>inválido</a:t>
            </a:r>
            <a:r>
              <a:rPr lang="en-US" sz="2600" dirty="0">
                <a:solidFill>
                  <a:srgbClr val="FF0000"/>
                </a:solidFill>
                <a:ea typeface="+mn-ea"/>
              </a:rPr>
              <a:t>.</a:t>
            </a:r>
            <a:endParaRPr lang="es-NI" sz="2600" dirty="0">
              <a:solidFill>
                <a:srgbClr val="FF0000"/>
              </a:solidFill>
              <a:ea typeface="+mn-ea"/>
            </a:endParaRPr>
          </a:p>
        </p:txBody>
      </p:sp>
    </p:spTree>
    <p:extLst>
      <p:ext uri="{BB962C8B-B14F-4D97-AF65-F5344CB8AC3E}">
        <p14:creationId xmlns:p14="http://schemas.microsoft.com/office/powerpoint/2010/main" val="46730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Fijo</a:t>
            </a:r>
            <a:endParaRPr lang="es-NI" dirty="0"/>
          </a:p>
        </p:txBody>
      </p:sp>
      <p:sp>
        <p:nvSpPr>
          <p:cNvPr id="3" name="2 Marcador de contenido"/>
          <p:cNvSpPr>
            <a:spLocks noGrp="1"/>
          </p:cNvSpPr>
          <p:nvPr>
            <p:ph idx="1"/>
          </p:nvPr>
        </p:nvSpPr>
        <p:spPr>
          <a:xfrm>
            <a:off x="179512" y="1347614"/>
            <a:ext cx="8640960" cy="3312368"/>
          </a:xfrm>
        </p:spPr>
        <p:txBody>
          <a:bodyPr>
            <a:normAutofit fontScale="62500" lnSpcReduction="20000"/>
          </a:bodyPr>
          <a:lstStyle/>
          <a:p>
            <a:r>
              <a:rPr lang="en-US" sz="3800" dirty="0" err="1"/>
              <a:t>Otro</a:t>
            </a:r>
            <a:r>
              <a:rPr lang="en-US" sz="3800" dirty="0"/>
              <a:t> </a:t>
            </a:r>
            <a:r>
              <a:rPr lang="en-US" sz="3800" dirty="0" err="1"/>
              <a:t>ejemplo</a:t>
            </a:r>
            <a:r>
              <a:rPr lang="en-US" sz="3800" dirty="0"/>
              <a:t>:  Se </a:t>
            </a:r>
            <a:r>
              <a:rPr lang="en-US" sz="3800" dirty="0" err="1"/>
              <a:t>requiere</a:t>
            </a:r>
            <a:r>
              <a:rPr lang="en-US" sz="3800" dirty="0"/>
              <a:t> </a:t>
            </a:r>
            <a:r>
              <a:rPr lang="en-US" sz="3800" dirty="0" err="1"/>
              <a:t>codificar</a:t>
            </a:r>
            <a:r>
              <a:rPr lang="en-US" sz="3800" dirty="0"/>
              <a:t> la </a:t>
            </a:r>
            <a:r>
              <a:rPr lang="en-US" sz="3800" dirty="0" err="1"/>
              <a:t>operación</a:t>
            </a:r>
            <a:r>
              <a:rPr lang="en-US" sz="3800" dirty="0"/>
              <a:t> de un </a:t>
            </a:r>
            <a:r>
              <a:rPr lang="en-US" sz="3800" dirty="0" err="1"/>
              <a:t>conjunto</a:t>
            </a:r>
            <a:r>
              <a:rPr lang="en-US" sz="3800" dirty="0"/>
              <a:t> de </a:t>
            </a:r>
            <a:r>
              <a:rPr lang="en-US" sz="3800" dirty="0" err="1"/>
              <a:t>instrucciones</a:t>
            </a:r>
            <a:r>
              <a:rPr lang="en-US" sz="3800" dirty="0"/>
              <a:t> </a:t>
            </a:r>
            <a:r>
              <a:rPr lang="en-US" sz="3800" dirty="0" err="1"/>
              <a:t>formado</a:t>
            </a:r>
            <a:r>
              <a:rPr lang="en-US" sz="3800" dirty="0"/>
              <a:t> </a:t>
            </a:r>
            <a:r>
              <a:rPr lang="en-US" sz="3800" dirty="0" err="1"/>
              <a:t>por</a:t>
            </a:r>
            <a:r>
              <a:rPr lang="en-US" sz="3800" dirty="0"/>
              <a:t> </a:t>
            </a:r>
            <a:r>
              <a:rPr lang="en-US" sz="3800" dirty="0">
                <a:solidFill>
                  <a:srgbClr val="0070C0"/>
                </a:solidFill>
              </a:rPr>
              <a:t>15 </a:t>
            </a:r>
            <a:r>
              <a:rPr lang="en-US" sz="3800" dirty="0" err="1">
                <a:solidFill>
                  <a:srgbClr val="0070C0"/>
                </a:solidFill>
              </a:rPr>
              <a:t>instrucciones</a:t>
            </a:r>
            <a:r>
              <a:rPr lang="en-US" sz="3800" dirty="0">
                <a:solidFill>
                  <a:srgbClr val="0070C0"/>
                </a:solidFill>
              </a:rPr>
              <a:t> de 2 </a:t>
            </a:r>
            <a:r>
              <a:rPr lang="en-US" sz="3800" dirty="0" err="1">
                <a:solidFill>
                  <a:srgbClr val="0070C0"/>
                </a:solidFill>
              </a:rPr>
              <a:t>direcciones</a:t>
            </a:r>
            <a:r>
              <a:rPr lang="en-US" sz="3800" dirty="0"/>
              <a:t>, en un </a:t>
            </a:r>
            <a:r>
              <a:rPr lang="en-US" sz="3800" dirty="0" err="1">
                <a:solidFill>
                  <a:srgbClr val="0070C0"/>
                </a:solidFill>
              </a:rPr>
              <a:t>formato</a:t>
            </a:r>
            <a:r>
              <a:rPr lang="en-US" sz="3800" dirty="0">
                <a:solidFill>
                  <a:srgbClr val="0070C0"/>
                </a:solidFill>
              </a:rPr>
              <a:t> de 16 bits</a:t>
            </a:r>
            <a:r>
              <a:rPr lang="en-US" sz="3800" dirty="0"/>
              <a:t>, </a:t>
            </a:r>
            <a:r>
              <a:rPr lang="en-US" sz="3800" dirty="0" err="1"/>
              <a:t>teniendo</a:t>
            </a:r>
            <a:r>
              <a:rPr lang="en-US" sz="3800" dirty="0"/>
              <a:t> </a:t>
            </a:r>
            <a:r>
              <a:rPr lang="en-US" sz="3800" dirty="0">
                <a:solidFill>
                  <a:srgbClr val="0070C0"/>
                </a:solidFill>
              </a:rPr>
              <a:t>6 bits </a:t>
            </a:r>
            <a:r>
              <a:rPr lang="en-US" sz="3800" dirty="0" err="1"/>
              <a:t>por</a:t>
            </a:r>
            <a:r>
              <a:rPr lang="en-US" sz="3800" dirty="0"/>
              <a:t> </a:t>
            </a:r>
            <a:r>
              <a:rPr lang="en-US" sz="3800" dirty="0" err="1"/>
              <a:t>cada</a:t>
            </a:r>
            <a:r>
              <a:rPr lang="en-US" sz="3800" dirty="0"/>
              <a:t> </a:t>
            </a:r>
            <a:r>
              <a:rPr lang="en-US" sz="3800" dirty="0">
                <a:solidFill>
                  <a:srgbClr val="0070C0"/>
                </a:solidFill>
              </a:rPr>
              <a:t>campo de </a:t>
            </a:r>
            <a:r>
              <a:rPr lang="en-US" sz="3800" dirty="0" err="1">
                <a:solidFill>
                  <a:srgbClr val="0070C0"/>
                </a:solidFill>
              </a:rPr>
              <a:t>direcciones</a:t>
            </a:r>
            <a:r>
              <a:rPr lang="en-US" sz="3800" dirty="0"/>
              <a:t>:</a:t>
            </a:r>
          </a:p>
          <a:p>
            <a:pPr marL="0" indent="0">
              <a:buNone/>
            </a:pPr>
            <a:endParaRPr lang="en-US" sz="2800" dirty="0">
              <a:solidFill>
                <a:srgbClr val="FFFF00"/>
              </a:solidFill>
            </a:endParaRPr>
          </a:p>
          <a:p>
            <a:pPr marL="274320" lvl="1" indent="0">
              <a:buNone/>
            </a:pPr>
            <a:r>
              <a:rPr lang="en-US" sz="3200" dirty="0">
                <a:solidFill>
                  <a:schemeClr val="accent5">
                    <a:lumMod val="75000"/>
                  </a:schemeClr>
                </a:solidFill>
              </a:rPr>
              <a:t>Dos </a:t>
            </a:r>
            <a:r>
              <a:rPr lang="en-US" sz="3200" dirty="0" err="1">
                <a:solidFill>
                  <a:schemeClr val="accent5">
                    <a:lumMod val="75000"/>
                  </a:schemeClr>
                </a:solidFill>
              </a:rPr>
              <a:t>campos</a:t>
            </a:r>
            <a:r>
              <a:rPr lang="en-US" sz="3200" dirty="0">
                <a:solidFill>
                  <a:schemeClr val="accent5">
                    <a:lumMod val="75000"/>
                  </a:schemeClr>
                </a:solidFill>
              </a:rPr>
              <a:t> de </a:t>
            </a:r>
            <a:r>
              <a:rPr lang="en-US" sz="3200" dirty="0" err="1">
                <a:solidFill>
                  <a:schemeClr val="accent5">
                    <a:lumMod val="75000"/>
                  </a:schemeClr>
                </a:solidFill>
              </a:rPr>
              <a:t>operación</a:t>
            </a:r>
            <a:r>
              <a:rPr lang="en-US" sz="3200" dirty="0">
                <a:solidFill>
                  <a:schemeClr val="accent5">
                    <a:lumMod val="75000"/>
                  </a:schemeClr>
                </a:solidFill>
              </a:rPr>
              <a:t> </a:t>
            </a:r>
            <a:r>
              <a:rPr lang="en-US" sz="3200" dirty="0" err="1">
                <a:solidFill>
                  <a:schemeClr val="accent5">
                    <a:lumMod val="75000"/>
                  </a:schemeClr>
                </a:solidFill>
              </a:rPr>
              <a:t>consumen</a:t>
            </a:r>
            <a:r>
              <a:rPr lang="en-US" sz="3200" dirty="0">
                <a:solidFill>
                  <a:schemeClr val="accent5">
                    <a:lumMod val="75000"/>
                  </a:schemeClr>
                </a:solidFill>
              </a:rPr>
              <a:t> 2 x 6 = 12 bits, </a:t>
            </a:r>
            <a:r>
              <a:rPr lang="en-US" sz="3200" dirty="0" err="1">
                <a:solidFill>
                  <a:schemeClr val="accent5">
                    <a:lumMod val="75000"/>
                  </a:schemeClr>
                </a:solidFill>
              </a:rPr>
              <a:t>quedando</a:t>
            </a:r>
            <a:r>
              <a:rPr lang="en-US" sz="3200" dirty="0">
                <a:solidFill>
                  <a:schemeClr val="accent5">
                    <a:lumMod val="75000"/>
                  </a:schemeClr>
                </a:solidFill>
              </a:rPr>
              <a:t> solo 16 -12 = 4 bits para </a:t>
            </a:r>
            <a:r>
              <a:rPr lang="en-US" sz="3200" dirty="0" err="1">
                <a:solidFill>
                  <a:schemeClr val="accent5">
                    <a:lumMod val="75000"/>
                  </a:schemeClr>
                </a:solidFill>
              </a:rPr>
              <a:t>codificar</a:t>
            </a:r>
            <a:r>
              <a:rPr lang="en-US" sz="3200" dirty="0">
                <a:solidFill>
                  <a:schemeClr val="accent5">
                    <a:lumMod val="75000"/>
                  </a:schemeClr>
                </a:solidFill>
              </a:rPr>
              <a:t> el CO. </a:t>
            </a:r>
          </a:p>
          <a:p>
            <a:pPr marL="274320" lvl="1" indent="0">
              <a:buNone/>
            </a:pPr>
            <a:r>
              <a:rPr lang="en-US" sz="3200" dirty="0">
                <a:solidFill>
                  <a:schemeClr val="accent5">
                    <a:lumMod val="75000"/>
                  </a:schemeClr>
                </a:solidFill>
              </a:rPr>
              <a:t>Dado </a:t>
            </a:r>
            <a:r>
              <a:rPr lang="en-US" sz="3200" dirty="0" err="1">
                <a:solidFill>
                  <a:schemeClr val="accent5">
                    <a:lumMod val="75000"/>
                  </a:schemeClr>
                </a:solidFill>
              </a:rPr>
              <a:t>que</a:t>
            </a:r>
            <a:r>
              <a:rPr lang="en-US" sz="3200" dirty="0">
                <a:solidFill>
                  <a:schemeClr val="accent5">
                    <a:lumMod val="75000"/>
                  </a:schemeClr>
                </a:solidFill>
              </a:rPr>
              <a:t> </a:t>
            </a:r>
            <a:r>
              <a:rPr lang="en-US" sz="4500" dirty="0">
                <a:solidFill>
                  <a:srgbClr val="C00000"/>
                </a:solidFill>
                <a:latin typeface="Edwardian Script ITC" pitchFamily="66" charset="0"/>
              </a:rPr>
              <a:t>L </a:t>
            </a:r>
            <a:r>
              <a:rPr lang="en-US" sz="4500" baseline="-25000" dirty="0">
                <a:solidFill>
                  <a:srgbClr val="C00000"/>
                </a:solidFill>
              </a:rPr>
              <a:t>(co) </a:t>
            </a:r>
            <a:r>
              <a:rPr lang="en-US" sz="4500" dirty="0">
                <a:solidFill>
                  <a:srgbClr val="C00000"/>
                </a:solidFill>
              </a:rPr>
              <a:t>= </a:t>
            </a:r>
            <a:r>
              <a:rPr lang="en-US" sz="4500" dirty="0">
                <a:solidFill>
                  <a:srgbClr val="C00000"/>
                </a:solidFill>
                <a:sym typeface="Symbol"/>
              </a:rPr>
              <a:t></a:t>
            </a:r>
            <a:r>
              <a:rPr lang="en-US" sz="4500" dirty="0">
                <a:solidFill>
                  <a:srgbClr val="C00000"/>
                </a:solidFill>
              </a:rPr>
              <a:t>log</a:t>
            </a:r>
            <a:r>
              <a:rPr lang="en-US" sz="4500" baseline="-25000" dirty="0">
                <a:solidFill>
                  <a:srgbClr val="C00000"/>
                </a:solidFill>
              </a:rPr>
              <a:t>2</a:t>
            </a:r>
            <a:r>
              <a:rPr lang="en-US" sz="4500" dirty="0">
                <a:solidFill>
                  <a:srgbClr val="C00000"/>
                </a:solidFill>
              </a:rPr>
              <a:t>(</a:t>
            </a:r>
            <a:r>
              <a:rPr lang="en-US" sz="4500" i="1" dirty="0">
                <a:solidFill>
                  <a:srgbClr val="C00000"/>
                </a:solidFill>
                <a:latin typeface="Times New Roman" pitchFamily="18" charset="0"/>
                <a:cs typeface="Times New Roman" pitchFamily="18" charset="0"/>
              </a:rPr>
              <a:t>15</a:t>
            </a:r>
            <a:r>
              <a:rPr lang="en-US" sz="4500" dirty="0">
                <a:solidFill>
                  <a:srgbClr val="C00000"/>
                </a:solidFill>
              </a:rPr>
              <a:t>)</a:t>
            </a:r>
            <a:r>
              <a:rPr lang="en-US" sz="4500" dirty="0">
                <a:solidFill>
                  <a:srgbClr val="C00000"/>
                </a:solidFill>
                <a:sym typeface="Symbol"/>
              </a:rPr>
              <a:t> = </a:t>
            </a:r>
            <a:r>
              <a:rPr lang="en-US" sz="3800" dirty="0">
                <a:solidFill>
                  <a:srgbClr val="C00000"/>
                </a:solidFill>
                <a:sym typeface="Symbol"/>
              </a:rPr>
              <a:t>4 bits</a:t>
            </a:r>
            <a:r>
              <a:rPr lang="en-US" sz="4500" dirty="0">
                <a:solidFill>
                  <a:schemeClr val="accent5">
                    <a:lumMod val="75000"/>
                  </a:schemeClr>
                </a:solidFill>
                <a:sym typeface="Symbol"/>
              </a:rPr>
              <a:t>, </a:t>
            </a:r>
            <a:r>
              <a:rPr lang="en-US" sz="3200" dirty="0" err="1">
                <a:solidFill>
                  <a:schemeClr val="accent5">
                    <a:lumMod val="75000"/>
                  </a:schemeClr>
                </a:solidFill>
                <a:sym typeface="Symbol"/>
              </a:rPr>
              <a:t>entonces</a:t>
            </a:r>
            <a:r>
              <a:rPr lang="en-US" sz="3200" dirty="0">
                <a:solidFill>
                  <a:schemeClr val="accent5">
                    <a:lumMod val="75000"/>
                  </a:schemeClr>
                </a:solidFill>
                <a:sym typeface="Symbol"/>
              </a:rPr>
              <a:t> </a:t>
            </a:r>
            <a:r>
              <a:rPr lang="en-US" sz="3200" dirty="0" err="1">
                <a:solidFill>
                  <a:schemeClr val="accent5">
                    <a:lumMod val="75000"/>
                  </a:schemeClr>
                </a:solidFill>
                <a:sym typeface="Symbol"/>
              </a:rPr>
              <a:t>queda</a:t>
            </a:r>
            <a:r>
              <a:rPr lang="en-US" sz="3200" dirty="0">
                <a:solidFill>
                  <a:schemeClr val="accent5">
                    <a:lumMod val="75000"/>
                  </a:schemeClr>
                </a:solidFill>
                <a:sym typeface="Symbol"/>
              </a:rPr>
              <a:t> perfecto y me </a:t>
            </a:r>
            <a:r>
              <a:rPr lang="en-US" sz="3200" dirty="0" err="1">
                <a:solidFill>
                  <a:schemeClr val="accent5">
                    <a:lumMod val="75000"/>
                  </a:schemeClr>
                </a:solidFill>
                <a:sym typeface="Symbol"/>
              </a:rPr>
              <a:t>sobra</a:t>
            </a:r>
            <a:r>
              <a:rPr lang="en-US" sz="3200" dirty="0">
                <a:solidFill>
                  <a:schemeClr val="accent5">
                    <a:lumMod val="75000"/>
                  </a:schemeClr>
                </a:solidFill>
                <a:sym typeface="Symbol"/>
              </a:rPr>
              <a:t> 1 </a:t>
            </a:r>
            <a:r>
              <a:rPr lang="en-US" sz="3200" dirty="0" err="1">
                <a:solidFill>
                  <a:schemeClr val="accent5">
                    <a:lumMod val="75000"/>
                  </a:schemeClr>
                </a:solidFill>
                <a:sym typeface="Symbol"/>
              </a:rPr>
              <a:t>combinación</a:t>
            </a:r>
            <a:r>
              <a:rPr lang="en-US" sz="3200" dirty="0">
                <a:solidFill>
                  <a:schemeClr val="accent5">
                    <a:lumMod val="75000"/>
                  </a:schemeClr>
                </a:solidFill>
                <a:sym typeface="Symbol"/>
              </a:rPr>
              <a:t> </a:t>
            </a:r>
            <a:r>
              <a:rPr lang="en-US" sz="3200" dirty="0" err="1">
                <a:solidFill>
                  <a:schemeClr val="accent5">
                    <a:lumMod val="75000"/>
                  </a:schemeClr>
                </a:solidFill>
                <a:sym typeface="Symbol"/>
              </a:rPr>
              <a:t>como</a:t>
            </a:r>
            <a:r>
              <a:rPr lang="en-US" sz="3200" dirty="0">
                <a:solidFill>
                  <a:schemeClr val="accent5">
                    <a:lumMod val="75000"/>
                  </a:schemeClr>
                </a:solidFill>
                <a:sym typeface="Symbol"/>
              </a:rPr>
              <a:t> </a:t>
            </a:r>
            <a:r>
              <a:rPr lang="en-US" sz="3200" dirty="0" err="1">
                <a:solidFill>
                  <a:schemeClr val="accent5">
                    <a:lumMod val="75000"/>
                  </a:schemeClr>
                </a:solidFill>
                <a:sym typeface="Symbol"/>
              </a:rPr>
              <a:t>excepción</a:t>
            </a:r>
            <a:r>
              <a:rPr lang="en-US" sz="3200" dirty="0">
                <a:solidFill>
                  <a:schemeClr val="accent5">
                    <a:lumMod val="75000"/>
                  </a:schemeClr>
                </a:solidFill>
                <a:sym typeface="Symbol"/>
              </a:rPr>
              <a:t>.</a:t>
            </a:r>
          </a:p>
          <a:p>
            <a:pPr marL="1371600" lvl="5" indent="0">
              <a:buNone/>
            </a:pPr>
            <a:r>
              <a:rPr lang="en-US" sz="3600" dirty="0">
                <a:solidFill>
                  <a:schemeClr val="accent5">
                    <a:lumMod val="75000"/>
                  </a:schemeClr>
                </a:solidFill>
                <a:sym typeface="Symbol"/>
              </a:rPr>
              <a:t> </a:t>
            </a:r>
          </a:p>
        </p:txBody>
      </p:sp>
      <p:graphicFrame>
        <p:nvGraphicFramePr>
          <p:cNvPr id="5" name="4 Tabla"/>
          <p:cNvGraphicFramePr>
            <a:graphicFrameLocks noGrp="1"/>
          </p:cNvGraphicFramePr>
          <p:nvPr>
            <p:extLst>
              <p:ext uri="{D42A27DB-BD31-4B8C-83A1-F6EECF244321}">
                <p14:modId xmlns:p14="http://schemas.microsoft.com/office/powerpoint/2010/main" val="2776006601"/>
              </p:ext>
            </p:extLst>
          </p:nvPr>
        </p:nvGraphicFramePr>
        <p:xfrm>
          <a:off x="1619672" y="4371950"/>
          <a:ext cx="6096000" cy="563880"/>
        </p:xfrm>
        <a:graphic>
          <a:graphicData uri="http://schemas.openxmlformats.org/drawingml/2006/table">
            <a:tbl>
              <a:tblPr firstRow="1" bandRow="1">
                <a:tableStyleId>{D7AC3CCA-C797-4891-BE02-D94E43425B78}</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278130">
                <a:tc>
                  <a:txBody>
                    <a:bodyPr/>
                    <a:lstStyle/>
                    <a:p>
                      <a:pPr algn="ctr"/>
                      <a:r>
                        <a:rPr lang="en-US" sz="1400" dirty="0"/>
                        <a:t>CO</a:t>
                      </a:r>
                      <a:endParaRPr lang="es-NI" sz="1400" dirty="0">
                        <a:solidFill>
                          <a:schemeClr val="tx1"/>
                        </a:solidFill>
                      </a:endParaRPr>
                    </a:p>
                  </a:txBody>
                  <a:tcPr marT="34290" marB="34290"/>
                </a:tc>
                <a:tc>
                  <a:txBody>
                    <a:bodyPr/>
                    <a:lstStyle/>
                    <a:p>
                      <a:pPr algn="ctr"/>
                      <a:r>
                        <a:rPr lang="en-US" sz="1400" dirty="0"/>
                        <a:t>O2</a:t>
                      </a:r>
                      <a:endParaRPr lang="es-NI" sz="1400" dirty="0">
                        <a:solidFill>
                          <a:schemeClr val="tx1"/>
                        </a:solidFill>
                      </a:endParaRPr>
                    </a:p>
                  </a:txBody>
                  <a:tcPr marT="34290" marB="34290"/>
                </a:tc>
                <a:tc>
                  <a:txBody>
                    <a:bodyPr/>
                    <a:lstStyle/>
                    <a:p>
                      <a:pPr algn="ctr"/>
                      <a:r>
                        <a:rPr lang="en-US" sz="1400" dirty="0"/>
                        <a:t>O1</a:t>
                      </a:r>
                      <a:endParaRPr lang="es-NI" sz="1400" dirty="0">
                        <a:solidFill>
                          <a:schemeClr val="tx1"/>
                        </a:solidFill>
                      </a:endParaRPr>
                    </a:p>
                  </a:txBody>
                  <a:tcPr marT="34290" marB="34290"/>
                </a:tc>
                <a:extLst>
                  <a:ext uri="{0D108BD9-81ED-4DB2-BD59-A6C34878D82A}">
                    <a16:rowId xmlns:a16="http://schemas.microsoft.com/office/drawing/2014/main" val="10000"/>
                  </a:ext>
                </a:extLst>
              </a:tr>
              <a:tr h="278130">
                <a:tc>
                  <a:txBody>
                    <a:bodyPr/>
                    <a:lstStyle/>
                    <a:p>
                      <a:pPr algn="ctr"/>
                      <a:r>
                        <a:rPr lang="en-US" sz="1400" dirty="0"/>
                        <a:t>4</a:t>
                      </a:r>
                      <a:r>
                        <a:rPr lang="en-US" sz="1400" baseline="0" dirty="0"/>
                        <a:t> bits</a:t>
                      </a:r>
                      <a:endParaRPr lang="es-NI" sz="1400" dirty="0"/>
                    </a:p>
                  </a:txBody>
                  <a:tcPr marT="34290" marB="34290"/>
                </a:tc>
                <a:tc>
                  <a:txBody>
                    <a:bodyPr/>
                    <a:lstStyle/>
                    <a:p>
                      <a:pPr algn="ctr"/>
                      <a:r>
                        <a:rPr lang="en-US" sz="1400" dirty="0"/>
                        <a:t>6 bits</a:t>
                      </a:r>
                      <a:endParaRPr lang="es-NI" sz="1400" dirty="0"/>
                    </a:p>
                  </a:txBody>
                  <a:tcPr marT="34290" marB="34290"/>
                </a:tc>
                <a:tc>
                  <a:txBody>
                    <a:bodyPr/>
                    <a:lstStyle/>
                    <a:p>
                      <a:pPr algn="ctr"/>
                      <a:r>
                        <a:rPr lang="en-US" sz="1400" dirty="0"/>
                        <a:t>6bits</a:t>
                      </a:r>
                      <a:endParaRPr lang="es-NI" sz="1400" dirty="0"/>
                    </a:p>
                  </a:txBody>
                  <a:tcPr marT="34290" marB="3429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3795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Fijo</a:t>
            </a:r>
            <a:endParaRPr lang="es-NI" dirty="0"/>
          </a:p>
        </p:txBody>
      </p:sp>
      <p:sp>
        <p:nvSpPr>
          <p:cNvPr id="3" name="2 Marcador de contenido"/>
          <p:cNvSpPr>
            <a:spLocks noGrp="1"/>
          </p:cNvSpPr>
          <p:nvPr>
            <p:ph idx="1"/>
          </p:nvPr>
        </p:nvSpPr>
        <p:spPr>
          <a:xfrm>
            <a:off x="179512" y="1275605"/>
            <a:ext cx="8712968" cy="3780421"/>
          </a:xfrm>
        </p:spPr>
        <p:txBody>
          <a:bodyPr>
            <a:normAutofit fontScale="92500" lnSpcReduction="10000"/>
          </a:bodyPr>
          <a:lstStyle/>
          <a:p>
            <a:r>
              <a:rPr lang="en-US" dirty="0"/>
              <a:t>¿</a:t>
            </a:r>
            <a:r>
              <a:rPr lang="en-US" dirty="0" err="1"/>
              <a:t>Qué</a:t>
            </a:r>
            <a:r>
              <a:rPr lang="en-US" dirty="0"/>
              <a:t> </a:t>
            </a:r>
            <a:r>
              <a:rPr lang="en-US" dirty="0" err="1"/>
              <a:t>pasa</a:t>
            </a:r>
            <a:r>
              <a:rPr lang="en-US" dirty="0"/>
              <a:t> </a:t>
            </a:r>
            <a:r>
              <a:rPr lang="en-US" dirty="0" err="1"/>
              <a:t>si</a:t>
            </a:r>
            <a:r>
              <a:rPr lang="en-US" dirty="0"/>
              <a:t> en el </a:t>
            </a:r>
            <a:r>
              <a:rPr lang="en-US" dirty="0" err="1"/>
              <a:t>ejemplo</a:t>
            </a:r>
            <a:r>
              <a:rPr lang="en-US" dirty="0"/>
              <a:t> anterior se </a:t>
            </a:r>
            <a:r>
              <a:rPr lang="en-US" dirty="0" err="1"/>
              <a:t>requieren</a:t>
            </a:r>
            <a:r>
              <a:rPr lang="en-US" dirty="0"/>
              <a:t> </a:t>
            </a:r>
            <a:r>
              <a:rPr lang="en-US" dirty="0" err="1"/>
              <a:t>además</a:t>
            </a:r>
            <a:r>
              <a:rPr lang="en-US" dirty="0"/>
              <a:t> 30 </a:t>
            </a:r>
            <a:r>
              <a:rPr lang="en-US" dirty="0" err="1"/>
              <a:t>instrucciones</a:t>
            </a:r>
            <a:r>
              <a:rPr lang="en-US" dirty="0"/>
              <a:t> de 1 operando?</a:t>
            </a:r>
          </a:p>
          <a:p>
            <a:endParaRPr lang="en-US" sz="1600" dirty="0"/>
          </a:p>
          <a:p>
            <a:pPr marL="457200" lvl="3" indent="0">
              <a:buNone/>
            </a:pPr>
            <a:r>
              <a:rPr lang="en-US" sz="2400" dirty="0" err="1">
                <a:solidFill>
                  <a:schemeClr val="accent1">
                    <a:lumMod val="75000"/>
                  </a:schemeClr>
                </a:solidFill>
              </a:rPr>
              <a:t>Serían</a:t>
            </a:r>
            <a:r>
              <a:rPr lang="en-US" sz="2400" dirty="0">
                <a:solidFill>
                  <a:schemeClr val="accent1">
                    <a:lumMod val="75000"/>
                  </a:schemeClr>
                </a:solidFill>
              </a:rPr>
              <a:t> 15 + 30 = 45 </a:t>
            </a:r>
            <a:r>
              <a:rPr lang="en-US" sz="2400" dirty="0" err="1">
                <a:solidFill>
                  <a:schemeClr val="accent1">
                    <a:lumMod val="75000"/>
                  </a:schemeClr>
                </a:solidFill>
              </a:rPr>
              <a:t>instruciones</a:t>
            </a:r>
            <a:r>
              <a:rPr lang="en-US" sz="2400" dirty="0">
                <a:solidFill>
                  <a:schemeClr val="accent1">
                    <a:lumMod val="75000"/>
                  </a:schemeClr>
                </a:solidFill>
              </a:rPr>
              <a:t> y </a:t>
            </a:r>
            <a:r>
              <a:rPr lang="en-US" sz="2400" dirty="0">
                <a:solidFill>
                  <a:schemeClr val="accent1">
                    <a:lumMod val="75000"/>
                  </a:schemeClr>
                </a:solidFill>
                <a:sym typeface="Symbol"/>
              </a:rPr>
              <a:t> </a:t>
            </a:r>
            <a:r>
              <a:rPr lang="en-US" sz="2400" dirty="0">
                <a:solidFill>
                  <a:schemeClr val="accent1">
                    <a:lumMod val="75000"/>
                  </a:schemeClr>
                </a:solidFill>
                <a:latin typeface="Edwardian Script ITC" pitchFamily="66" charset="0"/>
              </a:rPr>
              <a:t>L </a:t>
            </a:r>
            <a:r>
              <a:rPr lang="en-US" sz="2400" baseline="-25000" dirty="0">
                <a:solidFill>
                  <a:schemeClr val="accent1">
                    <a:lumMod val="75000"/>
                  </a:schemeClr>
                </a:solidFill>
              </a:rPr>
              <a:t>(co) </a:t>
            </a:r>
            <a:r>
              <a:rPr lang="en-US" sz="2400" dirty="0">
                <a:solidFill>
                  <a:schemeClr val="accent1">
                    <a:lumMod val="75000"/>
                  </a:schemeClr>
                </a:solidFill>
              </a:rPr>
              <a:t>= 6.</a:t>
            </a:r>
            <a:endParaRPr lang="es-NI" sz="2400" dirty="0">
              <a:solidFill>
                <a:schemeClr val="accent1">
                  <a:lumMod val="75000"/>
                </a:schemeClr>
              </a:solidFill>
            </a:endParaRPr>
          </a:p>
          <a:p>
            <a:r>
              <a:rPr lang="en-US" dirty="0"/>
              <a:t>No </a:t>
            </a:r>
            <a:r>
              <a:rPr lang="en-US" dirty="0" err="1"/>
              <a:t>caben</a:t>
            </a:r>
            <a:r>
              <a:rPr lang="en-US" dirty="0"/>
              <a:t> en el </a:t>
            </a:r>
            <a:r>
              <a:rPr lang="en-US" dirty="0" err="1"/>
              <a:t>formato</a:t>
            </a:r>
            <a:r>
              <a:rPr lang="en-US" dirty="0"/>
              <a:t> de 16 bits, se </a:t>
            </a:r>
            <a:r>
              <a:rPr lang="en-US" dirty="0" err="1"/>
              <a:t>requerirían</a:t>
            </a:r>
            <a:r>
              <a:rPr lang="en-US" dirty="0"/>
              <a:t> 18 bits. Para </a:t>
            </a:r>
            <a:r>
              <a:rPr lang="en-US" dirty="0" err="1"/>
              <a:t>que</a:t>
            </a:r>
            <a:r>
              <a:rPr lang="en-US" dirty="0"/>
              <a:t> </a:t>
            </a:r>
            <a:r>
              <a:rPr lang="en-US" dirty="0" err="1"/>
              <a:t>quepan</a:t>
            </a:r>
            <a:r>
              <a:rPr lang="en-US" dirty="0"/>
              <a:t> se </a:t>
            </a:r>
            <a:r>
              <a:rPr lang="en-US" dirty="0" err="1"/>
              <a:t>debería</a:t>
            </a:r>
            <a:r>
              <a:rPr lang="en-US" dirty="0"/>
              <a:t> extender el </a:t>
            </a:r>
            <a:r>
              <a:rPr lang="en-US" dirty="0" err="1"/>
              <a:t>formato</a:t>
            </a:r>
            <a:r>
              <a:rPr lang="en-US" dirty="0"/>
              <a:t> a 18 bits. </a:t>
            </a:r>
          </a:p>
          <a:p>
            <a:r>
              <a:rPr lang="en-US" dirty="0"/>
              <a:t>Los </a:t>
            </a:r>
            <a:r>
              <a:rPr lang="en-US" dirty="0" err="1"/>
              <a:t>formatos</a:t>
            </a:r>
            <a:r>
              <a:rPr lang="en-US" dirty="0"/>
              <a:t> </a:t>
            </a:r>
            <a:r>
              <a:rPr lang="en-US" dirty="0" err="1"/>
              <a:t>suelen</a:t>
            </a:r>
            <a:r>
              <a:rPr lang="en-US" dirty="0"/>
              <a:t> </a:t>
            </a:r>
            <a:r>
              <a:rPr lang="en-US" dirty="0" err="1"/>
              <a:t>ser</a:t>
            </a:r>
            <a:r>
              <a:rPr lang="en-US" dirty="0"/>
              <a:t> </a:t>
            </a:r>
            <a:r>
              <a:rPr lang="en-US" dirty="0" err="1"/>
              <a:t>múltiplos</a:t>
            </a:r>
            <a:r>
              <a:rPr lang="en-US" dirty="0"/>
              <a:t> del byte </a:t>
            </a:r>
            <a:r>
              <a:rPr lang="en-US" dirty="0">
                <a:solidFill>
                  <a:schemeClr val="accent1">
                    <a:lumMod val="75000"/>
                  </a:schemeClr>
                </a:solidFill>
              </a:rPr>
              <a:t>(</a:t>
            </a:r>
            <a:r>
              <a:rPr lang="en-US" dirty="0" err="1">
                <a:solidFill>
                  <a:schemeClr val="accent1">
                    <a:lumMod val="75000"/>
                  </a:schemeClr>
                </a:solidFill>
              </a:rPr>
              <a:t>memorias</a:t>
            </a:r>
            <a:r>
              <a:rPr lang="en-US" dirty="0">
                <a:solidFill>
                  <a:schemeClr val="accent1">
                    <a:lumMod val="75000"/>
                  </a:schemeClr>
                </a:solidFill>
              </a:rPr>
              <a:t> </a:t>
            </a:r>
            <a:r>
              <a:rPr lang="en-US" dirty="0" err="1">
                <a:solidFill>
                  <a:schemeClr val="accent1">
                    <a:lumMod val="75000"/>
                  </a:schemeClr>
                </a:solidFill>
              </a:rPr>
              <a:t>direccionables</a:t>
            </a:r>
            <a:r>
              <a:rPr lang="en-US" dirty="0">
                <a:solidFill>
                  <a:schemeClr val="accent1">
                    <a:lumMod val="75000"/>
                  </a:schemeClr>
                </a:solidFill>
              </a:rPr>
              <a:t> </a:t>
            </a:r>
            <a:r>
              <a:rPr lang="en-US" dirty="0" err="1">
                <a:solidFill>
                  <a:schemeClr val="accent1">
                    <a:lumMod val="75000"/>
                  </a:schemeClr>
                </a:solidFill>
              </a:rPr>
              <a:t>por</a:t>
            </a:r>
            <a:r>
              <a:rPr lang="en-US" dirty="0">
                <a:solidFill>
                  <a:schemeClr val="accent1">
                    <a:lumMod val="75000"/>
                  </a:schemeClr>
                </a:solidFill>
              </a:rPr>
              <a:t> byte), </a:t>
            </a:r>
            <a:r>
              <a:rPr lang="en-US" dirty="0" err="1"/>
              <a:t>por</a:t>
            </a:r>
            <a:r>
              <a:rPr lang="en-US" dirty="0"/>
              <a:t> </a:t>
            </a:r>
            <a:r>
              <a:rPr lang="en-US" dirty="0" err="1"/>
              <a:t>tanto</a:t>
            </a:r>
            <a:r>
              <a:rPr lang="en-US" dirty="0"/>
              <a:t> </a:t>
            </a:r>
            <a:r>
              <a:rPr lang="en-US" dirty="0" err="1"/>
              <a:t>debería</a:t>
            </a:r>
            <a:r>
              <a:rPr lang="en-US" dirty="0"/>
              <a:t> </a:t>
            </a:r>
            <a:r>
              <a:rPr lang="en-US" dirty="0" err="1"/>
              <a:t>ser</a:t>
            </a:r>
            <a:r>
              <a:rPr lang="en-US" dirty="0"/>
              <a:t> de 24 bits.</a:t>
            </a:r>
          </a:p>
          <a:p>
            <a:r>
              <a:rPr lang="en-US" dirty="0"/>
              <a:t>Si se </a:t>
            </a:r>
            <a:r>
              <a:rPr lang="en-US" dirty="0" err="1"/>
              <a:t>hace</a:t>
            </a:r>
            <a:r>
              <a:rPr lang="en-US" dirty="0"/>
              <a:t>: </a:t>
            </a:r>
            <a:r>
              <a:rPr lang="en-US" dirty="0" err="1"/>
              <a:t>Desperdicio</a:t>
            </a:r>
            <a:r>
              <a:rPr lang="en-US" dirty="0"/>
              <a:t> de bits: </a:t>
            </a:r>
            <a:r>
              <a:rPr lang="en-US" dirty="0" err="1"/>
              <a:t>si</a:t>
            </a:r>
            <a:r>
              <a:rPr lang="en-US" dirty="0"/>
              <a:t> M </a:t>
            </a:r>
            <a:r>
              <a:rPr lang="en-US" dirty="0" err="1"/>
              <a:t>direccionable</a:t>
            </a:r>
            <a:r>
              <a:rPr lang="en-US" dirty="0"/>
              <a:t> </a:t>
            </a:r>
            <a:r>
              <a:rPr lang="en-US" dirty="0" err="1"/>
              <a:t>por</a:t>
            </a:r>
            <a:r>
              <a:rPr lang="en-US" dirty="0"/>
              <a:t> byte =&gt; 3 bytes </a:t>
            </a:r>
            <a:r>
              <a:rPr lang="en-US" dirty="0" err="1"/>
              <a:t>requeridos</a:t>
            </a:r>
            <a:r>
              <a:rPr lang="en-US" dirty="0"/>
              <a:t> y 6 </a:t>
            </a:r>
            <a:r>
              <a:rPr lang="en-US" dirty="0" err="1"/>
              <a:t>desperdiciados</a:t>
            </a:r>
            <a:r>
              <a:rPr lang="en-US" dirty="0"/>
              <a:t> </a:t>
            </a:r>
            <a:r>
              <a:rPr lang="en-US" dirty="0" err="1"/>
              <a:t>por</a:t>
            </a:r>
            <a:r>
              <a:rPr lang="en-US" dirty="0"/>
              <a:t> c/u. Dos </a:t>
            </a:r>
            <a:r>
              <a:rPr lang="en-US" dirty="0" err="1"/>
              <a:t>ciclos</a:t>
            </a:r>
            <a:r>
              <a:rPr lang="en-US" dirty="0"/>
              <a:t> </a:t>
            </a:r>
            <a:r>
              <a:rPr lang="en-US" dirty="0" err="1"/>
              <a:t>para</a:t>
            </a:r>
            <a:r>
              <a:rPr lang="en-US" dirty="0"/>
              <a:t> </a:t>
            </a:r>
            <a:r>
              <a:rPr lang="en-US" dirty="0" err="1"/>
              <a:t>traer</a:t>
            </a:r>
            <a:r>
              <a:rPr lang="en-US" dirty="0"/>
              <a:t> la </a:t>
            </a:r>
            <a:r>
              <a:rPr lang="en-US" dirty="0" err="1"/>
              <a:t>instrucción</a:t>
            </a:r>
            <a:r>
              <a:rPr lang="en-US" dirty="0"/>
              <a:t>.</a:t>
            </a:r>
            <a:endParaRPr lang="es-NI" dirty="0"/>
          </a:p>
        </p:txBody>
      </p:sp>
    </p:spTree>
    <p:extLst>
      <p:ext uri="{BB962C8B-B14F-4D97-AF65-F5344CB8AC3E}">
        <p14:creationId xmlns:p14="http://schemas.microsoft.com/office/powerpoint/2010/main" val="422272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Fijo</a:t>
            </a:r>
            <a:endParaRPr lang="es-NI" dirty="0"/>
          </a:p>
        </p:txBody>
      </p:sp>
      <p:sp>
        <p:nvSpPr>
          <p:cNvPr id="3" name="2 Marcador de contenido"/>
          <p:cNvSpPr>
            <a:spLocks noGrp="1"/>
          </p:cNvSpPr>
          <p:nvPr>
            <p:ph idx="1"/>
          </p:nvPr>
        </p:nvSpPr>
        <p:spPr>
          <a:xfrm>
            <a:off x="251520" y="1347613"/>
            <a:ext cx="8784976" cy="3708413"/>
          </a:xfrm>
        </p:spPr>
        <p:txBody>
          <a:bodyPr>
            <a:normAutofit fontScale="92500" lnSpcReduction="10000"/>
          </a:bodyPr>
          <a:lstStyle/>
          <a:p>
            <a:r>
              <a:rPr lang="en-US" dirty="0" err="1"/>
              <a:t>Pero</a:t>
            </a:r>
            <a:r>
              <a:rPr lang="en-US" dirty="0"/>
              <a:t>, </a:t>
            </a:r>
            <a:r>
              <a:rPr lang="en-US" dirty="0" err="1"/>
              <a:t>observemos</a:t>
            </a:r>
            <a:r>
              <a:rPr lang="en-US" dirty="0"/>
              <a:t> </a:t>
            </a:r>
            <a:r>
              <a:rPr lang="en-US" dirty="0" err="1"/>
              <a:t>que</a:t>
            </a:r>
            <a:r>
              <a:rPr lang="en-US" dirty="0"/>
              <a:t> no </a:t>
            </a:r>
            <a:r>
              <a:rPr lang="en-US" dirty="0" err="1"/>
              <a:t>todos</a:t>
            </a:r>
            <a:r>
              <a:rPr lang="en-US" dirty="0"/>
              <a:t> los bits se </a:t>
            </a:r>
            <a:r>
              <a:rPr lang="en-US" dirty="0" err="1"/>
              <a:t>usan</a:t>
            </a:r>
            <a:r>
              <a:rPr lang="en-US" dirty="0"/>
              <a:t> …</a:t>
            </a:r>
          </a:p>
          <a:p>
            <a:endParaRPr lang="en-US" dirty="0"/>
          </a:p>
          <a:p>
            <a:endParaRPr lang="en-US" dirty="0"/>
          </a:p>
          <a:p>
            <a:endParaRPr lang="en-US" dirty="0"/>
          </a:p>
          <a:p>
            <a:r>
              <a:rPr lang="en-US" dirty="0"/>
              <a:t>En </a:t>
            </a:r>
            <a:r>
              <a:rPr lang="en-US" dirty="0" err="1"/>
              <a:t>las</a:t>
            </a:r>
            <a:r>
              <a:rPr lang="en-US" dirty="0"/>
              <a:t> </a:t>
            </a:r>
            <a:r>
              <a:rPr lang="en-US" dirty="0" err="1"/>
              <a:t>instrucciones</a:t>
            </a:r>
            <a:r>
              <a:rPr lang="en-US" dirty="0"/>
              <a:t> de 1 operando no se </a:t>
            </a:r>
            <a:r>
              <a:rPr lang="en-US" dirty="0" err="1"/>
              <a:t>usan</a:t>
            </a:r>
            <a:r>
              <a:rPr lang="en-US" dirty="0"/>
              <a:t> los bits del campo O2.</a:t>
            </a:r>
          </a:p>
          <a:p>
            <a:r>
              <a:rPr lang="en-US" dirty="0" err="1">
                <a:solidFill>
                  <a:schemeClr val="accent1">
                    <a:lumMod val="75000"/>
                  </a:schemeClr>
                </a:solidFill>
              </a:rPr>
              <a:t>Segunda</a:t>
            </a:r>
            <a:r>
              <a:rPr lang="en-US" dirty="0">
                <a:solidFill>
                  <a:schemeClr val="accent1">
                    <a:lumMod val="75000"/>
                  </a:schemeClr>
                </a:solidFill>
              </a:rPr>
              <a:t> </a:t>
            </a:r>
            <a:r>
              <a:rPr lang="en-US" dirty="0" err="1">
                <a:solidFill>
                  <a:schemeClr val="accent1">
                    <a:lumMod val="75000"/>
                  </a:schemeClr>
                </a:solidFill>
              </a:rPr>
              <a:t>opción</a:t>
            </a:r>
            <a:r>
              <a:rPr lang="en-US" dirty="0">
                <a:solidFill>
                  <a:schemeClr val="accent1">
                    <a:lumMod val="75000"/>
                  </a:schemeClr>
                </a:solidFill>
              </a:rPr>
              <a:t>: </a:t>
            </a:r>
            <a:r>
              <a:rPr lang="en-US" dirty="0">
                <a:solidFill>
                  <a:srgbClr val="0070C0"/>
                </a:solidFill>
              </a:rPr>
              <a:t>Extender el CO </a:t>
            </a:r>
            <a:r>
              <a:rPr lang="en-US" dirty="0" err="1">
                <a:solidFill>
                  <a:srgbClr val="0070C0"/>
                </a:solidFill>
              </a:rPr>
              <a:t>sobre</a:t>
            </a:r>
            <a:r>
              <a:rPr lang="en-US" dirty="0">
                <a:solidFill>
                  <a:srgbClr val="0070C0"/>
                </a:solidFill>
              </a:rPr>
              <a:t> </a:t>
            </a:r>
            <a:r>
              <a:rPr lang="en-US" dirty="0" err="1">
                <a:solidFill>
                  <a:srgbClr val="0070C0"/>
                </a:solidFill>
              </a:rPr>
              <a:t>estos</a:t>
            </a:r>
            <a:r>
              <a:rPr lang="en-US" dirty="0">
                <a:solidFill>
                  <a:srgbClr val="0070C0"/>
                </a:solidFill>
              </a:rPr>
              <a:t> bits </a:t>
            </a:r>
            <a:r>
              <a:rPr lang="en-US" dirty="0" err="1">
                <a:solidFill>
                  <a:srgbClr val="0070C0"/>
                </a:solidFill>
              </a:rPr>
              <a:t>que</a:t>
            </a:r>
            <a:r>
              <a:rPr lang="en-US" dirty="0">
                <a:solidFill>
                  <a:srgbClr val="0070C0"/>
                </a:solidFill>
              </a:rPr>
              <a:t> no se </a:t>
            </a:r>
            <a:r>
              <a:rPr lang="en-US" dirty="0" err="1">
                <a:solidFill>
                  <a:srgbClr val="0070C0"/>
                </a:solidFill>
              </a:rPr>
              <a:t>usan</a:t>
            </a:r>
            <a:r>
              <a:rPr lang="en-US" dirty="0">
                <a:solidFill>
                  <a:srgbClr val="0070C0"/>
                </a:solidFill>
              </a:rPr>
              <a:t> en </a:t>
            </a:r>
            <a:r>
              <a:rPr lang="en-US" dirty="0" err="1">
                <a:solidFill>
                  <a:srgbClr val="0070C0"/>
                </a:solidFill>
              </a:rPr>
              <a:t>las</a:t>
            </a:r>
            <a:r>
              <a:rPr lang="en-US" dirty="0">
                <a:solidFill>
                  <a:srgbClr val="0070C0"/>
                </a:solidFill>
              </a:rPr>
              <a:t> </a:t>
            </a:r>
            <a:r>
              <a:rPr lang="en-US" dirty="0" err="1">
                <a:solidFill>
                  <a:srgbClr val="0070C0"/>
                </a:solidFill>
              </a:rPr>
              <a:t>instrucciones</a:t>
            </a:r>
            <a:r>
              <a:rPr lang="en-US" dirty="0">
                <a:solidFill>
                  <a:srgbClr val="0070C0"/>
                </a:solidFill>
              </a:rPr>
              <a:t> de 1 operando, </a:t>
            </a:r>
            <a:r>
              <a:rPr lang="en-US" dirty="0" err="1">
                <a:solidFill>
                  <a:srgbClr val="0070C0"/>
                </a:solidFill>
              </a:rPr>
              <a:t>eso</a:t>
            </a:r>
            <a:r>
              <a:rPr lang="en-US" dirty="0">
                <a:solidFill>
                  <a:srgbClr val="0070C0"/>
                </a:solidFill>
              </a:rPr>
              <a:t> </a:t>
            </a:r>
            <a:r>
              <a:rPr lang="en-US" dirty="0" err="1">
                <a:solidFill>
                  <a:srgbClr val="0070C0"/>
                </a:solidFill>
              </a:rPr>
              <a:t>permitirá</a:t>
            </a:r>
            <a:r>
              <a:rPr lang="en-US" dirty="0">
                <a:solidFill>
                  <a:srgbClr val="0070C0"/>
                </a:solidFill>
              </a:rPr>
              <a:t> </a:t>
            </a:r>
            <a:r>
              <a:rPr lang="en-US" dirty="0" err="1">
                <a:solidFill>
                  <a:srgbClr val="0070C0"/>
                </a:solidFill>
              </a:rPr>
              <a:t>más</a:t>
            </a:r>
            <a:r>
              <a:rPr lang="en-US" dirty="0">
                <a:solidFill>
                  <a:srgbClr val="0070C0"/>
                </a:solidFill>
              </a:rPr>
              <a:t> </a:t>
            </a:r>
            <a:r>
              <a:rPr lang="en-US" dirty="0" err="1">
                <a:solidFill>
                  <a:srgbClr val="0070C0"/>
                </a:solidFill>
              </a:rPr>
              <a:t>instrucciones</a:t>
            </a:r>
            <a:r>
              <a:rPr lang="en-US" dirty="0">
                <a:solidFill>
                  <a:srgbClr val="0070C0"/>
                </a:solidFill>
              </a:rPr>
              <a:t> en el </a:t>
            </a:r>
            <a:r>
              <a:rPr lang="en-US" dirty="0" err="1">
                <a:solidFill>
                  <a:srgbClr val="0070C0"/>
                </a:solidFill>
              </a:rPr>
              <a:t>mismo</a:t>
            </a:r>
            <a:r>
              <a:rPr lang="en-US" dirty="0">
                <a:solidFill>
                  <a:srgbClr val="0070C0"/>
                </a:solidFill>
              </a:rPr>
              <a:t> </a:t>
            </a:r>
            <a:r>
              <a:rPr lang="en-US" dirty="0" err="1">
                <a:solidFill>
                  <a:srgbClr val="0070C0"/>
                </a:solidFill>
              </a:rPr>
              <a:t>formato</a:t>
            </a:r>
            <a:r>
              <a:rPr lang="en-US" dirty="0">
                <a:solidFill>
                  <a:srgbClr val="0070C0"/>
                </a:solidFill>
              </a:rPr>
              <a:t> </a:t>
            </a:r>
            <a:endParaRPr lang="en-US" dirty="0">
              <a:solidFill>
                <a:schemeClr val="accent1">
                  <a:lumMod val="75000"/>
                </a:schemeClr>
              </a:solidFill>
            </a:endParaRPr>
          </a:p>
          <a:p>
            <a:r>
              <a:rPr lang="en-US" dirty="0"/>
              <a:t>Dos </a:t>
            </a:r>
            <a:r>
              <a:rPr lang="en-US" dirty="0" err="1"/>
              <a:t>grupos</a:t>
            </a:r>
            <a:r>
              <a:rPr lang="en-US" dirty="0"/>
              <a:t> de </a:t>
            </a:r>
            <a:r>
              <a:rPr lang="en-US" dirty="0" err="1"/>
              <a:t>instrucciones</a:t>
            </a:r>
            <a:r>
              <a:rPr lang="en-US" dirty="0"/>
              <a:t>. 2ops: </a:t>
            </a:r>
            <a:r>
              <a:rPr lang="en-US" dirty="0">
                <a:latin typeface="Edwardian Script ITC" panose="030303020407070D0804" pitchFamily="66" charset="0"/>
              </a:rPr>
              <a:t>L </a:t>
            </a:r>
            <a:r>
              <a:rPr lang="en-US" dirty="0"/>
              <a:t>(co) = 4 y 1op: </a:t>
            </a:r>
            <a:r>
              <a:rPr lang="en-US" dirty="0">
                <a:latin typeface="Edwardian Script ITC" panose="030303020407070D0804" pitchFamily="66" charset="0"/>
              </a:rPr>
              <a:t>L</a:t>
            </a:r>
            <a:r>
              <a:rPr lang="en-US" dirty="0"/>
              <a:t> (co) = 10</a:t>
            </a:r>
            <a:endParaRPr lang="es-NI" dirty="0"/>
          </a:p>
        </p:txBody>
      </p:sp>
      <p:graphicFrame>
        <p:nvGraphicFramePr>
          <p:cNvPr id="4" name="3 Tabla"/>
          <p:cNvGraphicFramePr>
            <a:graphicFrameLocks noGrp="1"/>
          </p:cNvGraphicFramePr>
          <p:nvPr>
            <p:extLst>
              <p:ext uri="{D42A27DB-BD31-4B8C-83A1-F6EECF244321}">
                <p14:modId xmlns:p14="http://schemas.microsoft.com/office/powerpoint/2010/main" val="3728961635"/>
              </p:ext>
            </p:extLst>
          </p:nvPr>
        </p:nvGraphicFramePr>
        <p:xfrm>
          <a:off x="1547664" y="1869672"/>
          <a:ext cx="6096000" cy="563880"/>
        </p:xfrm>
        <a:graphic>
          <a:graphicData uri="http://schemas.openxmlformats.org/drawingml/2006/table">
            <a:tbl>
              <a:tblPr firstRow="1" bandRow="1">
                <a:tableStyleId>{D7AC3CCA-C797-4891-BE02-D94E43425B78}</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278130">
                <a:tc>
                  <a:txBody>
                    <a:bodyPr/>
                    <a:lstStyle/>
                    <a:p>
                      <a:pPr algn="ctr"/>
                      <a:r>
                        <a:rPr lang="en-US" sz="1400" dirty="0"/>
                        <a:t>CO</a:t>
                      </a:r>
                      <a:endParaRPr lang="es-NI" sz="1400" dirty="0">
                        <a:solidFill>
                          <a:schemeClr val="tx1"/>
                        </a:solidFill>
                      </a:endParaRPr>
                    </a:p>
                  </a:txBody>
                  <a:tcPr marT="34290" marB="34290">
                    <a:solidFill>
                      <a:srgbClr val="FFFF00"/>
                    </a:solidFill>
                  </a:tcPr>
                </a:tc>
                <a:tc>
                  <a:txBody>
                    <a:bodyPr/>
                    <a:lstStyle/>
                    <a:p>
                      <a:pPr algn="ctr"/>
                      <a:r>
                        <a:rPr lang="en-US" sz="1400" dirty="0"/>
                        <a:t>O2</a:t>
                      </a:r>
                      <a:endParaRPr lang="es-NI" sz="1400" dirty="0">
                        <a:solidFill>
                          <a:schemeClr val="tx1"/>
                        </a:solidFill>
                      </a:endParaRPr>
                    </a:p>
                  </a:txBody>
                  <a:tcPr marT="34290" marB="34290">
                    <a:solidFill>
                      <a:srgbClr val="FFFF00"/>
                    </a:solidFill>
                  </a:tcPr>
                </a:tc>
                <a:tc>
                  <a:txBody>
                    <a:bodyPr/>
                    <a:lstStyle/>
                    <a:p>
                      <a:pPr algn="ctr"/>
                      <a:r>
                        <a:rPr lang="en-US" sz="1400" dirty="0"/>
                        <a:t>O1</a:t>
                      </a:r>
                      <a:endParaRPr lang="es-NI" sz="1400" dirty="0">
                        <a:solidFill>
                          <a:schemeClr val="tx1"/>
                        </a:solidFill>
                      </a:endParaRPr>
                    </a:p>
                  </a:txBody>
                  <a:tcPr marT="34290" marB="34290">
                    <a:solidFill>
                      <a:srgbClr val="FFFF00"/>
                    </a:solidFill>
                  </a:tcPr>
                </a:tc>
                <a:extLst>
                  <a:ext uri="{0D108BD9-81ED-4DB2-BD59-A6C34878D82A}">
                    <a16:rowId xmlns:a16="http://schemas.microsoft.com/office/drawing/2014/main" val="10000"/>
                  </a:ext>
                </a:extLst>
              </a:tr>
              <a:tr h="278130">
                <a:tc>
                  <a:txBody>
                    <a:bodyPr/>
                    <a:lstStyle/>
                    <a:p>
                      <a:pPr algn="ctr"/>
                      <a:r>
                        <a:rPr lang="en-US" sz="1400" b="1" dirty="0"/>
                        <a:t>CO</a:t>
                      </a:r>
                      <a:endParaRPr lang="es-NI" sz="1400" b="1" dirty="0">
                        <a:solidFill>
                          <a:schemeClr val="tx1"/>
                        </a:solidFill>
                      </a:endParaRPr>
                    </a:p>
                  </a:txBody>
                  <a:tcPr marT="34290" marB="34290">
                    <a:solidFill>
                      <a:srgbClr val="00B050"/>
                    </a:solidFill>
                  </a:tcPr>
                </a:tc>
                <a:tc>
                  <a:txBody>
                    <a:bodyPr/>
                    <a:lstStyle/>
                    <a:p>
                      <a:pPr algn="ctr"/>
                      <a:r>
                        <a:rPr lang="en-US" sz="1400" b="1" dirty="0">
                          <a:solidFill>
                            <a:srgbClr val="FF0000"/>
                          </a:solidFill>
                        </a:rPr>
                        <a:t>O2 (No</a:t>
                      </a:r>
                      <a:r>
                        <a:rPr lang="en-US" sz="1400" b="1" baseline="0" dirty="0">
                          <a:solidFill>
                            <a:srgbClr val="FF0000"/>
                          </a:solidFill>
                        </a:rPr>
                        <a:t> se </a:t>
                      </a:r>
                      <a:r>
                        <a:rPr lang="en-US" sz="1400" b="1" baseline="0" dirty="0" err="1">
                          <a:solidFill>
                            <a:srgbClr val="FF0000"/>
                          </a:solidFill>
                        </a:rPr>
                        <a:t>usan</a:t>
                      </a:r>
                      <a:r>
                        <a:rPr lang="en-US" sz="1400" b="1" baseline="0" dirty="0">
                          <a:solidFill>
                            <a:srgbClr val="FF0000"/>
                          </a:solidFill>
                        </a:rPr>
                        <a:t>)</a:t>
                      </a:r>
                      <a:endParaRPr lang="es-NI" sz="1400" b="1" dirty="0">
                        <a:solidFill>
                          <a:srgbClr val="FF0000"/>
                        </a:solidFill>
                      </a:endParaRPr>
                    </a:p>
                  </a:txBody>
                  <a:tcPr marT="34290" marB="34290">
                    <a:solidFill>
                      <a:srgbClr val="00B050"/>
                    </a:solidFill>
                  </a:tcPr>
                </a:tc>
                <a:tc>
                  <a:txBody>
                    <a:bodyPr/>
                    <a:lstStyle/>
                    <a:p>
                      <a:pPr algn="ctr"/>
                      <a:r>
                        <a:rPr lang="en-US" sz="1400" b="1" dirty="0"/>
                        <a:t>O1</a:t>
                      </a:r>
                      <a:endParaRPr lang="es-NI" sz="1400" b="1" dirty="0">
                        <a:solidFill>
                          <a:schemeClr val="tx1"/>
                        </a:solidFill>
                      </a:endParaRPr>
                    </a:p>
                  </a:txBody>
                  <a:tcPr marT="34290" marB="34290">
                    <a:solidFill>
                      <a:srgbClr val="00B050"/>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5701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Extendido</a:t>
            </a:r>
            <a:endParaRPr lang="es-NI" dirty="0"/>
          </a:p>
        </p:txBody>
      </p:sp>
      <p:sp>
        <p:nvSpPr>
          <p:cNvPr id="2" name="1 Marcador de contenido"/>
          <p:cNvSpPr>
            <a:spLocks noGrp="1"/>
          </p:cNvSpPr>
          <p:nvPr>
            <p:ph idx="1"/>
          </p:nvPr>
        </p:nvSpPr>
        <p:spPr>
          <a:xfrm>
            <a:off x="107504" y="1289302"/>
            <a:ext cx="8928991" cy="3854198"/>
          </a:xfrm>
        </p:spPr>
        <p:txBody>
          <a:bodyPr>
            <a:normAutofit lnSpcReduction="10000"/>
          </a:bodyPr>
          <a:lstStyle/>
          <a:p>
            <a:r>
              <a:rPr lang="en-US" dirty="0" err="1"/>
              <a:t>Técnica</a:t>
            </a:r>
            <a:r>
              <a:rPr lang="en-US" dirty="0"/>
              <a:t> </a:t>
            </a:r>
            <a:r>
              <a:rPr lang="en-US" dirty="0" err="1"/>
              <a:t>denominada</a:t>
            </a:r>
            <a:r>
              <a:rPr lang="en-US" dirty="0"/>
              <a:t> </a:t>
            </a:r>
            <a:r>
              <a:rPr lang="en-US" dirty="0" err="1"/>
              <a:t>Código</a:t>
            </a:r>
            <a:r>
              <a:rPr lang="en-US" dirty="0"/>
              <a:t> de </a:t>
            </a:r>
            <a:r>
              <a:rPr lang="en-US" dirty="0" err="1"/>
              <a:t>bloque</a:t>
            </a:r>
            <a:r>
              <a:rPr lang="en-US" dirty="0"/>
              <a:t> </a:t>
            </a:r>
            <a:r>
              <a:rPr lang="en-US" dirty="0" err="1"/>
              <a:t>extendido</a:t>
            </a:r>
            <a:r>
              <a:rPr lang="en-US" dirty="0"/>
              <a:t>.</a:t>
            </a:r>
          </a:p>
          <a:p>
            <a:pPr lvl="1"/>
            <a:r>
              <a:rPr lang="en-US" dirty="0" err="1">
                <a:solidFill>
                  <a:srgbClr val="0070C0"/>
                </a:solidFill>
              </a:rPr>
              <a:t>Extiende</a:t>
            </a:r>
            <a:r>
              <a:rPr lang="en-US" dirty="0">
                <a:solidFill>
                  <a:srgbClr val="0070C0"/>
                </a:solidFill>
              </a:rPr>
              <a:t> el CO </a:t>
            </a:r>
            <a:r>
              <a:rPr lang="en-US" dirty="0" err="1">
                <a:solidFill>
                  <a:srgbClr val="0070C0"/>
                </a:solidFill>
              </a:rPr>
              <a:t>sobre</a:t>
            </a:r>
            <a:r>
              <a:rPr lang="en-US" dirty="0">
                <a:solidFill>
                  <a:srgbClr val="0070C0"/>
                </a:solidFill>
              </a:rPr>
              <a:t> los bits de </a:t>
            </a:r>
            <a:r>
              <a:rPr lang="en-US" dirty="0" err="1">
                <a:solidFill>
                  <a:srgbClr val="0070C0"/>
                </a:solidFill>
              </a:rPr>
              <a:t>campos</a:t>
            </a:r>
            <a:r>
              <a:rPr lang="en-US" dirty="0">
                <a:solidFill>
                  <a:srgbClr val="0070C0"/>
                </a:solidFill>
              </a:rPr>
              <a:t> de </a:t>
            </a:r>
            <a:r>
              <a:rPr lang="en-US" dirty="0" err="1">
                <a:solidFill>
                  <a:srgbClr val="0070C0"/>
                </a:solidFill>
              </a:rPr>
              <a:t>operandos</a:t>
            </a:r>
            <a:r>
              <a:rPr lang="en-US" dirty="0">
                <a:solidFill>
                  <a:srgbClr val="0070C0"/>
                </a:solidFill>
              </a:rPr>
              <a:t> </a:t>
            </a:r>
            <a:r>
              <a:rPr lang="en-US" dirty="0" err="1">
                <a:solidFill>
                  <a:srgbClr val="0070C0"/>
                </a:solidFill>
              </a:rPr>
              <a:t>que</a:t>
            </a:r>
            <a:r>
              <a:rPr lang="en-US" dirty="0">
                <a:solidFill>
                  <a:srgbClr val="0070C0"/>
                </a:solidFill>
              </a:rPr>
              <a:t> no se </a:t>
            </a:r>
            <a:r>
              <a:rPr lang="en-US" dirty="0" err="1">
                <a:solidFill>
                  <a:srgbClr val="0070C0"/>
                </a:solidFill>
              </a:rPr>
              <a:t>usan</a:t>
            </a:r>
            <a:r>
              <a:rPr lang="en-US" dirty="0">
                <a:solidFill>
                  <a:srgbClr val="0070C0"/>
                </a:solidFill>
              </a:rPr>
              <a:t> </a:t>
            </a:r>
            <a:r>
              <a:rPr lang="en-US" dirty="0" err="1">
                <a:solidFill>
                  <a:srgbClr val="0070C0"/>
                </a:solidFill>
              </a:rPr>
              <a:t>cuando</a:t>
            </a:r>
            <a:r>
              <a:rPr lang="en-US" dirty="0">
                <a:solidFill>
                  <a:srgbClr val="0070C0"/>
                </a:solidFill>
              </a:rPr>
              <a:t> </a:t>
            </a:r>
            <a:r>
              <a:rPr lang="en-US" dirty="0" err="1">
                <a:solidFill>
                  <a:srgbClr val="0070C0"/>
                </a:solidFill>
              </a:rPr>
              <a:t>existen</a:t>
            </a:r>
            <a:r>
              <a:rPr lang="en-US" dirty="0">
                <a:solidFill>
                  <a:srgbClr val="0070C0"/>
                </a:solidFill>
              </a:rPr>
              <a:t> </a:t>
            </a:r>
            <a:r>
              <a:rPr lang="en-US" dirty="0" err="1">
                <a:solidFill>
                  <a:srgbClr val="0070C0"/>
                </a:solidFill>
              </a:rPr>
              <a:t>instrucciones</a:t>
            </a:r>
            <a:r>
              <a:rPr lang="en-US" dirty="0">
                <a:solidFill>
                  <a:srgbClr val="0070C0"/>
                </a:solidFill>
              </a:rPr>
              <a:t> de </a:t>
            </a:r>
            <a:r>
              <a:rPr lang="en-US" dirty="0" err="1">
                <a:solidFill>
                  <a:srgbClr val="0070C0"/>
                </a:solidFill>
              </a:rPr>
              <a:t>varias</a:t>
            </a:r>
            <a:r>
              <a:rPr lang="en-US" dirty="0">
                <a:solidFill>
                  <a:srgbClr val="0070C0"/>
                </a:solidFill>
              </a:rPr>
              <a:t> </a:t>
            </a:r>
            <a:r>
              <a:rPr lang="en-US" dirty="0" err="1">
                <a:solidFill>
                  <a:srgbClr val="0070C0"/>
                </a:solidFill>
              </a:rPr>
              <a:t>direcciones</a:t>
            </a:r>
            <a:r>
              <a:rPr lang="en-US" dirty="0">
                <a:solidFill>
                  <a:srgbClr val="0070C0"/>
                </a:solidFill>
              </a:rPr>
              <a:t>.</a:t>
            </a:r>
          </a:p>
          <a:p>
            <a:pPr lvl="1"/>
            <a:r>
              <a:rPr lang="en-US" dirty="0" err="1">
                <a:solidFill>
                  <a:schemeClr val="accent5">
                    <a:lumMod val="75000"/>
                  </a:schemeClr>
                </a:solidFill>
              </a:rPr>
              <a:t>Permite</a:t>
            </a:r>
            <a:r>
              <a:rPr lang="en-US" dirty="0">
                <a:solidFill>
                  <a:schemeClr val="accent5">
                    <a:lumMod val="75000"/>
                  </a:schemeClr>
                </a:solidFill>
              </a:rPr>
              <a:t> </a:t>
            </a:r>
            <a:r>
              <a:rPr lang="en-US" dirty="0" err="1">
                <a:solidFill>
                  <a:schemeClr val="accent5">
                    <a:lumMod val="75000"/>
                  </a:schemeClr>
                </a:solidFill>
              </a:rPr>
              <a:t>mantener</a:t>
            </a:r>
            <a:r>
              <a:rPr lang="en-US" dirty="0">
                <a:solidFill>
                  <a:schemeClr val="accent5">
                    <a:lumMod val="75000"/>
                  </a:schemeClr>
                </a:solidFill>
              </a:rPr>
              <a:t> </a:t>
            </a:r>
            <a:r>
              <a:rPr lang="en-US" dirty="0" err="1">
                <a:solidFill>
                  <a:schemeClr val="accent5">
                    <a:lumMod val="75000"/>
                  </a:schemeClr>
                </a:solidFill>
              </a:rPr>
              <a:t>fijo</a:t>
            </a:r>
            <a:r>
              <a:rPr lang="en-US" dirty="0">
                <a:solidFill>
                  <a:schemeClr val="accent5">
                    <a:lumMod val="75000"/>
                  </a:schemeClr>
                </a:solidFill>
              </a:rPr>
              <a:t> el </a:t>
            </a:r>
            <a:r>
              <a:rPr lang="en-US" dirty="0" err="1">
                <a:solidFill>
                  <a:schemeClr val="accent5">
                    <a:lumMod val="75000"/>
                  </a:schemeClr>
                </a:solidFill>
              </a:rPr>
              <a:t>tamaño</a:t>
            </a:r>
            <a:r>
              <a:rPr lang="en-US" dirty="0">
                <a:solidFill>
                  <a:schemeClr val="accent5">
                    <a:lumMod val="75000"/>
                  </a:schemeClr>
                </a:solidFill>
              </a:rPr>
              <a:t> del </a:t>
            </a:r>
            <a:r>
              <a:rPr lang="en-US" dirty="0" err="1">
                <a:solidFill>
                  <a:schemeClr val="accent5">
                    <a:lumMod val="75000"/>
                  </a:schemeClr>
                </a:solidFill>
              </a:rPr>
              <a:t>formato</a:t>
            </a:r>
            <a:r>
              <a:rPr lang="en-US" dirty="0">
                <a:solidFill>
                  <a:schemeClr val="accent5">
                    <a:lumMod val="75000"/>
                  </a:schemeClr>
                </a:solidFill>
              </a:rPr>
              <a:t> de </a:t>
            </a:r>
            <a:r>
              <a:rPr lang="en-US" dirty="0" err="1">
                <a:solidFill>
                  <a:schemeClr val="accent5">
                    <a:lumMod val="75000"/>
                  </a:schemeClr>
                </a:solidFill>
              </a:rPr>
              <a:t>instrucción</a:t>
            </a:r>
            <a:r>
              <a:rPr lang="en-US" dirty="0">
                <a:solidFill>
                  <a:schemeClr val="accent5">
                    <a:lumMod val="75000"/>
                  </a:schemeClr>
                </a:solidFill>
              </a:rPr>
              <a:t>.</a:t>
            </a:r>
          </a:p>
          <a:p>
            <a:pPr lvl="1"/>
            <a:r>
              <a:rPr lang="en-US" dirty="0">
                <a:solidFill>
                  <a:srgbClr val="0070C0"/>
                </a:solidFill>
              </a:rPr>
              <a:t>Define </a:t>
            </a:r>
            <a:r>
              <a:rPr lang="en-US" dirty="0" err="1">
                <a:solidFill>
                  <a:srgbClr val="0070C0"/>
                </a:solidFill>
              </a:rPr>
              <a:t>varios</a:t>
            </a:r>
            <a:r>
              <a:rPr lang="en-US" dirty="0">
                <a:solidFill>
                  <a:srgbClr val="0070C0"/>
                </a:solidFill>
              </a:rPr>
              <a:t> </a:t>
            </a:r>
            <a:r>
              <a:rPr lang="en-US" dirty="0" err="1">
                <a:solidFill>
                  <a:srgbClr val="0070C0"/>
                </a:solidFill>
              </a:rPr>
              <a:t>grupos</a:t>
            </a:r>
            <a:r>
              <a:rPr lang="en-US" dirty="0">
                <a:solidFill>
                  <a:srgbClr val="0070C0"/>
                </a:solidFill>
              </a:rPr>
              <a:t> de </a:t>
            </a:r>
            <a:r>
              <a:rPr lang="en-US" dirty="0" err="1">
                <a:solidFill>
                  <a:srgbClr val="0070C0"/>
                </a:solidFill>
              </a:rPr>
              <a:t>instrucciones</a:t>
            </a:r>
            <a:r>
              <a:rPr lang="en-US" dirty="0">
                <a:solidFill>
                  <a:srgbClr val="0070C0"/>
                </a:solidFill>
              </a:rPr>
              <a:t> </a:t>
            </a:r>
            <a:r>
              <a:rPr lang="en-US" dirty="0" err="1">
                <a:solidFill>
                  <a:srgbClr val="0070C0"/>
                </a:solidFill>
              </a:rPr>
              <a:t>internamente</a:t>
            </a:r>
            <a:r>
              <a:rPr lang="es-NI" dirty="0">
                <a:solidFill>
                  <a:srgbClr val="0070C0"/>
                </a:solidFill>
              </a:rPr>
              <a:t>, cada grupo tiene diferente cantidad de bits en su código de operación (CO variable).</a:t>
            </a:r>
          </a:p>
          <a:p>
            <a:pPr lvl="1"/>
            <a:r>
              <a:rPr lang="es-NI" dirty="0">
                <a:solidFill>
                  <a:schemeClr val="accent5">
                    <a:lumMod val="75000"/>
                  </a:schemeClr>
                </a:solidFill>
              </a:rPr>
              <a:t>Define varios formatos de instrucción.</a:t>
            </a:r>
          </a:p>
          <a:p>
            <a:r>
              <a:rPr lang="en-US" dirty="0"/>
              <a:t>¿</a:t>
            </a:r>
            <a:r>
              <a:rPr lang="en-US" dirty="0" err="1"/>
              <a:t>Cómo</a:t>
            </a:r>
            <a:r>
              <a:rPr lang="en-US" dirty="0"/>
              <a:t> </a:t>
            </a:r>
            <a:r>
              <a:rPr lang="en-US" dirty="0" err="1"/>
              <a:t>podrá</a:t>
            </a:r>
            <a:r>
              <a:rPr lang="en-US" dirty="0"/>
              <a:t> saber el </a:t>
            </a:r>
            <a:r>
              <a:rPr lang="en-US" dirty="0" err="1"/>
              <a:t>Procesador</a:t>
            </a:r>
            <a:r>
              <a:rPr lang="en-US" dirty="0"/>
              <a:t> </a:t>
            </a:r>
            <a:r>
              <a:rPr lang="en-US" dirty="0" err="1"/>
              <a:t>que</a:t>
            </a:r>
            <a:r>
              <a:rPr lang="en-US" dirty="0"/>
              <a:t> </a:t>
            </a:r>
            <a:r>
              <a:rPr lang="en-US" dirty="0" err="1"/>
              <a:t>una</a:t>
            </a:r>
            <a:r>
              <a:rPr lang="en-US" dirty="0"/>
              <a:t> </a:t>
            </a:r>
            <a:r>
              <a:rPr lang="en-US" dirty="0" err="1"/>
              <a:t>instrucción</a:t>
            </a:r>
            <a:r>
              <a:rPr lang="en-US" dirty="0"/>
              <a:t> </a:t>
            </a:r>
            <a:r>
              <a:rPr lang="en-US" dirty="0" err="1"/>
              <a:t>es</a:t>
            </a:r>
            <a:r>
              <a:rPr lang="en-US" dirty="0"/>
              <a:t> de un </a:t>
            </a:r>
            <a:r>
              <a:rPr lang="en-US" dirty="0" err="1"/>
              <a:t>grupo</a:t>
            </a:r>
            <a:r>
              <a:rPr lang="en-US" dirty="0"/>
              <a:t> o de </a:t>
            </a:r>
            <a:r>
              <a:rPr lang="en-US" dirty="0" err="1"/>
              <a:t>otro</a:t>
            </a:r>
            <a:r>
              <a:rPr lang="en-US" dirty="0"/>
              <a:t> (</a:t>
            </a:r>
            <a:r>
              <a:rPr lang="en-US" dirty="0" err="1"/>
              <a:t>cúantos</a:t>
            </a:r>
            <a:r>
              <a:rPr lang="en-US" dirty="0"/>
              <a:t> bits </a:t>
            </a:r>
            <a:r>
              <a:rPr lang="en-US" dirty="0" err="1"/>
              <a:t>tiene</a:t>
            </a:r>
            <a:r>
              <a:rPr lang="en-US" dirty="0"/>
              <a:t> el CO) ?</a:t>
            </a:r>
          </a:p>
          <a:p>
            <a:pPr lvl="2"/>
            <a:r>
              <a:rPr lang="en-US" sz="2000" dirty="0" err="1">
                <a:solidFill>
                  <a:srgbClr val="0070C0"/>
                </a:solidFill>
              </a:rPr>
              <a:t>Uso</a:t>
            </a:r>
            <a:r>
              <a:rPr lang="en-US" sz="2000" dirty="0">
                <a:solidFill>
                  <a:srgbClr val="0070C0"/>
                </a:solidFill>
              </a:rPr>
              <a:t> de </a:t>
            </a:r>
            <a:r>
              <a:rPr lang="en-US" sz="2000" dirty="0" err="1">
                <a:solidFill>
                  <a:srgbClr val="0070C0"/>
                </a:solidFill>
              </a:rPr>
              <a:t>combinaciones</a:t>
            </a:r>
            <a:r>
              <a:rPr lang="en-US" sz="2000" dirty="0">
                <a:solidFill>
                  <a:srgbClr val="0070C0"/>
                </a:solidFill>
              </a:rPr>
              <a:t> (</a:t>
            </a:r>
            <a:r>
              <a:rPr lang="en-US" sz="2000" dirty="0" err="1">
                <a:solidFill>
                  <a:srgbClr val="0070C0"/>
                </a:solidFill>
              </a:rPr>
              <a:t>códigos</a:t>
            </a:r>
            <a:r>
              <a:rPr lang="en-US" sz="2000" dirty="0">
                <a:solidFill>
                  <a:srgbClr val="0070C0"/>
                </a:solidFill>
              </a:rPr>
              <a:t>) del </a:t>
            </a:r>
            <a:r>
              <a:rPr lang="en-US" sz="2000" dirty="0" err="1">
                <a:solidFill>
                  <a:srgbClr val="0070C0"/>
                </a:solidFill>
              </a:rPr>
              <a:t>grupo</a:t>
            </a:r>
            <a:r>
              <a:rPr lang="en-US" sz="2000" dirty="0">
                <a:solidFill>
                  <a:srgbClr val="0070C0"/>
                </a:solidFill>
              </a:rPr>
              <a:t> anterior </a:t>
            </a:r>
            <a:r>
              <a:rPr lang="en-US" sz="2000" dirty="0" err="1">
                <a:solidFill>
                  <a:srgbClr val="0070C0"/>
                </a:solidFill>
              </a:rPr>
              <a:t>como</a:t>
            </a:r>
            <a:r>
              <a:rPr lang="en-US" sz="2000" dirty="0">
                <a:solidFill>
                  <a:srgbClr val="0070C0"/>
                </a:solidFill>
              </a:rPr>
              <a:t> </a:t>
            </a:r>
            <a:r>
              <a:rPr lang="en-US" sz="2000" dirty="0" err="1">
                <a:solidFill>
                  <a:srgbClr val="0070C0"/>
                </a:solidFill>
              </a:rPr>
              <a:t>identificadores</a:t>
            </a:r>
            <a:r>
              <a:rPr lang="en-US" dirty="0">
                <a:solidFill>
                  <a:srgbClr val="9900FF"/>
                </a:solidFill>
              </a:rPr>
              <a:t>.</a:t>
            </a:r>
          </a:p>
        </p:txBody>
      </p:sp>
    </p:spTree>
    <p:extLst>
      <p:ext uri="{BB962C8B-B14F-4D97-AF65-F5344CB8AC3E}">
        <p14:creationId xmlns:p14="http://schemas.microsoft.com/office/powerpoint/2010/main" val="32835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n-US" sz="3200" dirty="0" err="1"/>
              <a:t>Código</a:t>
            </a:r>
            <a:r>
              <a:rPr lang="en-US" sz="3200" dirty="0"/>
              <a:t> de </a:t>
            </a:r>
            <a:r>
              <a:rPr lang="en-US" sz="3200" dirty="0" err="1"/>
              <a:t>Bloque</a:t>
            </a:r>
            <a:r>
              <a:rPr lang="en-US" sz="3200" dirty="0"/>
              <a:t> </a:t>
            </a:r>
            <a:r>
              <a:rPr lang="en-US" sz="3200" dirty="0" err="1"/>
              <a:t>Extendido</a:t>
            </a:r>
            <a:endParaRPr lang="es-NI" sz="3200" dirty="0"/>
          </a:p>
        </p:txBody>
      </p:sp>
      <p:sp>
        <p:nvSpPr>
          <p:cNvPr id="3" name="2 Marcador de contenido"/>
          <p:cNvSpPr>
            <a:spLocks noGrp="1"/>
          </p:cNvSpPr>
          <p:nvPr>
            <p:ph idx="1"/>
          </p:nvPr>
        </p:nvSpPr>
        <p:spPr>
          <a:xfrm>
            <a:off x="179512" y="987574"/>
            <a:ext cx="8856984" cy="3528392"/>
          </a:xfrm>
        </p:spPr>
        <p:txBody>
          <a:bodyPr>
            <a:normAutofit fontScale="55000" lnSpcReduction="20000"/>
          </a:bodyPr>
          <a:lstStyle/>
          <a:p>
            <a:r>
              <a:rPr lang="en-US" sz="3800" dirty="0" err="1">
                <a:solidFill>
                  <a:srgbClr val="9900FF"/>
                </a:solidFill>
              </a:rPr>
              <a:t>Retomemos</a:t>
            </a:r>
            <a:r>
              <a:rPr lang="en-US" sz="3800" dirty="0">
                <a:solidFill>
                  <a:srgbClr val="9900FF"/>
                </a:solidFill>
              </a:rPr>
              <a:t> el </a:t>
            </a:r>
            <a:r>
              <a:rPr lang="en-US" sz="3800" dirty="0" err="1">
                <a:solidFill>
                  <a:srgbClr val="9900FF"/>
                </a:solidFill>
              </a:rPr>
              <a:t>ejemplo</a:t>
            </a:r>
            <a:r>
              <a:rPr lang="en-US" sz="3800" dirty="0">
                <a:solidFill>
                  <a:srgbClr val="9900FF"/>
                </a:solidFill>
              </a:rPr>
              <a:t> anterior:  </a:t>
            </a:r>
            <a:r>
              <a:rPr lang="en-US" sz="3800" dirty="0" err="1"/>
              <a:t>Conjunto</a:t>
            </a:r>
            <a:r>
              <a:rPr lang="en-US" sz="3800" dirty="0"/>
              <a:t> de </a:t>
            </a:r>
            <a:r>
              <a:rPr lang="en-US" sz="3800" dirty="0" err="1"/>
              <a:t>instrucciones</a:t>
            </a:r>
            <a:r>
              <a:rPr lang="en-US" sz="3800" dirty="0"/>
              <a:t> </a:t>
            </a:r>
            <a:r>
              <a:rPr lang="en-US" sz="3800" dirty="0" err="1"/>
              <a:t>formado</a:t>
            </a:r>
            <a:r>
              <a:rPr lang="en-US" sz="3800" dirty="0"/>
              <a:t> </a:t>
            </a:r>
            <a:r>
              <a:rPr lang="en-US" sz="3800" dirty="0" err="1"/>
              <a:t>por</a:t>
            </a:r>
            <a:r>
              <a:rPr lang="en-US" sz="3800" dirty="0"/>
              <a:t> </a:t>
            </a:r>
            <a:r>
              <a:rPr lang="en-US" sz="3800" dirty="0">
                <a:solidFill>
                  <a:srgbClr val="0070C0"/>
                </a:solidFill>
              </a:rPr>
              <a:t>15 </a:t>
            </a:r>
            <a:r>
              <a:rPr lang="en-US" sz="3800" dirty="0" err="1">
                <a:solidFill>
                  <a:srgbClr val="0070C0"/>
                </a:solidFill>
              </a:rPr>
              <a:t>instrucciones</a:t>
            </a:r>
            <a:r>
              <a:rPr lang="en-US" sz="3800" dirty="0">
                <a:solidFill>
                  <a:srgbClr val="0070C0"/>
                </a:solidFill>
              </a:rPr>
              <a:t> de 2 </a:t>
            </a:r>
            <a:r>
              <a:rPr lang="en-US" sz="3800" dirty="0" err="1">
                <a:solidFill>
                  <a:srgbClr val="0070C0"/>
                </a:solidFill>
              </a:rPr>
              <a:t>direcciones</a:t>
            </a:r>
            <a:r>
              <a:rPr lang="en-US" sz="3800" dirty="0"/>
              <a:t>, y 30 </a:t>
            </a:r>
            <a:r>
              <a:rPr lang="en-US" sz="3800" dirty="0" err="1"/>
              <a:t>instrucciones</a:t>
            </a:r>
            <a:r>
              <a:rPr lang="en-US" sz="3800" dirty="0"/>
              <a:t> de 1 </a:t>
            </a:r>
            <a:r>
              <a:rPr lang="en-US" sz="3800" dirty="0" err="1"/>
              <a:t>dirección</a:t>
            </a:r>
            <a:r>
              <a:rPr lang="en-US" sz="3800" dirty="0"/>
              <a:t>, en un </a:t>
            </a:r>
            <a:r>
              <a:rPr lang="en-US" sz="3800" dirty="0" err="1">
                <a:solidFill>
                  <a:srgbClr val="0070C0"/>
                </a:solidFill>
              </a:rPr>
              <a:t>formato</a:t>
            </a:r>
            <a:r>
              <a:rPr lang="en-US" sz="3800" dirty="0">
                <a:solidFill>
                  <a:srgbClr val="0070C0"/>
                </a:solidFill>
              </a:rPr>
              <a:t> de 16 bits</a:t>
            </a:r>
            <a:r>
              <a:rPr lang="en-US" sz="3800" dirty="0"/>
              <a:t>, </a:t>
            </a:r>
            <a:r>
              <a:rPr lang="en-US" sz="3800" dirty="0" err="1"/>
              <a:t>teniendo</a:t>
            </a:r>
            <a:r>
              <a:rPr lang="en-US" sz="3800" dirty="0"/>
              <a:t> </a:t>
            </a:r>
            <a:r>
              <a:rPr lang="en-US" sz="3800" dirty="0">
                <a:solidFill>
                  <a:srgbClr val="0070C0"/>
                </a:solidFill>
              </a:rPr>
              <a:t>6 bits </a:t>
            </a:r>
            <a:r>
              <a:rPr lang="en-US" sz="3800" dirty="0" err="1"/>
              <a:t>por</a:t>
            </a:r>
            <a:r>
              <a:rPr lang="en-US" sz="3800" dirty="0"/>
              <a:t> </a:t>
            </a:r>
            <a:r>
              <a:rPr lang="en-US" sz="3800" dirty="0" err="1"/>
              <a:t>cada</a:t>
            </a:r>
            <a:r>
              <a:rPr lang="en-US" sz="3800" dirty="0"/>
              <a:t> </a:t>
            </a:r>
            <a:r>
              <a:rPr lang="en-US" sz="3800" dirty="0">
                <a:solidFill>
                  <a:srgbClr val="0070C0"/>
                </a:solidFill>
              </a:rPr>
              <a:t>campo de </a:t>
            </a:r>
            <a:r>
              <a:rPr lang="en-US" sz="3800" dirty="0" err="1">
                <a:solidFill>
                  <a:srgbClr val="0070C0"/>
                </a:solidFill>
              </a:rPr>
              <a:t>direcciones</a:t>
            </a:r>
            <a:r>
              <a:rPr lang="en-US" sz="3800" dirty="0"/>
              <a:t>:</a:t>
            </a:r>
          </a:p>
          <a:p>
            <a:r>
              <a:rPr lang="en-US" sz="3800" dirty="0"/>
              <a:t>Las </a:t>
            </a:r>
            <a:r>
              <a:rPr lang="en-US" sz="3800" dirty="0" err="1"/>
              <a:t>primeras</a:t>
            </a:r>
            <a:r>
              <a:rPr lang="en-US" sz="3800" dirty="0"/>
              <a:t> 15 </a:t>
            </a:r>
            <a:r>
              <a:rPr lang="en-US" sz="3800" dirty="0" err="1"/>
              <a:t>instrucciones</a:t>
            </a:r>
            <a:r>
              <a:rPr lang="en-US" sz="3800" dirty="0"/>
              <a:t> </a:t>
            </a:r>
            <a:r>
              <a:rPr lang="en-US" sz="3800" dirty="0" err="1"/>
              <a:t>requieren</a:t>
            </a:r>
            <a:r>
              <a:rPr lang="en-US" sz="3800" dirty="0"/>
              <a:t> 2 </a:t>
            </a:r>
            <a:r>
              <a:rPr lang="en-US" sz="3800" dirty="0" err="1"/>
              <a:t>operandos</a:t>
            </a:r>
            <a:r>
              <a:rPr lang="en-US" sz="3800" dirty="0"/>
              <a:t> y </a:t>
            </a:r>
            <a:r>
              <a:rPr lang="en-US" sz="3800" dirty="0" err="1"/>
              <a:t>por</a:t>
            </a:r>
            <a:r>
              <a:rPr lang="en-US" sz="3800" dirty="0"/>
              <a:t> </a:t>
            </a:r>
            <a:r>
              <a:rPr lang="en-US" sz="3800" dirty="0" err="1"/>
              <a:t>tanto</a:t>
            </a:r>
            <a:r>
              <a:rPr lang="en-US" sz="3800" dirty="0"/>
              <a:t> solo </a:t>
            </a:r>
            <a:r>
              <a:rPr lang="en-US" sz="3800" dirty="0" err="1"/>
              <a:t>tienen</a:t>
            </a:r>
            <a:r>
              <a:rPr lang="en-US" sz="3800" dirty="0"/>
              <a:t> 4 bits </a:t>
            </a:r>
            <a:r>
              <a:rPr lang="en-US" sz="3800" dirty="0" err="1"/>
              <a:t>para</a:t>
            </a:r>
            <a:r>
              <a:rPr lang="en-US" sz="3800" dirty="0"/>
              <a:t> CO.</a:t>
            </a:r>
          </a:p>
          <a:p>
            <a:pPr marL="45720" indent="0">
              <a:buNone/>
            </a:pPr>
            <a:endParaRPr lang="en-US" sz="3800" dirty="0"/>
          </a:p>
          <a:p>
            <a:pPr marL="45720" indent="0">
              <a:buNone/>
            </a:pPr>
            <a:endParaRPr lang="en-US" sz="3800" dirty="0"/>
          </a:p>
          <a:p>
            <a:r>
              <a:rPr lang="en-US" sz="3800" dirty="0"/>
              <a:t>Las </a:t>
            </a:r>
            <a:r>
              <a:rPr lang="en-US" sz="3800" dirty="0" err="1"/>
              <a:t>segundas</a:t>
            </a:r>
            <a:r>
              <a:rPr lang="en-US" sz="3800" dirty="0"/>
              <a:t> 30 </a:t>
            </a:r>
            <a:r>
              <a:rPr lang="en-US" sz="3800" dirty="0" err="1"/>
              <a:t>instrucciones</a:t>
            </a:r>
            <a:r>
              <a:rPr lang="en-US" sz="3800" dirty="0"/>
              <a:t> solo </a:t>
            </a:r>
            <a:r>
              <a:rPr lang="en-US" sz="3800" dirty="0" err="1"/>
              <a:t>usan</a:t>
            </a:r>
            <a:r>
              <a:rPr lang="en-US" sz="3800" dirty="0"/>
              <a:t> 1 operando y </a:t>
            </a:r>
            <a:r>
              <a:rPr lang="en-US" sz="3800" dirty="0" err="1"/>
              <a:t>por</a:t>
            </a:r>
            <a:r>
              <a:rPr lang="en-US" sz="3800" dirty="0"/>
              <a:t> </a:t>
            </a:r>
            <a:r>
              <a:rPr lang="en-US" sz="3800" dirty="0" err="1"/>
              <a:t>tanto</a:t>
            </a:r>
            <a:r>
              <a:rPr lang="en-US" sz="3800" dirty="0"/>
              <a:t> </a:t>
            </a:r>
            <a:r>
              <a:rPr lang="en-US" sz="3800" dirty="0" err="1"/>
              <a:t>podrían</a:t>
            </a:r>
            <a:r>
              <a:rPr lang="en-US" sz="3800" dirty="0"/>
              <a:t> </a:t>
            </a:r>
            <a:r>
              <a:rPr lang="en-US" sz="3800" dirty="0" err="1"/>
              <a:t>usar</a:t>
            </a:r>
            <a:r>
              <a:rPr lang="en-US" sz="3800" dirty="0"/>
              <a:t> los 6 bits del operando 2 </a:t>
            </a:r>
            <a:r>
              <a:rPr lang="en-US" sz="3800" dirty="0" err="1"/>
              <a:t>para</a:t>
            </a:r>
            <a:r>
              <a:rPr lang="en-US" sz="3800" dirty="0"/>
              <a:t> </a:t>
            </a:r>
            <a:r>
              <a:rPr lang="en-US" sz="3800" dirty="0" err="1"/>
              <a:t>codificar</a:t>
            </a:r>
            <a:r>
              <a:rPr lang="en-US" sz="3800" dirty="0"/>
              <a:t> </a:t>
            </a:r>
            <a:r>
              <a:rPr lang="en-US" sz="3800" dirty="0" err="1"/>
              <a:t>instrucciones</a:t>
            </a:r>
            <a:r>
              <a:rPr lang="en-US" sz="3800" dirty="0"/>
              <a:t>.</a:t>
            </a:r>
          </a:p>
          <a:p>
            <a:r>
              <a:rPr lang="en-US" sz="3800" dirty="0">
                <a:solidFill>
                  <a:srgbClr val="9900FF"/>
                </a:solidFill>
              </a:rPr>
              <a:t>Se </a:t>
            </a:r>
            <a:r>
              <a:rPr lang="en-US" sz="3800" dirty="0" err="1">
                <a:solidFill>
                  <a:srgbClr val="9900FF"/>
                </a:solidFill>
              </a:rPr>
              <a:t>requiere</a:t>
            </a:r>
            <a:r>
              <a:rPr lang="en-US" sz="3800" dirty="0">
                <a:solidFill>
                  <a:srgbClr val="9900FF"/>
                </a:solidFill>
              </a:rPr>
              <a:t> </a:t>
            </a:r>
            <a:r>
              <a:rPr lang="en-US" sz="3800" dirty="0" err="1">
                <a:solidFill>
                  <a:srgbClr val="9900FF"/>
                </a:solidFill>
              </a:rPr>
              <a:t>que</a:t>
            </a:r>
            <a:r>
              <a:rPr lang="en-US" sz="3800" dirty="0">
                <a:solidFill>
                  <a:srgbClr val="9900FF"/>
                </a:solidFill>
              </a:rPr>
              <a:t> </a:t>
            </a:r>
            <a:r>
              <a:rPr lang="en-US" sz="3800" dirty="0" err="1">
                <a:solidFill>
                  <a:srgbClr val="9900FF"/>
                </a:solidFill>
              </a:rPr>
              <a:t>sobre</a:t>
            </a:r>
            <a:r>
              <a:rPr lang="en-US" sz="3800" dirty="0">
                <a:solidFill>
                  <a:srgbClr val="9900FF"/>
                </a:solidFill>
              </a:rPr>
              <a:t> un </a:t>
            </a:r>
            <a:r>
              <a:rPr lang="en-US" sz="3800" dirty="0" err="1">
                <a:solidFill>
                  <a:srgbClr val="9900FF"/>
                </a:solidFill>
              </a:rPr>
              <a:t>código</a:t>
            </a:r>
            <a:r>
              <a:rPr lang="en-US" sz="3800" dirty="0">
                <a:solidFill>
                  <a:srgbClr val="9900FF"/>
                </a:solidFill>
              </a:rPr>
              <a:t> de 4 bits </a:t>
            </a:r>
            <a:r>
              <a:rPr lang="en-US" sz="3800" dirty="0" err="1">
                <a:solidFill>
                  <a:srgbClr val="9900FF"/>
                </a:solidFill>
              </a:rPr>
              <a:t>para</a:t>
            </a:r>
            <a:r>
              <a:rPr lang="en-US" sz="3800" dirty="0">
                <a:solidFill>
                  <a:srgbClr val="9900FF"/>
                </a:solidFill>
              </a:rPr>
              <a:t> </a:t>
            </a:r>
            <a:r>
              <a:rPr lang="en-US" sz="3800" dirty="0" err="1">
                <a:solidFill>
                  <a:srgbClr val="9900FF"/>
                </a:solidFill>
              </a:rPr>
              <a:t>que</a:t>
            </a:r>
            <a:r>
              <a:rPr lang="en-US" sz="3800" dirty="0">
                <a:solidFill>
                  <a:srgbClr val="9900FF"/>
                </a:solidFill>
              </a:rPr>
              <a:t> </a:t>
            </a:r>
            <a:r>
              <a:rPr lang="en-US" sz="3800" dirty="0" err="1">
                <a:solidFill>
                  <a:srgbClr val="9900FF"/>
                </a:solidFill>
              </a:rPr>
              <a:t>sirva</a:t>
            </a:r>
            <a:r>
              <a:rPr lang="en-US" sz="3800" dirty="0">
                <a:solidFill>
                  <a:srgbClr val="9900FF"/>
                </a:solidFill>
              </a:rPr>
              <a:t> </a:t>
            </a:r>
            <a:r>
              <a:rPr lang="en-US" sz="3800" dirty="0" err="1">
                <a:solidFill>
                  <a:srgbClr val="9900FF"/>
                </a:solidFill>
              </a:rPr>
              <a:t>como</a:t>
            </a:r>
            <a:r>
              <a:rPr lang="en-US" sz="3800" dirty="0">
                <a:solidFill>
                  <a:srgbClr val="9900FF"/>
                </a:solidFill>
              </a:rPr>
              <a:t> </a:t>
            </a:r>
            <a:r>
              <a:rPr lang="en-US" sz="3800" dirty="0" err="1">
                <a:solidFill>
                  <a:srgbClr val="9900FF"/>
                </a:solidFill>
              </a:rPr>
              <a:t>identificador</a:t>
            </a:r>
            <a:r>
              <a:rPr lang="en-US" sz="3800" dirty="0">
                <a:solidFill>
                  <a:srgbClr val="9900FF"/>
                </a:solidFill>
              </a:rPr>
              <a:t> </a:t>
            </a:r>
            <a:r>
              <a:rPr lang="en-US" sz="3800" dirty="0" err="1">
                <a:solidFill>
                  <a:srgbClr val="9900FF"/>
                </a:solidFill>
              </a:rPr>
              <a:t>para</a:t>
            </a:r>
            <a:r>
              <a:rPr lang="en-US" sz="3800" dirty="0">
                <a:solidFill>
                  <a:srgbClr val="9900FF"/>
                </a:solidFill>
              </a:rPr>
              <a:t> el </a:t>
            </a:r>
            <a:r>
              <a:rPr lang="en-US" sz="3800" dirty="0" err="1">
                <a:solidFill>
                  <a:srgbClr val="9900FF"/>
                </a:solidFill>
              </a:rPr>
              <a:t>segundo</a:t>
            </a:r>
            <a:r>
              <a:rPr lang="en-US" sz="3800" dirty="0">
                <a:solidFill>
                  <a:srgbClr val="9900FF"/>
                </a:solidFill>
              </a:rPr>
              <a:t> </a:t>
            </a:r>
            <a:r>
              <a:rPr lang="en-US" sz="3800" dirty="0" err="1">
                <a:solidFill>
                  <a:srgbClr val="9900FF"/>
                </a:solidFill>
              </a:rPr>
              <a:t>grupo</a:t>
            </a:r>
            <a:r>
              <a:rPr lang="en-US" sz="3800" dirty="0">
                <a:solidFill>
                  <a:srgbClr val="9900FF"/>
                </a:solidFill>
              </a:rPr>
              <a:t>.</a:t>
            </a:r>
          </a:p>
          <a:p>
            <a:endParaRPr lang="en-US" sz="3800" dirty="0"/>
          </a:p>
          <a:p>
            <a:endParaRPr lang="en-US" sz="3800" dirty="0"/>
          </a:p>
          <a:p>
            <a:pPr marL="0" indent="0">
              <a:buNone/>
            </a:pPr>
            <a:endParaRPr lang="en-US" sz="2800" dirty="0">
              <a:solidFill>
                <a:srgbClr val="FFFF00"/>
              </a:solidFill>
            </a:endParaRPr>
          </a:p>
          <a:p>
            <a:pPr marL="1371600" lvl="5" indent="0">
              <a:buNone/>
            </a:pPr>
            <a:endParaRPr lang="en-US" sz="3600" dirty="0">
              <a:solidFill>
                <a:schemeClr val="accent5">
                  <a:lumMod val="75000"/>
                </a:schemeClr>
              </a:solidFill>
              <a:sym typeface="Symbol"/>
            </a:endParaRPr>
          </a:p>
        </p:txBody>
      </p:sp>
      <p:graphicFrame>
        <p:nvGraphicFramePr>
          <p:cNvPr id="6" name="5 Tabla"/>
          <p:cNvGraphicFramePr>
            <a:graphicFrameLocks noGrp="1"/>
          </p:cNvGraphicFramePr>
          <p:nvPr>
            <p:extLst>
              <p:ext uri="{D42A27DB-BD31-4B8C-83A1-F6EECF244321}">
                <p14:modId xmlns:p14="http://schemas.microsoft.com/office/powerpoint/2010/main" val="915861207"/>
              </p:ext>
            </p:extLst>
          </p:nvPr>
        </p:nvGraphicFramePr>
        <p:xfrm>
          <a:off x="1547664" y="2768910"/>
          <a:ext cx="5904657" cy="353948"/>
        </p:xfrm>
        <a:graphic>
          <a:graphicData uri="http://schemas.openxmlformats.org/drawingml/2006/table">
            <a:tbl>
              <a:tblPr firstRow="1" bandRow="1">
                <a:tableStyleId>{D7AC3CCA-C797-4891-BE02-D94E43425B78}</a:tableStyleId>
              </a:tblPr>
              <a:tblGrid>
                <a:gridCol w="1968219">
                  <a:extLst>
                    <a:ext uri="{9D8B030D-6E8A-4147-A177-3AD203B41FA5}">
                      <a16:colId xmlns:a16="http://schemas.microsoft.com/office/drawing/2014/main" val="20000"/>
                    </a:ext>
                  </a:extLst>
                </a:gridCol>
                <a:gridCol w="1968219">
                  <a:extLst>
                    <a:ext uri="{9D8B030D-6E8A-4147-A177-3AD203B41FA5}">
                      <a16:colId xmlns:a16="http://schemas.microsoft.com/office/drawing/2014/main" val="20001"/>
                    </a:ext>
                  </a:extLst>
                </a:gridCol>
                <a:gridCol w="1968219">
                  <a:extLst>
                    <a:ext uri="{9D8B030D-6E8A-4147-A177-3AD203B41FA5}">
                      <a16:colId xmlns:a16="http://schemas.microsoft.com/office/drawing/2014/main" val="20002"/>
                    </a:ext>
                  </a:extLst>
                </a:gridCol>
              </a:tblGrid>
              <a:tr h="353948">
                <a:tc>
                  <a:txBody>
                    <a:bodyPr/>
                    <a:lstStyle/>
                    <a:p>
                      <a:pPr algn="ctr"/>
                      <a:r>
                        <a:rPr lang="en-US" sz="1400" dirty="0"/>
                        <a:t>CO</a:t>
                      </a:r>
                      <a:r>
                        <a:rPr lang="en-US" sz="1400" b="0" dirty="0"/>
                        <a:t> (4 bits )</a:t>
                      </a:r>
                      <a:endParaRPr lang="es-NI" sz="1400" b="0" dirty="0">
                        <a:solidFill>
                          <a:schemeClr val="tx1"/>
                        </a:solidFill>
                      </a:endParaRPr>
                    </a:p>
                  </a:txBody>
                  <a:tcPr marT="34290" marB="34290">
                    <a:solidFill>
                      <a:schemeClr val="accent5">
                        <a:lumMod val="60000"/>
                        <a:lumOff val="40000"/>
                      </a:schemeClr>
                    </a:solidFill>
                  </a:tcPr>
                </a:tc>
                <a:tc>
                  <a:txBody>
                    <a:bodyPr/>
                    <a:lstStyle/>
                    <a:p>
                      <a:pPr algn="ctr"/>
                      <a:r>
                        <a:rPr lang="en-US" sz="1400" dirty="0"/>
                        <a:t>O2  </a:t>
                      </a:r>
                      <a:r>
                        <a:rPr lang="en-US" sz="1400" b="0" dirty="0"/>
                        <a:t>(6 bits)</a:t>
                      </a:r>
                      <a:endParaRPr lang="es-NI" sz="1400" b="0" dirty="0">
                        <a:solidFill>
                          <a:schemeClr val="tx1"/>
                        </a:solidFill>
                      </a:endParaRPr>
                    </a:p>
                  </a:txBody>
                  <a:tcPr marT="34290" marB="34290">
                    <a:solidFill>
                      <a:schemeClr val="accent5">
                        <a:lumMod val="60000"/>
                        <a:lumOff val="40000"/>
                      </a:schemeClr>
                    </a:solidFill>
                  </a:tcPr>
                </a:tc>
                <a:tc>
                  <a:txBody>
                    <a:bodyPr/>
                    <a:lstStyle/>
                    <a:p>
                      <a:pPr algn="ctr"/>
                      <a:r>
                        <a:rPr lang="en-US" sz="1400" dirty="0"/>
                        <a:t>O1 </a:t>
                      </a:r>
                      <a:r>
                        <a:rPr lang="en-US" sz="1400" b="0" dirty="0"/>
                        <a:t>(6 bits)</a:t>
                      </a:r>
                      <a:endParaRPr lang="es-NI" sz="1400" b="0" dirty="0">
                        <a:solidFill>
                          <a:schemeClr val="tx1"/>
                        </a:solidFill>
                      </a:endParaRPr>
                    </a:p>
                  </a:txBody>
                  <a:tcPr marT="34290" marB="34290">
                    <a:solidFill>
                      <a:schemeClr val="accent5">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7" name="6 Tabla"/>
          <p:cNvGraphicFramePr>
            <a:graphicFrameLocks noGrp="1"/>
          </p:cNvGraphicFramePr>
          <p:nvPr>
            <p:extLst>
              <p:ext uri="{D42A27DB-BD31-4B8C-83A1-F6EECF244321}">
                <p14:modId xmlns:p14="http://schemas.microsoft.com/office/powerpoint/2010/main" val="408733205"/>
              </p:ext>
            </p:extLst>
          </p:nvPr>
        </p:nvGraphicFramePr>
        <p:xfrm>
          <a:off x="1560004" y="4443958"/>
          <a:ext cx="6096000" cy="563880"/>
        </p:xfrm>
        <a:graphic>
          <a:graphicData uri="http://schemas.openxmlformats.org/drawingml/2006/table">
            <a:tbl>
              <a:tblPr firstRow="1" bandRow="1">
                <a:tableStyleId>{D7AC3CCA-C797-4891-BE02-D94E43425B78}</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278130">
                <a:tc>
                  <a:txBody>
                    <a:bodyPr/>
                    <a:lstStyle/>
                    <a:p>
                      <a:pPr algn="ctr"/>
                      <a:r>
                        <a:rPr lang="en-US" sz="1400" dirty="0"/>
                        <a:t>CO</a:t>
                      </a:r>
                      <a:r>
                        <a:rPr lang="en-US" sz="1400" b="0" dirty="0"/>
                        <a:t> (4 bits )</a:t>
                      </a:r>
                      <a:endParaRPr lang="es-NI" sz="1400" b="0" dirty="0">
                        <a:solidFill>
                          <a:schemeClr val="tx1"/>
                        </a:solidFill>
                      </a:endParaRPr>
                    </a:p>
                  </a:txBody>
                  <a:tcPr marT="34290" marB="34290">
                    <a:solidFill>
                      <a:schemeClr val="accent5">
                        <a:lumMod val="60000"/>
                        <a:lumOff val="40000"/>
                      </a:schemeClr>
                    </a:solidFill>
                  </a:tcPr>
                </a:tc>
                <a:tc>
                  <a:txBody>
                    <a:bodyPr/>
                    <a:lstStyle/>
                    <a:p>
                      <a:pPr algn="ctr"/>
                      <a:r>
                        <a:rPr lang="en-US" sz="1400" dirty="0"/>
                        <a:t>O2  </a:t>
                      </a:r>
                      <a:r>
                        <a:rPr lang="en-US" sz="1400" b="0" dirty="0"/>
                        <a:t>(6 bits)</a:t>
                      </a:r>
                      <a:endParaRPr lang="es-NI" sz="1400" b="0" dirty="0">
                        <a:solidFill>
                          <a:schemeClr val="tx1"/>
                        </a:solidFill>
                      </a:endParaRPr>
                    </a:p>
                  </a:txBody>
                  <a:tcPr marT="34290" marB="34290">
                    <a:solidFill>
                      <a:schemeClr val="accent5">
                        <a:lumMod val="60000"/>
                        <a:lumOff val="40000"/>
                      </a:schemeClr>
                    </a:solidFill>
                  </a:tcPr>
                </a:tc>
                <a:tc>
                  <a:txBody>
                    <a:bodyPr/>
                    <a:lstStyle/>
                    <a:p>
                      <a:pPr algn="ctr"/>
                      <a:r>
                        <a:rPr lang="en-US" sz="1400" dirty="0"/>
                        <a:t>O1 </a:t>
                      </a:r>
                      <a:r>
                        <a:rPr lang="en-US" sz="1400" b="0" dirty="0"/>
                        <a:t>(6 bits)</a:t>
                      </a:r>
                      <a:endParaRPr lang="es-NI" sz="1400" b="0" dirty="0">
                        <a:solidFill>
                          <a:schemeClr val="tx1"/>
                        </a:solidFill>
                      </a:endParaRPr>
                    </a:p>
                  </a:txBody>
                  <a:tcPr marT="34290" marB="34290">
                    <a:solidFill>
                      <a:schemeClr val="accent5">
                        <a:lumMod val="60000"/>
                        <a:lumOff val="40000"/>
                      </a:schemeClr>
                    </a:solidFill>
                  </a:tcPr>
                </a:tc>
                <a:extLst>
                  <a:ext uri="{0D108BD9-81ED-4DB2-BD59-A6C34878D82A}">
                    <a16:rowId xmlns:a16="http://schemas.microsoft.com/office/drawing/2014/main" val="10000"/>
                  </a:ext>
                </a:extLst>
              </a:tr>
              <a:tr h="278130">
                <a:tc gridSpan="2">
                  <a:txBody>
                    <a:bodyPr/>
                    <a:lstStyle/>
                    <a:p>
                      <a:pPr algn="ctr"/>
                      <a:r>
                        <a:rPr lang="en-US" sz="1400" b="1" dirty="0"/>
                        <a:t>CO </a:t>
                      </a:r>
                      <a:r>
                        <a:rPr lang="en-US" sz="1400" b="0" dirty="0"/>
                        <a:t> </a:t>
                      </a:r>
                      <a:r>
                        <a:rPr lang="en-US" sz="1400" b="0" baseline="0" dirty="0"/>
                        <a:t>(</a:t>
                      </a:r>
                      <a:r>
                        <a:rPr lang="en-US" sz="1400" b="0" baseline="0" dirty="0" err="1"/>
                        <a:t>Extendido</a:t>
                      </a:r>
                      <a:r>
                        <a:rPr lang="en-US" sz="1400" b="0" baseline="0" dirty="0"/>
                        <a:t>  4 + 6 = 10 bits)</a:t>
                      </a:r>
                      <a:endParaRPr lang="es-NI" sz="1400" b="0" dirty="0">
                        <a:solidFill>
                          <a:schemeClr val="tx1"/>
                        </a:solidFill>
                      </a:endParaRPr>
                    </a:p>
                  </a:txBody>
                  <a:tcPr marT="34290" marB="34290">
                    <a:solidFill>
                      <a:schemeClr val="bg2">
                        <a:lumMod val="75000"/>
                      </a:schemeClr>
                    </a:solidFill>
                  </a:tcPr>
                </a:tc>
                <a:tc hMerge="1">
                  <a:txBody>
                    <a:bodyPr/>
                    <a:lstStyle/>
                    <a:p>
                      <a:pPr algn="ctr"/>
                      <a:endParaRPr lang="es-NI" sz="1400" b="1" dirty="0">
                        <a:solidFill>
                          <a:srgbClr val="FF0000"/>
                        </a:solidFill>
                      </a:endParaRPr>
                    </a:p>
                  </a:txBody>
                  <a:tcPr marT="34290" marB="34290">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O1 </a:t>
                      </a:r>
                      <a:r>
                        <a:rPr lang="en-US" sz="1400" b="0" dirty="0"/>
                        <a:t>(6 bits)</a:t>
                      </a:r>
                      <a:endParaRPr lang="es-NI" sz="1400" b="0" dirty="0">
                        <a:solidFill>
                          <a:schemeClr val="tx1"/>
                        </a:solidFill>
                      </a:endParaRPr>
                    </a:p>
                  </a:txBody>
                  <a:tcPr marT="34290" marB="34290">
                    <a:solidFill>
                      <a:schemeClr val="bg2">
                        <a:lumMod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2413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31540" y="314989"/>
            <a:ext cx="8568952" cy="857250"/>
          </a:xfrm>
        </p:spPr>
        <p:txBody>
          <a:bodyPr>
            <a:normAutofit/>
          </a:bodyPr>
          <a:lstStyle/>
          <a:p>
            <a:r>
              <a:rPr lang="en-US" dirty="0" err="1"/>
              <a:t>Código</a:t>
            </a:r>
            <a:r>
              <a:rPr lang="en-US" dirty="0"/>
              <a:t> de </a:t>
            </a:r>
            <a:r>
              <a:rPr lang="en-US" dirty="0" err="1"/>
              <a:t>Bloque</a:t>
            </a:r>
            <a:r>
              <a:rPr lang="en-US" dirty="0"/>
              <a:t> </a:t>
            </a:r>
            <a:r>
              <a:rPr lang="en-US" dirty="0" err="1"/>
              <a:t>Extendido</a:t>
            </a:r>
            <a:endParaRPr lang="es-NI" dirty="0"/>
          </a:p>
        </p:txBody>
      </p:sp>
      <p:sp>
        <p:nvSpPr>
          <p:cNvPr id="4" name="Rectangle 2"/>
          <p:cNvSpPr>
            <a:spLocks noChangeArrowheads="1"/>
          </p:cNvSpPr>
          <p:nvPr/>
        </p:nvSpPr>
        <p:spPr bwMode="auto">
          <a:xfrm>
            <a:off x="1" y="-1321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AutoShape 1"/>
          <p:cNvSpPr>
            <a:spLocks/>
          </p:cNvSpPr>
          <p:nvPr/>
        </p:nvSpPr>
        <p:spPr bwMode="auto">
          <a:xfrm>
            <a:off x="6228184" y="2407755"/>
            <a:ext cx="216024" cy="956083"/>
          </a:xfrm>
          <a:prstGeom prst="rightBrace">
            <a:avLst>
              <a:gd name="adj1" fmla="val 33333"/>
              <a:gd name="adj2" fmla="val 50000"/>
            </a:avLst>
          </a:prstGeom>
          <a:noFill/>
          <a:ln w="19050">
            <a:solidFill>
              <a:schemeClr val="accent1">
                <a:lumMod val="75000"/>
              </a:schemeClr>
            </a:solidFill>
            <a:round/>
            <a:headEnd/>
            <a:tailEnd/>
          </a:ln>
          <a:extLst/>
        </p:spPr>
        <p:txBody>
          <a:bodyPr vert="horz" wrap="square" lIns="91440" tIns="45720" rIns="91440" bIns="45720" numCol="1" anchor="t" anchorCtr="0" compatLnSpc="1">
            <a:prstTxWarp prst="textNoShape">
              <a:avLst/>
            </a:prstTxWarp>
          </a:bodyPr>
          <a:lstStyle/>
          <a:p>
            <a:endParaRPr lang="es-NI" dirty="0">
              <a:solidFill>
                <a:schemeClr val="accent1">
                  <a:lumMod val="75000"/>
                </a:schemeClr>
              </a:solidFill>
            </a:endParaRPr>
          </a:p>
        </p:txBody>
      </p:sp>
      <p:sp>
        <p:nvSpPr>
          <p:cNvPr id="6" name="Rectangle 3"/>
          <p:cNvSpPr>
            <a:spLocks noChangeArrowheads="1"/>
          </p:cNvSpPr>
          <p:nvPr/>
        </p:nvSpPr>
        <p:spPr bwMode="auto">
          <a:xfrm>
            <a:off x="1934707" y="1696258"/>
            <a:ext cx="10261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514350" algn="l"/>
                <a:tab pos="1028700" algn="l"/>
                <a:tab pos="1143000" algn="l"/>
                <a:tab pos="1371600" algn="l"/>
              </a:tabLst>
            </a:pPr>
            <a:r>
              <a:rPr kumimoji="0" lang="en-US" sz="2800" b="1" i="0" u="none" strike="noStrike" cap="none" normalizeH="0" baseline="0" dirty="0">
                <a:ln>
                  <a:noFill/>
                </a:ln>
                <a:solidFill>
                  <a:schemeClr val="accent5">
                    <a:lumMod val="75000"/>
                  </a:schemeClr>
                </a:solidFill>
                <a:effectLst/>
                <a:latin typeface="Garamond" pitchFamily="18" charset="0"/>
                <a:ea typeface="Times New Roman" pitchFamily="18" charset="0"/>
                <a:cs typeface="Arial" pitchFamily="34" charset="0"/>
              </a:rPr>
              <a:t>CO</a:t>
            </a:r>
            <a:endParaRPr kumimoji="0" lang="en-US" sz="5400" b="1" i="0" u="none" strike="noStrike" cap="none" normalizeH="0" baseline="0" dirty="0">
              <a:ln>
                <a:noFill/>
              </a:ln>
              <a:solidFill>
                <a:schemeClr val="accent5">
                  <a:lumMod val="75000"/>
                </a:schemeClr>
              </a:solidFill>
              <a:effectLst/>
              <a:latin typeface="Arial" pitchFamily="34" charset="0"/>
              <a:cs typeface="Arial" pitchFamily="34" charset="0"/>
            </a:endParaRPr>
          </a:p>
        </p:txBody>
      </p:sp>
      <p:sp>
        <p:nvSpPr>
          <p:cNvPr id="7" name="6 CuadroTexto"/>
          <p:cNvSpPr txBox="1"/>
          <p:nvPr/>
        </p:nvSpPr>
        <p:spPr>
          <a:xfrm>
            <a:off x="3131840" y="2247714"/>
            <a:ext cx="1512168" cy="461665"/>
          </a:xfrm>
          <a:prstGeom prst="rect">
            <a:avLst/>
          </a:prstGeom>
          <a:noFill/>
        </p:spPr>
        <p:txBody>
          <a:bodyPr wrap="square" rtlCol="0">
            <a:spAutoFit/>
          </a:bodyPr>
          <a:lstStyle/>
          <a:p>
            <a:r>
              <a:rPr lang="en-US" sz="2400" dirty="0">
                <a:solidFill>
                  <a:schemeClr val="accent1">
                    <a:lumMod val="75000"/>
                  </a:schemeClr>
                </a:solidFill>
              </a:rPr>
              <a:t>XXXXXX</a:t>
            </a:r>
            <a:endParaRPr lang="es-NI" sz="2400" dirty="0">
              <a:solidFill>
                <a:schemeClr val="accent1">
                  <a:lumMod val="75000"/>
                </a:schemeClr>
              </a:solidFill>
            </a:endParaRPr>
          </a:p>
        </p:txBody>
      </p:sp>
      <p:cxnSp>
        <p:nvCxnSpPr>
          <p:cNvPr id="9" name="8 Conector recto"/>
          <p:cNvCxnSpPr/>
          <p:nvPr/>
        </p:nvCxnSpPr>
        <p:spPr>
          <a:xfrm>
            <a:off x="1907704" y="2158214"/>
            <a:ext cx="432048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1979712" y="2247715"/>
            <a:ext cx="936104" cy="461665"/>
          </a:xfrm>
          <a:prstGeom prst="rect">
            <a:avLst/>
          </a:prstGeom>
          <a:noFill/>
        </p:spPr>
        <p:txBody>
          <a:bodyPr wrap="square" rtlCol="0">
            <a:spAutoFit/>
          </a:bodyPr>
          <a:lstStyle/>
          <a:p>
            <a:r>
              <a:rPr lang="en-US" sz="2400" dirty="0">
                <a:solidFill>
                  <a:schemeClr val="accent1">
                    <a:lumMod val="75000"/>
                  </a:schemeClr>
                </a:solidFill>
              </a:rPr>
              <a:t>0000</a:t>
            </a:r>
            <a:endParaRPr lang="es-NI" sz="2400" dirty="0">
              <a:solidFill>
                <a:schemeClr val="accent1">
                  <a:lumMod val="75000"/>
                </a:schemeClr>
              </a:solidFill>
            </a:endParaRPr>
          </a:p>
        </p:txBody>
      </p:sp>
      <p:sp>
        <p:nvSpPr>
          <p:cNvPr id="11" name="10 CuadroTexto"/>
          <p:cNvSpPr txBox="1"/>
          <p:nvPr/>
        </p:nvSpPr>
        <p:spPr>
          <a:xfrm>
            <a:off x="4716016" y="2227126"/>
            <a:ext cx="1512168" cy="461665"/>
          </a:xfrm>
          <a:prstGeom prst="rect">
            <a:avLst/>
          </a:prstGeom>
          <a:noFill/>
        </p:spPr>
        <p:txBody>
          <a:bodyPr wrap="square" rtlCol="0">
            <a:spAutoFit/>
          </a:bodyPr>
          <a:lstStyle/>
          <a:p>
            <a:r>
              <a:rPr lang="en-US" sz="2400" dirty="0">
                <a:solidFill>
                  <a:schemeClr val="accent1">
                    <a:lumMod val="75000"/>
                  </a:schemeClr>
                </a:solidFill>
              </a:rPr>
              <a:t>XXXXXX</a:t>
            </a:r>
            <a:endParaRPr lang="es-NI" sz="2400" dirty="0">
              <a:solidFill>
                <a:schemeClr val="accent1">
                  <a:lumMod val="75000"/>
                </a:schemeClr>
              </a:solidFill>
            </a:endParaRPr>
          </a:p>
        </p:txBody>
      </p:sp>
      <p:sp>
        <p:nvSpPr>
          <p:cNvPr id="12" name="11 CuadroTexto"/>
          <p:cNvSpPr txBox="1"/>
          <p:nvPr/>
        </p:nvSpPr>
        <p:spPr>
          <a:xfrm>
            <a:off x="1475656" y="2246971"/>
            <a:ext cx="360040" cy="461665"/>
          </a:xfrm>
          <a:prstGeom prst="rect">
            <a:avLst/>
          </a:prstGeom>
          <a:noFill/>
        </p:spPr>
        <p:txBody>
          <a:bodyPr wrap="square" rtlCol="0">
            <a:spAutoFit/>
          </a:bodyPr>
          <a:lstStyle/>
          <a:p>
            <a:r>
              <a:rPr lang="en-US" sz="2400" dirty="0">
                <a:solidFill>
                  <a:schemeClr val="accent1">
                    <a:lumMod val="75000"/>
                  </a:schemeClr>
                </a:solidFill>
              </a:rPr>
              <a:t>1</a:t>
            </a:r>
            <a:endParaRPr lang="es-NI" sz="2400" dirty="0">
              <a:solidFill>
                <a:schemeClr val="accent1">
                  <a:lumMod val="75000"/>
                </a:schemeClr>
              </a:solidFill>
            </a:endParaRPr>
          </a:p>
        </p:txBody>
      </p:sp>
      <p:sp>
        <p:nvSpPr>
          <p:cNvPr id="13" name="12 CuadroTexto"/>
          <p:cNvSpPr txBox="1"/>
          <p:nvPr/>
        </p:nvSpPr>
        <p:spPr>
          <a:xfrm>
            <a:off x="3131840" y="2578136"/>
            <a:ext cx="1512168" cy="461665"/>
          </a:xfrm>
          <a:prstGeom prst="rect">
            <a:avLst/>
          </a:prstGeom>
          <a:noFill/>
        </p:spPr>
        <p:txBody>
          <a:bodyPr wrap="square" rtlCol="0">
            <a:spAutoFit/>
          </a:bodyPr>
          <a:lstStyle/>
          <a:p>
            <a:r>
              <a:rPr lang="en-US" sz="2400" dirty="0">
                <a:solidFill>
                  <a:schemeClr val="accent1">
                    <a:lumMod val="75000"/>
                  </a:schemeClr>
                </a:solidFill>
              </a:rPr>
              <a:t>XXXXXX</a:t>
            </a:r>
            <a:endParaRPr lang="es-NI" sz="2400" dirty="0">
              <a:solidFill>
                <a:schemeClr val="accent1">
                  <a:lumMod val="75000"/>
                </a:schemeClr>
              </a:solidFill>
            </a:endParaRPr>
          </a:p>
        </p:txBody>
      </p:sp>
      <p:sp>
        <p:nvSpPr>
          <p:cNvPr id="15" name="14 CuadroTexto"/>
          <p:cNvSpPr txBox="1"/>
          <p:nvPr/>
        </p:nvSpPr>
        <p:spPr>
          <a:xfrm>
            <a:off x="1979712" y="2578137"/>
            <a:ext cx="936104" cy="461665"/>
          </a:xfrm>
          <a:prstGeom prst="rect">
            <a:avLst/>
          </a:prstGeom>
          <a:noFill/>
        </p:spPr>
        <p:txBody>
          <a:bodyPr wrap="square" rtlCol="0">
            <a:spAutoFit/>
          </a:bodyPr>
          <a:lstStyle/>
          <a:p>
            <a:r>
              <a:rPr lang="en-US" sz="2400" dirty="0">
                <a:solidFill>
                  <a:schemeClr val="accent1">
                    <a:lumMod val="75000"/>
                  </a:schemeClr>
                </a:solidFill>
              </a:rPr>
              <a:t>0001</a:t>
            </a:r>
            <a:endParaRPr lang="es-NI" sz="2400" dirty="0">
              <a:solidFill>
                <a:schemeClr val="accent1">
                  <a:lumMod val="75000"/>
                </a:schemeClr>
              </a:solidFill>
            </a:endParaRPr>
          </a:p>
        </p:txBody>
      </p:sp>
      <p:sp>
        <p:nvSpPr>
          <p:cNvPr id="16" name="15 CuadroTexto"/>
          <p:cNvSpPr txBox="1"/>
          <p:nvPr/>
        </p:nvSpPr>
        <p:spPr>
          <a:xfrm>
            <a:off x="4716016" y="2557548"/>
            <a:ext cx="1512168" cy="461665"/>
          </a:xfrm>
          <a:prstGeom prst="rect">
            <a:avLst/>
          </a:prstGeom>
          <a:noFill/>
        </p:spPr>
        <p:txBody>
          <a:bodyPr wrap="square" rtlCol="0">
            <a:spAutoFit/>
          </a:bodyPr>
          <a:lstStyle/>
          <a:p>
            <a:r>
              <a:rPr lang="en-US" sz="2400" dirty="0">
                <a:solidFill>
                  <a:schemeClr val="accent1">
                    <a:lumMod val="75000"/>
                  </a:schemeClr>
                </a:solidFill>
              </a:rPr>
              <a:t>XXXXXX</a:t>
            </a:r>
            <a:endParaRPr lang="es-NI" sz="2400" dirty="0">
              <a:solidFill>
                <a:schemeClr val="accent1">
                  <a:lumMod val="75000"/>
                </a:schemeClr>
              </a:solidFill>
            </a:endParaRPr>
          </a:p>
        </p:txBody>
      </p:sp>
      <p:sp>
        <p:nvSpPr>
          <p:cNvPr id="17" name="16 CuadroTexto"/>
          <p:cNvSpPr txBox="1"/>
          <p:nvPr/>
        </p:nvSpPr>
        <p:spPr>
          <a:xfrm>
            <a:off x="1475656" y="2577393"/>
            <a:ext cx="360040" cy="461665"/>
          </a:xfrm>
          <a:prstGeom prst="rect">
            <a:avLst/>
          </a:prstGeom>
          <a:noFill/>
        </p:spPr>
        <p:txBody>
          <a:bodyPr wrap="square" rtlCol="0">
            <a:spAutoFit/>
          </a:bodyPr>
          <a:lstStyle/>
          <a:p>
            <a:r>
              <a:rPr lang="en-US" sz="2400" dirty="0">
                <a:solidFill>
                  <a:schemeClr val="accent1">
                    <a:lumMod val="75000"/>
                  </a:schemeClr>
                </a:solidFill>
              </a:rPr>
              <a:t>2</a:t>
            </a:r>
            <a:endParaRPr lang="es-NI" sz="2400" dirty="0">
              <a:solidFill>
                <a:schemeClr val="accent1">
                  <a:lumMod val="75000"/>
                </a:schemeClr>
              </a:solidFill>
            </a:endParaRPr>
          </a:p>
        </p:txBody>
      </p:sp>
      <p:sp>
        <p:nvSpPr>
          <p:cNvPr id="18" name="17 CuadroTexto"/>
          <p:cNvSpPr txBox="1"/>
          <p:nvPr/>
        </p:nvSpPr>
        <p:spPr>
          <a:xfrm>
            <a:off x="3131840" y="3052986"/>
            <a:ext cx="1512168" cy="461665"/>
          </a:xfrm>
          <a:prstGeom prst="rect">
            <a:avLst/>
          </a:prstGeom>
          <a:noFill/>
        </p:spPr>
        <p:txBody>
          <a:bodyPr wrap="square" rtlCol="0">
            <a:spAutoFit/>
          </a:bodyPr>
          <a:lstStyle/>
          <a:p>
            <a:r>
              <a:rPr lang="en-US" sz="2400" dirty="0">
                <a:solidFill>
                  <a:schemeClr val="accent1">
                    <a:lumMod val="75000"/>
                  </a:schemeClr>
                </a:solidFill>
              </a:rPr>
              <a:t>XXXXXX</a:t>
            </a:r>
            <a:endParaRPr lang="es-NI" sz="2400" dirty="0">
              <a:solidFill>
                <a:schemeClr val="accent1">
                  <a:lumMod val="75000"/>
                </a:schemeClr>
              </a:solidFill>
            </a:endParaRPr>
          </a:p>
        </p:txBody>
      </p:sp>
      <p:sp>
        <p:nvSpPr>
          <p:cNvPr id="19" name="18 CuadroTexto"/>
          <p:cNvSpPr txBox="1"/>
          <p:nvPr/>
        </p:nvSpPr>
        <p:spPr>
          <a:xfrm>
            <a:off x="1979712" y="3052987"/>
            <a:ext cx="936104" cy="461665"/>
          </a:xfrm>
          <a:prstGeom prst="rect">
            <a:avLst/>
          </a:prstGeom>
          <a:noFill/>
        </p:spPr>
        <p:txBody>
          <a:bodyPr wrap="square" rtlCol="0">
            <a:spAutoFit/>
          </a:bodyPr>
          <a:lstStyle/>
          <a:p>
            <a:r>
              <a:rPr lang="en-US" sz="2400" dirty="0">
                <a:solidFill>
                  <a:schemeClr val="accent1">
                    <a:lumMod val="75000"/>
                  </a:schemeClr>
                </a:solidFill>
              </a:rPr>
              <a:t>1110</a:t>
            </a:r>
            <a:endParaRPr lang="es-NI" sz="2400" dirty="0">
              <a:solidFill>
                <a:schemeClr val="accent1">
                  <a:lumMod val="75000"/>
                </a:schemeClr>
              </a:solidFill>
            </a:endParaRPr>
          </a:p>
        </p:txBody>
      </p:sp>
      <p:sp>
        <p:nvSpPr>
          <p:cNvPr id="20" name="19 CuadroTexto"/>
          <p:cNvSpPr txBox="1"/>
          <p:nvPr/>
        </p:nvSpPr>
        <p:spPr>
          <a:xfrm>
            <a:off x="4716016" y="3032397"/>
            <a:ext cx="1512168" cy="461665"/>
          </a:xfrm>
          <a:prstGeom prst="rect">
            <a:avLst/>
          </a:prstGeom>
          <a:noFill/>
        </p:spPr>
        <p:txBody>
          <a:bodyPr wrap="square" rtlCol="0">
            <a:spAutoFit/>
          </a:bodyPr>
          <a:lstStyle/>
          <a:p>
            <a:r>
              <a:rPr lang="en-US" sz="2400" dirty="0">
                <a:solidFill>
                  <a:schemeClr val="accent1">
                    <a:lumMod val="75000"/>
                  </a:schemeClr>
                </a:solidFill>
              </a:rPr>
              <a:t>XXXXXX</a:t>
            </a:r>
            <a:endParaRPr lang="es-NI" sz="2400" dirty="0">
              <a:solidFill>
                <a:schemeClr val="accent1">
                  <a:lumMod val="75000"/>
                </a:schemeClr>
              </a:solidFill>
            </a:endParaRPr>
          </a:p>
        </p:txBody>
      </p:sp>
      <p:sp>
        <p:nvSpPr>
          <p:cNvPr id="21" name="20 CuadroTexto"/>
          <p:cNvSpPr txBox="1"/>
          <p:nvPr/>
        </p:nvSpPr>
        <p:spPr>
          <a:xfrm>
            <a:off x="1187624" y="3052242"/>
            <a:ext cx="648072" cy="461665"/>
          </a:xfrm>
          <a:prstGeom prst="rect">
            <a:avLst/>
          </a:prstGeom>
          <a:noFill/>
        </p:spPr>
        <p:txBody>
          <a:bodyPr wrap="square" rtlCol="0">
            <a:spAutoFit/>
          </a:bodyPr>
          <a:lstStyle/>
          <a:p>
            <a:pPr algn="r"/>
            <a:r>
              <a:rPr lang="en-US" sz="2400" dirty="0">
                <a:solidFill>
                  <a:schemeClr val="accent1">
                    <a:lumMod val="75000"/>
                  </a:schemeClr>
                </a:solidFill>
              </a:rPr>
              <a:t>15</a:t>
            </a:r>
            <a:endParaRPr lang="es-NI" sz="2400" dirty="0">
              <a:solidFill>
                <a:schemeClr val="accent1">
                  <a:lumMod val="75000"/>
                </a:schemeClr>
              </a:solidFill>
            </a:endParaRPr>
          </a:p>
        </p:txBody>
      </p:sp>
      <p:sp>
        <p:nvSpPr>
          <p:cNvPr id="22" name="Rectangle 3"/>
          <p:cNvSpPr>
            <a:spLocks noChangeArrowheads="1"/>
          </p:cNvSpPr>
          <p:nvPr/>
        </p:nvSpPr>
        <p:spPr bwMode="auto">
          <a:xfrm>
            <a:off x="4957694" y="1681885"/>
            <a:ext cx="10288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514350" algn="l"/>
                <a:tab pos="1028700" algn="l"/>
                <a:tab pos="1143000" algn="l"/>
                <a:tab pos="1371600" algn="l"/>
              </a:tabLst>
            </a:pPr>
            <a:r>
              <a:rPr kumimoji="0" lang="en-US" sz="2800" b="1" i="0" u="none" strike="noStrike" cap="none" normalizeH="0" baseline="0" dirty="0">
                <a:ln>
                  <a:noFill/>
                </a:ln>
                <a:solidFill>
                  <a:schemeClr val="accent5">
                    <a:lumMod val="75000"/>
                  </a:schemeClr>
                </a:solidFill>
                <a:effectLst/>
                <a:latin typeface="Garamond" pitchFamily="18" charset="0"/>
                <a:ea typeface="Times New Roman" pitchFamily="18" charset="0"/>
                <a:cs typeface="Arial" pitchFamily="34" charset="0"/>
              </a:rPr>
              <a:t>O1</a:t>
            </a:r>
            <a:endParaRPr kumimoji="0" lang="en-US" sz="5400" b="1" i="0" u="none" strike="noStrike" cap="none" normalizeH="0" baseline="0" dirty="0">
              <a:ln>
                <a:noFill/>
              </a:ln>
              <a:solidFill>
                <a:schemeClr val="accent5">
                  <a:lumMod val="75000"/>
                </a:schemeClr>
              </a:solidFill>
              <a:effectLst/>
              <a:latin typeface="Arial" pitchFamily="34" charset="0"/>
              <a:cs typeface="Arial" pitchFamily="34" charset="0"/>
            </a:endParaRPr>
          </a:p>
        </p:txBody>
      </p:sp>
      <p:sp>
        <p:nvSpPr>
          <p:cNvPr id="23" name="Rectangle 3"/>
          <p:cNvSpPr>
            <a:spLocks noChangeArrowheads="1"/>
          </p:cNvSpPr>
          <p:nvPr/>
        </p:nvSpPr>
        <p:spPr bwMode="auto">
          <a:xfrm>
            <a:off x="3203848" y="1696258"/>
            <a:ext cx="12601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514350" algn="l"/>
                <a:tab pos="1028700" algn="l"/>
                <a:tab pos="1143000" algn="l"/>
                <a:tab pos="1371600" algn="l"/>
              </a:tabLst>
            </a:pPr>
            <a:r>
              <a:rPr kumimoji="0" lang="en-US" sz="2800" b="1" i="0" u="none" strike="noStrike" cap="none" normalizeH="0" baseline="0" dirty="0">
                <a:ln>
                  <a:noFill/>
                </a:ln>
                <a:solidFill>
                  <a:schemeClr val="accent5">
                    <a:lumMod val="75000"/>
                  </a:schemeClr>
                </a:solidFill>
                <a:effectLst/>
                <a:latin typeface="Garamond" pitchFamily="18" charset="0"/>
                <a:ea typeface="Times New Roman" pitchFamily="18" charset="0"/>
                <a:cs typeface="Arial" pitchFamily="34" charset="0"/>
              </a:rPr>
              <a:t>O2	</a:t>
            </a:r>
            <a:endParaRPr kumimoji="0" lang="en-US" sz="5400" b="1" i="0" u="none" strike="noStrike" cap="none" normalizeH="0" baseline="0" dirty="0">
              <a:ln>
                <a:noFill/>
              </a:ln>
              <a:solidFill>
                <a:schemeClr val="accent5">
                  <a:lumMod val="75000"/>
                </a:schemeClr>
              </a:solidFill>
              <a:effectLst/>
              <a:latin typeface="Arial" pitchFamily="34" charset="0"/>
              <a:cs typeface="Arial" pitchFamily="34" charset="0"/>
            </a:endParaRPr>
          </a:p>
        </p:txBody>
      </p:sp>
      <p:sp>
        <p:nvSpPr>
          <p:cNvPr id="25" name="24 CuadroTexto"/>
          <p:cNvSpPr txBox="1"/>
          <p:nvPr/>
        </p:nvSpPr>
        <p:spPr>
          <a:xfrm>
            <a:off x="3563888" y="2816373"/>
            <a:ext cx="324036" cy="369332"/>
          </a:xfrm>
          <a:prstGeom prst="rect">
            <a:avLst/>
          </a:prstGeom>
          <a:noFill/>
        </p:spPr>
        <p:txBody>
          <a:bodyPr wrap="square" rtlCol="0">
            <a:spAutoFit/>
          </a:bodyPr>
          <a:lstStyle/>
          <a:p>
            <a:r>
              <a:rPr lang="en-US" b="1" dirty="0">
                <a:solidFill>
                  <a:schemeClr val="accent1">
                    <a:lumMod val="75000"/>
                  </a:schemeClr>
                </a:solidFill>
              </a:rPr>
              <a:t>…</a:t>
            </a:r>
          </a:p>
        </p:txBody>
      </p:sp>
      <p:sp>
        <p:nvSpPr>
          <p:cNvPr id="26" name="25 CuadroTexto"/>
          <p:cNvSpPr txBox="1"/>
          <p:nvPr/>
        </p:nvSpPr>
        <p:spPr>
          <a:xfrm>
            <a:off x="2159732" y="2809404"/>
            <a:ext cx="324036" cy="369332"/>
          </a:xfrm>
          <a:prstGeom prst="rect">
            <a:avLst/>
          </a:prstGeom>
          <a:noFill/>
        </p:spPr>
        <p:txBody>
          <a:bodyPr wrap="square" rtlCol="0">
            <a:spAutoFit/>
          </a:bodyPr>
          <a:lstStyle/>
          <a:p>
            <a:r>
              <a:rPr lang="en-US" b="1" dirty="0">
                <a:solidFill>
                  <a:schemeClr val="accent1">
                    <a:lumMod val="75000"/>
                  </a:schemeClr>
                </a:solidFill>
              </a:rPr>
              <a:t>…</a:t>
            </a:r>
          </a:p>
        </p:txBody>
      </p:sp>
      <p:sp>
        <p:nvSpPr>
          <p:cNvPr id="27" name="26 CuadroTexto"/>
          <p:cNvSpPr txBox="1"/>
          <p:nvPr/>
        </p:nvSpPr>
        <p:spPr>
          <a:xfrm>
            <a:off x="5184068" y="2809404"/>
            <a:ext cx="324036" cy="369332"/>
          </a:xfrm>
          <a:prstGeom prst="rect">
            <a:avLst/>
          </a:prstGeom>
          <a:noFill/>
        </p:spPr>
        <p:txBody>
          <a:bodyPr wrap="square" rtlCol="0">
            <a:spAutoFit/>
          </a:bodyPr>
          <a:lstStyle/>
          <a:p>
            <a:r>
              <a:rPr lang="en-US" b="1" dirty="0">
                <a:solidFill>
                  <a:schemeClr val="accent1">
                    <a:lumMod val="75000"/>
                  </a:schemeClr>
                </a:solidFill>
              </a:rPr>
              <a:t>…</a:t>
            </a:r>
          </a:p>
        </p:txBody>
      </p:sp>
      <p:sp>
        <p:nvSpPr>
          <p:cNvPr id="28" name="27 Rectángulo"/>
          <p:cNvSpPr/>
          <p:nvPr/>
        </p:nvSpPr>
        <p:spPr>
          <a:xfrm>
            <a:off x="6588226" y="2571750"/>
            <a:ext cx="2555775" cy="646331"/>
          </a:xfrm>
          <a:prstGeom prst="rect">
            <a:avLst/>
          </a:prstGeom>
        </p:spPr>
        <p:txBody>
          <a:bodyPr wrap="square">
            <a:spAutoFit/>
          </a:bodyPr>
          <a:lstStyle/>
          <a:p>
            <a:r>
              <a:rPr lang="es-NI" dirty="0">
                <a:solidFill>
                  <a:schemeClr val="accent1">
                    <a:lumMod val="75000"/>
                  </a:schemeClr>
                </a:solidFill>
              </a:rPr>
              <a:t>G1: 15 instrucciones  de 2 operandos	 </a:t>
            </a:r>
          </a:p>
        </p:txBody>
      </p:sp>
      <p:sp>
        <p:nvSpPr>
          <p:cNvPr id="29" name="28 CuadroTexto"/>
          <p:cNvSpPr txBox="1"/>
          <p:nvPr/>
        </p:nvSpPr>
        <p:spPr>
          <a:xfrm>
            <a:off x="1475656" y="2816373"/>
            <a:ext cx="324036" cy="369332"/>
          </a:xfrm>
          <a:prstGeom prst="rect">
            <a:avLst/>
          </a:prstGeom>
          <a:noFill/>
        </p:spPr>
        <p:txBody>
          <a:bodyPr wrap="square" rtlCol="0">
            <a:spAutoFit/>
          </a:bodyPr>
          <a:lstStyle/>
          <a:p>
            <a:r>
              <a:rPr lang="en-US" b="1" dirty="0">
                <a:solidFill>
                  <a:schemeClr val="accent1">
                    <a:lumMod val="75000"/>
                  </a:schemeClr>
                </a:solidFill>
              </a:rPr>
              <a:t>…</a:t>
            </a:r>
          </a:p>
        </p:txBody>
      </p:sp>
      <p:sp>
        <p:nvSpPr>
          <p:cNvPr id="30" name="29 CuadroTexto"/>
          <p:cNvSpPr txBox="1"/>
          <p:nvPr/>
        </p:nvSpPr>
        <p:spPr>
          <a:xfrm>
            <a:off x="1979712" y="3442233"/>
            <a:ext cx="936104" cy="461665"/>
          </a:xfrm>
          <a:prstGeom prst="rect">
            <a:avLst/>
          </a:prstGeom>
          <a:noFill/>
        </p:spPr>
        <p:txBody>
          <a:bodyPr wrap="square" rtlCol="0">
            <a:spAutoFit/>
          </a:bodyPr>
          <a:lstStyle/>
          <a:p>
            <a:r>
              <a:rPr lang="en-US" sz="2400" dirty="0">
                <a:solidFill>
                  <a:srgbClr val="7030A0"/>
                </a:solidFill>
              </a:rPr>
              <a:t>1111</a:t>
            </a:r>
            <a:endParaRPr lang="es-NI" sz="2400" dirty="0">
              <a:solidFill>
                <a:srgbClr val="7030A0"/>
              </a:solidFill>
            </a:endParaRPr>
          </a:p>
        </p:txBody>
      </p:sp>
      <p:sp>
        <p:nvSpPr>
          <p:cNvPr id="31" name="30 CuadroTexto"/>
          <p:cNvSpPr txBox="1"/>
          <p:nvPr/>
        </p:nvSpPr>
        <p:spPr>
          <a:xfrm>
            <a:off x="1979712" y="3784271"/>
            <a:ext cx="936104" cy="461665"/>
          </a:xfrm>
          <a:prstGeom prst="rect">
            <a:avLst/>
          </a:prstGeom>
          <a:noFill/>
        </p:spPr>
        <p:txBody>
          <a:bodyPr wrap="square" rtlCol="0">
            <a:spAutoFit/>
          </a:bodyPr>
          <a:lstStyle/>
          <a:p>
            <a:r>
              <a:rPr lang="en-US" sz="2400" dirty="0">
                <a:solidFill>
                  <a:srgbClr val="7030A0"/>
                </a:solidFill>
              </a:rPr>
              <a:t>1111</a:t>
            </a:r>
            <a:endParaRPr lang="es-NI" sz="2400" dirty="0">
              <a:solidFill>
                <a:srgbClr val="7030A0"/>
              </a:solidFill>
            </a:endParaRPr>
          </a:p>
        </p:txBody>
      </p:sp>
      <p:sp>
        <p:nvSpPr>
          <p:cNvPr id="32" name="31 CuadroTexto"/>
          <p:cNvSpPr txBox="1"/>
          <p:nvPr/>
        </p:nvSpPr>
        <p:spPr>
          <a:xfrm>
            <a:off x="1979712" y="4270325"/>
            <a:ext cx="936104" cy="461665"/>
          </a:xfrm>
          <a:prstGeom prst="rect">
            <a:avLst/>
          </a:prstGeom>
          <a:noFill/>
        </p:spPr>
        <p:txBody>
          <a:bodyPr wrap="square" rtlCol="0">
            <a:spAutoFit/>
          </a:bodyPr>
          <a:lstStyle/>
          <a:p>
            <a:r>
              <a:rPr lang="en-US" sz="2400" dirty="0">
                <a:solidFill>
                  <a:srgbClr val="7030A0"/>
                </a:solidFill>
              </a:rPr>
              <a:t>1111</a:t>
            </a:r>
            <a:endParaRPr lang="es-NI" sz="2400" dirty="0">
              <a:solidFill>
                <a:srgbClr val="7030A0"/>
              </a:solidFill>
            </a:endParaRPr>
          </a:p>
        </p:txBody>
      </p:sp>
      <p:sp>
        <p:nvSpPr>
          <p:cNvPr id="33" name="32 CuadroTexto"/>
          <p:cNvSpPr txBox="1"/>
          <p:nvPr/>
        </p:nvSpPr>
        <p:spPr>
          <a:xfrm>
            <a:off x="3131840" y="3464446"/>
            <a:ext cx="1512168" cy="461665"/>
          </a:xfrm>
          <a:prstGeom prst="rect">
            <a:avLst/>
          </a:prstGeom>
          <a:noFill/>
        </p:spPr>
        <p:txBody>
          <a:bodyPr wrap="square" rtlCol="0">
            <a:spAutoFit/>
          </a:bodyPr>
          <a:lstStyle/>
          <a:p>
            <a:pPr algn="ctr"/>
            <a:r>
              <a:rPr lang="en-US" sz="2400" dirty="0">
                <a:solidFill>
                  <a:srgbClr val="7030A0"/>
                </a:solidFill>
              </a:rPr>
              <a:t>000000</a:t>
            </a:r>
            <a:endParaRPr lang="es-NI" sz="2400" dirty="0">
              <a:solidFill>
                <a:srgbClr val="7030A0"/>
              </a:solidFill>
            </a:endParaRPr>
          </a:p>
        </p:txBody>
      </p:sp>
      <p:sp>
        <p:nvSpPr>
          <p:cNvPr id="34" name="33 CuadroTexto"/>
          <p:cNvSpPr txBox="1"/>
          <p:nvPr/>
        </p:nvSpPr>
        <p:spPr>
          <a:xfrm>
            <a:off x="3131840" y="3766269"/>
            <a:ext cx="1512168" cy="461665"/>
          </a:xfrm>
          <a:prstGeom prst="rect">
            <a:avLst/>
          </a:prstGeom>
          <a:noFill/>
        </p:spPr>
        <p:txBody>
          <a:bodyPr wrap="square" rtlCol="0">
            <a:spAutoFit/>
          </a:bodyPr>
          <a:lstStyle/>
          <a:p>
            <a:pPr algn="ctr"/>
            <a:r>
              <a:rPr lang="en-US" sz="2400" dirty="0">
                <a:solidFill>
                  <a:srgbClr val="7030A0"/>
                </a:solidFill>
              </a:rPr>
              <a:t>000001</a:t>
            </a:r>
            <a:endParaRPr lang="es-NI" sz="2400" dirty="0">
              <a:solidFill>
                <a:srgbClr val="7030A0"/>
              </a:solidFill>
            </a:endParaRPr>
          </a:p>
        </p:txBody>
      </p:sp>
      <p:sp>
        <p:nvSpPr>
          <p:cNvPr id="35" name="34 CuadroTexto"/>
          <p:cNvSpPr txBox="1"/>
          <p:nvPr/>
        </p:nvSpPr>
        <p:spPr>
          <a:xfrm>
            <a:off x="3131840" y="4270325"/>
            <a:ext cx="1512168" cy="461665"/>
          </a:xfrm>
          <a:prstGeom prst="rect">
            <a:avLst/>
          </a:prstGeom>
          <a:noFill/>
        </p:spPr>
        <p:txBody>
          <a:bodyPr wrap="square" rtlCol="0">
            <a:spAutoFit/>
          </a:bodyPr>
          <a:lstStyle/>
          <a:p>
            <a:pPr algn="ctr"/>
            <a:r>
              <a:rPr lang="en-US" sz="2400" dirty="0">
                <a:solidFill>
                  <a:srgbClr val="7030A0"/>
                </a:solidFill>
              </a:rPr>
              <a:t>011101</a:t>
            </a:r>
            <a:endParaRPr lang="es-NI" sz="2400" dirty="0">
              <a:solidFill>
                <a:srgbClr val="7030A0"/>
              </a:solidFill>
            </a:endParaRPr>
          </a:p>
        </p:txBody>
      </p:sp>
      <p:sp>
        <p:nvSpPr>
          <p:cNvPr id="36" name="35 CuadroTexto"/>
          <p:cNvSpPr txBox="1"/>
          <p:nvPr/>
        </p:nvSpPr>
        <p:spPr>
          <a:xfrm>
            <a:off x="4716016" y="3442233"/>
            <a:ext cx="1512168" cy="461665"/>
          </a:xfrm>
          <a:prstGeom prst="rect">
            <a:avLst/>
          </a:prstGeom>
          <a:noFill/>
        </p:spPr>
        <p:txBody>
          <a:bodyPr wrap="square" rtlCol="0">
            <a:spAutoFit/>
          </a:bodyPr>
          <a:lstStyle/>
          <a:p>
            <a:r>
              <a:rPr lang="en-US" sz="2400" dirty="0">
                <a:solidFill>
                  <a:srgbClr val="7030A0"/>
                </a:solidFill>
              </a:rPr>
              <a:t>XXXXXX</a:t>
            </a:r>
            <a:endParaRPr lang="es-NI" sz="2400" dirty="0">
              <a:solidFill>
                <a:srgbClr val="7030A0"/>
              </a:solidFill>
            </a:endParaRPr>
          </a:p>
        </p:txBody>
      </p:sp>
      <p:sp>
        <p:nvSpPr>
          <p:cNvPr id="37" name="36 CuadroTexto"/>
          <p:cNvSpPr txBox="1"/>
          <p:nvPr/>
        </p:nvSpPr>
        <p:spPr>
          <a:xfrm>
            <a:off x="4716016" y="3766269"/>
            <a:ext cx="1512168" cy="461665"/>
          </a:xfrm>
          <a:prstGeom prst="rect">
            <a:avLst/>
          </a:prstGeom>
          <a:noFill/>
        </p:spPr>
        <p:txBody>
          <a:bodyPr wrap="square" rtlCol="0">
            <a:spAutoFit/>
          </a:bodyPr>
          <a:lstStyle/>
          <a:p>
            <a:r>
              <a:rPr lang="en-US" sz="2400" dirty="0">
                <a:solidFill>
                  <a:srgbClr val="7030A0"/>
                </a:solidFill>
              </a:rPr>
              <a:t>XXXXXX</a:t>
            </a:r>
            <a:endParaRPr lang="es-NI" sz="2400" dirty="0">
              <a:solidFill>
                <a:srgbClr val="7030A0"/>
              </a:solidFill>
            </a:endParaRPr>
          </a:p>
        </p:txBody>
      </p:sp>
      <p:sp>
        <p:nvSpPr>
          <p:cNvPr id="38" name="37 CuadroTexto"/>
          <p:cNvSpPr txBox="1"/>
          <p:nvPr/>
        </p:nvSpPr>
        <p:spPr>
          <a:xfrm>
            <a:off x="4788024" y="4270325"/>
            <a:ext cx="1512168" cy="461665"/>
          </a:xfrm>
          <a:prstGeom prst="rect">
            <a:avLst/>
          </a:prstGeom>
          <a:noFill/>
        </p:spPr>
        <p:txBody>
          <a:bodyPr wrap="square" rtlCol="0">
            <a:spAutoFit/>
          </a:bodyPr>
          <a:lstStyle/>
          <a:p>
            <a:r>
              <a:rPr lang="en-US" sz="2400" dirty="0">
                <a:solidFill>
                  <a:srgbClr val="7030A0"/>
                </a:solidFill>
              </a:rPr>
              <a:t>XXXXXX</a:t>
            </a:r>
            <a:endParaRPr lang="es-NI" sz="2400" dirty="0">
              <a:solidFill>
                <a:srgbClr val="7030A0"/>
              </a:solidFill>
            </a:endParaRPr>
          </a:p>
        </p:txBody>
      </p:sp>
      <p:sp>
        <p:nvSpPr>
          <p:cNvPr id="39" name="38 CuadroTexto"/>
          <p:cNvSpPr txBox="1"/>
          <p:nvPr/>
        </p:nvSpPr>
        <p:spPr>
          <a:xfrm>
            <a:off x="3563888" y="4029476"/>
            <a:ext cx="324036" cy="369332"/>
          </a:xfrm>
          <a:prstGeom prst="rect">
            <a:avLst/>
          </a:prstGeom>
          <a:noFill/>
        </p:spPr>
        <p:txBody>
          <a:bodyPr wrap="square" rtlCol="0">
            <a:spAutoFit/>
          </a:bodyPr>
          <a:lstStyle/>
          <a:p>
            <a:r>
              <a:rPr lang="en-US" b="1" dirty="0">
                <a:solidFill>
                  <a:srgbClr val="7030A0"/>
                </a:solidFill>
              </a:rPr>
              <a:t>…</a:t>
            </a:r>
          </a:p>
        </p:txBody>
      </p:sp>
      <p:sp>
        <p:nvSpPr>
          <p:cNvPr id="40" name="39 CuadroTexto"/>
          <p:cNvSpPr txBox="1"/>
          <p:nvPr/>
        </p:nvSpPr>
        <p:spPr>
          <a:xfrm>
            <a:off x="2159732" y="4022507"/>
            <a:ext cx="324036" cy="369332"/>
          </a:xfrm>
          <a:prstGeom prst="rect">
            <a:avLst/>
          </a:prstGeom>
          <a:noFill/>
        </p:spPr>
        <p:txBody>
          <a:bodyPr wrap="square" rtlCol="0">
            <a:spAutoFit/>
          </a:bodyPr>
          <a:lstStyle/>
          <a:p>
            <a:r>
              <a:rPr lang="en-US" b="1" dirty="0">
                <a:solidFill>
                  <a:srgbClr val="7030A0"/>
                </a:solidFill>
              </a:rPr>
              <a:t>…</a:t>
            </a:r>
          </a:p>
        </p:txBody>
      </p:sp>
      <p:sp>
        <p:nvSpPr>
          <p:cNvPr id="41" name="40 CuadroTexto"/>
          <p:cNvSpPr txBox="1"/>
          <p:nvPr/>
        </p:nvSpPr>
        <p:spPr>
          <a:xfrm>
            <a:off x="5184068" y="4022507"/>
            <a:ext cx="324036" cy="369332"/>
          </a:xfrm>
          <a:prstGeom prst="rect">
            <a:avLst/>
          </a:prstGeom>
          <a:noFill/>
        </p:spPr>
        <p:txBody>
          <a:bodyPr wrap="square" rtlCol="0">
            <a:spAutoFit/>
          </a:bodyPr>
          <a:lstStyle/>
          <a:p>
            <a:r>
              <a:rPr lang="en-US" b="1" dirty="0">
                <a:solidFill>
                  <a:srgbClr val="7030A0"/>
                </a:solidFill>
              </a:rPr>
              <a:t>…</a:t>
            </a:r>
          </a:p>
        </p:txBody>
      </p:sp>
      <p:sp>
        <p:nvSpPr>
          <p:cNvPr id="43" name="AutoShape 1"/>
          <p:cNvSpPr>
            <a:spLocks/>
          </p:cNvSpPr>
          <p:nvPr/>
        </p:nvSpPr>
        <p:spPr bwMode="auto">
          <a:xfrm>
            <a:off x="6228184" y="3559883"/>
            <a:ext cx="216024" cy="1160903"/>
          </a:xfrm>
          <a:prstGeom prst="rightBrace">
            <a:avLst>
              <a:gd name="adj1" fmla="val 33333"/>
              <a:gd name="adj2" fmla="val 50000"/>
            </a:avLst>
          </a:prstGeom>
          <a:noFill/>
          <a:ln w="19050">
            <a:solidFill>
              <a:srgbClr val="9900FF"/>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NI" dirty="0">
              <a:solidFill>
                <a:srgbClr val="7030A0"/>
              </a:solidFill>
            </a:endParaRPr>
          </a:p>
        </p:txBody>
      </p:sp>
      <p:sp>
        <p:nvSpPr>
          <p:cNvPr id="44" name="43 Rectángulo"/>
          <p:cNvSpPr/>
          <p:nvPr/>
        </p:nvSpPr>
        <p:spPr>
          <a:xfrm>
            <a:off x="6552731" y="3797627"/>
            <a:ext cx="2555775" cy="646331"/>
          </a:xfrm>
          <a:prstGeom prst="rect">
            <a:avLst/>
          </a:prstGeom>
        </p:spPr>
        <p:txBody>
          <a:bodyPr wrap="square">
            <a:spAutoFit/>
          </a:bodyPr>
          <a:lstStyle/>
          <a:p>
            <a:r>
              <a:rPr lang="es-NI" dirty="0">
                <a:solidFill>
                  <a:srgbClr val="7030A0"/>
                </a:solidFill>
              </a:rPr>
              <a:t>G2: 30 instrucciones  de 1 operando	 </a:t>
            </a:r>
          </a:p>
        </p:txBody>
      </p:sp>
      <p:sp>
        <p:nvSpPr>
          <p:cNvPr id="45" name="44 CuadroTexto"/>
          <p:cNvSpPr txBox="1"/>
          <p:nvPr/>
        </p:nvSpPr>
        <p:spPr>
          <a:xfrm>
            <a:off x="1475656" y="3464446"/>
            <a:ext cx="360040" cy="461665"/>
          </a:xfrm>
          <a:prstGeom prst="rect">
            <a:avLst/>
          </a:prstGeom>
          <a:noFill/>
        </p:spPr>
        <p:txBody>
          <a:bodyPr wrap="square" rtlCol="0">
            <a:spAutoFit/>
          </a:bodyPr>
          <a:lstStyle/>
          <a:p>
            <a:r>
              <a:rPr lang="en-US" sz="2400" dirty="0">
                <a:solidFill>
                  <a:srgbClr val="7030A0"/>
                </a:solidFill>
              </a:rPr>
              <a:t>1</a:t>
            </a:r>
            <a:endParaRPr lang="es-NI" sz="2400" dirty="0">
              <a:solidFill>
                <a:srgbClr val="7030A0"/>
              </a:solidFill>
            </a:endParaRPr>
          </a:p>
        </p:txBody>
      </p:sp>
      <p:sp>
        <p:nvSpPr>
          <p:cNvPr id="46" name="45 CuadroTexto"/>
          <p:cNvSpPr txBox="1"/>
          <p:nvPr/>
        </p:nvSpPr>
        <p:spPr>
          <a:xfrm>
            <a:off x="1475656" y="3784271"/>
            <a:ext cx="360040" cy="461665"/>
          </a:xfrm>
          <a:prstGeom prst="rect">
            <a:avLst/>
          </a:prstGeom>
          <a:noFill/>
        </p:spPr>
        <p:txBody>
          <a:bodyPr wrap="square" rtlCol="0">
            <a:spAutoFit/>
          </a:bodyPr>
          <a:lstStyle/>
          <a:p>
            <a:r>
              <a:rPr lang="en-US" sz="2400" dirty="0">
                <a:solidFill>
                  <a:srgbClr val="7030A0"/>
                </a:solidFill>
              </a:rPr>
              <a:t>2</a:t>
            </a:r>
            <a:endParaRPr lang="es-NI" sz="2400" dirty="0">
              <a:solidFill>
                <a:srgbClr val="7030A0"/>
              </a:solidFill>
            </a:endParaRPr>
          </a:p>
        </p:txBody>
      </p:sp>
      <p:sp>
        <p:nvSpPr>
          <p:cNvPr id="47" name="46 CuadroTexto"/>
          <p:cNvSpPr txBox="1"/>
          <p:nvPr/>
        </p:nvSpPr>
        <p:spPr>
          <a:xfrm>
            <a:off x="1187624" y="4259121"/>
            <a:ext cx="648072" cy="461665"/>
          </a:xfrm>
          <a:prstGeom prst="rect">
            <a:avLst/>
          </a:prstGeom>
          <a:noFill/>
        </p:spPr>
        <p:txBody>
          <a:bodyPr wrap="square" rtlCol="0">
            <a:spAutoFit/>
          </a:bodyPr>
          <a:lstStyle/>
          <a:p>
            <a:pPr algn="r"/>
            <a:r>
              <a:rPr lang="en-US" sz="2400" dirty="0">
                <a:solidFill>
                  <a:srgbClr val="7030A0"/>
                </a:solidFill>
              </a:rPr>
              <a:t>30</a:t>
            </a:r>
            <a:endParaRPr lang="es-NI" sz="2400" dirty="0">
              <a:solidFill>
                <a:srgbClr val="7030A0"/>
              </a:solidFill>
            </a:endParaRPr>
          </a:p>
        </p:txBody>
      </p:sp>
      <p:sp>
        <p:nvSpPr>
          <p:cNvPr id="48" name="47 CuadroTexto"/>
          <p:cNvSpPr txBox="1"/>
          <p:nvPr/>
        </p:nvSpPr>
        <p:spPr>
          <a:xfrm>
            <a:off x="1475656" y="4023251"/>
            <a:ext cx="324036" cy="369332"/>
          </a:xfrm>
          <a:prstGeom prst="rect">
            <a:avLst/>
          </a:prstGeom>
          <a:noFill/>
        </p:spPr>
        <p:txBody>
          <a:bodyPr wrap="square" rtlCol="0">
            <a:spAutoFit/>
          </a:bodyPr>
          <a:lstStyle/>
          <a:p>
            <a:r>
              <a:rPr lang="en-US" b="1" dirty="0">
                <a:solidFill>
                  <a:srgbClr val="7030A0"/>
                </a:solidFill>
              </a:rPr>
              <a:t>…</a:t>
            </a:r>
          </a:p>
        </p:txBody>
      </p:sp>
      <p:sp>
        <p:nvSpPr>
          <p:cNvPr id="3" name="2 CuadroTexto"/>
          <p:cNvSpPr txBox="1"/>
          <p:nvPr/>
        </p:nvSpPr>
        <p:spPr>
          <a:xfrm>
            <a:off x="271249" y="1278138"/>
            <a:ext cx="6048672" cy="369332"/>
          </a:xfrm>
          <a:prstGeom prst="rect">
            <a:avLst/>
          </a:prstGeom>
          <a:noFill/>
        </p:spPr>
        <p:txBody>
          <a:bodyPr wrap="square" rtlCol="0">
            <a:spAutoFit/>
          </a:bodyPr>
          <a:lstStyle/>
          <a:p>
            <a:r>
              <a:rPr lang="en-US" b="1" dirty="0">
                <a:solidFill>
                  <a:srgbClr val="0070C0"/>
                </a:solidFill>
              </a:rPr>
              <a:t>Para el </a:t>
            </a:r>
            <a:r>
              <a:rPr lang="en-US" b="1" dirty="0" err="1">
                <a:solidFill>
                  <a:srgbClr val="0070C0"/>
                </a:solidFill>
              </a:rPr>
              <a:t>ejemplo</a:t>
            </a:r>
            <a:r>
              <a:rPr lang="en-US" b="1" dirty="0">
                <a:solidFill>
                  <a:srgbClr val="0070C0"/>
                </a:solidFill>
              </a:rPr>
              <a:t> anterior: </a:t>
            </a:r>
            <a:endParaRPr lang="es-NI" b="1" dirty="0"/>
          </a:p>
        </p:txBody>
      </p:sp>
    </p:spTree>
    <p:extLst>
      <p:ext uri="{BB962C8B-B14F-4D97-AF65-F5344CB8AC3E}">
        <p14:creationId xmlns:p14="http://schemas.microsoft.com/office/powerpoint/2010/main" val="119785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5"/>
                                        </p:tgtEl>
                                        <p:attrNameLst>
                                          <p:attrName>style.visibility</p:attrName>
                                        </p:attrNameLst>
                                      </p:cBhvr>
                                      <p:to>
                                        <p:strVal val="visible"/>
                                      </p:to>
                                    </p:set>
                                    <p:anim calcmode="lin" valueType="num">
                                      <p:cBhvr>
                                        <p:cTn id="81" dur="500" fill="hold"/>
                                        <p:tgtEl>
                                          <p:spTgt spid="5"/>
                                        </p:tgtEl>
                                        <p:attrNameLst>
                                          <p:attrName>ppt_w</p:attrName>
                                        </p:attrNameLst>
                                      </p:cBhvr>
                                      <p:tavLst>
                                        <p:tav tm="0">
                                          <p:val>
                                            <p:fltVal val="0"/>
                                          </p:val>
                                        </p:tav>
                                        <p:tav tm="100000">
                                          <p:val>
                                            <p:strVal val="#ppt_w"/>
                                          </p:val>
                                        </p:tav>
                                      </p:tavLst>
                                    </p:anim>
                                    <p:anim calcmode="lin" valueType="num">
                                      <p:cBhvr>
                                        <p:cTn id="82" dur="500" fill="hold"/>
                                        <p:tgtEl>
                                          <p:spTgt spid="5"/>
                                        </p:tgtEl>
                                        <p:attrNameLst>
                                          <p:attrName>ppt_h</p:attrName>
                                        </p:attrNameLst>
                                      </p:cBhvr>
                                      <p:tavLst>
                                        <p:tav tm="0">
                                          <p:val>
                                            <p:fltVal val="0"/>
                                          </p:val>
                                        </p:tav>
                                        <p:tav tm="100000">
                                          <p:val>
                                            <p:strVal val="#ppt_h"/>
                                          </p:val>
                                        </p:tav>
                                      </p:tavLst>
                                    </p:anim>
                                    <p:animEffect transition="in" filter="fade">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31" presetClass="entr" presetSubtype="0" fill="hold" grpId="0" nodeType="click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p:cTn id="88" dur="1000" fill="hold"/>
                                        <p:tgtEl>
                                          <p:spTgt spid="28"/>
                                        </p:tgtEl>
                                        <p:attrNameLst>
                                          <p:attrName>ppt_w</p:attrName>
                                        </p:attrNameLst>
                                      </p:cBhvr>
                                      <p:tavLst>
                                        <p:tav tm="0">
                                          <p:val>
                                            <p:fltVal val="0"/>
                                          </p:val>
                                        </p:tav>
                                        <p:tav tm="100000">
                                          <p:val>
                                            <p:strVal val="#ppt_w"/>
                                          </p:val>
                                        </p:tav>
                                      </p:tavLst>
                                    </p:anim>
                                    <p:anim calcmode="lin" valueType="num">
                                      <p:cBhvr>
                                        <p:cTn id="89" dur="1000" fill="hold"/>
                                        <p:tgtEl>
                                          <p:spTgt spid="28"/>
                                        </p:tgtEl>
                                        <p:attrNameLst>
                                          <p:attrName>ppt_h</p:attrName>
                                        </p:attrNameLst>
                                      </p:cBhvr>
                                      <p:tavLst>
                                        <p:tav tm="0">
                                          <p:val>
                                            <p:fltVal val="0"/>
                                          </p:val>
                                        </p:tav>
                                        <p:tav tm="100000">
                                          <p:val>
                                            <p:strVal val="#ppt_h"/>
                                          </p:val>
                                        </p:tav>
                                      </p:tavLst>
                                    </p:anim>
                                    <p:anim calcmode="lin" valueType="num">
                                      <p:cBhvr>
                                        <p:cTn id="90" dur="1000" fill="hold"/>
                                        <p:tgtEl>
                                          <p:spTgt spid="28"/>
                                        </p:tgtEl>
                                        <p:attrNameLst>
                                          <p:attrName>style.rotation</p:attrName>
                                        </p:attrNameLst>
                                      </p:cBhvr>
                                      <p:tavLst>
                                        <p:tav tm="0">
                                          <p:val>
                                            <p:fltVal val="90"/>
                                          </p:val>
                                        </p:tav>
                                        <p:tav tm="100000">
                                          <p:val>
                                            <p:fltVal val="0"/>
                                          </p:val>
                                        </p:tav>
                                      </p:tavLst>
                                    </p:anim>
                                    <p:animEffect transition="in" filter="fade">
                                      <p:cBhvr>
                                        <p:cTn id="91" dur="10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26"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down)">
                                      <p:cBhvr>
                                        <p:cTn id="96" dur="580">
                                          <p:stCondLst>
                                            <p:cond delay="0"/>
                                          </p:stCondLst>
                                        </p:cTn>
                                        <p:tgtEl>
                                          <p:spTgt spid="30"/>
                                        </p:tgtEl>
                                      </p:cBhvr>
                                    </p:animEffect>
                                    <p:anim calcmode="lin" valueType="num">
                                      <p:cBhvr>
                                        <p:cTn id="97"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102" dur="26">
                                          <p:stCondLst>
                                            <p:cond delay="650"/>
                                          </p:stCondLst>
                                        </p:cTn>
                                        <p:tgtEl>
                                          <p:spTgt spid="30"/>
                                        </p:tgtEl>
                                      </p:cBhvr>
                                      <p:to x="100000" y="60000"/>
                                    </p:animScale>
                                    <p:animScale>
                                      <p:cBhvr>
                                        <p:cTn id="103" dur="166" decel="50000">
                                          <p:stCondLst>
                                            <p:cond delay="676"/>
                                          </p:stCondLst>
                                        </p:cTn>
                                        <p:tgtEl>
                                          <p:spTgt spid="30"/>
                                        </p:tgtEl>
                                      </p:cBhvr>
                                      <p:to x="100000" y="100000"/>
                                    </p:animScale>
                                    <p:animScale>
                                      <p:cBhvr>
                                        <p:cTn id="104" dur="26">
                                          <p:stCondLst>
                                            <p:cond delay="1312"/>
                                          </p:stCondLst>
                                        </p:cTn>
                                        <p:tgtEl>
                                          <p:spTgt spid="30"/>
                                        </p:tgtEl>
                                      </p:cBhvr>
                                      <p:to x="100000" y="80000"/>
                                    </p:animScale>
                                    <p:animScale>
                                      <p:cBhvr>
                                        <p:cTn id="105" dur="166" decel="50000">
                                          <p:stCondLst>
                                            <p:cond delay="1338"/>
                                          </p:stCondLst>
                                        </p:cTn>
                                        <p:tgtEl>
                                          <p:spTgt spid="30"/>
                                        </p:tgtEl>
                                      </p:cBhvr>
                                      <p:to x="100000" y="100000"/>
                                    </p:animScale>
                                    <p:animScale>
                                      <p:cBhvr>
                                        <p:cTn id="106" dur="26">
                                          <p:stCondLst>
                                            <p:cond delay="1642"/>
                                          </p:stCondLst>
                                        </p:cTn>
                                        <p:tgtEl>
                                          <p:spTgt spid="30"/>
                                        </p:tgtEl>
                                      </p:cBhvr>
                                      <p:to x="100000" y="90000"/>
                                    </p:animScale>
                                    <p:animScale>
                                      <p:cBhvr>
                                        <p:cTn id="107" dur="166" decel="50000">
                                          <p:stCondLst>
                                            <p:cond delay="1668"/>
                                          </p:stCondLst>
                                        </p:cTn>
                                        <p:tgtEl>
                                          <p:spTgt spid="30"/>
                                        </p:tgtEl>
                                      </p:cBhvr>
                                      <p:to x="100000" y="100000"/>
                                    </p:animScale>
                                    <p:animScale>
                                      <p:cBhvr>
                                        <p:cTn id="108" dur="26">
                                          <p:stCondLst>
                                            <p:cond delay="1808"/>
                                          </p:stCondLst>
                                        </p:cTn>
                                        <p:tgtEl>
                                          <p:spTgt spid="30"/>
                                        </p:tgtEl>
                                      </p:cBhvr>
                                      <p:to x="100000" y="95000"/>
                                    </p:animScale>
                                    <p:animScale>
                                      <p:cBhvr>
                                        <p:cTn id="109" dur="166" decel="50000">
                                          <p:stCondLst>
                                            <p:cond delay="1834"/>
                                          </p:stCondLst>
                                        </p:cTn>
                                        <p:tgtEl>
                                          <p:spTgt spid="30"/>
                                        </p:tgtEl>
                                      </p:cBhvr>
                                      <p:to x="100000" y="100000"/>
                                    </p:animScale>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45"/>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33"/>
                                        </p:tgtEl>
                                        <p:attrNameLst>
                                          <p:attrName>style.visibility</p:attrName>
                                        </p:attrNameLst>
                                      </p:cBhvr>
                                      <p:to>
                                        <p:strVal val="visible"/>
                                      </p:to>
                                    </p:set>
                                    <p:animEffect transition="in" filter="wipe(left)">
                                      <p:cBhvr>
                                        <p:cTn id="118" dur="500"/>
                                        <p:tgtEl>
                                          <p:spTgt spid="33"/>
                                        </p:tgtEl>
                                      </p:cBhvr>
                                    </p:animEffect>
                                  </p:childTnLst>
                                </p:cTn>
                              </p:par>
                            </p:childTnLst>
                          </p:cTn>
                        </p:par>
                        <p:par>
                          <p:cTn id="119" fill="hold">
                            <p:stCondLst>
                              <p:cond delay="500"/>
                            </p:stCondLst>
                            <p:childTnLst>
                              <p:par>
                                <p:cTn id="120" presetID="22" presetClass="entr" presetSubtype="8" fill="hold" grpId="0" nodeType="after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wipe(left)">
                                      <p:cBhvr>
                                        <p:cTn id="122" dur="500"/>
                                        <p:tgtEl>
                                          <p:spTgt spid="36"/>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1"/>
                                        </p:tgtEl>
                                        <p:attrNameLst>
                                          <p:attrName>style.visibility</p:attrName>
                                        </p:attrNameLst>
                                      </p:cBhvr>
                                      <p:to>
                                        <p:strVal val="visible"/>
                                      </p:to>
                                    </p:set>
                                  </p:childTnLst>
                                </p:cTn>
                              </p:par>
                            </p:childTnLst>
                          </p:cTn>
                        </p:par>
                        <p:par>
                          <p:cTn id="131" fill="hold">
                            <p:stCondLst>
                              <p:cond delay="0"/>
                            </p:stCondLst>
                            <p:childTnLst>
                              <p:par>
                                <p:cTn id="132" presetID="22" presetClass="entr" presetSubtype="8" fill="hold" grpId="0" nodeType="afterEffect">
                                  <p:stCondLst>
                                    <p:cond delay="0"/>
                                  </p:stCondLst>
                                  <p:childTnLst>
                                    <p:set>
                                      <p:cBhvr>
                                        <p:cTn id="133" dur="1" fill="hold">
                                          <p:stCondLst>
                                            <p:cond delay="0"/>
                                          </p:stCondLst>
                                        </p:cTn>
                                        <p:tgtEl>
                                          <p:spTgt spid="34"/>
                                        </p:tgtEl>
                                        <p:attrNameLst>
                                          <p:attrName>style.visibility</p:attrName>
                                        </p:attrNameLst>
                                      </p:cBhvr>
                                      <p:to>
                                        <p:strVal val="visible"/>
                                      </p:to>
                                    </p:set>
                                    <p:animEffect transition="in" filter="wipe(left)">
                                      <p:cBhvr>
                                        <p:cTn id="134" dur="500"/>
                                        <p:tgtEl>
                                          <p:spTgt spid="34"/>
                                        </p:tgtEl>
                                      </p:cBhvr>
                                    </p:animEffect>
                                  </p:childTnLst>
                                </p:cTn>
                              </p:par>
                            </p:childTnLst>
                          </p:cTn>
                        </p:par>
                        <p:par>
                          <p:cTn id="135" fill="hold">
                            <p:stCondLst>
                              <p:cond delay="500"/>
                            </p:stCondLst>
                            <p:childTnLst>
                              <p:par>
                                <p:cTn id="136" presetID="22" presetClass="entr" presetSubtype="8" fill="hold" grpId="0" nodeType="afterEffect">
                                  <p:stCondLst>
                                    <p:cond delay="0"/>
                                  </p:stCondLst>
                                  <p:childTnLst>
                                    <p:set>
                                      <p:cBhvr>
                                        <p:cTn id="137" dur="1" fill="hold">
                                          <p:stCondLst>
                                            <p:cond delay="0"/>
                                          </p:stCondLst>
                                        </p:cTn>
                                        <p:tgtEl>
                                          <p:spTgt spid="37"/>
                                        </p:tgtEl>
                                        <p:attrNameLst>
                                          <p:attrName>style.visibility</p:attrName>
                                        </p:attrNameLst>
                                      </p:cBhvr>
                                      <p:to>
                                        <p:strVal val="visible"/>
                                      </p:to>
                                    </p:set>
                                    <p:animEffect transition="in" filter="wipe(left)">
                                      <p:cBhvr>
                                        <p:cTn id="138" dur="500"/>
                                        <p:tgtEl>
                                          <p:spTgt spid="37"/>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8"/>
                                        </p:tgtEl>
                                        <p:attrNameLst>
                                          <p:attrName>style.visibility</p:attrName>
                                        </p:attrNameLst>
                                      </p:cBhvr>
                                      <p:to>
                                        <p:strVal val="visible"/>
                                      </p:to>
                                    </p:set>
                                  </p:childTnLst>
                                </p:cTn>
                              </p:par>
                            </p:childTnLst>
                          </p:cTn>
                        </p:par>
                        <p:par>
                          <p:cTn id="143" fill="hold">
                            <p:stCondLst>
                              <p:cond delay="0"/>
                            </p:stCondLst>
                            <p:childTnLst>
                              <p:par>
                                <p:cTn id="144" presetID="1" presetClass="entr" presetSubtype="0" fill="hold" grpId="0" nodeType="afterEffect">
                                  <p:stCondLst>
                                    <p:cond delay="0"/>
                                  </p:stCondLst>
                                  <p:childTnLst>
                                    <p:set>
                                      <p:cBhvr>
                                        <p:cTn id="145" dur="1" fill="hold">
                                          <p:stCondLst>
                                            <p:cond delay="0"/>
                                          </p:stCondLst>
                                        </p:cTn>
                                        <p:tgtEl>
                                          <p:spTgt spid="40"/>
                                        </p:tgtEl>
                                        <p:attrNameLst>
                                          <p:attrName>style.visibility</p:attrName>
                                        </p:attrNameLst>
                                      </p:cBhvr>
                                      <p:to>
                                        <p:strVal val="visible"/>
                                      </p:to>
                                    </p:set>
                                  </p:childTnLst>
                                </p:cTn>
                              </p:par>
                            </p:childTnLst>
                          </p:cTn>
                        </p:par>
                        <p:par>
                          <p:cTn id="146" fill="hold">
                            <p:stCondLst>
                              <p:cond delay="0"/>
                            </p:stCondLst>
                            <p:childTnLst>
                              <p:par>
                                <p:cTn id="147" presetID="1" presetClass="entr" presetSubtype="0" fill="hold" grpId="0" nodeType="afterEffect">
                                  <p:stCondLst>
                                    <p:cond delay="0"/>
                                  </p:stCondLst>
                                  <p:childTnLst>
                                    <p:set>
                                      <p:cBhvr>
                                        <p:cTn id="148" dur="1" fill="hold">
                                          <p:stCondLst>
                                            <p:cond delay="0"/>
                                          </p:stCondLst>
                                        </p:cTn>
                                        <p:tgtEl>
                                          <p:spTgt spid="39"/>
                                        </p:tgtEl>
                                        <p:attrNameLst>
                                          <p:attrName>style.visibility</p:attrName>
                                        </p:attrNameLst>
                                      </p:cBhvr>
                                      <p:to>
                                        <p:strVal val="visible"/>
                                      </p:to>
                                    </p:set>
                                  </p:childTnLst>
                                </p:cTn>
                              </p:par>
                            </p:childTnLst>
                          </p:cTn>
                        </p:par>
                        <p:par>
                          <p:cTn id="149" fill="hold">
                            <p:stCondLst>
                              <p:cond delay="0"/>
                            </p:stCondLst>
                            <p:childTnLst>
                              <p:par>
                                <p:cTn id="150" presetID="1" presetClass="entr" presetSubtype="0" fill="hold" grpId="0" nodeType="afterEffect">
                                  <p:stCondLst>
                                    <p:cond delay="0"/>
                                  </p:stCondLst>
                                  <p:childTnLst>
                                    <p:set>
                                      <p:cBhvr>
                                        <p:cTn id="151" dur="1" fill="hold">
                                          <p:stCondLst>
                                            <p:cond delay="0"/>
                                          </p:stCondLst>
                                        </p:cTn>
                                        <p:tgtEl>
                                          <p:spTgt spid="41"/>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47"/>
                                        </p:tgtEl>
                                        <p:attrNameLst>
                                          <p:attrName>style.visibility</p:attrName>
                                        </p:attrNameLst>
                                      </p:cBhvr>
                                      <p:to>
                                        <p:strVal val="visible"/>
                                      </p:to>
                                    </p:set>
                                  </p:childTnLst>
                                </p:cTn>
                              </p:par>
                            </p:childTnLst>
                          </p:cTn>
                        </p:par>
                        <p:par>
                          <p:cTn id="156" fill="hold">
                            <p:stCondLst>
                              <p:cond delay="0"/>
                            </p:stCondLst>
                            <p:childTnLst>
                              <p:par>
                                <p:cTn id="157" presetID="1" presetClass="entr" presetSubtype="0" fill="hold" grpId="0" nodeType="afterEffect">
                                  <p:stCondLst>
                                    <p:cond delay="0"/>
                                  </p:stCondLst>
                                  <p:childTnLst>
                                    <p:set>
                                      <p:cBhvr>
                                        <p:cTn id="158" dur="1" fill="hold">
                                          <p:stCondLst>
                                            <p:cond delay="0"/>
                                          </p:stCondLst>
                                        </p:cTn>
                                        <p:tgtEl>
                                          <p:spTgt spid="32"/>
                                        </p:tgtEl>
                                        <p:attrNameLst>
                                          <p:attrName>style.visibility</p:attrName>
                                        </p:attrNameLst>
                                      </p:cBhvr>
                                      <p:to>
                                        <p:strVal val="visible"/>
                                      </p:to>
                                    </p:set>
                                  </p:childTnLst>
                                </p:cTn>
                              </p:par>
                            </p:childTnLst>
                          </p:cTn>
                        </p:par>
                        <p:par>
                          <p:cTn id="159" fill="hold">
                            <p:stCondLst>
                              <p:cond delay="0"/>
                            </p:stCondLst>
                            <p:childTnLst>
                              <p:par>
                                <p:cTn id="160" presetID="22" presetClass="entr" presetSubtype="8" fill="hold" grpId="0" nodeType="after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wipe(left)">
                                      <p:cBhvr>
                                        <p:cTn id="162" dur="500"/>
                                        <p:tgtEl>
                                          <p:spTgt spid="35"/>
                                        </p:tgtEl>
                                      </p:cBhvr>
                                    </p:animEffect>
                                  </p:childTnLst>
                                </p:cTn>
                              </p:par>
                            </p:childTnLst>
                          </p:cTn>
                        </p:par>
                        <p:par>
                          <p:cTn id="163" fill="hold">
                            <p:stCondLst>
                              <p:cond delay="500"/>
                            </p:stCondLst>
                            <p:childTnLst>
                              <p:par>
                                <p:cTn id="164" presetID="22" presetClass="entr" presetSubtype="8" fill="hold" grpId="0" nodeType="afterEffect">
                                  <p:stCondLst>
                                    <p:cond delay="0"/>
                                  </p:stCondLst>
                                  <p:childTnLst>
                                    <p:set>
                                      <p:cBhvr>
                                        <p:cTn id="165" dur="1" fill="hold">
                                          <p:stCondLst>
                                            <p:cond delay="0"/>
                                          </p:stCondLst>
                                        </p:cTn>
                                        <p:tgtEl>
                                          <p:spTgt spid="38"/>
                                        </p:tgtEl>
                                        <p:attrNameLst>
                                          <p:attrName>style.visibility</p:attrName>
                                        </p:attrNameLst>
                                      </p:cBhvr>
                                      <p:to>
                                        <p:strVal val="visible"/>
                                      </p:to>
                                    </p:set>
                                    <p:animEffect transition="in" filter="wipe(left)">
                                      <p:cBhvr>
                                        <p:cTn id="166" dur="500"/>
                                        <p:tgtEl>
                                          <p:spTgt spid="38"/>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set>
                                      <p:cBhvr>
                                        <p:cTn id="170" dur="1" fill="hold">
                                          <p:stCondLst>
                                            <p:cond delay="0"/>
                                          </p:stCondLst>
                                        </p:cTn>
                                        <p:tgtEl>
                                          <p:spTgt spid="43"/>
                                        </p:tgtEl>
                                        <p:attrNameLst>
                                          <p:attrName>style.visibility</p:attrName>
                                        </p:attrNameLst>
                                      </p:cBhvr>
                                      <p:to>
                                        <p:strVal val="visible"/>
                                      </p:to>
                                    </p:set>
                                    <p:animEffect transition="in" filter="fade">
                                      <p:cBhvr>
                                        <p:cTn id="171" dur="500"/>
                                        <p:tgtEl>
                                          <p:spTgt spid="43"/>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10" grpId="0"/>
      <p:bldP spid="11" grpId="0"/>
      <p:bldP spid="12" grpId="0"/>
      <p:bldP spid="13" grpId="0"/>
      <p:bldP spid="15" grpId="0"/>
      <p:bldP spid="16" grpId="0"/>
      <p:bldP spid="17" grpId="0"/>
      <p:bldP spid="18" grpId="0"/>
      <p:bldP spid="19" grpId="0"/>
      <p:bldP spid="20" grpId="0"/>
      <p:bldP spid="21" grpId="0"/>
      <p:bldP spid="22" grpId="0"/>
      <p:bldP spid="23"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3" grpId="0" animBg="1"/>
      <p:bldP spid="44" grpId="0"/>
      <p:bldP spid="45" grpId="0"/>
      <p:bldP spid="46" grpId="0"/>
      <p:bldP spid="47" grpId="0"/>
      <p:bldP spid="4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Código</a:t>
            </a:r>
            <a:r>
              <a:rPr lang="en-US" dirty="0"/>
              <a:t> de </a:t>
            </a:r>
            <a:r>
              <a:rPr lang="en-US" dirty="0" err="1"/>
              <a:t>Bloque</a:t>
            </a:r>
            <a:r>
              <a:rPr lang="en-US" dirty="0"/>
              <a:t> </a:t>
            </a:r>
            <a:r>
              <a:rPr lang="en-US" dirty="0" err="1"/>
              <a:t>Extendido</a:t>
            </a:r>
            <a:endParaRPr lang="es-NI" dirty="0"/>
          </a:p>
        </p:txBody>
      </p:sp>
      <p:sp>
        <p:nvSpPr>
          <p:cNvPr id="3" name="2 Marcador de contenido"/>
          <p:cNvSpPr>
            <a:spLocks noGrp="1"/>
          </p:cNvSpPr>
          <p:nvPr>
            <p:ph idx="1"/>
          </p:nvPr>
        </p:nvSpPr>
        <p:spPr>
          <a:xfrm>
            <a:off x="107504" y="1131590"/>
            <a:ext cx="4221045" cy="464011"/>
          </a:xfrm>
        </p:spPr>
        <p:txBody>
          <a:bodyPr>
            <a:normAutofit/>
          </a:bodyPr>
          <a:lstStyle/>
          <a:p>
            <a:r>
              <a:rPr lang="en-US" dirty="0" err="1"/>
              <a:t>Ejemplo</a:t>
            </a:r>
            <a:r>
              <a:rPr lang="en-US" dirty="0"/>
              <a:t> de </a:t>
            </a:r>
            <a:r>
              <a:rPr lang="en-US" dirty="0" err="1"/>
              <a:t>Implementación</a:t>
            </a:r>
            <a:r>
              <a:rPr lang="en-US" dirty="0"/>
              <a:t>:</a:t>
            </a:r>
            <a:endParaRPr lang="es-NI" sz="3600" dirty="0"/>
          </a:p>
        </p:txBody>
      </p:sp>
      <p:sp>
        <p:nvSpPr>
          <p:cNvPr id="4" name="3 Rectángulo"/>
          <p:cNvSpPr/>
          <p:nvPr/>
        </p:nvSpPr>
        <p:spPr>
          <a:xfrm>
            <a:off x="2265566" y="1577469"/>
            <a:ext cx="1478260" cy="2203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DECODER</a:t>
            </a:r>
          </a:p>
        </p:txBody>
      </p:sp>
      <p:sp>
        <p:nvSpPr>
          <p:cNvPr id="30" name="29 CuadroTexto"/>
          <p:cNvSpPr txBox="1"/>
          <p:nvPr/>
        </p:nvSpPr>
        <p:spPr>
          <a:xfrm>
            <a:off x="3294625" y="1611283"/>
            <a:ext cx="449201" cy="2169825"/>
          </a:xfrm>
          <a:prstGeom prst="rect">
            <a:avLst/>
          </a:prstGeom>
          <a:noFill/>
        </p:spPr>
        <p:txBody>
          <a:bodyPr wrap="square" rtlCol="0">
            <a:spAutoFit/>
          </a:bodyPr>
          <a:lstStyle/>
          <a:p>
            <a:pPr algn="r"/>
            <a:r>
              <a:rPr lang="en-US" sz="900" dirty="0"/>
              <a:t>1</a:t>
            </a:r>
          </a:p>
          <a:p>
            <a:pPr algn="r"/>
            <a:r>
              <a:rPr lang="en-US" sz="900" dirty="0"/>
              <a:t>2</a:t>
            </a:r>
          </a:p>
          <a:p>
            <a:pPr algn="r"/>
            <a:r>
              <a:rPr lang="en-US" sz="900" dirty="0"/>
              <a:t>3</a:t>
            </a:r>
          </a:p>
          <a:p>
            <a:pPr algn="r"/>
            <a:r>
              <a:rPr lang="en-US" sz="900" dirty="0"/>
              <a:t>4</a:t>
            </a:r>
          </a:p>
          <a:p>
            <a:pPr algn="r"/>
            <a:r>
              <a:rPr lang="en-US" sz="900" dirty="0"/>
              <a:t>5</a:t>
            </a:r>
          </a:p>
          <a:p>
            <a:pPr algn="r"/>
            <a:r>
              <a:rPr lang="en-US" sz="900" dirty="0"/>
              <a:t>6</a:t>
            </a:r>
          </a:p>
          <a:p>
            <a:pPr algn="r"/>
            <a:r>
              <a:rPr lang="en-US" sz="900" dirty="0"/>
              <a:t>7</a:t>
            </a:r>
          </a:p>
          <a:p>
            <a:pPr algn="r"/>
            <a:r>
              <a:rPr lang="en-US" sz="900" dirty="0"/>
              <a:t>8</a:t>
            </a:r>
          </a:p>
          <a:p>
            <a:pPr algn="r"/>
            <a:r>
              <a:rPr lang="en-US" sz="900" dirty="0"/>
              <a:t>9</a:t>
            </a:r>
          </a:p>
          <a:p>
            <a:pPr algn="r"/>
            <a:r>
              <a:rPr lang="en-US" sz="900" dirty="0"/>
              <a:t>10</a:t>
            </a:r>
          </a:p>
          <a:p>
            <a:pPr algn="r"/>
            <a:r>
              <a:rPr lang="en-US" sz="900" dirty="0"/>
              <a:t>11</a:t>
            </a:r>
          </a:p>
          <a:p>
            <a:pPr algn="r"/>
            <a:r>
              <a:rPr lang="en-US" sz="900" dirty="0"/>
              <a:t>12</a:t>
            </a:r>
          </a:p>
          <a:p>
            <a:pPr algn="r"/>
            <a:r>
              <a:rPr lang="en-US" sz="900" dirty="0"/>
              <a:t>13</a:t>
            </a:r>
          </a:p>
          <a:p>
            <a:pPr algn="r"/>
            <a:r>
              <a:rPr lang="en-US" sz="900" dirty="0"/>
              <a:t>14</a:t>
            </a:r>
          </a:p>
          <a:p>
            <a:pPr algn="r"/>
            <a:r>
              <a:rPr lang="en-US" sz="900" dirty="0"/>
              <a:t>15</a:t>
            </a:r>
            <a:endParaRPr lang="es-NI" sz="900" dirty="0"/>
          </a:p>
        </p:txBody>
      </p:sp>
      <p:grpSp>
        <p:nvGrpSpPr>
          <p:cNvPr id="5" name="4 Grupo"/>
          <p:cNvGrpSpPr/>
          <p:nvPr/>
        </p:nvGrpSpPr>
        <p:grpSpPr>
          <a:xfrm>
            <a:off x="3743826" y="1692876"/>
            <a:ext cx="792088" cy="1885006"/>
            <a:chOff x="3851920" y="2067694"/>
            <a:chExt cx="1296144" cy="1885006"/>
          </a:xfrm>
        </p:grpSpPr>
        <p:cxnSp>
          <p:nvCxnSpPr>
            <p:cNvPr id="13" name="12 Conector recto de flecha"/>
            <p:cNvCxnSpPr/>
            <p:nvPr/>
          </p:nvCxnSpPr>
          <p:spPr>
            <a:xfrm>
              <a:off x="3851920" y="2067694"/>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4" name="13 Conector recto de flecha"/>
            <p:cNvCxnSpPr/>
            <p:nvPr/>
          </p:nvCxnSpPr>
          <p:spPr>
            <a:xfrm>
              <a:off x="3851920" y="2211710"/>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5" name="14 Conector recto de flecha"/>
            <p:cNvCxnSpPr/>
            <p:nvPr/>
          </p:nvCxnSpPr>
          <p:spPr>
            <a:xfrm>
              <a:off x="3851920" y="2355726"/>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6" name="15 Conector recto de flecha"/>
            <p:cNvCxnSpPr/>
            <p:nvPr/>
          </p:nvCxnSpPr>
          <p:spPr>
            <a:xfrm>
              <a:off x="3851920" y="2486944"/>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3" name="52 Conector recto de flecha"/>
            <p:cNvCxnSpPr/>
            <p:nvPr/>
          </p:nvCxnSpPr>
          <p:spPr>
            <a:xfrm>
              <a:off x="3851920" y="2601800"/>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5" name="54 Conector recto de flecha"/>
            <p:cNvCxnSpPr/>
            <p:nvPr/>
          </p:nvCxnSpPr>
          <p:spPr>
            <a:xfrm>
              <a:off x="3851920" y="2745816"/>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6" name="55 Conector recto de flecha"/>
            <p:cNvCxnSpPr/>
            <p:nvPr/>
          </p:nvCxnSpPr>
          <p:spPr>
            <a:xfrm>
              <a:off x="3851920" y="2889832"/>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7" name="56 Conector recto de flecha"/>
            <p:cNvCxnSpPr/>
            <p:nvPr/>
          </p:nvCxnSpPr>
          <p:spPr>
            <a:xfrm>
              <a:off x="3851920" y="3021050"/>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57 Conector recto de flecha"/>
            <p:cNvCxnSpPr/>
            <p:nvPr/>
          </p:nvCxnSpPr>
          <p:spPr>
            <a:xfrm>
              <a:off x="3851920" y="3130562"/>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58 Conector recto de flecha"/>
            <p:cNvCxnSpPr/>
            <p:nvPr/>
          </p:nvCxnSpPr>
          <p:spPr>
            <a:xfrm>
              <a:off x="3851920" y="3274578"/>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59 Conector recto de flecha"/>
            <p:cNvCxnSpPr/>
            <p:nvPr/>
          </p:nvCxnSpPr>
          <p:spPr>
            <a:xfrm>
              <a:off x="3851920" y="3418594"/>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1" name="60 Conector recto de flecha"/>
            <p:cNvCxnSpPr/>
            <p:nvPr/>
          </p:nvCxnSpPr>
          <p:spPr>
            <a:xfrm>
              <a:off x="3851920" y="3549812"/>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2" name="61 Conector recto de flecha"/>
            <p:cNvCxnSpPr/>
            <p:nvPr/>
          </p:nvCxnSpPr>
          <p:spPr>
            <a:xfrm>
              <a:off x="3851920" y="3664668"/>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3" name="62 Conector recto de flecha"/>
            <p:cNvCxnSpPr/>
            <p:nvPr/>
          </p:nvCxnSpPr>
          <p:spPr>
            <a:xfrm>
              <a:off x="3851920" y="3808684"/>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4" name="63 Conector recto de flecha"/>
            <p:cNvCxnSpPr/>
            <p:nvPr/>
          </p:nvCxnSpPr>
          <p:spPr>
            <a:xfrm>
              <a:off x="3851920" y="3952700"/>
              <a:ext cx="1296144"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grpSp>
      <p:cxnSp>
        <p:nvCxnSpPr>
          <p:cNvPr id="65" name="64 Conector recto de flecha"/>
          <p:cNvCxnSpPr/>
          <p:nvPr/>
        </p:nvCxnSpPr>
        <p:spPr>
          <a:xfrm>
            <a:off x="3743826" y="3709100"/>
            <a:ext cx="792088" cy="0"/>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grpSp>
        <p:nvGrpSpPr>
          <p:cNvPr id="6" name="5 Grupo"/>
          <p:cNvGrpSpPr/>
          <p:nvPr/>
        </p:nvGrpSpPr>
        <p:grpSpPr>
          <a:xfrm>
            <a:off x="1597709" y="2309784"/>
            <a:ext cx="681980" cy="489297"/>
            <a:chOff x="1597709" y="2309784"/>
            <a:chExt cx="681980" cy="489297"/>
          </a:xfrm>
        </p:grpSpPr>
        <p:cxnSp>
          <p:nvCxnSpPr>
            <p:cNvPr id="7" name="6 Conector recto de flecha"/>
            <p:cNvCxnSpPr/>
            <p:nvPr/>
          </p:nvCxnSpPr>
          <p:spPr>
            <a:xfrm>
              <a:off x="1597709" y="2678715"/>
              <a:ext cx="681980"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67 Conector recto"/>
            <p:cNvCxnSpPr/>
            <p:nvPr/>
          </p:nvCxnSpPr>
          <p:spPr>
            <a:xfrm flipH="1">
              <a:off x="1741244" y="2558351"/>
              <a:ext cx="124966" cy="2407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68 CuadroTexto"/>
            <p:cNvSpPr txBox="1"/>
            <p:nvPr/>
          </p:nvSpPr>
          <p:spPr>
            <a:xfrm>
              <a:off x="1741244" y="2309784"/>
              <a:ext cx="259154" cy="307777"/>
            </a:xfrm>
            <a:prstGeom prst="rect">
              <a:avLst/>
            </a:prstGeom>
            <a:noFill/>
          </p:spPr>
          <p:txBody>
            <a:bodyPr wrap="square" rtlCol="0">
              <a:spAutoFit/>
            </a:bodyPr>
            <a:lstStyle/>
            <a:p>
              <a:r>
                <a:rPr lang="en-US" sz="1400" dirty="0"/>
                <a:t>4</a:t>
              </a:r>
              <a:endParaRPr lang="es-NI" sz="1400" dirty="0"/>
            </a:p>
          </p:txBody>
        </p:sp>
      </p:grpSp>
      <p:sp>
        <p:nvSpPr>
          <p:cNvPr id="70" name="69 Rectángulo"/>
          <p:cNvSpPr/>
          <p:nvPr/>
        </p:nvSpPr>
        <p:spPr>
          <a:xfrm>
            <a:off x="5542012" y="2735382"/>
            <a:ext cx="1478260" cy="2203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a:t>
            </a:r>
            <a:r>
              <a:rPr lang="es-NI" dirty="0"/>
              <a:t>ODER</a:t>
            </a:r>
            <a:endParaRPr lang="en-US" dirty="0"/>
          </a:p>
        </p:txBody>
      </p:sp>
      <p:cxnSp>
        <p:nvCxnSpPr>
          <p:cNvPr id="74" name="73 Conector angular"/>
          <p:cNvCxnSpPr/>
          <p:nvPr/>
        </p:nvCxnSpPr>
        <p:spPr>
          <a:xfrm flipV="1">
            <a:off x="4535914" y="3043776"/>
            <a:ext cx="1008112" cy="665324"/>
          </a:xfrm>
          <a:prstGeom prst="bentConnector3">
            <a:avLst>
              <a:gd name="adj1" fmla="val 44010"/>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82 Conector angular"/>
          <p:cNvCxnSpPr/>
          <p:nvPr/>
        </p:nvCxnSpPr>
        <p:spPr>
          <a:xfrm rot="5400000" flipH="1" flipV="1">
            <a:off x="4849827" y="1977400"/>
            <a:ext cx="1206886" cy="936099"/>
          </a:xfrm>
          <a:prstGeom prst="bentConnector3">
            <a:avLst>
              <a:gd name="adj1" fmla="val 71443"/>
            </a:avLst>
          </a:prstGeom>
          <a:ln w="19050">
            <a:solidFill>
              <a:srgbClr val="9900FF"/>
            </a:solidFill>
            <a:tailEnd type="arrow"/>
          </a:ln>
        </p:spPr>
        <p:style>
          <a:lnRef idx="1">
            <a:schemeClr val="accent1"/>
          </a:lnRef>
          <a:fillRef idx="0">
            <a:schemeClr val="accent1"/>
          </a:fillRef>
          <a:effectRef idx="0">
            <a:schemeClr val="accent1"/>
          </a:effectRef>
          <a:fontRef idx="minor">
            <a:schemeClr val="tx1"/>
          </a:fontRef>
        </p:style>
      </p:cxnSp>
      <p:cxnSp>
        <p:nvCxnSpPr>
          <p:cNvPr id="90" name="89 Conector recto de flecha"/>
          <p:cNvCxnSpPr/>
          <p:nvPr/>
        </p:nvCxnSpPr>
        <p:spPr>
          <a:xfrm>
            <a:off x="1583586" y="4527842"/>
            <a:ext cx="3960440" cy="0"/>
          </a:xfrm>
          <a:prstGeom prst="straightConnector1">
            <a:avLst/>
          </a:prstGeom>
          <a:ln w="19050">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nvGrpSpPr>
          <p:cNvPr id="126" name="125 Grupo"/>
          <p:cNvGrpSpPr/>
          <p:nvPr/>
        </p:nvGrpSpPr>
        <p:grpSpPr>
          <a:xfrm>
            <a:off x="6571071" y="2766057"/>
            <a:ext cx="1241289" cy="2169825"/>
            <a:chOff x="6031093" y="2824234"/>
            <a:chExt cx="1241289" cy="2169825"/>
          </a:xfrm>
        </p:grpSpPr>
        <p:sp>
          <p:nvSpPr>
            <p:cNvPr id="97" name="96 CuadroTexto"/>
            <p:cNvSpPr txBox="1"/>
            <p:nvPr/>
          </p:nvSpPr>
          <p:spPr>
            <a:xfrm>
              <a:off x="6031093" y="2824234"/>
              <a:ext cx="449201" cy="2169825"/>
            </a:xfrm>
            <a:prstGeom prst="rect">
              <a:avLst/>
            </a:prstGeom>
            <a:noFill/>
          </p:spPr>
          <p:txBody>
            <a:bodyPr wrap="square" rtlCol="0">
              <a:spAutoFit/>
            </a:bodyPr>
            <a:lstStyle/>
            <a:p>
              <a:pPr algn="r"/>
              <a:r>
                <a:rPr lang="en-US" sz="900" dirty="0"/>
                <a:t>1</a:t>
              </a:r>
            </a:p>
            <a:p>
              <a:pPr algn="r"/>
              <a:r>
                <a:rPr lang="en-US" sz="900" dirty="0"/>
                <a:t>2</a:t>
              </a:r>
            </a:p>
            <a:p>
              <a:pPr algn="r"/>
              <a:r>
                <a:rPr lang="en-US" sz="900" dirty="0"/>
                <a:t>3</a:t>
              </a:r>
            </a:p>
            <a:p>
              <a:pPr algn="r"/>
              <a:r>
                <a:rPr lang="en-US" sz="900" dirty="0"/>
                <a:t>4</a:t>
              </a:r>
            </a:p>
            <a:p>
              <a:pPr algn="r"/>
              <a:r>
                <a:rPr lang="en-US" sz="900" dirty="0"/>
                <a:t>5</a:t>
              </a:r>
            </a:p>
            <a:p>
              <a:pPr algn="r"/>
              <a:r>
                <a:rPr lang="en-US" sz="900" dirty="0"/>
                <a:t>6</a:t>
              </a:r>
            </a:p>
            <a:p>
              <a:pPr algn="r"/>
              <a:r>
                <a:rPr lang="en-US" sz="900" dirty="0"/>
                <a:t>7</a:t>
              </a:r>
            </a:p>
            <a:p>
              <a:pPr algn="r"/>
              <a:r>
                <a:rPr lang="en-US" sz="900" dirty="0"/>
                <a:t>8</a:t>
              </a:r>
            </a:p>
            <a:p>
              <a:pPr algn="r"/>
              <a:r>
                <a:rPr lang="en-US" sz="900" dirty="0"/>
                <a:t>9</a:t>
              </a:r>
            </a:p>
            <a:p>
              <a:pPr algn="r"/>
              <a:r>
                <a:rPr lang="en-US" sz="900" dirty="0"/>
                <a:t>10</a:t>
              </a:r>
            </a:p>
            <a:p>
              <a:pPr algn="r"/>
              <a:r>
                <a:rPr lang="en-US" sz="900" dirty="0"/>
                <a:t>11</a:t>
              </a:r>
            </a:p>
            <a:p>
              <a:pPr algn="r"/>
              <a:r>
                <a:rPr lang="en-US" sz="900" dirty="0"/>
                <a:t>12</a:t>
              </a:r>
            </a:p>
            <a:p>
              <a:pPr algn="r"/>
              <a:r>
                <a:rPr lang="en-US" sz="900" dirty="0"/>
                <a:t>…</a:t>
              </a:r>
            </a:p>
            <a:p>
              <a:pPr algn="r"/>
              <a:endParaRPr lang="en-US" sz="900" dirty="0"/>
            </a:p>
            <a:p>
              <a:pPr algn="r"/>
              <a:r>
                <a:rPr lang="en-US" sz="900" dirty="0"/>
                <a:t>63</a:t>
              </a:r>
            </a:p>
          </p:txBody>
        </p:sp>
        <p:cxnSp>
          <p:nvCxnSpPr>
            <p:cNvPr id="99" name="98 Conector recto de flecha"/>
            <p:cNvCxnSpPr/>
            <p:nvPr/>
          </p:nvCxnSpPr>
          <p:spPr>
            <a:xfrm>
              <a:off x="6480294" y="2900440"/>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0" name="99 Conector recto de flecha"/>
            <p:cNvCxnSpPr/>
            <p:nvPr/>
          </p:nvCxnSpPr>
          <p:spPr>
            <a:xfrm>
              <a:off x="6480294" y="3044456"/>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1" name="100 Conector recto de flecha"/>
            <p:cNvCxnSpPr/>
            <p:nvPr/>
          </p:nvCxnSpPr>
          <p:spPr>
            <a:xfrm>
              <a:off x="6480294" y="3188472"/>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2" name="101 Conector recto de flecha"/>
            <p:cNvCxnSpPr/>
            <p:nvPr/>
          </p:nvCxnSpPr>
          <p:spPr>
            <a:xfrm>
              <a:off x="6480294" y="3319690"/>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3" name="102 Conector recto de flecha"/>
            <p:cNvCxnSpPr/>
            <p:nvPr/>
          </p:nvCxnSpPr>
          <p:spPr>
            <a:xfrm>
              <a:off x="6480294" y="3434546"/>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4" name="103 Conector recto de flecha"/>
            <p:cNvCxnSpPr/>
            <p:nvPr/>
          </p:nvCxnSpPr>
          <p:spPr>
            <a:xfrm>
              <a:off x="6480294" y="3578562"/>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5" name="104 Conector recto de flecha"/>
            <p:cNvCxnSpPr/>
            <p:nvPr/>
          </p:nvCxnSpPr>
          <p:spPr>
            <a:xfrm>
              <a:off x="6480294" y="3722578"/>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6" name="105 Conector recto de flecha"/>
            <p:cNvCxnSpPr/>
            <p:nvPr/>
          </p:nvCxnSpPr>
          <p:spPr>
            <a:xfrm>
              <a:off x="6480294" y="3853796"/>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7" name="106 Conector recto de flecha"/>
            <p:cNvCxnSpPr/>
            <p:nvPr/>
          </p:nvCxnSpPr>
          <p:spPr>
            <a:xfrm>
              <a:off x="6480294" y="3963308"/>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8" name="107 Conector recto de flecha"/>
            <p:cNvCxnSpPr/>
            <p:nvPr/>
          </p:nvCxnSpPr>
          <p:spPr>
            <a:xfrm>
              <a:off x="6480294" y="4107324"/>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9" name="108 Conector recto de flecha"/>
            <p:cNvCxnSpPr/>
            <p:nvPr/>
          </p:nvCxnSpPr>
          <p:spPr>
            <a:xfrm>
              <a:off x="6480294" y="4251340"/>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10" name="109 Conector recto de flecha"/>
            <p:cNvCxnSpPr/>
            <p:nvPr/>
          </p:nvCxnSpPr>
          <p:spPr>
            <a:xfrm>
              <a:off x="6480294" y="4382558"/>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11" name="110 Conector recto de flecha"/>
            <p:cNvCxnSpPr/>
            <p:nvPr/>
          </p:nvCxnSpPr>
          <p:spPr>
            <a:xfrm>
              <a:off x="6480294" y="4497414"/>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13" name="112 Conector recto de flecha"/>
            <p:cNvCxnSpPr/>
            <p:nvPr/>
          </p:nvCxnSpPr>
          <p:spPr>
            <a:xfrm>
              <a:off x="6480294" y="4876006"/>
              <a:ext cx="792088" cy="0"/>
            </a:xfrm>
            <a:prstGeom prst="straightConnector1">
              <a:avLst/>
            </a:prstGeom>
            <a:ln>
              <a:solidFill>
                <a:schemeClr val="tx1">
                  <a:lumMod val="95000"/>
                  <a:lumOff val="5000"/>
                </a:schemeClr>
              </a:solidFill>
              <a:tailEnd type="arrow"/>
            </a:ln>
          </p:spPr>
          <p:style>
            <a:lnRef idx="2">
              <a:schemeClr val="accent1"/>
            </a:lnRef>
            <a:fillRef idx="0">
              <a:schemeClr val="accent1"/>
            </a:fillRef>
            <a:effectRef idx="1">
              <a:schemeClr val="accent1"/>
            </a:effectRef>
            <a:fontRef idx="minor">
              <a:schemeClr val="tx1"/>
            </a:fontRef>
          </p:style>
        </p:cxnSp>
        <p:sp>
          <p:nvSpPr>
            <p:cNvPr id="114" name="113 CuadroTexto"/>
            <p:cNvSpPr txBox="1"/>
            <p:nvPr/>
          </p:nvSpPr>
          <p:spPr>
            <a:xfrm>
              <a:off x="6588224" y="4401353"/>
              <a:ext cx="432048" cy="369332"/>
            </a:xfrm>
            <a:prstGeom prst="rect">
              <a:avLst/>
            </a:prstGeom>
            <a:noFill/>
          </p:spPr>
          <p:txBody>
            <a:bodyPr wrap="square" rtlCol="0">
              <a:spAutoFit/>
            </a:bodyPr>
            <a:lstStyle/>
            <a:p>
              <a:r>
                <a:rPr lang="en-US" dirty="0"/>
                <a:t>…</a:t>
              </a:r>
              <a:endParaRPr lang="es-NI" dirty="0"/>
            </a:p>
          </p:txBody>
        </p:sp>
      </p:grpSp>
      <p:sp>
        <p:nvSpPr>
          <p:cNvPr id="118" name="117 CuadroTexto"/>
          <p:cNvSpPr txBox="1"/>
          <p:nvPr/>
        </p:nvSpPr>
        <p:spPr>
          <a:xfrm>
            <a:off x="4993846" y="2771169"/>
            <a:ext cx="421926" cy="307777"/>
          </a:xfrm>
          <a:prstGeom prst="rect">
            <a:avLst/>
          </a:prstGeom>
          <a:noFill/>
        </p:spPr>
        <p:txBody>
          <a:bodyPr wrap="square" rtlCol="0">
            <a:spAutoFit/>
          </a:bodyPr>
          <a:lstStyle/>
          <a:p>
            <a:r>
              <a:rPr lang="en-US" sz="1400" dirty="0"/>
              <a:t>E</a:t>
            </a:r>
            <a:endParaRPr lang="es-NI" sz="1400" dirty="0"/>
          </a:p>
        </p:txBody>
      </p:sp>
      <p:sp>
        <p:nvSpPr>
          <p:cNvPr id="119" name="118 CuadroTexto"/>
          <p:cNvSpPr txBox="1"/>
          <p:nvPr/>
        </p:nvSpPr>
        <p:spPr>
          <a:xfrm>
            <a:off x="1554670" y="1602680"/>
            <a:ext cx="421926" cy="307777"/>
          </a:xfrm>
          <a:prstGeom prst="rect">
            <a:avLst/>
          </a:prstGeom>
          <a:noFill/>
        </p:spPr>
        <p:txBody>
          <a:bodyPr wrap="square" rtlCol="0">
            <a:spAutoFit/>
          </a:bodyPr>
          <a:lstStyle/>
          <a:p>
            <a:r>
              <a:rPr lang="en-US" sz="1400" dirty="0"/>
              <a:t>E</a:t>
            </a:r>
            <a:endParaRPr lang="es-NI" sz="1400" dirty="0"/>
          </a:p>
        </p:txBody>
      </p:sp>
      <p:cxnSp>
        <p:nvCxnSpPr>
          <p:cNvPr id="120" name="119 Conector recto de flecha"/>
          <p:cNvCxnSpPr/>
          <p:nvPr/>
        </p:nvCxnSpPr>
        <p:spPr>
          <a:xfrm>
            <a:off x="1597709" y="1910457"/>
            <a:ext cx="671155"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2" name="121 CuadroTexto"/>
          <p:cNvSpPr txBox="1"/>
          <p:nvPr/>
        </p:nvSpPr>
        <p:spPr>
          <a:xfrm>
            <a:off x="5697555" y="1491630"/>
            <a:ext cx="1502655" cy="307777"/>
          </a:xfrm>
          <a:prstGeom prst="rect">
            <a:avLst/>
          </a:prstGeom>
          <a:noFill/>
        </p:spPr>
        <p:txBody>
          <a:bodyPr wrap="square" rtlCol="0">
            <a:spAutoFit/>
          </a:bodyPr>
          <a:lstStyle/>
          <a:p>
            <a:r>
              <a:rPr lang="en-US" sz="1400" dirty="0" err="1"/>
              <a:t>Indicador</a:t>
            </a:r>
            <a:r>
              <a:rPr lang="en-US" sz="1400" dirty="0"/>
              <a:t> de G2 </a:t>
            </a:r>
            <a:endParaRPr lang="es-NI" sz="1400" dirty="0"/>
          </a:p>
        </p:txBody>
      </p:sp>
      <p:sp>
        <p:nvSpPr>
          <p:cNvPr id="123" name="122 Rectángulo"/>
          <p:cNvSpPr/>
          <p:nvPr/>
        </p:nvSpPr>
        <p:spPr>
          <a:xfrm>
            <a:off x="884216" y="2246758"/>
            <a:ext cx="687615" cy="127362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a:t>
            </a:r>
          </a:p>
          <a:p>
            <a:pPr algn="ctr"/>
            <a:r>
              <a:rPr lang="en-US" dirty="0"/>
              <a:t> (G1)</a:t>
            </a:r>
            <a:endParaRPr lang="es-NI" dirty="0"/>
          </a:p>
        </p:txBody>
      </p:sp>
      <p:sp>
        <p:nvSpPr>
          <p:cNvPr id="124" name="123 Rectángulo"/>
          <p:cNvSpPr/>
          <p:nvPr/>
        </p:nvSpPr>
        <p:spPr>
          <a:xfrm>
            <a:off x="886751" y="3539603"/>
            <a:ext cx="687615" cy="127362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O2</a:t>
            </a:r>
          </a:p>
          <a:p>
            <a:pPr algn="ctr"/>
            <a:r>
              <a:rPr lang="en-US" dirty="0"/>
              <a:t> (CO del G2)</a:t>
            </a:r>
            <a:endParaRPr lang="es-NI" dirty="0"/>
          </a:p>
        </p:txBody>
      </p:sp>
      <p:grpSp>
        <p:nvGrpSpPr>
          <p:cNvPr id="127" name="126 Grupo"/>
          <p:cNvGrpSpPr/>
          <p:nvPr/>
        </p:nvGrpSpPr>
        <p:grpSpPr>
          <a:xfrm>
            <a:off x="4860032" y="4173675"/>
            <a:ext cx="681980" cy="489297"/>
            <a:chOff x="1043608" y="2379380"/>
            <a:chExt cx="681980" cy="489297"/>
          </a:xfrm>
        </p:grpSpPr>
        <p:cxnSp>
          <p:nvCxnSpPr>
            <p:cNvPr id="128" name="127 Conector recto de flecha"/>
            <p:cNvCxnSpPr/>
            <p:nvPr/>
          </p:nvCxnSpPr>
          <p:spPr>
            <a:xfrm>
              <a:off x="1043608" y="2737465"/>
              <a:ext cx="681980"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9" name="128 Conector recto"/>
            <p:cNvCxnSpPr/>
            <p:nvPr/>
          </p:nvCxnSpPr>
          <p:spPr>
            <a:xfrm flipH="1">
              <a:off x="1216502" y="2627947"/>
              <a:ext cx="124966" cy="2407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129 CuadroTexto"/>
            <p:cNvSpPr txBox="1"/>
            <p:nvPr/>
          </p:nvSpPr>
          <p:spPr>
            <a:xfrm>
              <a:off x="1216502" y="2379380"/>
              <a:ext cx="259154" cy="307777"/>
            </a:xfrm>
            <a:prstGeom prst="rect">
              <a:avLst/>
            </a:prstGeom>
            <a:noFill/>
          </p:spPr>
          <p:txBody>
            <a:bodyPr wrap="square" rtlCol="0">
              <a:spAutoFit/>
            </a:bodyPr>
            <a:lstStyle/>
            <a:p>
              <a:r>
                <a:rPr lang="en-US" sz="1400" dirty="0"/>
                <a:t>6</a:t>
              </a:r>
              <a:endParaRPr lang="es-NI" sz="1400" dirty="0"/>
            </a:p>
          </p:txBody>
        </p:sp>
      </p:grpSp>
    </p:spTree>
    <p:extLst>
      <p:ext uri="{BB962C8B-B14F-4D97-AF65-F5344CB8AC3E}">
        <p14:creationId xmlns:p14="http://schemas.microsoft.com/office/powerpoint/2010/main" val="400551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25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nodeType="afterEffect">
                                  <p:stCondLst>
                                    <p:cond delay="250"/>
                                  </p:stCondLst>
                                  <p:childTnLst>
                                    <p:set>
                                      <p:cBhvr>
                                        <p:cTn id="23" dur="1" fill="hold">
                                          <p:stCondLst>
                                            <p:cond delay="0"/>
                                          </p:stCondLst>
                                        </p:cTn>
                                        <p:tgtEl>
                                          <p:spTgt spid="12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9"/>
                                        </p:tgtEl>
                                        <p:attrNameLst>
                                          <p:attrName>style.visibility</p:attrName>
                                        </p:attrNameLst>
                                      </p:cBhvr>
                                      <p:to>
                                        <p:strVal val="visible"/>
                                      </p:to>
                                    </p:set>
                                  </p:childTnLst>
                                </p:cTn>
                              </p:par>
                            </p:childTnLst>
                          </p:cTn>
                        </p:par>
                        <p:par>
                          <p:cTn id="26" fill="hold">
                            <p:stCondLst>
                              <p:cond delay="750"/>
                            </p:stCondLst>
                            <p:childTnLst>
                              <p:par>
                                <p:cTn id="27" presetID="53" presetClass="entr" presetSubtype="16" fill="hold" grpId="0" nodeType="afterEffect">
                                  <p:stCondLst>
                                    <p:cond delay="500"/>
                                  </p:stCondLst>
                                  <p:childTnLst>
                                    <p:set>
                                      <p:cBhvr>
                                        <p:cTn id="28" dur="1" fill="hold">
                                          <p:stCondLst>
                                            <p:cond delay="0"/>
                                          </p:stCondLst>
                                        </p:cTn>
                                        <p:tgtEl>
                                          <p:spTgt spid="123"/>
                                        </p:tgtEl>
                                        <p:attrNameLst>
                                          <p:attrName>style.visibility</p:attrName>
                                        </p:attrNameLst>
                                      </p:cBhvr>
                                      <p:to>
                                        <p:strVal val="visible"/>
                                      </p:to>
                                    </p:set>
                                    <p:anim calcmode="lin" valueType="num">
                                      <p:cBhvr>
                                        <p:cTn id="29" dur="500" fill="hold"/>
                                        <p:tgtEl>
                                          <p:spTgt spid="123"/>
                                        </p:tgtEl>
                                        <p:attrNameLst>
                                          <p:attrName>ppt_w</p:attrName>
                                        </p:attrNameLst>
                                      </p:cBhvr>
                                      <p:tavLst>
                                        <p:tav tm="0">
                                          <p:val>
                                            <p:fltVal val="0"/>
                                          </p:val>
                                        </p:tav>
                                        <p:tav tm="100000">
                                          <p:val>
                                            <p:strVal val="#ppt_w"/>
                                          </p:val>
                                        </p:tav>
                                      </p:tavLst>
                                    </p:anim>
                                    <p:anim calcmode="lin" valueType="num">
                                      <p:cBhvr>
                                        <p:cTn id="30" dur="500" fill="hold"/>
                                        <p:tgtEl>
                                          <p:spTgt spid="123"/>
                                        </p:tgtEl>
                                        <p:attrNameLst>
                                          <p:attrName>ppt_h</p:attrName>
                                        </p:attrNameLst>
                                      </p:cBhvr>
                                      <p:tavLst>
                                        <p:tav tm="0">
                                          <p:val>
                                            <p:fltVal val="0"/>
                                          </p:val>
                                        </p:tav>
                                        <p:tav tm="100000">
                                          <p:val>
                                            <p:strVal val="#ppt_h"/>
                                          </p:val>
                                        </p:tav>
                                      </p:tavLst>
                                    </p:anim>
                                    <p:animEffect transition="in" filter="fade">
                                      <p:cBhvr>
                                        <p:cTn id="31" dur="500"/>
                                        <p:tgtEl>
                                          <p:spTgt spid="123"/>
                                        </p:tgtEl>
                                      </p:cBhvr>
                                    </p:animEffect>
                                  </p:childTnLst>
                                </p:cTn>
                              </p:par>
                            </p:childTnLst>
                          </p:cTn>
                        </p:par>
                        <p:par>
                          <p:cTn id="32" fill="hold">
                            <p:stCondLst>
                              <p:cond delay="1750"/>
                            </p:stCondLst>
                            <p:childTnLst>
                              <p:par>
                                <p:cTn id="33" presetID="1" presetClass="entr" presetSubtype="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70"/>
                                        </p:tgtEl>
                                        <p:attrNameLst>
                                          <p:attrName>style.visibility</p:attrName>
                                        </p:attrNameLst>
                                      </p:cBhvr>
                                      <p:to>
                                        <p:strVal val="visible"/>
                                      </p:to>
                                    </p:set>
                                    <p:anim calcmode="lin" valueType="num">
                                      <p:cBhvr>
                                        <p:cTn id="39" dur="500" fill="hold"/>
                                        <p:tgtEl>
                                          <p:spTgt spid="70"/>
                                        </p:tgtEl>
                                        <p:attrNameLst>
                                          <p:attrName>ppt_w</p:attrName>
                                        </p:attrNameLst>
                                      </p:cBhvr>
                                      <p:tavLst>
                                        <p:tav tm="0">
                                          <p:val>
                                            <p:fltVal val="0"/>
                                          </p:val>
                                        </p:tav>
                                        <p:tav tm="100000">
                                          <p:val>
                                            <p:strVal val="#ppt_w"/>
                                          </p:val>
                                        </p:tav>
                                      </p:tavLst>
                                    </p:anim>
                                    <p:anim calcmode="lin" valueType="num">
                                      <p:cBhvr>
                                        <p:cTn id="40" dur="500" fill="hold"/>
                                        <p:tgtEl>
                                          <p:spTgt spid="70"/>
                                        </p:tgtEl>
                                        <p:attrNameLst>
                                          <p:attrName>ppt_h</p:attrName>
                                        </p:attrNameLst>
                                      </p:cBhvr>
                                      <p:tavLst>
                                        <p:tav tm="0">
                                          <p:val>
                                            <p:fltVal val="0"/>
                                          </p:val>
                                        </p:tav>
                                        <p:tav tm="100000">
                                          <p:val>
                                            <p:strVal val="#ppt_h"/>
                                          </p:val>
                                        </p:tav>
                                      </p:tavLst>
                                    </p:anim>
                                    <p:animEffect transition="in" filter="fade">
                                      <p:cBhvr>
                                        <p:cTn id="41" dur="500"/>
                                        <p:tgtEl>
                                          <p:spTgt spid="70"/>
                                        </p:tgtEl>
                                      </p:cBhvr>
                                    </p:animEffect>
                                  </p:childTnLst>
                                </p:cTn>
                              </p:par>
                            </p:childTnLst>
                          </p:cTn>
                        </p:par>
                        <p:par>
                          <p:cTn id="42" fill="hold">
                            <p:stCondLst>
                              <p:cond delay="500"/>
                            </p:stCondLst>
                            <p:childTnLst>
                              <p:par>
                                <p:cTn id="43" presetID="1" presetClass="entr" presetSubtype="0" fill="hold" nodeType="afterEffect">
                                  <p:stCondLst>
                                    <p:cond delay="0"/>
                                  </p:stCondLst>
                                  <p:childTnLst>
                                    <p:set>
                                      <p:cBhvr>
                                        <p:cTn id="44" dur="1" fill="hold">
                                          <p:stCondLst>
                                            <p:cond delay="0"/>
                                          </p:stCondLst>
                                        </p:cTn>
                                        <p:tgtEl>
                                          <p:spTgt spid="126"/>
                                        </p:tgtEl>
                                        <p:attrNameLst>
                                          <p:attrName>style.visibility</p:attrName>
                                        </p:attrNameLst>
                                      </p:cBhvr>
                                      <p:to>
                                        <p:strVal val="visible"/>
                                      </p:to>
                                    </p:set>
                                  </p:childTnLst>
                                </p:cTn>
                              </p:par>
                            </p:childTnLst>
                          </p:cTn>
                        </p:par>
                        <p:par>
                          <p:cTn id="45" fill="hold">
                            <p:stCondLst>
                              <p:cond delay="500"/>
                            </p:stCondLst>
                            <p:childTnLst>
                              <p:par>
                                <p:cTn id="46" presetID="1" presetClass="entr" presetSubtype="0" fill="hold" nodeType="afterEffect">
                                  <p:stCondLst>
                                    <p:cond delay="0"/>
                                  </p:stCondLst>
                                  <p:childTnLst>
                                    <p:set>
                                      <p:cBhvr>
                                        <p:cTn id="47" dur="1" fill="hold">
                                          <p:stCondLst>
                                            <p:cond delay="0"/>
                                          </p:stCondLst>
                                        </p:cTn>
                                        <p:tgtEl>
                                          <p:spTgt spid="127"/>
                                        </p:tgtEl>
                                        <p:attrNameLst>
                                          <p:attrName>style.visibility</p:attrName>
                                        </p:attrNameLst>
                                      </p:cBhvr>
                                      <p:to>
                                        <p:strVal val="visible"/>
                                      </p:to>
                                    </p:se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118"/>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nodeType="afterEffect">
                                  <p:stCondLst>
                                    <p:cond delay="0"/>
                                  </p:stCondLst>
                                  <p:childTnLst>
                                    <p:set>
                                      <p:cBhvr>
                                        <p:cTn id="53" dur="1" fill="hold">
                                          <p:stCondLst>
                                            <p:cond delay="0"/>
                                          </p:stCondLst>
                                        </p:cTn>
                                        <p:tgtEl>
                                          <p:spTgt spid="7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8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2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90"/>
                                        </p:tgtEl>
                                        <p:attrNameLst>
                                          <p:attrName>style.visibility</p:attrName>
                                        </p:attrNameLst>
                                      </p:cBhvr>
                                      <p:to>
                                        <p:strVal val="visible"/>
                                      </p:to>
                                    </p:set>
                                  </p:childTnLst>
                                </p:cTn>
                              </p:par>
                            </p:childTnLst>
                          </p:cTn>
                        </p:par>
                        <p:par>
                          <p:cTn id="64" fill="hold">
                            <p:stCondLst>
                              <p:cond delay="0"/>
                            </p:stCondLst>
                            <p:childTnLst>
                              <p:par>
                                <p:cTn id="65" presetID="53" presetClass="entr" presetSubtype="16" fill="hold" grpId="0" nodeType="afterEffect">
                                  <p:stCondLst>
                                    <p:cond delay="0"/>
                                  </p:stCondLst>
                                  <p:childTnLst>
                                    <p:set>
                                      <p:cBhvr>
                                        <p:cTn id="66" dur="1" fill="hold">
                                          <p:stCondLst>
                                            <p:cond delay="0"/>
                                          </p:stCondLst>
                                        </p:cTn>
                                        <p:tgtEl>
                                          <p:spTgt spid="124"/>
                                        </p:tgtEl>
                                        <p:attrNameLst>
                                          <p:attrName>style.visibility</p:attrName>
                                        </p:attrNameLst>
                                      </p:cBhvr>
                                      <p:to>
                                        <p:strVal val="visible"/>
                                      </p:to>
                                    </p:set>
                                    <p:anim calcmode="lin" valueType="num">
                                      <p:cBhvr>
                                        <p:cTn id="67" dur="500" fill="hold"/>
                                        <p:tgtEl>
                                          <p:spTgt spid="124"/>
                                        </p:tgtEl>
                                        <p:attrNameLst>
                                          <p:attrName>ppt_w</p:attrName>
                                        </p:attrNameLst>
                                      </p:cBhvr>
                                      <p:tavLst>
                                        <p:tav tm="0">
                                          <p:val>
                                            <p:fltVal val="0"/>
                                          </p:val>
                                        </p:tav>
                                        <p:tav tm="100000">
                                          <p:val>
                                            <p:strVal val="#ppt_w"/>
                                          </p:val>
                                        </p:tav>
                                      </p:tavLst>
                                    </p:anim>
                                    <p:anim calcmode="lin" valueType="num">
                                      <p:cBhvr>
                                        <p:cTn id="68" dur="500" fill="hold"/>
                                        <p:tgtEl>
                                          <p:spTgt spid="124"/>
                                        </p:tgtEl>
                                        <p:attrNameLst>
                                          <p:attrName>ppt_h</p:attrName>
                                        </p:attrNameLst>
                                      </p:cBhvr>
                                      <p:tavLst>
                                        <p:tav tm="0">
                                          <p:val>
                                            <p:fltVal val="0"/>
                                          </p:val>
                                        </p:tav>
                                        <p:tav tm="100000">
                                          <p:val>
                                            <p:strVal val="#ppt_h"/>
                                          </p:val>
                                        </p:tav>
                                      </p:tavLst>
                                    </p:anim>
                                    <p:animEffect transition="in" filter="fade">
                                      <p:cBhvr>
                                        <p:cTn id="69"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30" grpId="0"/>
      <p:bldP spid="70" grpId="0" animBg="1"/>
      <p:bldP spid="118" grpId="0"/>
      <p:bldP spid="119" grpId="0"/>
      <p:bldP spid="122" grpId="0"/>
      <p:bldP spid="123" grpId="0" animBg="1"/>
      <p:bldP spid="1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Técnica</a:t>
            </a:r>
            <a:r>
              <a:rPr lang="en-US" dirty="0"/>
              <a:t> de Huffman</a:t>
            </a:r>
            <a:endParaRPr lang="es-NI" dirty="0"/>
          </a:p>
        </p:txBody>
      </p:sp>
      <p:sp>
        <p:nvSpPr>
          <p:cNvPr id="2" name="1 Marcador de contenido"/>
          <p:cNvSpPr>
            <a:spLocks noGrp="1"/>
          </p:cNvSpPr>
          <p:nvPr>
            <p:ph idx="1"/>
          </p:nvPr>
        </p:nvSpPr>
        <p:spPr/>
        <p:txBody>
          <a:bodyPr>
            <a:normAutofit fontScale="92500"/>
          </a:bodyPr>
          <a:lstStyle/>
          <a:p>
            <a:r>
              <a:rPr lang="en-US" dirty="0" err="1">
                <a:solidFill>
                  <a:schemeClr val="accent1">
                    <a:lumMod val="75000"/>
                  </a:schemeClr>
                </a:solidFill>
              </a:rPr>
              <a:t>Tercera</a:t>
            </a:r>
            <a:r>
              <a:rPr lang="en-US" dirty="0">
                <a:solidFill>
                  <a:schemeClr val="accent1">
                    <a:lumMod val="75000"/>
                  </a:schemeClr>
                </a:solidFill>
              </a:rPr>
              <a:t> </a:t>
            </a:r>
            <a:r>
              <a:rPr lang="en-US" dirty="0" err="1">
                <a:solidFill>
                  <a:schemeClr val="accent1">
                    <a:lumMod val="75000"/>
                  </a:schemeClr>
                </a:solidFill>
              </a:rPr>
              <a:t>opción</a:t>
            </a:r>
            <a:r>
              <a:rPr lang="en-US" dirty="0">
                <a:solidFill>
                  <a:schemeClr val="accent1">
                    <a:lumMod val="75000"/>
                  </a:schemeClr>
                </a:solidFill>
              </a:rPr>
              <a:t>: </a:t>
            </a:r>
            <a:r>
              <a:rPr lang="en-US" dirty="0" err="1">
                <a:solidFill>
                  <a:srgbClr val="0070C0"/>
                </a:solidFill>
              </a:rPr>
              <a:t>Emplear</a:t>
            </a:r>
            <a:r>
              <a:rPr lang="en-US" dirty="0">
                <a:solidFill>
                  <a:srgbClr val="0070C0"/>
                </a:solidFill>
              </a:rPr>
              <a:t> el </a:t>
            </a:r>
            <a:r>
              <a:rPr lang="en-US" dirty="0" err="1">
                <a:solidFill>
                  <a:srgbClr val="0070C0"/>
                </a:solidFill>
              </a:rPr>
              <a:t>algoritmo</a:t>
            </a:r>
            <a:r>
              <a:rPr lang="en-US" dirty="0">
                <a:solidFill>
                  <a:srgbClr val="0070C0"/>
                </a:solidFill>
              </a:rPr>
              <a:t> de Huffman </a:t>
            </a:r>
            <a:r>
              <a:rPr lang="en-US" dirty="0" err="1">
                <a:solidFill>
                  <a:srgbClr val="0070C0"/>
                </a:solidFill>
              </a:rPr>
              <a:t>para</a:t>
            </a:r>
            <a:r>
              <a:rPr lang="en-US" dirty="0">
                <a:solidFill>
                  <a:srgbClr val="0070C0"/>
                </a:solidFill>
              </a:rPr>
              <a:t> </a:t>
            </a:r>
            <a:r>
              <a:rPr lang="en-US" dirty="0" err="1">
                <a:solidFill>
                  <a:srgbClr val="0070C0"/>
                </a:solidFill>
              </a:rPr>
              <a:t>codificar</a:t>
            </a:r>
            <a:r>
              <a:rPr lang="en-US" dirty="0">
                <a:solidFill>
                  <a:srgbClr val="0070C0"/>
                </a:solidFill>
              </a:rPr>
              <a:t> la </a:t>
            </a:r>
            <a:r>
              <a:rPr lang="en-US" dirty="0" err="1">
                <a:solidFill>
                  <a:srgbClr val="0070C0"/>
                </a:solidFill>
              </a:rPr>
              <a:t>operación</a:t>
            </a:r>
            <a:r>
              <a:rPr lang="en-US" dirty="0">
                <a:solidFill>
                  <a:srgbClr val="0070C0"/>
                </a:solidFill>
              </a:rPr>
              <a:t>.</a:t>
            </a:r>
          </a:p>
          <a:p>
            <a:r>
              <a:rPr lang="en-US" dirty="0" err="1"/>
              <a:t>Basado</a:t>
            </a:r>
            <a:r>
              <a:rPr lang="en-US" dirty="0"/>
              <a:t> </a:t>
            </a:r>
            <a:r>
              <a:rPr lang="en-US" dirty="0" err="1"/>
              <a:t>sobre</a:t>
            </a:r>
            <a:r>
              <a:rPr lang="en-US" dirty="0"/>
              <a:t> la </a:t>
            </a:r>
            <a:r>
              <a:rPr lang="en-US" dirty="0" err="1"/>
              <a:t>teoría</a:t>
            </a:r>
            <a:r>
              <a:rPr lang="en-US" dirty="0"/>
              <a:t> </a:t>
            </a:r>
            <a:r>
              <a:rPr lang="en-US" dirty="0" err="1"/>
              <a:t>estadística</a:t>
            </a:r>
            <a:r>
              <a:rPr lang="en-US" dirty="0"/>
              <a:t> de </a:t>
            </a:r>
            <a:r>
              <a:rPr lang="en-US" dirty="0" err="1"/>
              <a:t>las</a:t>
            </a:r>
            <a:r>
              <a:rPr lang="en-US" dirty="0"/>
              <a:t> </a:t>
            </a:r>
            <a:r>
              <a:rPr lang="en-US" dirty="0" err="1"/>
              <a:t>comunicaciones</a:t>
            </a:r>
            <a:r>
              <a:rPr lang="en-US" dirty="0"/>
              <a:t>.</a:t>
            </a:r>
          </a:p>
          <a:p>
            <a:r>
              <a:rPr lang="en-US" dirty="0" err="1"/>
              <a:t>Código</a:t>
            </a:r>
            <a:r>
              <a:rPr lang="en-US" dirty="0"/>
              <a:t> variable.</a:t>
            </a:r>
          </a:p>
          <a:p>
            <a:r>
              <a:rPr lang="en-US" dirty="0" err="1"/>
              <a:t>Asigna</a:t>
            </a:r>
            <a:r>
              <a:rPr lang="en-US" dirty="0"/>
              <a:t> el </a:t>
            </a:r>
            <a:r>
              <a:rPr lang="en-US" dirty="0" err="1"/>
              <a:t>código</a:t>
            </a:r>
            <a:r>
              <a:rPr lang="en-US" dirty="0"/>
              <a:t> </a:t>
            </a:r>
            <a:r>
              <a:rPr lang="en-US" dirty="0" err="1"/>
              <a:t>más</a:t>
            </a:r>
            <a:r>
              <a:rPr lang="en-US" dirty="0"/>
              <a:t> </a:t>
            </a:r>
            <a:r>
              <a:rPr lang="en-US" dirty="0" err="1"/>
              <a:t>corto</a:t>
            </a:r>
            <a:r>
              <a:rPr lang="en-US" dirty="0"/>
              <a:t> a </a:t>
            </a:r>
            <a:r>
              <a:rPr lang="en-US" dirty="0" err="1"/>
              <a:t>las</a:t>
            </a:r>
            <a:r>
              <a:rPr lang="en-US" dirty="0"/>
              <a:t> </a:t>
            </a:r>
            <a:r>
              <a:rPr lang="en-US" dirty="0" err="1"/>
              <a:t>operaciones</a:t>
            </a:r>
            <a:r>
              <a:rPr lang="en-US" dirty="0"/>
              <a:t> </a:t>
            </a:r>
            <a:r>
              <a:rPr lang="en-US" dirty="0" err="1"/>
              <a:t>más</a:t>
            </a:r>
            <a:r>
              <a:rPr lang="en-US" dirty="0"/>
              <a:t> </a:t>
            </a:r>
            <a:r>
              <a:rPr lang="en-US" dirty="0" err="1"/>
              <a:t>frecuentes</a:t>
            </a:r>
            <a:r>
              <a:rPr lang="en-US" dirty="0"/>
              <a:t>.</a:t>
            </a:r>
          </a:p>
          <a:p>
            <a:r>
              <a:rPr lang="en-US" dirty="0"/>
              <a:t>El </a:t>
            </a:r>
            <a:r>
              <a:rPr lang="en-US" dirty="0" err="1"/>
              <a:t>más</a:t>
            </a:r>
            <a:r>
              <a:rPr lang="en-US" dirty="0"/>
              <a:t> </a:t>
            </a:r>
            <a:r>
              <a:rPr lang="en-US" dirty="0" err="1"/>
              <a:t>eficiente</a:t>
            </a:r>
            <a:r>
              <a:rPr lang="en-US" dirty="0"/>
              <a:t> en </a:t>
            </a:r>
            <a:r>
              <a:rPr lang="en-US" dirty="0" err="1"/>
              <a:t>cuanto</a:t>
            </a:r>
            <a:r>
              <a:rPr lang="en-US" dirty="0"/>
              <a:t> a la </a:t>
            </a:r>
            <a:r>
              <a:rPr lang="en-US" dirty="0" err="1"/>
              <a:t>optimización</a:t>
            </a:r>
            <a:r>
              <a:rPr lang="en-US" dirty="0"/>
              <a:t> de los bits </a:t>
            </a:r>
            <a:r>
              <a:rPr lang="en-US" dirty="0" err="1"/>
              <a:t>empleados</a:t>
            </a:r>
            <a:r>
              <a:rPr lang="en-US" dirty="0"/>
              <a:t> </a:t>
            </a:r>
            <a:r>
              <a:rPr lang="en-US" dirty="0" err="1"/>
              <a:t>para</a:t>
            </a:r>
            <a:r>
              <a:rPr lang="en-US" dirty="0"/>
              <a:t> </a:t>
            </a:r>
            <a:r>
              <a:rPr lang="en-US" dirty="0" err="1"/>
              <a:t>código</a:t>
            </a:r>
            <a:r>
              <a:rPr lang="en-US" dirty="0"/>
              <a:t> de </a:t>
            </a:r>
            <a:r>
              <a:rPr lang="en-US" dirty="0" err="1"/>
              <a:t>operación</a:t>
            </a:r>
            <a:r>
              <a:rPr lang="en-US" dirty="0"/>
              <a:t>.</a:t>
            </a:r>
          </a:p>
          <a:p>
            <a:r>
              <a:rPr lang="en-US" dirty="0" err="1"/>
              <a:t>Requiere</a:t>
            </a:r>
            <a:r>
              <a:rPr lang="en-US" dirty="0"/>
              <a:t> </a:t>
            </a:r>
            <a:r>
              <a:rPr lang="en-US" dirty="0" err="1"/>
              <a:t>tener</a:t>
            </a:r>
            <a:r>
              <a:rPr lang="en-US" dirty="0"/>
              <a:t> </a:t>
            </a:r>
            <a:r>
              <a:rPr lang="en-US" dirty="0" err="1"/>
              <a:t>información</a:t>
            </a:r>
            <a:r>
              <a:rPr lang="en-US" dirty="0"/>
              <a:t> </a:t>
            </a:r>
            <a:r>
              <a:rPr lang="en-US" dirty="0" err="1"/>
              <a:t>empírica</a:t>
            </a:r>
            <a:r>
              <a:rPr lang="en-US" dirty="0"/>
              <a:t> de la </a:t>
            </a:r>
            <a:r>
              <a:rPr lang="en-US" dirty="0" err="1"/>
              <a:t>frecuencia</a:t>
            </a:r>
            <a:r>
              <a:rPr lang="en-US" dirty="0"/>
              <a:t> </a:t>
            </a:r>
            <a:r>
              <a:rPr lang="en-US" dirty="0" err="1"/>
              <a:t>relativa</a:t>
            </a:r>
            <a:r>
              <a:rPr lang="en-US" dirty="0"/>
              <a:t> (</a:t>
            </a:r>
            <a:r>
              <a:rPr lang="en-US" dirty="0" err="1"/>
              <a:t>probabilidad</a:t>
            </a:r>
            <a:r>
              <a:rPr lang="en-US" dirty="0"/>
              <a:t>) de </a:t>
            </a:r>
            <a:r>
              <a:rPr lang="en-US" dirty="0" err="1"/>
              <a:t>cada</a:t>
            </a:r>
            <a:r>
              <a:rPr lang="en-US" dirty="0"/>
              <a:t> </a:t>
            </a:r>
            <a:r>
              <a:rPr lang="en-US" dirty="0" err="1"/>
              <a:t>operación</a:t>
            </a:r>
            <a:r>
              <a:rPr lang="en-US" dirty="0"/>
              <a:t> en los </a:t>
            </a:r>
            <a:r>
              <a:rPr lang="en-US" dirty="0" err="1"/>
              <a:t>programas</a:t>
            </a:r>
            <a:r>
              <a:rPr lang="en-US" dirty="0"/>
              <a:t>.</a:t>
            </a:r>
          </a:p>
          <a:p>
            <a:endParaRPr lang="en-US" dirty="0">
              <a:solidFill>
                <a:schemeClr val="accent1">
                  <a:lumMod val="75000"/>
                </a:schemeClr>
              </a:solidFill>
            </a:endParaRPr>
          </a:p>
        </p:txBody>
      </p:sp>
    </p:spTree>
    <p:extLst>
      <p:ext uri="{BB962C8B-B14F-4D97-AF65-F5344CB8AC3E}">
        <p14:creationId xmlns:p14="http://schemas.microsoft.com/office/powerpoint/2010/main" val="2709325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Técnica</a:t>
            </a:r>
            <a:r>
              <a:rPr lang="en-US" dirty="0"/>
              <a:t> de Huffman</a:t>
            </a:r>
            <a:endParaRPr lang="es-NI" dirty="0"/>
          </a:p>
        </p:txBody>
      </p:sp>
      <p:sp>
        <p:nvSpPr>
          <p:cNvPr id="2" name="1 Marcador de contenido"/>
          <p:cNvSpPr>
            <a:spLocks noGrp="1"/>
          </p:cNvSpPr>
          <p:nvPr>
            <p:ph idx="1"/>
          </p:nvPr>
        </p:nvSpPr>
        <p:spPr>
          <a:xfrm>
            <a:off x="381001" y="1289303"/>
            <a:ext cx="8407893" cy="850399"/>
          </a:xfrm>
        </p:spPr>
        <p:txBody>
          <a:bodyPr>
            <a:normAutofit/>
          </a:bodyPr>
          <a:lstStyle/>
          <a:p>
            <a:r>
              <a:rPr lang="en-US" dirty="0" err="1">
                <a:solidFill>
                  <a:schemeClr val="accent1">
                    <a:lumMod val="75000"/>
                  </a:schemeClr>
                </a:solidFill>
              </a:rPr>
              <a:t>Ejemplo</a:t>
            </a:r>
            <a:r>
              <a:rPr lang="en-US" dirty="0">
                <a:solidFill>
                  <a:schemeClr val="accent1">
                    <a:lumMod val="75000"/>
                  </a:schemeClr>
                </a:solidFill>
              </a:rPr>
              <a:t>: </a:t>
            </a:r>
            <a:r>
              <a:rPr lang="en-US" dirty="0" err="1">
                <a:solidFill>
                  <a:srgbClr val="0070C0"/>
                </a:solidFill>
              </a:rPr>
              <a:t>Codificar</a:t>
            </a:r>
            <a:r>
              <a:rPr lang="en-US" dirty="0">
                <a:solidFill>
                  <a:srgbClr val="0070C0"/>
                </a:solidFill>
              </a:rPr>
              <a:t> un </a:t>
            </a:r>
            <a:r>
              <a:rPr lang="en-US" dirty="0" err="1">
                <a:solidFill>
                  <a:srgbClr val="0070C0"/>
                </a:solidFill>
              </a:rPr>
              <a:t>conjunto</a:t>
            </a:r>
            <a:r>
              <a:rPr lang="en-US" dirty="0">
                <a:solidFill>
                  <a:srgbClr val="0070C0"/>
                </a:solidFill>
              </a:rPr>
              <a:t> de </a:t>
            </a:r>
            <a:r>
              <a:rPr lang="en-US" dirty="0" err="1">
                <a:solidFill>
                  <a:srgbClr val="0070C0"/>
                </a:solidFill>
              </a:rPr>
              <a:t>instrucciones</a:t>
            </a:r>
            <a:r>
              <a:rPr lang="en-US" dirty="0">
                <a:solidFill>
                  <a:srgbClr val="0070C0"/>
                </a:solidFill>
              </a:rPr>
              <a:t> de </a:t>
            </a:r>
            <a:r>
              <a:rPr lang="en-US" dirty="0" err="1">
                <a:solidFill>
                  <a:srgbClr val="0070C0"/>
                </a:solidFill>
              </a:rPr>
              <a:t>acumulador</a:t>
            </a:r>
            <a:r>
              <a:rPr lang="en-US" dirty="0">
                <a:solidFill>
                  <a:srgbClr val="0070C0"/>
                </a:solidFill>
              </a:rPr>
              <a:t> con </a:t>
            </a:r>
            <a:r>
              <a:rPr lang="en-US" dirty="0" err="1">
                <a:solidFill>
                  <a:srgbClr val="0070C0"/>
                </a:solidFill>
              </a:rPr>
              <a:t>las</a:t>
            </a:r>
            <a:r>
              <a:rPr lang="en-US" dirty="0">
                <a:solidFill>
                  <a:srgbClr val="0070C0"/>
                </a:solidFill>
              </a:rPr>
              <a:t> </a:t>
            </a:r>
            <a:r>
              <a:rPr lang="en-US" dirty="0" err="1">
                <a:solidFill>
                  <a:srgbClr val="0070C0"/>
                </a:solidFill>
              </a:rPr>
              <a:t>siguientes</a:t>
            </a:r>
            <a:r>
              <a:rPr lang="en-US" dirty="0">
                <a:solidFill>
                  <a:srgbClr val="0070C0"/>
                </a:solidFill>
              </a:rPr>
              <a:t> </a:t>
            </a:r>
            <a:r>
              <a:rPr lang="en-US" dirty="0" err="1">
                <a:solidFill>
                  <a:srgbClr val="0070C0"/>
                </a:solidFill>
              </a:rPr>
              <a:t>frecuencias</a:t>
            </a:r>
            <a:r>
              <a:rPr lang="en-US" dirty="0">
                <a:solidFill>
                  <a:srgbClr val="0070C0"/>
                </a:solidFill>
              </a:rPr>
              <a:t> </a:t>
            </a:r>
            <a:r>
              <a:rPr lang="en-US" dirty="0" err="1">
                <a:solidFill>
                  <a:srgbClr val="0070C0"/>
                </a:solidFill>
              </a:rPr>
              <a:t>relativas</a:t>
            </a:r>
            <a:r>
              <a:rPr lang="en-US" dirty="0">
                <a:solidFill>
                  <a:srgbClr val="0070C0"/>
                </a:solidFill>
              </a:rPr>
              <a:t>:</a:t>
            </a:r>
          </a:p>
        </p:txBody>
      </p:sp>
      <p:graphicFrame>
        <p:nvGraphicFramePr>
          <p:cNvPr id="4" name="3 Tabla"/>
          <p:cNvGraphicFramePr>
            <a:graphicFrameLocks noGrp="1"/>
          </p:cNvGraphicFramePr>
          <p:nvPr>
            <p:extLst>
              <p:ext uri="{D42A27DB-BD31-4B8C-83A1-F6EECF244321}">
                <p14:modId xmlns:p14="http://schemas.microsoft.com/office/powerpoint/2010/main" val="666386996"/>
              </p:ext>
            </p:extLst>
          </p:nvPr>
        </p:nvGraphicFramePr>
        <p:xfrm>
          <a:off x="1691680" y="2211710"/>
          <a:ext cx="5112567" cy="2526000"/>
        </p:xfrm>
        <a:graphic>
          <a:graphicData uri="http://schemas.openxmlformats.org/drawingml/2006/table">
            <a:tbl>
              <a:tblPr firstRow="1" firstCol="1" bandRow="1" bandCol="1">
                <a:tableStyleId>{5C22544A-7EE6-4342-B048-85BDC9FD1C3A}</a:tableStyleId>
              </a:tblPr>
              <a:tblGrid>
                <a:gridCol w="1785341">
                  <a:extLst>
                    <a:ext uri="{9D8B030D-6E8A-4147-A177-3AD203B41FA5}">
                      <a16:colId xmlns:a16="http://schemas.microsoft.com/office/drawing/2014/main" val="20000"/>
                    </a:ext>
                  </a:extLst>
                </a:gridCol>
                <a:gridCol w="3327226">
                  <a:extLst>
                    <a:ext uri="{9D8B030D-6E8A-4147-A177-3AD203B41FA5}">
                      <a16:colId xmlns:a16="http://schemas.microsoft.com/office/drawing/2014/main" val="20001"/>
                    </a:ext>
                  </a:extLst>
                </a:gridCol>
              </a:tblGrid>
              <a:tr h="216026">
                <a:tc>
                  <a:txBody>
                    <a:bodyPr/>
                    <a:lstStyle/>
                    <a:p>
                      <a:pPr marL="0" marR="0" algn="ctr">
                        <a:spcBef>
                          <a:spcPts val="0"/>
                        </a:spcBef>
                        <a:spcAft>
                          <a:spcPts val="0"/>
                        </a:spcAft>
                      </a:pPr>
                      <a:r>
                        <a:rPr lang="en-US" sz="1200" dirty="0" err="1">
                          <a:effectLst/>
                        </a:rPr>
                        <a:t>Nemónicos</a:t>
                      </a:r>
                      <a:r>
                        <a:rPr lang="en-US" sz="1200" dirty="0">
                          <a:effectLst/>
                        </a:rPr>
                        <a:t> de </a:t>
                      </a:r>
                      <a:r>
                        <a:rPr lang="en-US" sz="1200" dirty="0" err="1">
                          <a:effectLst/>
                        </a:rPr>
                        <a:t>Instrucciones</a:t>
                      </a:r>
                      <a:endParaRPr lang="es-NI" sz="16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200" dirty="0" err="1">
                          <a:effectLst/>
                        </a:rPr>
                        <a:t>Frecuencia</a:t>
                      </a:r>
                      <a:r>
                        <a:rPr lang="en-US" sz="1200" dirty="0">
                          <a:effectLst/>
                        </a:rPr>
                        <a:t> </a:t>
                      </a:r>
                      <a:r>
                        <a:rPr lang="en-US" sz="1200" dirty="0" err="1">
                          <a:effectLst/>
                        </a:rPr>
                        <a:t>Relativa</a:t>
                      </a:r>
                      <a:endParaRPr lang="es-NI" sz="1600" dirty="0">
                        <a:effectLst/>
                        <a:latin typeface="Garamond"/>
                        <a:ea typeface="Times New Roman"/>
                        <a:cs typeface="Arial"/>
                      </a:endParaRPr>
                    </a:p>
                  </a:txBody>
                  <a:tcPr marL="68580" marR="68580" marT="0" marB="0"/>
                </a:tc>
                <a:extLst>
                  <a:ext uri="{0D108BD9-81ED-4DB2-BD59-A6C34878D82A}">
                    <a16:rowId xmlns:a16="http://schemas.microsoft.com/office/drawing/2014/main" val="10000"/>
                  </a:ext>
                </a:extLst>
              </a:tr>
              <a:tr h="270030">
                <a:tc>
                  <a:txBody>
                    <a:bodyPr/>
                    <a:lstStyle/>
                    <a:p>
                      <a:pPr marL="0" marR="0" algn="ctr">
                        <a:spcBef>
                          <a:spcPts val="0"/>
                        </a:spcBef>
                        <a:spcAft>
                          <a:spcPts val="0"/>
                        </a:spcAft>
                      </a:pPr>
                      <a:r>
                        <a:rPr lang="en-US" sz="1400" dirty="0">
                          <a:effectLst/>
                        </a:rPr>
                        <a:t>LOAD</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1/4</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1"/>
                  </a:ext>
                </a:extLst>
              </a:tr>
              <a:tr h="270030">
                <a:tc>
                  <a:txBody>
                    <a:bodyPr/>
                    <a:lstStyle/>
                    <a:p>
                      <a:pPr marL="0" marR="0" algn="ctr">
                        <a:spcBef>
                          <a:spcPts val="0"/>
                        </a:spcBef>
                        <a:spcAft>
                          <a:spcPts val="0"/>
                        </a:spcAft>
                      </a:pPr>
                      <a:r>
                        <a:rPr lang="en-US" sz="1400" dirty="0">
                          <a:effectLst/>
                        </a:rPr>
                        <a:t>STORE</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a:effectLst/>
                        </a:rPr>
                        <a:t>1/4</a:t>
                      </a:r>
                      <a:endParaRPr lang="es-NI" sz="1400">
                        <a:effectLst/>
                        <a:latin typeface="Garamond"/>
                        <a:ea typeface="Times New Roman"/>
                        <a:cs typeface="Arial"/>
                      </a:endParaRPr>
                    </a:p>
                  </a:txBody>
                  <a:tcPr marL="68580" marR="68580" marT="0" marB="0"/>
                </a:tc>
                <a:extLst>
                  <a:ext uri="{0D108BD9-81ED-4DB2-BD59-A6C34878D82A}">
                    <a16:rowId xmlns:a16="http://schemas.microsoft.com/office/drawing/2014/main" val="10002"/>
                  </a:ext>
                </a:extLst>
              </a:tr>
              <a:tr h="270030">
                <a:tc>
                  <a:txBody>
                    <a:bodyPr/>
                    <a:lstStyle/>
                    <a:p>
                      <a:pPr marL="0" marR="0" algn="ctr">
                        <a:spcBef>
                          <a:spcPts val="0"/>
                        </a:spcBef>
                        <a:spcAft>
                          <a:spcPts val="0"/>
                        </a:spcAft>
                      </a:pPr>
                      <a:r>
                        <a:rPr lang="en-US" sz="1400" dirty="0">
                          <a:effectLst/>
                        </a:rPr>
                        <a:t>ADD</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1/8</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3"/>
                  </a:ext>
                </a:extLst>
              </a:tr>
              <a:tr h="270030">
                <a:tc>
                  <a:txBody>
                    <a:bodyPr/>
                    <a:lstStyle/>
                    <a:p>
                      <a:pPr marL="0" marR="0" algn="ctr">
                        <a:spcBef>
                          <a:spcPts val="0"/>
                        </a:spcBef>
                        <a:spcAft>
                          <a:spcPts val="0"/>
                        </a:spcAft>
                      </a:pPr>
                      <a:r>
                        <a:rPr lang="en-US" sz="1400" dirty="0">
                          <a:effectLst/>
                        </a:rPr>
                        <a:t>AND</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1/8</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4"/>
                  </a:ext>
                </a:extLst>
              </a:tr>
              <a:tr h="270030">
                <a:tc>
                  <a:txBody>
                    <a:bodyPr/>
                    <a:lstStyle/>
                    <a:p>
                      <a:pPr marL="0" marR="0" algn="ctr">
                        <a:spcBef>
                          <a:spcPts val="0"/>
                        </a:spcBef>
                        <a:spcAft>
                          <a:spcPts val="0"/>
                        </a:spcAft>
                      </a:pPr>
                      <a:r>
                        <a:rPr lang="en-US" sz="1400" dirty="0">
                          <a:effectLst/>
                        </a:rPr>
                        <a:t>NOT</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5"/>
                  </a:ext>
                </a:extLst>
              </a:tr>
              <a:tr h="270030">
                <a:tc>
                  <a:txBody>
                    <a:bodyPr/>
                    <a:lstStyle/>
                    <a:p>
                      <a:pPr marL="0" marR="0" algn="ctr">
                        <a:spcBef>
                          <a:spcPts val="0"/>
                        </a:spcBef>
                        <a:spcAft>
                          <a:spcPts val="0"/>
                        </a:spcAft>
                      </a:pPr>
                      <a:r>
                        <a:rPr lang="en-US" sz="1400" dirty="0">
                          <a:effectLst/>
                        </a:rPr>
                        <a:t>RSHIFT</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6"/>
                  </a:ext>
                </a:extLst>
              </a:tr>
              <a:tr h="270030">
                <a:tc>
                  <a:txBody>
                    <a:bodyPr/>
                    <a:lstStyle/>
                    <a:p>
                      <a:pPr marL="0" marR="0" algn="ctr">
                        <a:spcBef>
                          <a:spcPts val="0"/>
                        </a:spcBef>
                        <a:spcAft>
                          <a:spcPts val="0"/>
                        </a:spcAft>
                      </a:pPr>
                      <a:r>
                        <a:rPr lang="en-US" sz="1400" dirty="0">
                          <a:effectLst/>
                        </a:rPr>
                        <a:t>JUMP</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7"/>
                  </a:ext>
                </a:extLst>
              </a:tr>
              <a:tr h="270030">
                <a:tc>
                  <a:txBody>
                    <a:bodyPr/>
                    <a:lstStyle/>
                    <a:p>
                      <a:pPr marL="0" marR="0" algn="ctr">
                        <a:spcBef>
                          <a:spcPts val="0"/>
                        </a:spcBef>
                        <a:spcAft>
                          <a:spcPts val="0"/>
                        </a:spcAft>
                      </a:pPr>
                      <a:r>
                        <a:rPr lang="en-US" sz="1400" dirty="0">
                          <a:effectLst/>
                        </a:rPr>
                        <a:t>HALT</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5892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Técnica</a:t>
            </a:r>
            <a:r>
              <a:rPr lang="en-US" dirty="0"/>
              <a:t> de Huffman</a:t>
            </a:r>
            <a:endParaRPr lang="es-NI" dirty="0"/>
          </a:p>
        </p:txBody>
      </p:sp>
      <p:sp>
        <p:nvSpPr>
          <p:cNvPr id="2" name="1 Marcador de contenido"/>
          <p:cNvSpPr>
            <a:spLocks noGrp="1"/>
          </p:cNvSpPr>
          <p:nvPr>
            <p:ph idx="1"/>
          </p:nvPr>
        </p:nvSpPr>
        <p:spPr>
          <a:xfrm>
            <a:off x="381001" y="1289303"/>
            <a:ext cx="8407893" cy="1282447"/>
          </a:xfrm>
        </p:spPr>
        <p:txBody>
          <a:bodyPr>
            <a:normAutofit fontScale="92500" lnSpcReduction="20000"/>
          </a:bodyPr>
          <a:lstStyle/>
          <a:p>
            <a:r>
              <a:rPr lang="en-US" dirty="0">
                <a:solidFill>
                  <a:schemeClr val="accent1">
                    <a:lumMod val="75000"/>
                  </a:schemeClr>
                </a:solidFill>
              </a:rPr>
              <a:t>1: </a:t>
            </a:r>
            <a:r>
              <a:rPr lang="en-US" dirty="0" err="1">
                <a:solidFill>
                  <a:srgbClr val="0070C0"/>
                </a:solidFill>
              </a:rPr>
              <a:t>Ordenar</a:t>
            </a:r>
            <a:r>
              <a:rPr lang="en-US" dirty="0">
                <a:solidFill>
                  <a:srgbClr val="0070C0"/>
                </a:solidFill>
              </a:rPr>
              <a:t> </a:t>
            </a:r>
            <a:r>
              <a:rPr lang="en-US" dirty="0" err="1">
                <a:solidFill>
                  <a:srgbClr val="0070C0"/>
                </a:solidFill>
              </a:rPr>
              <a:t>las</a:t>
            </a:r>
            <a:r>
              <a:rPr lang="en-US" dirty="0">
                <a:solidFill>
                  <a:srgbClr val="0070C0"/>
                </a:solidFill>
              </a:rPr>
              <a:t> </a:t>
            </a:r>
            <a:r>
              <a:rPr lang="en-US" dirty="0" err="1">
                <a:solidFill>
                  <a:srgbClr val="0070C0"/>
                </a:solidFill>
              </a:rPr>
              <a:t>operaciones</a:t>
            </a:r>
            <a:r>
              <a:rPr lang="en-US" dirty="0">
                <a:solidFill>
                  <a:srgbClr val="0070C0"/>
                </a:solidFill>
              </a:rPr>
              <a:t> de mayor a </a:t>
            </a:r>
            <a:r>
              <a:rPr lang="en-US" dirty="0" err="1">
                <a:solidFill>
                  <a:srgbClr val="0070C0"/>
                </a:solidFill>
              </a:rPr>
              <a:t>menor</a:t>
            </a:r>
            <a:r>
              <a:rPr lang="en-US" dirty="0">
                <a:solidFill>
                  <a:srgbClr val="0070C0"/>
                </a:solidFill>
              </a:rPr>
              <a:t> </a:t>
            </a:r>
            <a:r>
              <a:rPr lang="en-US" dirty="0" err="1">
                <a:solidFill>
                  <a:srgbClr val="0070C0"/>
                </a:solidFill>
              </a:rPr>
              <a:t>por</a:t>
            </a:r>
            <a:r>
              <a:rPr lang="en-US" dirty="0">
                <a:solidFill>
                  <a:srgbClr val="0070C0"/>
                </a:solidFill>
              </a:rPr>
              <a:t> </a:t>
            </a:r>
            <a:r>
              <a:rPr lang="en-US" dirty="0" err="1">
                <a:solidFill>
                  <a:srgbClr val="0070C0"/>
                </a:solidFill>
              </a:rPr>
              <a:t>su</a:t>
            </a:r>
            <a:r>
              <a:rPr lang="en-US" dirty="0">
                <a:solidFill>
                  <a:srgbClr val="0070C0"/>
                </a:solidFill>
              </a:rPr>
              <a:t> </a:t>
            </a:r>
            <a:r>
              <a:rPr lang="en-US" dirty="0" err="1">
                <a:solidFill>
                  <a:srgbClr val="0070C0"/>
                </a:solidFill>
              </a:rPr>
              <a:t>frecuencia</a:t>
            </a:r>
            <a:r>
              <a:rPr lang="en-US" dirty="0">
                <a:solidFill>
                  <a:srgbClr val="0070C0"/>
                </a:solidFill>
              </a:rPr>
              <a:t> </a:t>
            </a:r>
            <a:r>
              <a:rPr lang="en-US" dirty="0" err="1">
                <a:solidFill>
                  <a:srgbClr val="0070C0"/>
                </a:solidFill>
              </a:rPr>
              <a:t>relativa</a:t>
            </a:r>
            <a:r>
              <a:rPr lang="en-US" dirty="0">
                <a:solidFill>
                  <a:srgbClr val="0070C0"/>
                </a:solidFill>
              </a:rPr>
              <a:t> y de </a:t>
            </a:r>
            <a:r>
              <a:rPr lang="en-US" dirty="0" err="1">
                <a:solidFill>
                  <a:srgbClr val="0070C0"/>
                </a:solidFill>
              </a:rPr>
              <a:t>izquierda</a:t>
            </a:r>
            <a:r>
              <a:rPr lang="en-US" dirty="0">
                <a:solidFill>
                  <a:srgbClr val="0070C0"/>
                </a:solidFill>
              </a:rPr>
              <a:t> a </a:t>
            </a:r>
            <a:r>
              <a:rPr lang="en-US" dirty="0" err="1">
                <a:solidFill>
                  <a:srgbClr val="0070C0"/>
                </a:solidFill>
              </a:rPr>
              <a:t>derecha</a:t>
            </a:r>
            <a:r>
              <a:rPr lang="en-US" dirty="0">
                <a:solidFill>
                  <a:srgbClr val="0070C0"/>
                </a:solidFill>
              </a:rPr>
              <a:t>.</a:t>
            </a:r>
          </a:p>
          <a:p>
            <a:r>
              <a:rPr lang="en-US" dirty="0">
                <a:solidFill>
                  <a:schemeClr val="accent1">
                    <a:lumMod val="75000"/>
                  </a:schemeClr>
                </a:solidFill>
              </a:rPr>
              <a:t>2: </a:t>
            </a:r>
            <a:r>
              <a:rPr lang="en-US" dirty="0" err="1">
                <a:solidFill>
                  <a:srgbClr val="0070C0"/>
                </a:solidFill>
              </a:rPr>
              <a:t>Crear</a:t>
            </a:r>
            <a:r>
              <a:rPr lang="en-US" dirty="0">
                <a:solidFill>
                  <a:srgbClr val="0070C0"/>
                </a:solidFill>
              </a:rPr>
              <a:t> </a:t>
            </a:r>
            <a:r>
              <a:rPr lang="en-US" dirty="0" err="1">
                <a:solidFill>
                  <a:srgbClr val="0070C0"/>
                </a:solidFill>
              </a:rPr>
              <a:t>nodos</a:t>
            </a:r>
            <a:r>
              <a:rPr lang="en-US" dirty="0">
                <a:solidFill>
                  <a:srgbClr val="0070C0"/>
                </a:solidFill>
              </a:rPr>
              <a:t> de un </a:t>
            </a:r>
            <a:r>
              <a:rPr lang="en-US" dirty="0" err="1">
                <a:solidFill>
                  <a:srgbClr val="0070C0"/>
                </a:solidFill>
              </a:rPr>
              <a:t>árbol</a:t>
            </a:r>
            <a:r>
              <a:rPr lang="en-US" dirty="0">
                <a:solidFill>
                  <a:srgbClr val="0070C0"/>
                </a:solidFill>
              </a:rPr>
              <a:t> </a:t>
            </a:r>
            <a:r>
              <a:rPr lang="en-US" dirty="0" err="1">
                <a:solidFill>
                  <a:srgbClr val="0070C0"/>
                </a:solidFill>
              </a:rPr>
              <a:t>para</a:t>
            </a:r>
            <a:r>
              <a:rPr lang="en-US" dirty="0">
                <a:solidFill>
                  <a:srgbClr val="0070C0"/>
                </a:solidFill>
              </a:rPr>
              <a:t> </a:t>
            </a:r>
            <a:r>
              <a:rPr lang="en-US" dirty="0" err="1">
                <a:solidFill>
                  <a:srgbClr val="0070C0"/>
                </a:solidFill>
              </a:rPr>
              <a:t>cada</a:t>
            </a:r>
            <a:r>
              <a:rPr lang="en-US" dirty="0">
                <a:solidFill>
                  <a:srgbClr val="0070C0"/>
                </a:solidFill>
              </a:rPr>
              <a:t> </a:t>
            </a:r>
            <a:r>
              <a:rPr lang="en-US" dirty="0" err="1">
                <a:solidFill>
                  <a:srgbClr val="0070C0"/>
                </a:solidFill>
              </a:rPr>
              <a:t>operación</a:t>
            </a:r>
            <a:r>
              <a:rPr lang="en-US" dirty="0">
                <a:solidFill>
                  <a:srgbClr val="0070C0"/>
                </a:solidFill>
              </a:rPr>
              <a:t> </a:t>
            </a:r>
            <a:r>
              <a:rPr lang="en-US" dirty="0" err="1">
                <a:solidFill>
                  <a:srgbClr val="0070C0"/>
                </a:solidFill>
              </a:rPr>
              <a:t>poniendo</a:t>
            </a:r>
            <a:r>
              <a:rPr lang="en-US" dirty="0">
                <a:solidFill>
                  <a:srgbClr val="0070C0"/>
                </a:solidFill>
              </a:rPr>
              <a:t> </a:t>
            </a:r>
            <a:r>
              <a:rPr lang="en-US" dirty="0" err="1">
                <a:solidFill>
                  <a:srgbClr val="0070C0"/>
                </a:solidFill>
              </a:rPr>
              <a:t>su</a:t>
            </a:r>
            <a:r>
              <a:rPr lang="en-US" dirty="0">
                <a:solidFill>
                  <a:srgbClr val="0070C0"/>
                </a:solidFill>
              </a:rPr>
              <a:t> </a:t>
            </a:r>
            <a:r>
              <a:rPr lang="en-US" dirty="0" err="1">
                <a:solidFill>
                  <a:srgbClr val="0070C0"/>
                </a:solidFill>
              </a:rPr>
              <a:t>frecuencia</a:t>
            </a:r>
            <a:r>
              <a:rPr lang="en-US" dirty="0">
                <a:solidFill>
                  <a:srgbClr val="0070C0"/>
                </a:solidFill>
              </a:rPr>
              <a:t> </a:t>
            </a:r>
            <a:r>
              <a:rPr lang="en-US" dirty="0" err="1">
                <a:solidFill>
                  <a:srgbClr val="0070C0"/>
                </a:solidFill>
              </a:rPr>
              <a:t>relativa</a:t>
            </a:r>
            <a:r>
              <a:rPr lang="en-US" dirty="0">
                <a:solidFill>
                  <a:srgbClr val="0070C0"/>
                </a:solidFill>
              </a:rPr>
              <a:t> </a:t>
            </a:r>
            <a:r>
              <a:rPr lang="en-US" dirty="0" err="1">
                <a:solidFill>
                  <a:srgbClr val="0070C0"/>
                </a:solidFill>
              </a:rPr>
              <a:t>por</a:t>
            </a:r>
            <a:r>
              <a:rPr lang="en-US" dirty="0">
                <a:solidFill>
                  <a:srgbClr val="0070C0"/>
                </a:solidFill>
              </a:rPr>
              <a:t> peso.</a:t>
            </a:r>
          </a:p>
        </p:txBody>
      </p:sp>
      <p:sp>
        <p:nvSpPr>
          <p:cNvPr id="25" name="24 CuadroTexto"/>
          <p:cNvSpPr txBox="1"/>
          <p:nvPr/>
        </p:nvSpPr>
        <p:spPr>
          <a:xfrm>
            <a:off x="899592" y="2696213"/>
            <a:ext cx="7128792" cy="400110"/>
          </a:xfrm>
          <a:prstGeom prst="rect">
            <a:avLst/>
          </a:prstGeom>
          <a:noFill/>
        </p:spPr>
        <p:txBody>
          <a:bodyPr wrap="square" rtlCol="0">
            <a:spAutoFit/>
          </a:bodyPr>
          <a:lstStyle/>
          <a:p>
            <a:r>
              <a:rPr lang="en-US" sz="2000" b="1" dirty="0"/>
              <a:t>LOAD STORE  ADD  AND    NOT  RSHIFT  JUMP  HALT </a:t>
            </a:r>
            <a:endParaRPr lang="es-NI" sz="2000" b="1" dirty="0"/>
          </a:p>
        </p:txBody>
      </p:sp>
      <p:sp>
        <p:nvSpPr>
          <p:cNvPr id="26" name="25 Elipse"/>
          <p:cNvSpPr/>
          <p:nvPr/>
        </p:nvSpPr>
        <p:spPr>
          <a:xfrm>
            <a:off x="971600"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29" name="28 Elipse"/>
          <p:cNvSpPr/>
          <p:nvPr/>
        </p:nvSpPr>
        <p:spPr>
          <a:xfrm>
            <a:off x="1794549"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30" name="29 Elipse"/>
          <p:cNvSpPr/>
          <p:nvPr/>
        </p:nvSpPr>
        <p:spPr>
          <a:xfrm>
            <a:off x="2617498"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1" name="30 Elipse"/>
          <p:cNvSpPr/>
          <p:nvPr/>
        </p:nvSpPr>
        <p:spPr>
          <a:xfrm>
            <a:off x="3440447"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2" name="31 Elipse"/>
          <p:cNvSpPr/>
          <p:nvPr/>
        </p:nvSpPr>
        <p:spPr>
          <a:xfrm>
            <a:off x="4263396"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3" name="32 Elipse"/>
          <p:cNvSpPr/>
          <p:nvPr/>
        </p:nvSpPr>
        <p:spPr>
          <a:xfrm>
            <a:off x="5086345"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4" name="33 Elipse"/>
          <p:cNvSpPr/>
          <p:nvPr/>
        </p:nvSpPr>
        <p:spPr>
          <a:xfrm>
            <a:off x="5909294"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5" name="34 Elipse"/>
          <p:cNvSpPr/>
          <p:nvPr/>
        </p:nvSpPr>
        <p:spPr>
          <a:xfrm>
            <a:off x="6732240" y="3043868"/>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6" name="1 Marcador de contenido"/>
          <p:cNvSpPr txBox="1">
            <a:spLocks/>
          </p:cNvSpPr>
          <p:nvPr/>
        </p:nvSpPr>
        <p:spPr>
          <a:xfrm>
            <a:off x="419489" y="3939902"/>
            <a:ext cx="8407893" cy="850399"/>
          </a:xfrm>
          <a:prstGeom prst="rect">
            <a:avLst/>
          </a:prstGeom>
        </p:spPr>
        <p:txBody>
          <a:bodyPr vert="horz" lIns="91440" tIns="45720" rIns="91440" bIns="45720" rtlCol="0">
            <a:normAutofit fontScale="92500" lnSpcReduction="20000"/>
          </a:bodyPr>
          <a:lst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a:lstStyle>
          <a:p>
            <a:pPr fontAlgn="auto">
              <a:spcAft>
                <a:spcPts val="0"/>
              </a:spcAft>
            </a:pPr>
            <a:r>
              <a:rPr lang="en-US" dirty="0">
                <a:solidFill>
                  <a:schemeClr val="accent1">
                    <a:lumMod val="75000"/>
                  </a:schemeClr>
                </a:solidFill>
              </a:rPr>
              <a:t>3: </a:t>
            </a:r>
            <a:r>
              <a:rPr lang="es-NI" dirty="0">
                <a:solidFill>
                  <a:srgbClr val="0070C0"/>
                </a:solidFill>
              </a:rPr>
              <a:t>Asociar los nodos con el menor peso mediante suma para genera nuevos nodos, repetir hasta que no queden posibles asociaciones.</a:t>
            </a:r>
            <a:endParaRPr lang="en-US" dirty="0">
              <a:solidFill>
                <a:srgbClr val="0070C0"/>
              </a:solidFill>
            </a:endParaRPr>
          </a:p>
        </p:txBody>
      </p:sp>
    </p:spTree>
    <p:extLst>
      <p:ext uri="{BB962C8B-B14F-4D97-AF65-F5344CB8AC3E}">
        <p14:creationId xmlns:p14="http://schemas.microsoft.com/office/powerpoint/2010/main" val="10842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p:cTn id="11" dur="500" fill="hold"/>
                                        <p:tgtEl>
                                          <p:spTgt spid="25"/>
                                        </p:tgtEl>
                                        <p:attrNameLst>
                                          <p:attrName>ppt_w</p:attrName>
                                        </p:attrNameLst>
                                      </p:cBhvr>
                                      <p:tavLst>
                                        <p:tav tm="0">
                                          <p:val>
                                            <p:fltVal val="0"/>
                                          </p:val>
                                        </p:tav>
                                        <p:tav tm="100000">
                                          <p:val>
                                            <p:strVal val="#ppt_w"/>
                                          </p:val>
                                        </p:tav>
                                      </p:tavLst>
                                    </p:anim>
                                    <p:anim calcmode="lin" valueType="num">
                                      <p:cBhvr>
                                        <p:cTn id="12" dur="500" fill="hold"/>
                                        <p:tgtEl>
                                          <p:spTgt spid="25"/>
                                        </p:tgtEl>
                                        <p:attrNameLst>
                                          <p:attrName>ppt_h</p:attrName>
                                        </p:attrNameLst>
                                      </p:cBhvr>
                                      <p:tavLst>
                                        <p:tav tm="0">
                                          <p:val>
                                            <p:fltVal val="0"/>
                                          </p:val>
                                        </p:tav>
                                        <p:tav tm="100000">
                                          <p:val>
                                            <p:strVal val="#ppt_h"/>
                                          </p:val>
                                        </p:tav>
                                      </p:tavLst>
                                    </p:anim>
                                    <p:animEffect transition="in" filter="fade">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p:cTn id="22" dur="500" fill="hold"/>
                                        <p:tgtEl>
                                          <p:spTgt spid="26"/>
                                        </p:tgtEl>
                                        <p:attrNameLst>
                                          <p:attrName>ppt_w</p:attrName>
                                        </p:attrNameLst>
                                      </p:cBhvr>
                                      <p:tavLst>
                                        <p:tav tm="0">
                                          <p:val>
                                            <p:fltVal val="0"/>
                                          </p:val>
                                        </p:tav>
                                        <p:tav tm="100000">
                                          <p:val>
                                            <p:strVal val="#ppt_w"/>
                                          </p:val>
                                        </p:tav>
                                      </p:tavLst>
                                    </p:anim>
                                    <p:anim calcmode="lin" valueType="num">
                                      <p:cBhvr>
                                        <p:cTn id="23" dur="500" fill="hold"/>
                                        <p:tgtEl>
                                          <p:spTgt spid="26"/>
                                        </p:tgtEl>
                                        <p:attrNameLst>
                                          <p:attrName>ppt_h</p:attrName>
                                        </p:attrNameLst>
                                      </p:cBhvr>
                                      <p:tavLst>
                                        <p:tav tm="0">
                                          <p:val>
                                            <p:fltVal val="0"/>
                                          </p:val>
                                        </p:tav>
                                        <p:tav tm="100000">
                                          <p:val>
                                            <p:strVal val="#ppt_h"/>
                                          </p:val>
                                        </p:tav>
                                      </p:tavLst>
                                    </p:anim>
                                    <p:animEffect transition="in" filter="fade">
                                      <p:cBhvr>
                                        <p:cTn id="24" dur="500"/>
                                        <p:tgtEl>
                                          <p:spTgt spid="2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p:cTn id="27" dur="500" fill="hold"/>
                                        <p:tgtEl>
                                          <p:spTgt spid="29"/>
                                        </p:tgtEl>
                                        <p:attrNameLst>
                                          <p:attrName>ppt_w</p:attrName>
                                        </p:attrNameLst>
                                      </p:cBhvr>
                                      <p:tavLst>
                                        <p:tav tm="0">
                                          <p:val>
                                            <p:fltVal val="0"/>
                                          </p:val>
                                        </p:tav>
                                        <p:tav tm="100000">
                                          <p:val>
                                            <p:strVal val="#ppt_w"/>
                                          </p:val>
                                        </p:tav>
                                      </p:tavLst>
                                    </p:anim>
                                    <p:anim calcmode="lin" valueType="num">
                                      <p:cBhvr>
                                        <p:cTn id="28" dur="500" fill="hold"/>
                                        <p:tgtEl>
                                          <p:spTgt spid="29"/>
                                        </p:tgtEl>
                                        <p:attrNameLst>
                                          <p:attrName>ppt_h</p:attrName>
                                        </p:attrNameLst>
                                      </p:cBhvr>
                                      <p:tavLst>
                                        <p:tav tm="0">
                                          <p:val>
                                            <p:fltVal val="0"/>
                                          </p:val>
                                        </p:tav>
                                        <p:tav tm="100000">
                                          <p:val>
                                            <p:strVal val="#ppt_h"/>
                                          </p:val>
                                        </p:tav>
                                      </p:tavLst>
                                    </p:anim>
                                    <p:animEffect transition="in" filter="fade">
                                      <p:cBhvr>
                                        <p:cTn id="29" dur="500"/>
                                        <p:tgtEl>
                                          <p:spTgt spid="2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 calcmode="lin" valueType="num">
                                      <p:cBhvr>
                                        <p:cTn id="32" dur="500" fill="hold"/>
                                        <p:tgtEl>
                                          <p:spTgt spid="30"/>
                                        </p:tgtEl>
                                        <p:attrNameLst>
                                          <p:attrName>ppt_w</p:attrName>
                                        </p:attrNameLst>
                                      </p:cBhvr>
                                      <p:tavLst>
                                        <p:tav tm="0">
                                          <p:val>
                                            <p:fltVal val="0"/>
                                          </p:val>
                                        </p:tav>
                                        <p:tav tm="100000">
                                          <p:val>
                                            <p:strVal val="#ppt_w"/>
                                          </p:val>
                                        </p:tav>
                                      </p:tavLst>
                                    </p:anim>
                                    <p:anim calcmode="lin" valueType="num">
                                      <p:cBhvr>
                                        <p:cTn id="33" dur="500" fill="hold"/>
                                        <p:tgtEl>
                                          <p:spTgt spid="30"/>
                                        </p:tgtEl>
                                        <p:attrNameLst>
                                          <p:attrName>ppt_h</p:attrName>
                                        </p:attrNameLst>
                                      </p:cBhvr>
                                      <p:tavLst>
                                        <p:tav tm="0">
                                          <p:val>
                                            <p:fltVal val="0"/>
                                          </p:val>
                                        </p:tav>
                                        <p:tav tm="100000">
                                          <p:val>
                                            <p:strVal val="#ppt_h"/>
                                          </p:val>
                                        </p:tav>
                                      </p:tavLst>
                                    </p:anim>
                                    <p:animEffect transition="in" filter="fade">
                                      <p:cBhvr>
                                        <p:cTn id="34" dur="500"/>
                                        <p:tgtEl>
                                          <p:spTgt spid="3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p:cTn id="37" dur="500" fill="hold"/>
                                        <p:tgtEl>
                                          <p:spTgt spid="31"/>
                                        </p:tgtEl>
                                        <p:attrNameLst>
                                          <p:attrName>ppt_w</p:attrName>
                                        </p:attrNameLst>
                                      </p:cBhvr>
                                      <p:tavLst>
                                        <p:tav tm="0">
                                          <p:val>
                                            <p:fltVal val="0"/>
                                          </p:val>
                                        </p:tav>
                                        <p:tav tm="100000">
                                          <p:val>
                                            <p:strVal val="#ppt_w"/>
                                          </p:val>
                                        </p:tav>
                                      </p:tavLst>
                                    </p:anim>
                                    <p:anim calcmode="lin" valueType="num">
                                      <p:cBhvr>
                                        <p:cTn id="38" dur="500" fill="hold"/>
                                        <p:tgtEl>
                                          <p:spTgt spid="31"/>
                                        </p:tgtEl>
                                        <p:attrNameLst>
                                          <p:attrName>ppt_h</p:attrName>
                                        </p:attrNameLst>
                                      </p:cBhvr>
                                      <p:tavLst>
                                        <p:tav tm="0">
                                          <p:val>
                                            <p:fltVal val="0"/>
                                          </p:val>
                                        </p:tav>
                                        <p:tav tm="100000">
                                          <p:val>
                                            <p:strVal val="#ppt_h"/>
                                          </p:val>
                                        </p:tav>
                                      </p:tavLst>
                                    </p:anim>
                                    <p:animEffect transition="in" filter="fade">
                                      <p:cBhvr>
                                        <p:cTn id="39" dur="500"/>
                                        <p:tgtEl>
                                          <p:spTgt spid="3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500" fill="hold"/>
                                        <p:tgtEl>
                                          <p:spTgt spid="32"/>
                                        </p:tgtEl>
                                        <p:attrNameLst>
                                          <p:attrName>ppt_w</p:attrName>
                                        </p:attrNameLst>
                                      </p:cBhvr>
                                      <p:tavLst>
                                        <p:tav tm="0">
                                          <p:val>
                                            <p:fltVal val="0"/>
                                          </p:val>
                                        </p:tav>
                                        <p:tav tm="100000">
                                          <p:val>
                                            <p:strVal val="#ppt_w"/>
                                          </p:val>
                                        </p:tav>
                                      </p:tavLst>
                                    </p:anim>
                                    <p:anim calcmode="lin" valueType="num">
                                      <p:cBhvr>
                                        <p:cTn id="43" dur="500" fill="hold"/>
                                        <p:tgtEl>
                                          <p:spTgt spid="32"/>
                                        </p:tgtEl>
                                        <p:attrNameLst>
                                          <p:attrName>ppt_h</p:attrName>
                                        </p:attrNameLst>
                                      </p:cBhvr>
                                      <p:tavLst>
                                        <p:tav tm="0">
                                          <p:val>
                                            <p:fltVal val="0"/>
                                          </p:val>
                                        </p:tav>
                                        <p:tav tm="100000">
                                          <p:val>
                                            <p:strVal val="#ppt_h"/>
                                          </p:val>
                                        </p:tav>
                                      </p:tavLst>
                                    </p:anim>
                                    <p:animEffect transition="in" filter="fade">
                                      <p:cBhvr>
                                        <p:cTn id="44" dur="500"/>
                                        <p:tgtEl>
                                          <p:spTgt spid="3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p:cTn id="47" dur="500" fill="hold"/>
                                        <p:tgtEl>
                                          <p:spTgt spid="33"/>
                                        </p:tgtEl>
                                        <p:attrNameLst>
                                          <p:attrName>ppt_w</p:attrName>
                                        </p:attrNameLst>
                                      </p:cBhvr>
                                      <p:tavLst>
                                        <p:tav tm="0">
                                          <p:val>
                                            <p:fltVal val="0"/>
                                          </p:val>
                                        </p:tav>
                                        <p:tav tm="100000">
                                          <p:val>
                                            <p:strVal val="#ppt_w"/>
                                          </p:val>
                                        </p:tav>
                                      </p:tavLst>
                                    </p:anim>
                                    <p:anim calcmode="lin" valueType="num">
                                      <p:cBhvr>
                                        <p:cTn id="48" dur="500" fill="hold"/>
                                        <p:tgtEl>
                                          <p:spTgt spid="33"/>
                                        </p:tgtEl>
                                        <p:attrNameLst>
                                          <p:attrName>ppt_h</p:attrName>
                                        </p:attrNameLst>
                                      </p:cBhvr>
                                      <p:tavLst>
                                        <p:tav tm="0">
                                          <p:val>
                                            <p:fltVal val="0"/>
                                          </p:val>
                                        </p:tav>
                                        <p:tav tm="100000">
                                          <p:val>
                                            <p:strVal val="#ppt_h"/>
                                          </p:val>
                                        </p:tav>
                                      </p:tavLst>
                                    </p:anim>
                                    <p:animEffect transition="in" filter="fade">
                                      <p:cBhvr>
                                        <p:cTn id="49" dur="500"/>
                                        <p:tgtEl>
                                          <p:spTgt spid="3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p:cTn id="52" dur="500" fill="hold"/>
                                        <p:tgtEl>
                                          <p:spTgt spid="34"/>
                                        </p:tgtEl>
                                        <p:attrNameLst>
                                          <p:attrName>ppt_w</p:attrName>
                                        </p:attrNameLst>
                                      </p:cBhvr>
                                      <p:tavLst>
                                        <p:tav tm="0">
                                          <p:val>
                                            <p:fltVal val="0"/>
                                          </p:val>
                                        </p:tav>
                                        <p:tav tm="100000">
                                          <p:val>
                                            <p:strVal val="#ppt_w"/>
                                          </p:val>
                                        </p:tav>
                                      </p:tavLst>
                                    </p:anim>
                                    <p:anim calcmode="lin" valueType="num">
                                      <p:cBhvr>
                                        <p:cTn id="53" dur="500" fill="hold"/>
                                        <p:tgtEl>
                                          <p:spTgt spid="34"/>
                                        </p:tgtEl>
                                        <p:attrNameLst>
                                          <p:attrName>ppt_h</p:attrName>
                                        </p:attrNameLst>
                                      </p:cBhvr>
                                      <p:tavLst>
                                        <p:tav tm="0">
                                          <p:val>
                                            <p:fltVal val="0"/>
                                          </p:val>
                                        </p:tav>
                                        <p:tav tm="100000">
                                          <p:val>
                                            <p:strVal val="#ppt_h"/>
                                          </p:val>
                                        </p:tav>
                                      </p:tavLst>
                                    </p:anim>
                                    <p:animEffect transition="in" filter="fade">
                                      <p:cBhvr>
                                        <p:cTn id="54" dur="500"/>
                                        <p:tgtEl>
                                          <p:spTgt spid="3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 calcmode="lin" valueType="num">
                                      <p:cBhvr>
                                        <p:cTn id="57" dur="500" fill="hold"/>
                                        <p:tgtEl>
                                          <p:spTgt spid="35"/>
                                        </p:tgtEl>
                                        <p:attrNameLst>
                                          <p:attrName>ppt_w</p:attrName>
                                        </p:attrNameLst>
                                      </p:cBhvr>
                                      <p:tavLst>
                                        <p:tav tm="0">
                                          <p:val>
                                            <p:fltVal val="0"/>
                                          </p:val>
                                        </p:tav>
                                        <p:tav tm="100000">
                                          <p:val>
                                            <p:strVal val="#ppt_w"/>
                                          </p:val>
                                        </p:tav>
                                      </p:tavLst>
                                    </p:anim>
                                    <p:anim calcmode="lin" valueType="num">
                                      <p:cBhvr>
                                        <p:cTn id="58" dur="500" fill="hold"/>
                                        <p:tgtEl>
                                          <p:spTgt spid="35"/>
                                        </p:tgtEl>
                                        <p:attrNameLst>
                                          <p:attrName>ppt_h</p:attrName>
                                        </p:attrNameLst>
                                      </p:cBhvr>
                                      <p:tavLst>
                                        <p:tav tm="0">
                                          <p:val>
                                            <p:fltVal val="0"/>
                                          </p:val>
                                        </p:tav>
                                        <p:tav tm="100000">
                                          <p:val>
                                            <p:strVal val="#ppt_h"/>
                                          </p:val>
                                        </p:tav>
                                      </p:tavLst>
                                    </p:anim>
                                    <p:animEffect transition="in" filter="fade">
                                      <p:cBhvr>
                                        <p:cTn id="59" dur="500"/>
                                        <p:tgtEl>
                                          <p:spTgt spid="35"/>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5" grpId="0"/>
      <p:bldP spid="26" grpId="0" animBg="1"/>
      <p:bldP spid="29" grpId="0" animBg="1"/>
      <p:bldP spid="30" grpId="0" animBg="1"/>
      <p:bldP spid="31" grpId="0" animBg="1"/>
      <p:bldP spid="32" grpId="0" animBg="1"/>
      <p:bldP spid="33" grpId="0" animBg="1"/>
      <p:bldP spid="34" grpId="0" animBg="1"/>
      <p:bldP spid="35" grpId="0" animBg="1"/>
      <p:bldP spid="3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6 Tabla">
            <a:extLst>
              <a:ext uri="{FF2B5EF4-FFF2-40B4-BE49-F238E27FC236}">
                <a16:creationId xmlns:a16="http://schemas.microsoft.com/office/drawing/2014/main" id="{76F48287-99C7-46D3-BB07-89AD37E96875}"/>
              </a:ext>
            </a:extLst>
          </p:cNvPr>
          <p:cNvGraphicFramePr>
            <a:graphicFrameLocks noGrp="1"/>
          </p:cNvGraphicFramePr>
          <p:nvPr>
            <p:extLst>
              <p:ext uri="{D42A27DB-BD31-4B8C-83A1-F6EECF244321}">
                <p14:modId xmlns:p14="http://schemas.microsoft.com/office/powerpoint/2010/main" val="149968393"/>
              </p:ext>
            </p:extLst>
          </p:nvPr>
        </p:nvGraphicFramePr>
        <p:xfrm>
          <a:off x="467544" y="771550"/>
          <a:ext cx="8064896" cy="1982680"/>
        </p:xfrm>
        <a:graphic>
          <a:graphicData uri="http://schemas.openxmlformats.org/drawingml/2006/table">
            <a:tbl>
              <a:tblPr firstRow="1" firstCol="1" bandRow="1" bandCol="1">
                <a:tableStyleId>{5C22544A-7EE6-4342-B048-85BDC9FD1C3A}</a:tableStyleId>
              </a:tblPr>
              <a:tblGrid>
                <a:gridCol w="2816315">
                  <a:extLst>
                    <a:ext uri="{9D8B030D-6E8A-4147-A177-3AD203B41FA5}">
                      <a16:colId xmlns:a16="http://schemas.microsoft.com/office/drawing/2014/main" val="20000"/>
                    </a:ext>
                  </a:extLst>
                </a:gridCol>
                <a:gridCol w="5248581">
                  <a:extLst>
                    <a:ext uri="{9D8B030D-6E8A-4147-A177-3AD203B41FA5}">
                      <a16:colId xmlns:a16="http://schemas.microsoft.com/office/drawing/2014/main" val="20001"/>
                    </a:ext>
                  </a:extLst>
                </a:gridCol>
              </a:tblGrid>
              <a:tr h="275800">
                <a:tc>
                  <a:txBody>
                    <a:bodyPr/>
                    <a:lstStyle/>
                    <a:p>
                      <a:pPr marL="0" marR="0" algn="ctr">
                        <a:spcBef>
                          <a:spcPts val="0"/>
                        </a:spcBef>
                        <a:spcAft>
                          <a:spcPts val="0"/>
                        </a:spcAft>
                      </a:pPr>
                      <a:r>
                        <a:rPr lang="en-US" sz="1200" dirty="0" err="1">
                          <a:effectLst/>
                        </a:rPr>
                        <a:t>Nemónicos</a:t>
                      </a:r>
                      <a:r>
                        <a:rPr lang="en-US" sz="1200" dirty="0">
                          <a:effectLst/>
                        </a:rPr>
                        <a:t> de </a:t>
                      </a:r>
                      <a:r>
                        <a:rPr lang="en-US" sz="1200" dirty="0" err="1">
                          <a:effectLst/>
                        </a:rPr>
                        <a:t>Instrucciones</a:t>
                      </a:r>
                      <a:endParaRPr lang="es-NI" sz="16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200" dirty="0" err="1">
                          <a:effectLst/>
                        </a:rPr>
                        <a:t>Frecuencia</a:t>
                      </a:r>
                      <a:r>
                        <a:rPr lang="en-US" sz="1200" dirty="0">
                          <a:effectLst/>
                        </a:rPr>
                        <a:t> </a:t>
                      </a:r>
                      <a:r>
                        <a:rPr lang="en-US" sz="1200" dirty="0" err="1">
                          <a:effectLst/>
                        </a:rPr>
                        <a:t>Relativa</a:t>
                      </a:r>
                      <a:endParaRPr lang="es-NI" sz="1600" dirty="0">
                        <a:effectLst/>
                        <a:latin typeface="Garamond"/>
                        <a:ea typeface="Times New Roman"/>
                        <a:cs typeface="Arial"/>
                      </a:endParaRPr>
                    </a:p>
                  </a:txBody>
                  <a:tcPr marL="68580" marR="68580" marT="0" marB="0"/>
                </a:tc>
                <a:extLst>
                  <a:ext uri="{0D108BD9-81ED-4DB2-BD59-A6C34878D82A}">
                    <a16:rowId xmlns:a16="http://schemas.microsoft.com/office/drawing/2014/main" val="10000"/>
                  </a:ext>
                </a:extLst>
              </a:tr>
              <a:tr h="160883">
                <a:tc>
                  <a:txBody>
                    <a:bodyPr/>
                    <a:lstStyle/>
                    <a:p>
                      <a:pPr marL="0" marR="0" algn="ctr">
                        <a:spcBef>
                          <a:spcPts val="0"/>
                        </a:spcBef>
                        <a:spcAft>
                          <a:spcPts val="0"/>
                        </a:spcAft>
                      </a:pPr>
                      <a:r>
                        <a:rPr lang="en-US" sz="1400" dirty="0">
                          <a:effectLst/>
                        </a:rPr>
                        <a:t>LOAD</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1/4</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1"/>
                  </a:ext>
                </a:extLst>
              </a:tr>
              <a:tr h="160883">
                <a:tc>
                  <a:txBody>
                    <a:bodyPr/>
                    <a:lstStyle/>
                    <a:p>
                      <a:pPr marL="0" marR="0" algn="ctr">
                        <a:spcBef>
                          <a:spcPts val="0"/>
                        </a:spcBef>
                        <a:spcAft>
                          <a:spcPts val="0"/>
                        </a:spcAft>
                      </a:pPr>
                      <a:r>
                        <a:rPr lang="en-US" sz="1400" dirty="0">
                          <a:effectLst/>
                        </a:rPr>
                        <a:t>STORE</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a:effectLst/>
                        </a:rPr>
                        <a:t>1/4</a:t>
                      </a:r>
                      <a:endParaRPr lang="es-NI" sz="1400">
                        <a:effectLst/>
                        <a:latin typeface="Garamond"/>
                        <a:ea typeface="Times New Roman"/>
                        <a:cs typeface="Arial"/>
                      </a:endParaRPr>
                    </a:p>
                  </a:txBody>
                  <a:tcPr marL="68580" marR="68580" marT="0" marB="0"/>
                </a:tc>
                <a:extLst>
                  <a:ext uri="{0D108BD9-81ED-4DB2-BD59-A6C34878D82A}">
                    <a16:rowId xmlns:a16="http://schemas.microsoft.com/office/drawing/2014/main" val="10002"/>
                  </a:ext>
                </a:extLst>
              </a:tr>
              <a:tr h="160883">
                <a:tc>
                  <a:txBody>
                    <a:bodyPr/>
                    <a:lstStyle/>
                    <a:p>
                      <a:pPr marL="0" marR="0" algn="ctr">
                        <a:spcBef>
                          <a:spcPts val="0"/>
                        </a:spcBef>
                        <a:spcAft>
                          <a:spcPts val="0"/>
                        </a:spcAft>
                      </a:pPr>
                      <a:r>
                        <a:rPr lang="en-US" sz="1400" dirty="0">
                          <a:effectLst/>
                        </a:rPr>
                        <a:t>ADD</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1/8</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3"/>
                  </a:ext>
                </a:extLst>
              </a:tr>
              <a:tr h="160883">
                <a:tc>
                  <a:txBody>
                    <a:bodyPr/>
                    <a:lstStyle/>
                    <a:p>
                      <a:pPr marL="0" marR="0" algn="ctr">
                        <a:spcBef>
                          <a:spcPts val="0"/>
                        </a:spcBef>
                        <a:spcAft>
                          <a:spcPts val="0"/>
                        </a:spcAft>
                      </a:pPr>
                      <a:r>
                        <a:rPr lang="en-US" sz="1400" dirty="0">
                          <a:effectLst/>
                        </a:rPr>
                        <a:t>AND</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1/8</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4"/>
                  </a:ext>
                </a:extLst>
              </a:tr>
              <a:tr h="160883">
                <a:tc>
                  <a:txBody>
                    <a:bodyPr/>
                    <a:lstStyle/>
                    <a:p>
                      <a:pPr marL="0" marR="0" algn="ctr">
                        <a:spcBef>
                          <a:spcPts val="0"/>
                        </a:spcBef>
                        <a:spcAft>
                          <a:spcPts val="0"/>
                        </a:spcAft>
                      </a:pPr>
                      <a:r>
                        <a:rPr lang="en-US" sz="1400" dirty="0">
                          <a:effectLst/>
                        </a:rPr>
                        <a:t>NOT</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5"/>
                  </a:ext>
                </a:extLst>
              </a:tr>
              <a:tr h="160883">
                <a:tc>
                  <a:txBody>
                    <a:bodyPr/>
                    <a:lstStyle/>
                    <a:p>
                      <a:pPr marL="0" marR="0" algn="ctr">
                        <a:spcBef>
                          <a:spcPts val="0"/>
                        </a:spcBef>
                        <a:spcAft>
                          <a:spcPts val="0"/>
                        </a:spcAft>
                      </a:pPr>
                      <a:r>
                        <a:rPr lang="en-US" sz="1400" dirty="0">
                          <a:effectLst/>
                        </a:rPr>
                        <a:t>RSHIFT</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6"/>
                  </a:ext>
                </a:extLst>
              </a:tr>
              <a:tr h="160883">
                <a:tc>
                  <a:txBody>
                    <a:bodyPr/>
                    <a:lstStyle/>
                    <a:p>
                      <a:pPr marL="0" marR="0" algn="ctr">
                        <a:spcBef>
                          <a:spcPts val="0"/>
                        </a:spcBef>
                        <a:spcAft>
                          <a:spcPts val="0"/>
                        </a:spcAft>
                      </a:pPr>
                      <a:r>
                        <a:rPr lang="en-US" sz="1400" dirty="0">
                          <a:effectLst/>
                        </a:rPr>
                        <a:t>JUMP</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7"/>
                  </a:ext>
                </a:extLst>
              </a:tr>
              <a:tr h="160883">
                <a:tc>
                  <a:txBody>
                    <a:bodyPr/>
                    <a:lstStyle/>
                    <a:p>
                      <a:pPr marL="0" marR="0" algn="ctr">
                        <a:spcBef>
                          <a:spcPts val="0"/>
                        </a:spcBef>
                        <a:spcAft>
                          <a:spcPts val="0"/>
                        </a:spcAft>
                      </a:pPr>
                      <a:r>
                        <a:rPr lang="en-US" sz="1400" dirty="0">
                          <a:effectLst/>
                        </a:rPr>
                        <a:t>HALT</a:t>
                      </a:r>
                      <a:endParaRPr lang="es-NI" sz="1400" dirty="0">
                        <a:effectLst/>
                        <a:latin typeface="Garamond"/>
                        <a:ea typeface="Times New Roman"/>
                        <a:cs typeface="Arial"/>
                      </a:endParaRPr>
                    </a:p>
                  </a:txBody>
                  <a:tcPr marL="68580" marR="68580" marT="0" marB="0"/>
                </a:tc>
                <a:tc>
                  <a:txBody>
                    <a:bodyPr/>
                    <a:lstStyle/>
                    <a:p>
                      <a:pPr marL="0" marR="0" algn="ctr">
                        <a:spcBef>
                          <a:spcPts val="0"/>
                        </a:spcBef>
                        <a:spcAft>
                          <a:spcPts val="0"/>
                        </a:spcAft>
                      </a:pPr>
                      <a:r>
                        <a:rPr lang="en-US" sz="1400" dirty="0">
                          <a:effectLst/>
                        </a:rPr>
                        <a:t>1/16</a:t>
                      </a:r>
                      <a:endParaRPr lang="es-NI" sz="1400" dirty="0">
                        <a:effectLst/>
                        <a:latin typeface="Garamond"/>
                        <a:ea typeface="Times New Roman"/>
                        <a:cs typeface="Arial"/>
                      </a:endParaRPr>
                    </a:p>
                  </a:txBody>
                  <a:tcPr marL="68580" marR="6858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7758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Técnica</a:t>
            </a:r>
            <a:r>
              <a:rPr lang="en-US" dirty="0"/>
              <a:t> de Huffman</a:t>
            </a:r>
            <a:endParaRPr lang="es-NI" dirty="0"/>
          </a:p>
        </p:txBody>
      </p:sp>
      <p:sp>
        <p:nvSpPr>
          <p:cNvPr id="25" name="24 CuadroTexto"/>
          <p:cNvSpPr txBox="1"/>
          <p:nvPr/>
        </p:nvSpPr>
        <p:spPr>
          <a:xfrm>
            <a:off x="899592" y="1203598"/>
            <a:ext cx="7128792" cy="400110"/>
          </a:xfrm>
          <a:prstGeom prst="rect">
            <a:avLst/>
          </a:prstGeom>
          <a:noFill/>
        </p:spPr>
        <p:txBody>
          <a:bodyPr wrap="square" rtlCol="0">
            <a:spAutoFit/>
          </a:bodyPr>
          <a:lstStyle/>
          <a:p>
            <a:r>
              <a:rPr lang="en-US" sz="2000" b="1" dirty="0"/>
              <a:t>LOAD STORE  ADD  AND    NOT  RSHIFT  JUMP  HALT </a:t>
            </a:r>
            <a:endParaRPr lang="es-NI" sz="2000" b="1" dirty="0"/>
          </a:p>
        </p:txBody>
      </p:sp>
      <p:sp>
        <p:nvSpPr>
          <p:cNvPr id="26" name="25 Elipse"/>
          <p:cNvSpPr/>
          <p:nvPr/>
        </p:nvSpPr>
        <p:spPr>
          <a:xfrm>
            <a:off x="971600"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29" name="28 Elipse"/>
          <p:cNvSpPr/>
          <p:nvPr/>
        </p:nvSpPr>
        <p:spPr>
          <a:xfrm>
            <a:off x="1794549"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30" name="29 Elipse"/>
          <p:cNvSpPr/>
          <p:nvPr/>
        </p:nvSpPr>
        <p:spPr>
          <a:xfrm>
            <a:off x="2617498"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1" name="30 Elipse"/>
          <p:cNvSpPr/>
          <p:nvPr/>
        </p:nvSpPr>
        <p:spPr>
          <a:xfrm>
            <a:off x="3440447"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2" name="31 Elipse"/>
          <p:cNvSpPr/>
          <p:nvPr/>
        </p:nvSpPr>
        <p:spPr>
          <a:xfrm>
            <a:off x="4263396"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3" name="32 Elipse"/>
          <p:cNvSpPr/>
          <p:nvPr/>
        </p:nvSpPr>
        <p:spPr>
          <a:xfrm>
            <a:off x="5086345"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4" name="33 Elipse"/>
          <p:cNvSpPr/>
          <p:nvPr/>
        </p:nvSpPr>
        <p:spPr>
          <a:xfrm>
            <a:off x="5909294"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5" name="34 Elipse"/>
          <p:cNvSpPr/>
          <p:nvPr/>
        </p:nvSpPr>
        <p:spPr>
          <a:xfrm>
            <a:off x="6732240"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15" name="14 Elipse"/>
          <p:cNvSpPr/>
          <p:nvPr/>
        </p:nvSpPr>
        <p:spPr>
          <a:xfrm>
            <a:off x="6372200" y="2408777"/>
            <a:ext cx="720080" cy="53599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t>1/8</a:t>
            </a:r>
            <a:endParaRPr lang="es-NI" sz="1200" dirty="0"/>
          </a:p>
        </p:txBody>
      </p:sp>
      <p:cxnSp>
        <p:nvCxnSpPr>
          <p:cNvPr id="6" name="5 Conector recto"/>
          <p:cNvCxnSpPr>
            <a:stCxn id="35" idx="4"/>
            <a:endCxn id="15" idx="0"/>
          </p:cNvCxnSpPr>
          <p:nvPr/>
        </p:nvCxnSpPr>
        <p:spPr>
          <a:xfrm flipH="1">
            <a:off x="6732240" y="2087247"/>
            <a:ext cx="360040" cy="321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a:stCxn id="34" idx="4"/>
            <a:endCxn id="15" idx="0"/>
          </p:cNvCxnSpPr>
          <p:nvPr/>
        </p:nvCxnSpPr>
        <p:spPr>
          <a:xfrm>
            <a:off x="6269334" y="2087247"/>
            <a:ext cx="462906" cy="3215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19 Elipse"/>
          <p:cNvSpPr/>
          <p:nvPr/>
        </p:nvSpPr>
        <p:spPr>
          <a:xfrm>
            <a:off x="4716016" y="2418484"/>
            <a:ext cx="720080" cy="53599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t>1/8</a:t>
            </a:r>
            <a:endParaRPr lang="es-NI" sz="1200" dirty="0"/>
          </a:p>
        </p:txBody>
      </p:sp>
      <p:cxnSp>
        <p:nvCxnSpPr>
          <p:cNvPr id="21" name="20 Conector recto"/>
          <p:cNvCxnSpPr>
            <a:endCxn id="20" idx="0"/>
          </p:cNvCxnSpPr>
          <p:nvPr/>
        </p:nvCxnSpPr>
        <p:spPr>
          <a:xfrm flipH="1">
            <a:off x="5076056" y="2096954"/>
            <a:ext cx="360040" cy="321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a:endCxn id="20" idx="0"/>
          </p:cNvCxnSpPr>
          <p:nvPr/>
        </p:nvCxnSpPr>
        <p:spPr>
          <a:xfrm>
            <a:off x="4613150" y="2096954"/>
            <a:ext cx="462906" cy="321530"/>
          </a:xfrm>
          <a:prstGeom prst="line">
            <a:avLst/>
          </a:prstGeom>
        </p:spPr>
        <p:style>
          <a:lnRef idx="1">
            <a:schemeClr val="accent1"/>
          </a:lnRef>
          <a:fillRef idx="0">
            <a:schemeClr val="accent1"/>
          </a:fillRef>
          <a:effectRef idx="0">
            <a:schemeClr val="accent1"/>
          </a:effectRef>
          <a:fontRef idx="minor">
            <a:schemeClr val="tx1"/>
          </a:fontRef>
        </p:style>
      </p:cxnSp>
      <p:sp>
        <p:nvSpPr>
          <p:cNvPr id="23" name="22 Elipse"/>
          <p:cNvSpPr/>
          <p:nvPr/>
        </p:nvSpPr>
        <p:spPr>
          <a:xfrm>
            <a:off x="5549462" y="3147814"/>
            <a:ext cx="720080" cy="5359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1/4</a:t>
            </a:r>
            <a:endParaRPr lang="es-NI" sz="1200" dirty="0"/>
          </a:p>
        </p:txBody>
      </p:sp>
      <p:cxnSp>
        <p:nvCxnSpPr>
          <p:cNvPr id="10" name="9 Conector recto"/>
          <p:cNvCxnSpPr>
            <a:stCxn id="15" idx="4"/>
            <a:endCxn id="23" idx="0"/>
          </p:cNvCxnSpPr>
          <p:nvPr/>
        </p:nvCxnSpPr>
        <p:spPr>
          <a:xfrm flipH="1">
            <a:off x="5909502" y="2944771"/>
            <a:ext cx="822738" cy="2030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a:stCxn id="20" idx="4"/>
            <a:endCxn id="23" idx="0"/>
          </p:cNvCxnSpPr>
          <p:nvPr/>
        </p:nvCxnSpPr>
        <p:spPr>
          <a:xfrm>
            <a:off x="5076056" y="2954478"/>
            <a:ext cx="833446" cy="193336"/>
          </a:xfrm>
          <a:prstGeom prst="line">
            <a:avLst/>
          </a:prstGeom>
        </p:spPr>
        <p:style>
          <a:lnRef idx="1">
            <a:schemeClr val="accent1"/>
          </a:lnRef>
          <a:fillRef idx="0">
            <a:schemeClr val="accent1"/>
          </a:fillRef>
          <a:effectRef idx="0">
            <a:schemeClr val="accent1"/>
          </a:effectRef>
          <a:fontRef idx="minor">
            <a:schemeClr val="tx1"/>
          </a:fontRef>
        </p:style>
      </p:cxnSp>
      <p:sp>
        <p:nvSpPr>
          <p:cNvPr id="37" name="36 Elipse"/>
          <p:cNvSpPr/>
          <p:nvPr/>
        </p:nvSpPr>
        <p:spPr>
          <a:xfrm>
            <a:off x="3062554" y="2355726"/>
            <a:ext cx="720080" cy="5359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1/4</a:t>
            </a:r>
            <a:endParaRPr lang="es-NI" sz="1200" dirty="0"/>
          </a:p>
        </p:txBody>
      </p:sp>
      <p:cxnSp>
        <p:nvCxnSpPr>
          <p:cNvPr id="14" name="13 Conector recto"/>
          <p:cNvCxnSpPr>
            <a:stCxn id="31" idx="4"/>
            <a:endCxn id="37" idx="0"/>
          </p:cNvCxnSpPr>
          <p:nvPr/>
        </p:nvCxnSpPr>
        <p:spPr>
          <a:xfrm flipH="1">
            <a:off x="3422594" y="2087247"/>
            <a:ext cx="377893" cy="268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a:stCxn id="30" idx="4"/>
            <a:endCxn id="37" idx="0"/>
          </p:cNvCxnSpPr>
          <p:nvPr/>
        </p:nvCxnSpPr>
        <p:spPr>
          <a:xfrm>
            <a:off x="2977538" y="2087247"/>
            <a:ext cx="445056" cy="268479"/>
          </a:xfrm>
          <a:prstGeom prst="line">
            <a:avLst/>
          </a:prstGeom>
        </p:spPr>
        <p:style>
          <a:lnRef idx="1">
            <a:schemeClr val="accent1"/>
          </a:lnRef>
          <a:fillRef idx="0">
            <a:schemeClr val="accent1"/>
          </a:fillRef>
          <a:effectRef idx="0">
            <a:schemeClr val="accent1"/>
          </a:effectRef>
          <a:fontRef idx="minor">
            <a:schemeClr val="tx1"/>
          </a:fontRef>
        </p:style>
      </p:cxnSp>
      <p:sp>
        <p:nvSpPr>
          <p:cNvPr id="38" name="37 Elipse"/>
          <p:cNvSpPr/>
          <p:nvPr/>
        </p:nvSpPr>
        <p:spPr>
          <a:xfrm>
            <a:off x="3995936" y="3835956"/>
            <a:ext cx="720080" cy="53599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1/2</a:t>
            </a:r>
            <a:endParaRPr lang="es-NI" sz="1200" dirty="0"/>
          </a:p>
        </p:txBody>
      </p:sp>
      <p:cxnSp>
        <p:nvCxnSpPr>
          <p:cNvPr id="19" name="18 Conector recto"/>
          <p:cNvCxnSpPr>
            <a:stCxn id="23" idx="3"/>
            <a:endCxn id="38" idx="0"/>
          </p:cNvCxnSpPr>
          <p:nvPr/>
        </p:nvCxnSpPr>
        <p:spPr>
          <a:xfrm flipH="1">
            <a:off x="4355976" y="3605313"/>
            <a:ext cx="1298939" cy="23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40 Conector recto"/>
          <p:cNvCxnSpPr>
            <a:stCxn id="37" idx="4"/>
            <a:endCxn id="38" idx="0"/>
          </p:cNvCxnSpPr>
          <p:nvPr/>
        </p:nvCxnSpPr>
        <p:spPr>
          <a:xfrm>
            <a:off x="3422594" y="2891720"/>
            <a:ext cx="933382" cy="944236"/>
          </a:xfrm>
          <a:prstGeom prst="line">
            <a:avLst/>
          </a:prstGeom>
        </p:spPr>
        <p:style>
          <a:lnRef idx="1">
            <a:schemeClr val="accent1"/>
          </a:lnRef>
          <a:fillRef idx="0">
            <a:schemeClr val="accent1"/>
          </a:fillRef>
          <a:effectRef idx="0">
            <a:schemeClr val="accent1"/>
          </a:effectRef>
          <a:fontRef idx="minor">
            <a:schemeClr val="tx1"/>
          </a:fontRef>
        </p:style>
      </p:cxnSp>
      <p:sp>
        <p:nvSpPr>
          <p:cNvPr id="42" name="41 Elipse"/>
          <p:cNvSpPr/>
          <p:nvPr/>
        </p:nvSpPr>
        <p:spPr>
          <a:xfrm>
            <a:off x="1434509" y="2382800"/>
            <a:ext cx="720080" cy="53599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1/2</a:t>
            </a:r>
            <a:endParaRPr lang="es-NI" sz="1200" dirty="0"/>
          </a:p>
        </p:txBody>
      </p:sp>
      <p:sp>
        <p:nvSpPr>
          <p:cNvPr id="43" name="42 Elipse"/>
          <p:cNvSpPr/>
          <p:nvPr/>
        </p:nvSpPr>
        <p:spPr>
          <a:xfrm>
            <a:off x="3080407" y="4494196"/>
            <a:ext cx="720080" cy="535994"/>
          </a:xfrm>
          <a:prstGeom prst="ellipse">
            <a:avLst/>
          </a:prstGeom>
          <a:solidFill>
            <a:schemeClr val="accent1">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a:t>
            </a:r>
            <a:endParaRPr lang="es-NI" sz="1200" dirty="0"/>
          </a:p>
        </p:txBody>
      </p:sp>
      <p:cxnSp>
        <p:nvCxnSpPr>
          <p:cNvPr id="45" name="44 Conector recto"/>
          <p:cNvCxnSpPr>
            <a:stCxn id="29" idx="4"/>
            <a:endCxn id="42" idx="0"/>
          </p:cNvCxnSpPr>
          <p:nvPr/>
        </p:nvCxnSpPr>
        <p:spPr>
          <a:xfrm flipH="1">
            <a:off x="1794549" y="2087247"/>
            <a:ext cx="360040" cy="295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46 Conector recto"/>
          <p:cNvCxnSpPr>
            <a:stCxn id="26" idx="4"/>
            <a:endCxn id="42" idx="0"/>
          </p:cNvCxnSpPr>
          <p:nvPr/>
        </p:nvCxnSpPr>
        <p:spPr>
          <a:xfrm>
            <a:off x="1331640" y="2087247"/>
            <a:ext cx="462909" cy="295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48 Conector recto"/>
          <p:cNvCxnSpPr>
            <a:stCxn id="38" idx="3"/>
            <a:endCxn id="43" idx="0"/>
          </p:cNvCxnSpPr>
          <p:nvPr/>
        </p:nvCxnSpPr>
        <p:spPr>
          <a:xfrm flipH="1">
            <a:off x="3440447" y="4293455"/>
            <a:ext cx="660942" cy="2007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50 Conector recto"/>
          <p:cNvCxnSpPr>
            <a:stCxn id="42" idx="4"/>
            <a:endCxn id="43" idx="0"/>
          </p:cNvCxnSpPr>
          <p:nvPr/>
        </p:nvCxnSpPr>
        <p:spPr>
          <a:xfrm>
            <a:off x="1794549" y="2918794"/>
            <a:ext cx="1645898" cy="157540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710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par>
                          <p:cTn id="11" fill="hold">
                            <p:stCondLst>
                              <p:cond delay="500"/>
                            </p:stCondLst>
                            <p:childTnLst>
                              <p:par>
                                <p:cTn id="12" presetID="53" presetClass="entr" presetSubtype="16" fill="hold" grpId="0" nodeType="afterEffect">
                                  <p:stCondLst>
                                    <p:cond delay="25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up)">
                                      <p:cBhvr>
                                        <p:cTn id="21" dur="500"/>
                                        <p:tgtEl>
                                          <p:spTgt spid="22"/>
                                        </p:tgtEl>
                                      </p:cBhvr>
                                    </p:animEffect>
                                  </p:childTnLst>
                                </p:cTn>
                              </p:par>
                              <p:par>
                                <p:cTn id="22" presetID="22" presetClass="entr" presetSubtype="1"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up)">
                                      <p:cBhvr>
                                        <p:cTn id="24" dur="500"/>
                                        <p:tgtEl>
                                          <p:spTgt spid="21"/>
                                        </p:tgtEl>
                                      </p:cBhvr>
                                    </p:animEffect>
                                  </p:childTnLst>
                                </p:cTn>
                              </p:par>
                            </p:childTnLst>
                          </p:cTn>
                        </p:par>
                        <p:par>
                          <p:cTn id="25" fill="hold">
                            <p:stCondLst>
                              <p:cond delay="500"/>
                            </p:stCondLst>
                            <p:childTnLst>
                              <p:par>
                                <p:cTn id="26" presetID="53" presetClass="entr" presetSubtype="16" fill="hold" grpId="0" nodeType="afterEffect">
                                  <p:stCondLst>
                                    <p:cond delay="25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par>
                                <p:cTn id="36" presetID="22" presetClass="entr" presetSubtype="1"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500"/>
                                        <p:tgtEl>
                                          <p:spTgt spid="12"/>
                                        </p:tgtEl>
                                      </p:cBhvr>
                                    </p:animEffect>
                                  </p:childTnLst>
                                </p:cTn>
                              </p:par>
                            </p:childTnLst>
                          </p:cTn>
                        </p:par>
                        <p:par>
                          <p:cTn id="39" fill="hold">
                            <p:stCondLst>
                              <p:cond delay="500"/>
                            </p:stCondLst>
                            <p:childTnLst>
                              <p:par>
                                <p:cTn id="40" presetID="53" presetClass="entr" presetSubtype="16" fill="hold" grpId="0" nodeType="afterEffect">
                                  <p:stCondLst>
                                    <p:cond delay="25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up)">
                                      <p:cBhvr>
                                        <p:cTn id="49" dur="500"/>
                                        <p:tgtEl>
                                          <p:spTgt spid="17"/>
                                        </p:tgtEl>
                                      </p:cBhvr>
                                    </p:animEffect>
                                  </p:childTnLst>
                                </p:cTn>
                              </p:par>
                              <p:par>
                                <p:cTn id="50" presetID="22" presetClass="entr" presetSubtype="1"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up)">
                                      <p:cBhvr>
                                        <p:cTn id="52" dur="500"/>
                                        <p:tgtEl>
                                          <p:spTgt spid="14"/>
                                        </p:tgtEl>
                                      </p:cBhvr>
                                    </p:animEffect>
                                  </p:childTnLst>
                                </p:cTn>
                              </p:par>
                            </p:childTnLst>
                          </p:cTn>
                        </p:par>
                        <p:par>
                          <p:cTn id="53" fill="hold">
                            <p:stCondLst>
                              <p:cond delay="500"/>
                            </p:stCondLst>
                            <p:childTnLst>
                              <p:par>
                                <p:cTn id="54" presetID="53" presetClass="entr" presetSubtype="16" fill="hold" grpId="0" nodeType="afterEffect">
                                  <p:stCondLst>
                                    <p:cond delay="250"/>
                                  </p:stCondLst>
                                  <p:childTnLst>
                                    <p:set>
                                      <p:cBhvr>
                                        <p:cTn id="55" dur="1" fill="hold">
                                          <p:stCondLst>
                                            <p:cond delay="0"/>
                                          </p:stCondLst>
                                        </p:cTn>
                                        <p:tgtEl>
                                          <p:spTgt spid="37"/>
                                        </p:tgtEl>
                                        <p:attrNameLst>
                                          <p:attrName>style.visibility</p:attrName>
                                        </p:attrNameLst>
                                      </p:cBhvr>
                                      <p:to>
                                        <p:strVal val="visible"/>
                                      </p:to>
                                    </p:set>
                                    <p:anim calcmode="lin" valueType="num">
                                      <p:cBhvr>
                                        <p:cTn id="56" dur="500" fill="hold"/>
                                        <p:tgtEl>
                                          <p:spTgt spid="37"/>
                                        </p:tgtEl>
                                        <p:attrNameLst>
                                          <p:attrName>ppt_w</p:attrName>
                                        </p:attrNameLst>
                                      </p:cBhvr>
                                      <p:tavLst>
                                        <p:tav tm="0">
                                          <p:val>
                                            <p:fltVal val="0"/>
                                          </p:val>
                                        </p:tav>
                                        <p:tav tm="100000">
                                          <p:val>
                                            <p:strVal val="#ppt_w"/>
                                          </p:val>
                                        </p:tav>
                                      </p:tavLst>
                                    </p:anim>
                                    <p:anim calcmode="lin" valueType="num">
                                      <p:cBhvr>
                                        <p:cTn id="57" dur="500" fill="hold"/>
                                        <p:tgtEl>
                                          <p:spTgt spid="37"/>
                                        </p:tgtEl>
                                        <p:attrNameLst>
                                          <p:attrName>ppt_h</p:attrName>
                                        </p:attrNameLst>
                                      </p:cBhvr>
                                      <p:tavLst>
                                        <p:tav tm="0">
                                          <p:val>
                                            <p:fltVal val="0"/>
                                          </p:val>
                                        </p:tav>
                                        <p:tav tm="100000">
                                          <p:val>
                                            <p:strVal val="#ppt_h"/>
                                          </p:val>
                                        </p:tav>
                                      </p:tavLst>
                                    </p:anim>
                                    <p:animEffect transition="in" filter="fade">
                                      <p:cBhvr>
                                        <p:cTn id="58" dur="5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up)">
                                      <p:cBhvr>
                                        <p:cTn id="63" dur="500"/>
                                        <p:tgtEl>
                                          <p:spTgt spid="41"/>
                                        </p:tgtEl>
                                      </p:cBhvr>
                                    </p:animEffect>
                                  </p:childTnLst>
                                </p:cTn>
                              </p:par>
                              <p:par>
                                <p:cTn id="64" presetID="22" presetClass="entr" presetSubtype="1"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up)">
                                      <p:cBhvr>
                                        <p:cTn id="66" dur="500"/>
                                        <p:tgtEl>
                                          <p:spTgt spid="19"/>
                                        </p:tgtEl>
                                      </p:cBhvr>
                                    </p:animEffect>
                                  </p:childTnLst>
                                </p:cTn>
                              </p:par>
                            </p:childTnLst>
                          </p:cTn>
                        </p:par>
                        <p:par>
                          <p:cTn id="67" fill="hold">
                            <p:stCondLst>
                              <p:cond delay="500"/>
                            </p:stCondLst>
                            <p:childTnLst>
                              <p:par>
                                <p:cTn id="68" presetID="53" presetClass="entr" presetSubtype="16" fill="hold" grpId="0" nodeType="afterEffect">
                                  <p:stCondLst>
                                    <p:cond delay="250"/>
                                  </p:stCondLst>
                                  <p:childTnLst>
                                    <p:set>
                                      <p:cBhvr>
                                        <p:cTn id="69" dur="1" fill="hold">
                                          <p:stCondLst>
                                            <p:cond delay="0"/>
                                          </p:stCondLst>
                                        </p:cTn>
                                        <p:tgtEl>
                                          <p:spTgt spid="38"/>
                                        </p:tgtEl>
                                        <p:attrNameLst>
                                          <p:attrName>style.visibility</p:attrName>
                                        </p:attrNameLst>
                                      </p:cBhvr>
                                      <p:to>
                                        <p:strVal val="visible"/>
                                      </p:to>
                                    </p:set>
                                    <p:anim calcmode="lin" valueType="num">
                                      <p:cBhvr>
                                        <p:cTn id="70" dur="500" fill="hold"/>
                                        <p:tgtEl>
                                          <p:spTgt spid="38"/>
                                        </p:tgtEl>
                                        <p:attrNameLst>
                                          <p:attrName>ppt_w</p:attrName>
                                        </p:attrNameLst>
                                      </p:cBhvr>
                                      <p:tavLst>
                                        <p:tav tm="0">
                                          <p:val>
                                            <p:fltVal val="0"/>
                                          </p:val>
                                        </p:tav>
                                        <p:tav tm="100000">
                                          <p:val>
                                            <p:strVal val="#ppt_w"/>
                                          </p:val>
                                        </p:tav>
                                      </p:tavLst>
                                    </p:anim>
                                    <p:anim calcmode="lin" valueType="num">
                                      <p:cBhvr>
                                        <p:cTn id="71" dur="500" fill="hold"/>
                                        <p:tgtEl>
                                          <p:spTgt spid="38"/>
                                        </p:tgtEl>
                                        <p:attrNameLst>
                                          <p:attrName>ppt_h</p:attrName>
                                        </p:attrNameLst>
                                      </p:cBhvr>
                                      <p:tavLst>
                                        <p:tav tm="0">
                                          <p:val>
                                            <p:fltVal val="0"/>
                                          </p:val>
                                        </p:tav>
                                        <p:tav tm="100000">
                                          <p:val>
                                            <p:strVal val="#ppt_h"/>
                                          </p:val>
                                        </p:tav>
                                      </p:tavLst>
                                    </p:anim>
                                    <p:animEffect transition="in" filter="fade">
                                      <p:cBhvr>
                                        <p:cTn id="72" dur="500"/>
                                        <p:tgtEl>
                                          <p:spTgt spid="3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wipe(up)">
                                      <p:cBhvr>
                                        <p:cTn id="77" dur="500"/>
                                        <p:tgtEl>
                                          <p:spTgt spid="47"/>
                                        </p:tgtEl>
                                      </p:cBhvr>
                                    </p:animEffect>
                                  </p:childTnLst>
                                </p:cTn>
                              </p:par>
                              <p:par>
                                <p:cTn id="78" presetID="22" presetClass="entr" presetSubtype="1" fill="hold"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wipe(up)">
                                      <p:cBhvr>
                                        <p:cTn id="80" dur="500"/>
                                        <p:tgtEl>
                                          <p:spTgt spid="45"/>
                                        </p:tgtEl>
                                      </p:cBhvr>
                                    </p:animEffect>
                                  </p:childTnLst>
                                </p:cTn>
                              </p:par>
                            </p:childTnLst>
                          </p:cTn>
                        </p:par>
                        <p:par>
                          <p:cTn id="81" fill="hold">
                            <p:stCondLst>
                              <p:cond delay="500"/>
                            </p:stCondLst>
                            <p:childTnLst>
                              <p:par>
                                <p:cTn id="82" presetID="53" presetClass="entr" presetSubtype="16" fill="hold" grpId="0" nodeType="afterEffect">
                                  <p:stCondLst>
                                    <p:cond delay="250"/>
                                  </p:stCondLst>
                                  <p:childTnLst>
                                    <p:set>
                                      <p:cBhvr>
                                        <p:cTn id="83" dur="1" fill="hold">
                                          <p:stCondLst>
                                            <p:cond delay="0"/>
                                          </p:stCondLst>
                                        </p:cTn>
                                        <p:tgtEl>
                                          <p:spTgt spid="42"/>
                                        </p:tgtEl>
                                        <p:attrNameLst>
                                          <p:attrName>style.visibility</p:attrName>
                                        </p:attrNameLst>
                                      </p:cBhvr>
                                      <p:to>
                                        <p:strVal val="visible"/>
                                      </p:to>
                                    </p:set>
                                    <p:anim calcmode="lin" valueType="num">
                                      <p:cBhvr>
                                        <p:cTn id="84" dur="500" fill="hold"/>
                                        <p:tgtEl>
                                          <p:spTgt spid="42"/>
                                        </p:tgtEl>
                                        <p:attrNameLst>
                                          <p:attrName>ppt_w</p:attrName>
                                        </p:attrNameLst>
                                      </p:cBhvr>
                                      <p:tavLst>
                                        <p:tav tm="0">
                                          <p:val>
                                            <p:fltVal val="0"/>
                                          </p:val>
                                        </p:tav>
                                        <p:tav tm="100000">
                                          <p:val>
                                            <p:strVal val="#ppt_w"/>
                                          </p:val>
                                        </p:tav>
                                      </p:tavLst>
                                    </p:anim>
                                    <p:anim calcmode="lin" valueType="num">
                                      <p:cBhvr>
                                        <p:cTn id="85" dur="500" fill="hold"/>
                                        <p:tgtEl>
                                          <p:spTgt spid="42"/>
                                        </p:tgtEl>
                                        <p:attrNameLst>
                                          <p:attrName>ppt_h</p:attrName>
                                        </p:attrNameLst>
                                      </p:cBhvr>
                                      <p:tavLst>
                                        <p:tav tm="0">
                                          <p:val>
                                            <p:fltVal val="0"/>
                                          </p:val>
                                        </p:tav>
                                        <p:tav tm="100000">
                                          <p:val>
                                            <p:strVal val="#ppt_h"/>
                                          </p:val>
                                        </p:tav>
                                      </p:tavLst>
                                    </p:anim>
                                    <p:animEffect transition="in" filter="fade">
                                      <p:cBhvr>
                                        <p:cTn id="86" dur="500"/>
                                        <p:tgtEl>
                                          <p:spTgt spid="4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up)">
                                      <p:cBhvr>
                                        <p:cTn id="91" dur="500"/>
                                        <p:tgtEl>
                                          <p:spTgt spid="51"/>
                                        </p:tgtEl>
                                      </p:cBhvr>
                                    </p:animEffect>
                                  </p:childTnLst>
                                </p:cTn>
                              </p:par>
                              <p:par>
                                <p:cTn id="92" presetID="22" presetClass="entr" presetSubtype="1" fill="hold"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wipe(up)">
                                      <p:cBhvr>
                                        <p:cTn id="94" dur="500"/>
                                        <p:tgtEl>
                                          <p:spTgt spid="49"/>
                                        </p:tgtEl>
                                      </p:cBhvr>
                                    </p:animEffect>
                                  </p:childTnLst>
                                </p:cTn>
                              </p:par>
                            </p:childTnLst>
                          </p:cTn>
                        </p:par>
                        <p:par>
                          <p:cTn id="95" fill="hold">
                            <p:stCondLst>
                              <p:cond delay="500"/>
                            </p:stCondLst>
                            <p:childTnLst>
                              <p:par>
                                <p:cTn id="96" presetID="53" presetClass="entr" presetSubtype="16" fill="hold" grpId="0" nodeType="afterEffect">
                                  <p:stCondLst>
                                    <p:cond delay="250"/>
                                  </p:stCondLst>
                                  <p:childTnLst>
                                    <p:set>
                                      <p:cBhvr>
                                        <p:cTn id="97" dur="1" fill="hold">
                                          <p:stCondLst>
                                            <p:cond delay="0"/>
                                          </p:stCondLst>
                                        </p:cTn>
                                        <p:tgtEl>
                                          <p:spTgt spid="43"/>
                                        </p:tgtEl>
                                        <p:attrNameLst>
                                          <p:attrName>style.visibility</p:attrName>
                                        </p:attrNameLst>
                                      </p:cBhvr>
                                      <p:to>
                                        <p:strVal val="visible"/>
                                      </p:to>
                                    </p:set>
                                    <p:anim calcmode="lin" valueType="num">
                                      <p:cBhvr>
                                        <p:cTn id="98" dur="500" fill="hold"/>
                                        <p:tgtEl>
                                          <p:spTgt spid="43"/>
                                        </p:tgtEl>
                                        <p:attrNameLst>
                                          <p:attrName>ppt_w</p:attrName>
                                        </p:attrNameLst>
                                      </p:cBhvr>
                                      <p:tavLst>
                                        <p:tav tm="0">
                                          <p:val>
                                            <p:fltVal val="0"/>
                                          </p:val>
                                        </p:tav>
                                        <p:tav tm="100000">
                                          <p:val>
                                            <p:strVal val="#ppt_w"/>
                                          </p:val>
                                        </p:tav>
                                      </p:tavLst>
                                    </p:anim>
                                    <p:anim calcmode="lin" valueType="num">
                                      <p:cBhvr>
                                        <p:cTn id="99" dur="500" fill="hold"/>
                                        <p:tgtEl>
                                          <p:spTgt spid="43"/>
                                        </p:tgtEl>
                                        <p:attrNameLst>
                                          <p:attrName>ppt_h</p:attrName>
                                        </p:attrNameLst>
                                      </p:cBhvr>
                                      <p:tavLst>
                                        <p:tav tm="0">
                                          <p:val>
                                            <p:fltVal val="0"/>
                                          </p:val>
                                        </p:tav>
                                        <p:tav tm="100000">
                                          <p:val>
                                            <p:strVal val="#ppt_h"/>
                                          </p:val>
                                        </p:tav>
                                      </p:tavLst>
                                    </p:anim>
                                    <p:animEffect transition="in" filter="fade">
                                      <p:cBhvr>
                                        <p:cTn id="10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3" grpId="0" animBg="1"/>
      <p:bldP spid="37" grpId="0" animBg="1"/>
      <p:bldP spid="38" grpId="0" animBg="1"/>
      <p:bldP spid="42" grpId="0" animBg="1"/>
      <p:bldP spid="4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Técnica</a:t>
            </a:r>
            <a:r>
              <a:rPr lang="en-US" dirty="0"/>
              <a:t> de Huffman</a:t>
            </a:r>
            <a:endParaRPr lang="es-NI" dirty="0"/>
          </a:p>
        </p:txBody>
      </p:sp>
      <p:sp>
        <p:nvSpPr>
          <p:cNvPr id="2" name="1 Marcador de contenido"/>
          <p:cNvSpPr>
            <a:spLocks noGrp="1"/>
          </p:cNvSpPr>
          <p:nvPr>
            <p:ph idx="1"/>
          </p:nvPr>
        </p:nvSpPr>
        <p:spPr>
          <a:xfrm>
            <a:off x="381001" y="1289303"/>
            <a:ext cx="8407893" cy="3514695"/>
          </a:xfrm>
        </p:spPr>
        <p:txBody>
          <a:bodyPr>
            <a:normAutofit/>
          </a:bodyPr>
          <a:lstStyle/>
          <a:p>
            <a:r>
              <a:rPr lang="en-US" dirty="0">
                <a:solidFill>
                  <a:schemeClr val="accent1">
                    <a:lumMod val="75000"/>
                  </a:schemeClr>
                </a:solidFill>
              </a:rPr>
              <a:t>4: </a:t>
            </a:r>
            <a:r>
              <a:rPr lang="en-US" dirty="0" err="1">
                <a:solidFill>
                  <a:srgbClr val="0070C0"/>
                </a:solidFill>
              </a:rPr>
              <a:t>Etiquetar</a:t>
            </a:r>
            <a:r>
              <a:rPr lang="en-US" dirty="0">
                <a:solidFill>
                  <a:srgbClr val="0070C0"/>
                </a:solidFill>
              </a:rPr>
              <a:t> con 0 </a:t>
            </a:r>
            <a:r>
              <a:rPr lang="en-US" dirty="0" err="1">
                <a:solidFill>
                  <a:srgbClr val="0070C0"/>
                </a:solidFill>
              </a:rPr>
              <a:t>las</a:t>
            </a:r>
            <a:r>
              <a:rPr lang="en-US" dirty="0">
                <a:solidFill>
                  <a:srgbClr val="0070C0"/>
                </a:solidFill>
              </a:rPr>
              <a:t> </a:t>
            </a:r>
            <a:r>
              <a:rPr lang="en-US" dirty="0" err="1">
                <a:solidFill>
                  <a:srgbClr val="0070C0"/>
                </a:solidFill>
              </a:rPr>
              <a:t>ramas</a:t>
            </a:r>
            <a:r>
              <a:rPr lang="en-US" dirty="0">
                <a:solidFill>
                  <a:srgbClr val="0070C0"/>
                </a:solidFill>
              </a:rPr>
              <a:t> </a:t>
            </a:r>
            <a:r>
              <a:rPr lang="en-US" dirty="0" err="1">
                <a:solidFill>
                  <a:srgbClr val="0070C0"/>
                </a:solidFill>
              </a:rPr>
              <a:t>derechas</a:t>
            </a:r>
            <a:r>
              <a:rPr lang="en-US" dirty="0">
                <a:solidFill>
                  <a:srgbClr val="0070C0"/>
                </a:solidFill>
              </a:rPr>
              <a:t> del </a:t>
            </a:r>
            <a:r>
              <a:rPr lang="en-US" dirty="0" err="1">
                <a:solidFill>
                  <a:srgbClr val="0070C0"/>
                </a:solidFill>
              </a:rPr>
              <a:t>árbol</a:t>
            </a:r>
            <a:r>
              <a:rPr lang="en-US" dirty="0">
                <a:solidFill>
                  <a:srgbClr val="0070C0"/>
                </a:solidFill>
              </a:rPr>
              <a:t> y con 1 </a:t>
            </a:r>
            <a:r>
              <a:rPr lang="en-US" dirty="0" err="1">
                <a:solidFill>
                  <a:srgbClr val="0070C0"/>
                </a:solidFill>
              </a:rPr>
              <a:t>las</a:t>
            </a:r>
            <a:r>
              <a:rPr lang="en-US" dirty="0">
                <a:solidFill>
                  <a:srgbClr val="0070C0"/>
                </a:solidFill>
              </a:rPr>
              <a:t> </a:t>
            </a:r>
            <a:r>
              <a:rPr lang="en-US" dirty="0" err="1">
                <a:solidFill>
                  <a:srgbClr val="0070C0"/>
                </a:solidFill>
              </a:rPr>
              <a:t>ramas</a:t>
            </a:r>
            <a:r>
              <a:rPr lang="en-US" dirty="0">
                <a:solidFill>
                  <a:srgbClr val="0070C0"/>
                </a:solidFill>
              </a:rPr>
              <a:t> </a:t>
            </a:r>
            <a:r>
              <a:rPr lang="en-US" dirty="0" err="1">
                <a:solidFill>
                  <a:srgbClr val="0070C0"/>
                </a:solidFill>
              </a:rPr>
              <a:t>izquierdas</a:t>
            </a:r>
            <a:r>
              <a:rPr lang="en-US" dirty="0">
                <a:solidFill>
                  <a:srgbClr val="0070C0"/>
                </a:solidFill>
              </a:rPr>
              <a:t>.</a:t>
            </a:r>
          </a:p>
          <a:p>
            <a:endParaRPr lang="en-US" dirty="0">
              <a:solidFill>
                <a:srgbClr val="0070C0"/>
              </a:solidFill>
            </a:endParaRPr>
          </a:p>
        </p:txBody>
      </p:sp>
    </p:spTree>
    <p:extLst>
      <p:ext uri="{BB962C8B-B14F-4D97-AF65-F5344CB8AC3E}">
        <p14:creationId xmlns:p14="http://schemas.microsoft.com/office/powerpoint/2010/main" val="978046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Técnica</a:t>
            </a:r>
            <a:r>
              <a:rPr lang="en-US" dirty="0"/>
              <a:t> de Huffman</a:t>
            </a:r>
            <a:endParaRPr lang="es-NI" dirty="0"/>
          </a:p>
        </p:txBody>
      </p:sp>
      <p:sp>
        <p:nvSpPr>
          <p:cNvPr id="25" name="24 CuadroTexto"/>
          <p:cNvSpPr txBox="1"/>
          <p:nvPr/>
        </p:nvSpPr>
        <p:spPr>
          <a:xfrm>
            <a:off x="899592" y="1203598"/>
            <a:ext cx="7128792" cy="400110"/>
          </a:xfrm>
          <a:prstGeom prst="rect">
            <a:avLst/>
          </a:prstGeom>
          <a:noFill/>
        </p:spPr>
        <p:txBody>
          <a:bodyPr wrap="square" rtlCol="0">
            <a:spAutoFit/>
          </a:bodyPr>
          <a:lstStyle/>
          <a:p>
            <a:r>
              <a:rPr lang="en-US" sz="2000" b="1" dirty="0"/>
              <a:t>LOAD STORE  ADD  AND    NOT  RSHIFT  JUMP  HALT </a:t>
            </a:r>
            <a:endParaRPr lang="es-NI" sz="2000" b="1" dirty="0"/>
          </a:p>
        </p:txBody>
      </p:sp>
      <p:sp>
        <p:nvSpPr>
          <p:cNvPr id="26" name="25 Elipse"/>
          <p:cNvSpPr/>
          <p:nvPr/>
        </p:nvSpPr>
        <p:spPr>
          <a:xfrm>
            <a:off x="971600"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29" name="28 Elipse"/>
          <p:cNvSpPr/>
          <p:nvPr/>
        </p:nvSpPr>
        <p:spPr>
          <a:xfrm>
            <a:off x="1794549"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30" name="29 Elipse"/>
          <p:cNvSpPr/>
          <p:nvPr/>
        </p:nvSpPr>
        <p:spPr>
          <a:xfrm>
            <a:off x="2617498"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1" name="30 Elipse"/>
          <p:cNvSpPr/>
          <p:nvPr/>
        </p:nvSpPr>
        <p:spPr>
          <a:xfrm>
            <a:off x="3440447"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2" name="31 Elipse"/>
          <p:cNvSpPr/>
          <p:nvPr/>
        </p:nvSpPr>
        <p:spPr>
          <a:xfrm>
            <a:off x="4263396"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3" name="32 Elipse"/>
          <p:cNvSpPr/>
          <p:nvPr/>
        </p:nvSpPr>
        <p:spPr>
          <a:xfrm>
            <a:off x="5086345"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4" name="33 Elipse"/>
          <p:cNvSpPr/>
          <p:nvPr/>
        </p:nvSpPr>
        <p:spPr>
          <a:xfrm>
            <a:off x="5909294"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5" name="34 Elipse"/>
          <p:cNvSpPr/>
          <p:nvPr/>
        </p:nvSpPr>
        <p:spPr>
          <a:xfrm>
            <a:off x="6732240"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15" name="14 Elipse"/>
          <p:cNvSpPr/>
          <p:nvPr/>
        </p:nvSpPr>
        <p:spPr>
          <a:xfrm>
            <a:off x="6372200" y="2408777"/>
            <a:ext cx="720080" cy="53599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t>1/8</a:t>
            </a:r>
            <a:endParaRPr lang="es-NI" sz="1200" dirty="0"/>
          </a:p>
        </p:txBody>
      </p:sp>
      <p:cxnSp>
        <p:nvCxnSpPr>
          <p:cNvPr id="6" name="5 Conector recto"/>
          <p:cNvCxnSpPr>
            <a:stCxn id="35" idx="4"/>
            <a:endCxn id="15" idx="0"/>
          </p:cNvCxnSpPr>
          <p:nvPr/>
        </p:nvCxnSpPr>
        <p:spPr>
          <a:xfrm flipH="1">
            <a:off x="6732240" y="2087247"/>
            <a:ext cx="360040" cy="321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a:stCxn id="34" idx="4"/>
            <a:endCxn id="15" idx="0"/>
          </p:cNvCxnSpPr>
          <p:nvPr/>
        </p:nvCxnSpPr>
        <p:spPr>
          <a:xfrm>
            <a:off x="6269334" y="2087247"/>
            <a:ext cx="462906" cy="3215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19 Elipse"/>
          <p:cNvSpPr/>
          <p:nvPr/>
        </p:nvSpPr>
        <p:spPr>
          <a:xfrm>
            <a:off x="4716016" y="2418484"/>
            <a:ext cx="720080" cy="53599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t>1/8</a:t>
            </a:r>
            <a:endParaRPr lang="es-NI" sz="1200" dirty="0"/>
          </a:p>
        </p:txBody>
      </p:sp>
      <p:cxnSp>
        <p:nvCxnSpPr>
          <p:cNvPr id="21" name="20 Conector recto"/>
          <p:cNvCxnSpPr>
            <a:endCxn id="20" idx="0"/>
          </p:cNvCxnSpPr>
          <p:nvPr/>
        </p:nvCxnSpPr>
        <p:spPr>
          <a:xfrm flipH="1">
            <a:off x="5076056" y="2096954"/>
            <a:ext cx="360040" cy="321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a:endCxn id="20" idx="0"/>
          </p:cNvCxnSpPr>
          <p:nvPr/>
        </p:nvCxnSpPr>
        <p:spPr>
          <a:xfrm>
            <a:off x="4613150" y="2096954"/>
            <a:ext cx="462906" cy="321530"/>
          </a:xfrm>
          <a:prstGeom prst="line">
            <a:avLst/>
          </a:prstGeom>
        </p:spPr>
        <p:style>
          <a:lnRef idx="1">
            <a:schemeClr val="accent1"/>
          </a:lnRef>
          <a:fillRef idx="0">
            <a:schemeClr val="accent1"/>
          </a:fillRef>
          <a:effectRef idx="0">
            <a:schemeClr val="accent1"/>
          </a:effectRef>
          <a:fontRef idx="minor">
            <a:schemeClr val="tx1"/>
          </a:fontRef>
        </p:style>
      </p:cxnSp>
      <p:sp>
        <p:nvSpPr>
          <p:cNvPr id="23" name="22 Elipse"/>
          <p:cNvSpPr/>
          <p:nvPr/>
        </p:nvSpPr>
        <p:spPr>
          <a:xfrm>
            <a:off x="5549462" y="3147814"/>
            <a:ext cx="720080" cy="5359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1/4</a:t>
            </a:r>
            <a:endParaRPr lang="es-NI" sz="1200" dirty="0"/>
          </a:p>
        </p:txBody>
      </p:sp>
      <p:cxnSp>
        <p:nvCxnSpPr>
          <p:cNvPr id="10" name="9 Conector recto"/>
          <p:cNvCxnSpPr>
            <a:stCxn id="15" idx="4"/>
            <a:endCxn id="23" idx="0"/>
          </p:cNvCxnSpPr>
          <p:nvPr/>
        </p:nvCxnSpPr>
        <p:spPr>
          <a:xfrm flipH="1">
            <a:off x="5909502" y="2944771"/>
            <a:ext cx="822738" cy="2030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a:stCxn id="20" idx="4"/>
            <a:endCxn id="23" idx="0"/>
          </p:cNvCxnSpPr>
          <p:nvPr/>
        </p:nvCxnSpPr>
        <p:spPr>
          <a:xfrm>
            <a:off x="5076056" y="2954478"/>
            <a:ext cx="833446" cy="193336"/>
          </a:xfrm>
          <a:prstGeom prst="line">
            <a:avLst/>
          </a:prstGeom>
        </p:spPr>
        <p:style>
          <a:lnRef idx="1">
            <a:schemeClr val="accent1"/>
          </a:lnRef>
          <a:fillRef idx="0">
            <a:schemeClr val="accent1"/>
          </a:fillRef>
          <a:effectRef idx="0">
            <a:schemeClr val="accent1"/>
          </a:effectRef>
          <a:fontRef idx="minor">
            <a:schemeClr val="tx1"/>
          </a:fontRef>
        </p:style>
      </p:cxnSp>
      <p:sp>
        <p:nvSpPr>
          <p:cNvPr id="37" name="36 Elipse"/>
          <p:cNvSpPr/>
          <p:nvPr/>
        </p:nvSpPr>
        <p:spPr>
          <a:xfrm>
            <a:off x="3062554" y="2355726"/>
            <a:ext cx="720080" cy="5359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1/4</a:t>
            </a:r>
            <a:endParaRPr lang="es-NI" sz="1200" dirty="0"/>
          </a:p>
        </p:txBody>
      </p:sp>
      <p:cxnSp>
        <p:nvCxnSpPr>
          <p:cNvPr id="14" name="13 Conector recto"/>
          <p:cNvCxnSpPr>
            <a:stCxn id="31" idx="4"/>
            <a:endCxn id="37" idx="0"/>
          </p:cNvCxnSpPr>
          <p:nvPr/>
        </p:nvCxnSpPr>
        <p:spPr>
          <a:xfrm flipH="1">
            <a:off x="3422594" y="2087247"/>
            <a:ext cx="377893" cy="268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a:stCxn id="30" idx="4"/>
            <a:endCxn id="37" idx="0"/>
          </p:cNvCxnSpPr>
          <p:nvPr/>
        </p:nvCxnSpPr>
        <p:spPr>
          <a:xfrm>
            <a:off x="2977538" y="2087247"/>
            <a:ext cx="445056" cy="268479"/>
          </a:xfrm>
          <a:prstGeom prst="line">
            <a:avLst/>
          </a:prstGeom>
        </p:spPr>
        <p:style>
          <a:lnRef idx="1">
            <a:schemeClr val="accent1"/>
          </a:lnRef>
          <a:fillRef idx="0">
            <a:schemeClr val="accent1"/>
          </a:fillRef>
          <a:effectRef idx="0">
            <a:schemeClr val="accent1"/>
          </a:effectRef>
          <a:fontRef idx="minor">
            <a:schemeClr val="tx1"/>
          </a:fontRef>
        </p:style>
      </p:cxnSp>
      <p:sp>
        <p:nvSpPr>
          <p:cNvPr id="38" name="37 Elipse"/>
          <p:cNvSpPr/>
          <p:nvPr/>
        </p:nvSpPr>
        <p:spPr>
          <a:xfrm>
            <a:off x="3995936" y="3835956"/>
            <a:ext cx="720080" cy="53599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1/2</a:t>
            </a:r>
            <a:endParaRPr lang="es-NI" sz="1200" dirty="0"/>
          </a:p>
        </p:txBody>
      </p:sp>
      <p:cxnSp>
        <p:nvCxnSpPr>
          <p:cNvPr id="19" name="18 Conector recto"/>
          <p:cNvCxnSpPr>
            <a:stCxn id="23" idx="3"/>
            <a:endCxn id="38" idx="0"/>
          </p:cNvCxnSpPr>
          <p:nvPr/>
        </p:nvCxnSpPr>
        <p:spPr>
          <a:xfrm flipH="1">
            <a:off x="4355976" y="3605313"/>
            <a:ext cx="1298939" cy="23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40 Conector recto"/>
          <p:cNvCxnSpPr>
            <a:stCxn id="37" idx="4"/>
            <a:endCxn id="38" idx="0"/>
          </p:cNvCxnSpPr>
          <p:nvPr/>
        </p:nvCxnSpPr>
        <p:spPr>
          <a:xfrm>
            <a:off x="3422594" y="2891720"/>
            <a:ext cx="933382" cy="944236"/>
          </a:xfrm>
          <a:prstGeom prst="line">
            <a:avLst/>
          </a:prstGeom>
        </p:spPr>
        <p:style>
          <a:lnRef idx="1">
            <a:schemeClr val="accent1"/>
          </a:lnRef>
          <a:fillRef idx="0">
            <a:schemeClr val="accent1"/>
          </a:fillRef>
          <a:effectRef idx="0">
            <a:schemeClr val="accent1"/>
          </a:effectRef>
          <a:fontRef idx="minor">
            <a:schemeClr val="tx1"/>
          </a:fontRef>
        </p:style>
      </p:cxnSp>
      <p:sp>
        <p:nvSpPr>
          <p:cNvPr id="42" name="41 Elipse"/>
          <p:cNvSpPr/>
          <p:nvPr/>
        </p:nvSpPr>
        <p:spPr>
          <a:xfrm>
            <a:off x="1434509" y="2382800"/>
            <a:ext cx="720080" cy="53599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1/2</a:t>
            </a:r>
            <a:endParaRPr lang="es-NI" sz="1200" dirty="0"/>
          </a:p>
        </p:txBody>
      </p:sp>
      <p:sp>
        <p:nvSpPr>
          <p:cNvPr id="43" name="42 Elipse"/>
          <p:cNvSpPr/>
          <p:nvPr/>
        </p:nvSpPr>
        <p:spPr>
          <a:xfrm>
            <a:off x="3080407" y="4494196"/>
            <a:ext cx="720080" cy="535994"/>
          </a:xfrm>
          <a:prstGeom prst="ellipse">
            <a:avLst/>
          </a:prstGeom>
          <a:solidFill>
            <a:schemeClr val="accent1">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a:t>
            </a:r>
            <a:endParaRPr lang="es-NI" sz="1200" dirty="0"/>
          </a:p>
        </p:txBody>
      </p:sp>
      <p:cxnSp>
        <p:nvCxnSpPr>
          <p:cNvPr id="45" name="44 Conector recto"/>
          <p:cNvCxnSpPr>
            <a:stCxn id="29" idx="4"/>
            <a:endCxn id="42" idx="0"/>
          </p:cNvCxnSpPr>
          <p:nvPr/>
        </p:nvCxnSpPr>
        <p:spPr>
          <a:xfrm flipH="1">
            <a:off x="1794549" y="2087247"/>
            <a:ext cx="360040" cy="295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46 Conector recto"/>
          <p:cNvCxnSpPr>
            <a:stCxn id="26" idx="4"/>
            <a:endCxn id="42" idx="0"/>
          </p:cNvCxnSpPr>
          <p:nvPr/>
        </p:nvCxnSpPr>
        <p:spPr>
          <a:xfrm>
            <a:off x="1331640" y="2087247"/>
            <a:ext cx="462909" cy="295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48 Conector recto"/>
          <p:cNvCxnSpPr>
            <a:stCxn id="38" idx="3"/>
            <a:endCxn id="43" idx="0"/>
          </p:cNvCxnSpPr>
          <p:nvPr/>
        </p:nvCxnSpPr>
        <p:spPr>
          <a:xfrm flipH="1">
            <a:off x="3440447" y="4293455"/>
            <a:ext cx="660942" cy="2007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50 Conector recto"/>
          <p:cNvCxnSpPr>
            <a:stCxn id="42" idx="4"/>
            <a:endCxn id="43" idx="0"/>
          </p:cNvCxnSpPr>
          <p:nvPr/>
        </p:nvCxnSpPr>
        <p:spPr>
          <a:xfrm>
            <a:off x="1794549" y="2918794"/>
            <a:ext cx="1645898" cy="1575402"/>
          </a:xfrm>
          <a:prstGeom prst="line">
            <a:avLst/>
          </a:prstGeom>
        </p:spPr>
        <p:style>
          <a:lnRef idx="1">
            <a:schemeClr val="accent1"/>
          </a:lnRef>
          <a:fillRef idx="0">
            <a:schemeClr val="accent1"/>
          </a:fillRef>
          <a:effectRef idx="0">
            <a:schemeClr val="accent1"/>
          </a:effectRef>
          <a:fontRef idx="minor">
            <a:schemeClr val="tx1"/>
          </a:fontRef>
        </p:style>
      </p:cxnSp>
      <p:sp>
        <p:nvSpPr>
          <p:cNvPr id="2" name="1 CuadroTexto"/>
          <p:cNvSpPr txBox="1"/>
          <p:nvPr/>
        </p:nvSpPr>
        <p:spPr>
          <a:xfrm>
            <a:off x="1285404" y="2201835"/>
            <a:ext cx="216024" cy="307777"/>
          </a:xfrm>
          <a:prstGeom prst="rect">
            <a:avLst/>
          </a:prstGeom>
          <a:noFill/>
        </p:spPr>
        <p:txBody>
          <a:bodyPr wrap="square" rtlCol="0">
            <a:spAutoFit/>
          </a:bodyPr>
          <a:lstStyle/>
          <a:p>
            <a:r>
              <a:rPr lang="en-US" sz="1400" dirty="0"/>
              <a:t>1</a:t>
            </a:r>
            <a:endParaRPr lang="es-NI" sz="1400" dirty="0"/>
          </a:p>
        </p:txBody>
      </p:sp>
      <p:sp>
        <p:nvSpPr>
          <p:cNvPr id="36" name="35 CuadroTexto"/>
          <p:cNvSpPr txBox="1"/>
          <p:nvPr/>
        </p:nvSpPr>
        <p:spPr>
          <a:xfrm>
            <a:off x="2298605" y="3566745"/>
            <a:ext cx="216024" cy="307777"/>
          </a:xfrm>
          <a:prstGeom prst="rect">
            <a:avLst/>
          </a:prstGeom>
          <a:noFill/>
        </p:spPr>
        <p:txBody>
          <a:bodyPr wrap="square" rtlCol="0">
            <a:spAutoFit/>
          </a:bodyPr>
          <a:lstStyle/>
          <a:p>
            <a:r>
              <a:rPr lang="en-US" sz="1400" dirty="0"/>
              <a:t>1</a:t>
            </a:r>
            <a:endParaRPr lang="es-NI" sz="1400" dirty="0"/>
          </a:p>
        </p:txBody>
      </p:sp>
      <p:sp>
        <p:nvSpPr>
          <p:cNvPr id="39" name="38 CuadroTexto"/>
          <p:cNvSpPr txBox="1"/>
          <p:nvPr/>
        </p:nvSpPr>
        <p:spPr>
          <a:xfrm>
            <a:off x="2945918" y="2110936"/>
            <a:ext cx="216024" cy="307777"/>
          </a:xfrm>
          <a:prstGeom prst="rect">
            <a:avLst/>
          </a:prstGeom>
          <a:noFill/>
        </p:spPr>
        <p:txBody>
          <a:bodyPr wrap="square" rtlCol="0">
            <a:spAutoFit/>
          </a:bodyPr>
          <a:lstStyle/>
          <a:p>
            <a:r>
              <a:rPr lang="en-US" sz="1400" dirty="0"/>
              <a:t>1</a:t>
            </a:r>
            <a:endParaRPr lang="es-NI" sz="1400" dirty="0"/>
          </a:p>
        </p:txBody>
      </p:sp>
      <p:sp>
        <p:nvSpPr>
          <p:cNvPr id="40" name="39 CuadroTexto"/>
          <p:cNvSpPr txBox="1"/>
          <p:nvPr/>
        </p:nvSpPr>
        <p:spPr>
          <a:xfrm>
            <a:off x="3554894" y="3258968"/>
            <a:ext cx="216024" cy="307777"/>
          </a:xfrm>
          <a:prstGeom prst="rect">
            <a:avLst/>
          </a:prstGeom>
          <a:noFill/>
        </p:spPr>
        <p:txBody>
          <a:bodyPr wrap="square" rtlCol="0">
            <a:spAutoFit/>
          </a:bodyPr>
          <a:lstStyle/>
          <a:p>
            <a:r>
              <a:rPr lang="en-US" sz="1400" dirty="0"/>
              <a:t>1</a:t>
            </a:r>
            <a:endParaRPr lang="es-NI" sz="1400" dirty="0"/>
          </a:p>
        </p:txBody>
      </p:sp>
      <p:sp>
        <p:nvSpPr>
          <p:cNvPr id="44" name="43 CuadroTexto"/>
          <p:cNvSpPr txBox="1"/>
          <p:nvPr/>
        </p:nvSpPr>
        <p:spPr>
          <a:xfrm>
            <a:off x="4604275" y="2200346"/>
            <a:ext cx="216024" cy="307777"/>
          </a:xfrm>
          <a:prstGeom prst="rect">
            <a:avLst/>
          </a:prstGeom>
          <a:noFill/>
        </p:spPr>
        <p:txBody>
          <a:bodyPr wrap="square" rtlCol="0">
            <a:spAutoFit/>
          </a:bodyPr>
          <a:lstStyle/>
          <a:p>
            <a:r>
              <a:rPr lang="en-US" sz="1400" dirty="0"/>
              <a:t>1</a:t>
            </a:r>
            <a:endParaRPr lang="es-NI" sz="1400" dirty="0"/>
          </a:p>
        </p:txBody>
      </p:sp>
      <p:sp>
        <p:nvSpPr>
          <p:cNvPr id="46" name="45 CuadroTexto"/>
          <p:cNvSpPr txBox="1"/>
          <p:nvPr/>
        </p:nvSpPr>
        <p:spPr>
          <a:xfrm>
            <a:off x="5328084" y="3056061"/>
            <a:ext cx="216024" cy="307777"/>
          </a:xfrm>
          <a:prstGeom prst="rect">
            <a:avLst/>
          </a:prstGeom>
          <a:noFill/>
        </p:spPr>
        <p:txBody>
          <a:bodyPr wrap="square" rtlCol="0">
            <a:spAutoFit/>
          </a:bodyPr>
          <a:lstStyle/>
          <a:p>
            <a:r>
              <a:rPr lang="en-US" sz="1400" dirty="0"/>
              <a:t>1</a:t>
            </a:r>
            <a:endParaRPr lang="es-NI" sz="1400" dirty="0"/>
          </a:p>
        </p:txBody>
      </p:sp>
      <p:sp>
        <p:nvSpPr>
          <p:cNvPr id="48" name="47 CuadroTexto"/>
          <p:cNvSpPr txBox="1"/>
          <p:nvPr/>
        </p:nvSpPr>
        <p:spPr>
          <a:xfrm>
            <a:off x="6245828" y="2235252"/>
            <a:ext cx="216024" cy="307777"/>
          </a:xfrm>
          <a:prstGeom prst="rect">
            <a:avLst/>
          </a:prstGeom>
          <a:noFill/>
        </p:spPr>
        <p:txBody>
          <a:bodyPr wrap="square" rtlCol="0">
            <a:spAutoFit/>
          </a:bodyPr>
          <a:lstStyle/>
          <a:p>
            <a:r>
              <a:rPr lang="en-US" sz="1400" dirty="0"/>
              <a:t>1</a:t>
            </a:r>
            <a:endParaRPr lang="es-NI" sz="1400" dirty="0"/>
          </a:p>
        </p:txBody>
      </p:sp>
      <p:sp>
        <p:nvSpPr>
          <p:cNvPr id="50" name="49 CuadroTexto"/>
          <p:cNvSpPr txBox="1"/>
          <p:nvPr/>
        </p:nvSpPr>
        <p:spPr>
          <a:xfrm>
            <a:off x="2000435" y="2197838"/>
            <a:ext cx="216024" cy="307777"/>
          </a:xfrm>
          <a:prstGeom prst="rect">
            <a:avLst/>
          </a:prstGeom>
          <a:noFill/>
        </p:spPr>
        <p:txBody>
          <a:bodyPr wrap="square" rtlCol="0">
            <a:spAutoFit/>
          </a:bodyPr>
          <a:lstStyle/>
          <a:p>
            <a:r>
              <a:rPr lang="en-US" sz="1400" dirty="0"/>
              <a:t>0</a:t>
            </a:r>
            <a:endParaRPr lang="es-NI" sz="1400" dirty="0"/>
          </a:p>
        </p:txBody>
      </p:sp>
      <p:sp>
        <p:nvSpPr>
          <p:cNvPr id="52" name="51 CuadroTexto"/>
          <p:cNvSpPr txBox="1"/>
          <p:nvPr/>
        </p:nvSpPr>
        <p:spPr>
          <a:xfrm>
            <a:off x="3770918" y="2111165"/>
            <a:ext cx="216024" cy="307777"/>
          </a:xfrm>
          <a:prstGeom prst="rect">
            <a:avLst/>
          </a:prstGeom>
          <a:noFill/>
        </p:spPr>
        <p:txBody>
          <a:bodyPr wrap="square" rtlCol="0">
            <a:spAutoFit/>
          </a:bodyPr>
          <a:lstStyle/>
          <a:p>
            <a:r>
              <a:rPr lang="en-US" sz="1400" dirty="0"/>
              <a:t>0</a:t>
            </a:r>
            <a:endParaRPr lang="es-NI" sz="1400" dirty="0"/>
          </a:p>
        </p:txBody>
      </p:sp>
      <p:sp>
        <p:nvSpPr>
          <p:cNvPr id="53" name="52 CuadroTexto"/>
          <p:cNvSpPr txBox="1"/>
          <p:nvPr/>
        </p:nvSpPr>
        <p:spPr>
          <a:xfrm>
            <a:off x="3878930" y="4372179"/>
            <a:ext cx="216024" cy="307777"/>
          </a:xfrm>
          <a:prstGeom prst="rect">
            <a:avLst/>
          </a:prstGeom>
          <a:noFill/>
        </p:spPr>
        <p:txBody>
          <a:bodyPr wrap="square" rtlCol="0">
            <a:spAutoFit/>
          </a:bodyPr>
          <a:lstStyle/>
          <a:p>
            <a:r>
              <a:rPr lang="en-US" sz="1400" dirty="0"/>
              <a:t>0</a:t>
            </a:r>
            <a:endParaRPr lang="es-NI" sz="1400" dirty="0"/>
          </a:p>
        </p:txBody>
      </p:sp>
      <p:sp>
        <p:nvSpPr>
          <p:cNvPr id="54" name="53 CuadroTexto"/>
          <p:cNvSpPr txBox="1"/>
          <p:nvPr/>
        </p:nvSpPr>
        <p:spPr>
          <a:xfrm>
            <a:off x="5086345" y="3733309"/>
            <a:ext cx="216024" cy="307777"/>
          </a:xfrm>
          <a:prstGeom prst="rect">
            <a:avLst/>
          </a:prstGeom>
          <a:noFill/>
        </p:spPr>
        <p:txBody>
          <a:bodyPr wrap="square" rtlCol="0">
            <a:spAutoFit/>
          </a:bodyPr>
          <a:lstStyle/>
          <a:p>
            <a:r>
              <a:rPr lang="en-US" sz="1400" dirty="0"/>
              <a:t>0</a:t>
            </a:r>
            <a:endParaRPr lang="es-NI" sz="1400" dirty="0"/>
          </a:p>
        </p:txBody>
      </p:sp>
      <p:sp>
        <p:nvSpPr>
          <p:cNvPr id="55" name="54 CuadroTexto"/>
          <p:cNvSpPr txBox="1"/>
          <p:nvPr/>
        </p:nvSpPr>
        <p:spPr>
          <a:xfrm>
            <a:off x="5362652" y="2189265"/>
            <a:ext cx="216024" cy="307777"/>
          </a:xfrm>
          <a:prstGeom prst="rect">
            <a:avLst/>
          </a:prstGeom>
          <a:noFill/>
        </p:spPr>
        <p:txBody>
          <a:bodyPr wrap="square" rtlCol="0">
            <a:spAutoFit/>
          </a:bodyPr>
          <a:lstStyle/>
          <a:p>
            <a:r>
              <a:rPr lang="en-US" sz="1400" dirty="0"/>
              <a:t>0</a:t>
            </a:r>
            <a:endParaRPr lang="es-NI" sz="1400" dirty="0"/>
          </a:p>
        </p:txBody>
      </p:sp>
      <p:sp>
        <p:nvSpPr>
          <p:cNvPr id="56" name="55 CuadroTexto"/>
          <p:cNvSpPr txBox="1"/>
          <p:nvPr/>
        </p:nvSpPr>
        <p:spPr>
          <a:xfrm>
            <a:off x="6313977" y="3039208"/>
            <a:ext cx="216024" cy="307777"/>
          </a:xfrm>
          <a:prstGeom prst="rect">
            <a:avLst/>
          </a:prstGeom>
          <a:noFill/>
        </p:spPr>
        <p:txBody>
          <a:bodyPr wrap="square" rtlCol="0">
            <a:spAutoFit/>
          </a:bodyPr>
          <a:lstStyle/>
          <a:p>
            <a:r>
              <a:rPr lang="en-US" sz="1400" dirty="0"/>
              <a:t>0</a:t>
            </a:r>
            <a:endParaRPr lang="es-NI" sz="1400" dirty="0"/>
          </a:p>
        </p:txBody>
      </p:sp>
      <p:sp>
        <p:nvSpPr>
          <p:cNvPr id="57" name="56 CuadroTexto"/>
          <p:cNvSpPr txBox="1"/>
          <p:nvPr/>
        </p:nvSpPr>
        <p:spPr>
          <a:xfrm>
            <a:off x="6984268" y="2187310"/>
            <a:ext cx="216024" cy="307777"/>
          </a:xfrm>
          <a:prstGeom prst="rect">
            <a:avLst/>
          </a:prstGeom>
          <a:noFill/>
        </p:spPr>
        <p:txBody>
          <a:bodyPr wrap="square" rtlCol="0">
            <a:spAutoFit/>
          </a:bodyPr>
          <a:lstStyle/>
          <a:p>
            <a:r>
              <a:rPr lang="en-US" sz="1400" dirty="0"/>
              <a:t>0</a:t>
            </a:r>
            <a:endParaRPr lang="es-NI" sz="1400" dirty="0"/>
          </a:p>
        </p:txBody>
      </p:sp>
    </p:spTree>
    <p:extLst>
      <p:ext uri="{BB962C8B-B14F-4D97-AF65-F5344CB8AC3E}">
        <p14:creationId xmlns:p14="http://schemas.microsoft.com/office/powerpoint/2010/main" val="396007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250"/>
                                  </p:stCondLst>
                                  <p:childTnLst>
                                    <p:set>
                                      <p:cBhvr>
                                        <p:cTn id="12" dur="1" fill="hold">
                                          <p:stCondLst>
                                            <p:cond delay="0"/>
                                          </p:stCondLst>
                                        </p:cTn>
                                        <p:tgtEl>
                                          <p:spTgt spid="36"/>
                                        </p:tgtEl>
                                        <p:attrNameLst>
                                          <p:attrName>style.visibility</p:attrName>
                                        </p:attrNameLst>
                                      </p:cBhvr>
                                      <p:to>
                                        <p:strVal val="visible"/>
                                      </p:to>
                                    </p:set>
                                    <p:anim calcmode="lin" valueType="num">
                                      <p:cBhvr>
                                        <p:cTn id="13" dur="500" fill="hold"/>
                                        <p:tgtEl>
                                          <p:spTgt spid="36"/>
                                        </p:tgtEl>
                                        <p:attrNameLst>
                                          <p:attrName>ppt_w</p:attrName>
                                        </p:attrNameLst>
                                      </p:cBhvr>
                                      <p:tavLst>
                                        <p:tav tm="0">
                                          <p:val>
                                            <p:fltVal val="0"/>
                                          </p:val>
                                        </p:tav>
                                        <p:tav tm="100000">
                                          <p:val>
                                            <p:strVal val="#ppt_w"/>
                                          </p:val>
                                        </p:tav>
                                      </p:tavLst>
                                    </p:anim>
                                    <p:anim calcmode="lin" valueType="num">
                                      <p:cBhvr>
                                        <p:cTn id="14" dur="500" fill="hold"/>
                                        <p:tgtEl>
                                          <p:spTgt spid="36"/>
                                        </p:tgtEl>
                                        <p:attrNameLst>
                                          <p:attrName>ppt_h</p:attrName>
                                        </p:attrNameLst>
                                      </p:cBhvr>
                                      <p:tavLst>
                                        <p:tav tm="0">
                                          <p:val>
                                            <p:fltVal val="0"/>
                                          </p:val>
                                        </p:tav>
                                        <p:tav tm="100000">
                                          <p:val>
                                            <p:strVal val="#ppt_h"/>
                                          </p:val>
                                        </p:tav>
                                      </p:tavLst>
                                    </p:anim>
                                    <p:animEffect transition="in" filter="fade">
                                      <p:cBhvr>
                                        <p:cTn id="15" dur="500"/>
                                        <p:tgtEl>
                                          <p:spTgt spid="36"/>
                                        </p:tgtEl>
                                      </p:cBhvr>
                                    </p:animEffect>
                                  </p:childTnLst>
                                </p:cTn>
                              </p:par>
                            </p:childTnLst>
                          </p:cTn>
                        </p:par>
                        <p:par>
                          <p:cTn id="16" fill="hold">
                            <p:stCondLst>
                              <p:cond delay="1250"/>
                            </p:stCondLst>
                            <p:childTnLst>
                              <p:par>
                                <p:cTn id="17" presetID="53" presetClass="entr" presetSubtype="16" fill="hold" grpId="0" nodeType="afterEffect">
                                  <p:stCondLst>
                                    <p:cond delay="250"/>
                                  </p:stCondLs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fltVal val="0"/>
                                          </p:val>
                                        </p:tav>
                                        <p:tav tm="100000">
                                          <p:val>
                                            <p:strVal val="#ppt_w"/>
                                          </p:val>
                                        </p:tav>
                                      </p:tavLst>
                                    </p:anim>
                                    <p:anim calcmode="lin" valueType="num">
                                      <p:cBhvr>
                                        <p:cTn id="20" dur="500" fill="hold"/>
                                        <p:tgtEl>
                                          <p:spTgt spid="39"/>
                                        </p:tgtEl>
                                        <p:attrNameLst>
                                          <p:attrName>ppt_h</p:attrName>
                                        </p:attrNameLst>
                                      </p:cBhvr>
                                      <p:tavLst>
                                        <p:tav tm="0">
                                          <p:val>
                                            <p:fltVal val="0"/>
                                          </p:val>
                                        </p:tav>
                                        <p:tav tm="100000">
                                          <p:val>
                                            <p:strVal val="#ppt_h"/>
                                          </p:val>
                                        </p:tav>
                                      </p:tavLst>
                                    </p:anim>
                                    <p:animEffect transition="in" filter="fade">
                                      <p:cBhvr>
                                        <p:cTn id="21" dur="500"/>
                                        <p:tgtEl>
                                          <p:spTgt spid="39"/>
                                        </p:tgtEl>
                                      </p:cBhvr>
                                    </p:animEffect>
                                  </p:childTnLst>
                                </p:cTn>
                              </p:par>
                            </p:childTnLst>
                          </p:cTn>
                        </p:par>
                        <p:par>
                          <p:cTn id="22" fill="hold">
                            <p:stCondLst>
                              <p:cond delay="2000"/>
                            </p:stCondLst>
                            <p:childTnLst>
                              <p:par>
                                <p:cTn id="23" presetID="53" presetClass="entr" presetSubtype="16" fill="hold" grpId="0" nodeType="afterEffect">
                                  <p:stCondLst>
                                    <p:cond delay="250"/>
                                  </p:stCondLst>
                                  <p:childTnLst>
                                    <p:set>
                                      <p:cBhvr>
                                        <p:cTn id="24" dur="1" fill="hold">
                                          <p:stCondLst>
                                            <p:cond delay="0"/>
                                          </p:stCondLst>
                                        </p:cTn>
                                        <p:tgtEl>
                                          <p:spTgt spid="40"/>
                                        </p:tgtEl>
                                        <p:attrNameLst>
                                          <p:attrName>style.visibility</p:attrName>
                                        </p:attrNameLst>
                                      </p:cBhvr>
                                      <p:to>
                                        <p:strVal val="visible"/>
                                      </p:to>
                                    </p:set>
                                    <p:anim calcmode="lin" valueType="num">
                                      <p:cBhvr>
                                        <p:cTn id="25" dur="500" fill="hold"/>
                                        <p:tgtEl>
                                          <p:spTgt spid="40"/>
                                        </p:tgtEl>
                                        <p:attrNameLst>
                                          <p:attrName>ppt_w</p:attrName>
                                        </p:attrNameLst>
                                      </p:cBhvr>
                                      <p:tavLst>
                                        <p:tav tm="0">
                                          <p:val>
                                            <p:fltVal val="0"/>
                                          </p:val>
                                        </p:tav>
                                        <p:tav tm="100000">
                                          <p:val>
                                            <p:strVal val="#ppt_w"/>
                                          </p:val>
                                        </p:tav>
                                      </p:tavLst>
                                    </p:anim>
                                    <p:anim calcmode="lin" valueType="num">
                                      <p:cBhvr>
                                        <p:cTn id="26" dur="500" fill="hold"/>
                                        <p:tgtEl>
                                          <p:spTgt spid="40"/>
                                        </p:tgtEl>
                                        <p:attrNameLst>
                                          <p:attrName>ppt_h</p:attrName>
                                        </p:attrNameLst>
                                      </p:cBhvr>
                                      <p:tavLst>
                                        <p:tav tm="0">
                                          <p:val>
                                            <p:fltVal val="0"/>
                                          </p:val>
                                        </p:tav>
                                        <p:tav tm="100000">
                                          <p:val>
                                            <p:strVal val="#ppt_h"/>
                                          </p:val>
                                        </p:tav>
                                      </p:tavLst>
                                    </p:anim>
                                    <p:animEffect transition="in" filter="fade">
                                      <p:cBhvr>
                                        <p:cTn id="27" dur="500"/>
                                        <p:tgtEl>
                                          <p:spTgt spid="40"/>
                                        </p:tgtEl>
                                      </p:cBhvr>
                                    </p:animEffect>
                                  </p:childTnLst>
                                </p:cTn>
                              </p:par>
                            </p:childTnLst>
                          </p:cTn>
                        </p:par>
                        <p:par>
                          <p:cTn id="28" fill="hold">
                            <p:stCondLst>
                              <p:cond delay="2750"/>
                            </p:stCondLst>
                            <p:childTnLst>
                              <p:par>
                                <p:cTn id="29" presetID="53" presetClass="entr" presetSubtype="16" fill="hold" grpId="0" nodeType="afterEffect">
                                  <p:stCondLst>
                                    <p:cond delay="250"/>
                                  </p:stCondLst>
                                  <p:childTnLst>
                                    <p:set>
                                      <p:cBhvr>
                                        <p:cTn id="30" dur="1" fill="hold">
                                          <p:stCondLst>
                                            <p:cond delay="0"/>
                                          </p:stCondLst>
                                        </p:cTn>
                                        <p:tgtEl>
                                          <p:spTgt spid="44"/>
                                        </p:tgtEl>
                                        <p:attrNameLst>
                                          <p:attrName>style.visibility</p:attrName>
                                        </p:attrNameLst>
                                      </p:cBhvr>
                                      <p:to>
                                        <p:strVal val="visible"/>
                                      </p:to>
                                    </p:set>
                                    <p:anim calcmode="lin" valueType="num">
                                      <p:cBhvr>
                                        <p:cTn id="31" dur="500" fill="hold"/>
                                        <p:tgtEl>
                                          <p:spTgt spid="44"/>
                                        </p:tgtEl>
                                        <p:attrNameLst>
                                          <p:attrName>ppt_w</p:attrName>
                                        </p:attrNameLst>
                                      </p:cBhvr>
                                      <p:tavLst>
                                        <p:tav tm="0">
                                          <p:val>
                                            <p:fltVal val="0"/>
                                          </p:val>
                                        </p:tav>
                                        <p:tav tm="100000">
                                          <p:val>
                                            <p:strVal val="#ppt_w"/>
                                          </p:val>
                                        </p:tav>
                                      </p:tavLst>
                                    </p:anim>
                                    <p:anim calcmode="lin" valueType="num">
                                      <p:cBhvr>
                                        <p:cTn id="32" dur="500" fill="hold"/>
                                        <p:tgtEl>
                                          <p:spTgt spid="44"/>
                                        </p:tgtEl>
                                        <p:attrNameLst>
                                          <p:attrName>ppt_h</p:attrName>
                                        </p:attrNameLst>
                                      </p:cBhvr>
                                      <p:tavLst>
                                        <p:tav tm="0">
                                          <p:val>
                                            <p:fltVal val="0"/>
                                          </p:val>
                                        </p:tav>
                                        <p:tav tm="100000">
                                          <p:val>
                                            <p:strVal val="#ppt_h"/>
                                          </p:val>
                                        </p:tav>
                                      </p:tavLst>
                                    </p:anim>
                                    <p:animEffect transition="in" filter="fade">
                                      <p:cBhvr>
                                        <p:cTn id="33" dur="500"/>
                                        <p:tgtEl>
                                          <p:spTgt spid="44"/>
                                        </p:tgtEl>
                                      </p:cBhvr>
                                    </p:animEffect>
                                  </p:childTnLst>
                                </p:cTn>
                              </p:par>
                            </p:childTnLst>
                          </p:cTn>
                        </p:par>
                        <p:par>
                          <p:cTn id="34" fill="hold">
                            <p:stCondLst>
                              <p:cond delay="3500"/>
                            </p:stCondLst>
                            <p:childTnLst>
                              <p:par>
                                <p:cTn id="35" presetID="53" presetClass="entr" presetSubtype="16" fill="hold" grpId="0" nodeType="afterEffect">
                                  <p:stCondLst>
                                    <p:cond delay="0"/>
                                  </p:stCondLst>
                                  <p:childTnLst>
                                    <p:set>
                                      <p:cBhvr>
                                        <p:cTn id="36" dur="1" fill="hold">
                                          <p:stCondLst>
                                            <p:cond delay="0"/>
                                          </p:stCondLst>
                                        </p:cTn>
                                        <p:tgtEl>
                                          <p:spTgt spid="46"/>
                                        </p:tgtEl>
                                        <p:attrNameLst>
                                          <p:attrName>style.visibility</p:attrName>
                                        </p:attrNameLst>
                                      </p:cBhvr>
                                      <p:to>
                                        <p:strVal val="visible"/>
                                      </p:to>
                                    </p:set>
                                    <p:anim calcmode="lin" valueType="num">
                                      <p:cBhvr>
                                        <p:cTn id="37" dur="500" fill="hold"/>
                                        <p:tgtEl>
                                          <p:spTgt spid="46"/>
                                        </p:tgtEl>
                                        <p:attrNameLst>
                                          <p:attrName>ppt_w</p:attrName>
                                        </p:attrNameLst>
                                      </p:cBhvr>
                                      <p:tavLst>
                                        <p:tav tm="0">
                                          <p:val>
                                            <p:fltVal val="0"/>
                                          </p:val>
                                        </p:tav>
                                        <p:tav tm="100000">
                                          <p:val>
                                            <p:strVal val="#ppt_w"/>
                                          </p:val>
                                        </p:tav>
                                      </p:tavLst>
                                    </p:anim>
                                    <p:anim calcmode="lin" valueType="num">
                                      <p:cBhvr>
                                        <p:cTn id="38" dur="500" fill="hold"/>
                                        <p:tgtEl>
                                          <p:spTgt spid="46"/>
                                        </p:tgtEl>
                                        <p:attrNameLst>
                                          <p:attrName>ppt_h</p:attrName>
                                        </p:attrNameLst>
                                      </p:cBhvr>
                                      <p:tavLst>
                                        <p:tav tm="0">
                                          <p:val>
                                            <p:fltVal val="0"/>
                                          </p:val>
                                        </p:tav>
                                        <p:tav tm="100000">
                                          <p:val>
                                            <p:strVal val="#ppt_h"/>
                                          </p:val>
                                        </p:tav>
                                      </p:tavLst>
                                    </p:anim>
                                    <p:animEffect transition="in" filter="fade">
                                      <p:cBhvr>
                                        <p:cTn id="39" dur="500"/>
                                        <p:tgtEl>
                                          <p:spTgt spid="46"/>
                                        </p:tgtEl>
                                      </p:cBhvr>
                                    </p:animEffect>
                                  </p:childTnLst>
                                </p:cTn>
                              </p:par>
                            </p:childTnLst>
                          </p:cTn>
                        </p:par>
                        <p:par>
                          <p:cTn id="40" fill="hold">
                            <p:stCondLst>
                              <p:cond delay="4000"/>
                            </p:stCondLst>
                            <p:childTnLst>
                              <p:par>
                                <p:cTn id="41" presetID="53" presetClass="entr" presetSubtype="16" fill="hold" grpId="0" nodeType="afterEffect">
                                  <p:stCondLst>
                                    <p:cond delay="0"/>
                                  </p:stCondLst>
                                  <p:childTnLst>
                                    <p:set>
                                      <p:cBhvr>
                                        <p:cTn id="42" dur="1" fill="hold">
                                          <p:stCondLst>
                                            <p:cond delay="0"/>
                                          </p:stCondLst>
                                        </p:cTn>
                                        <p:tgtEl>
                                          <p:spTgt spid="48"/>
                                        </p:tgtEl>
                                        <p:attrNameLst>
                                          <p:attrName>style.visibility</p:attrName>
                                        </p:attrNameLst>
                                      </p:cBhvr>
                                      <p:to>
                                        <p:strVal val="visible"/>
                                      </p:to>
                                    </p:set>
                                    <p:anim calcmode="lin" valueType="num">
                                      <p:cBhvr>
                                        <p:cTn id="43" dur="500" fill="hold"/>
                                        <p:tgtEl>
                                          <p:spTgt spid="48"/>
                                        </p:tgtEl>
                                        <p:attrNameLst>
                                          <p:attrName>ppt_w</p:attrName>
                                        </p:attrNameLst>
                                      </p:cBhvr>
                                      <p:tavLst>
                                        <p:tav tm="0">
                                          <p:val>
                                            <p:fltVal val="0"/>
                                          </p:val>
                                        </p:tav>
                                        <p:tav tm="100000">
                                          <p:val>
                                            <p:strVal val="#ppt_w"/>
                                          </p:val>
                                        </p:tav>
                                      </p:tavLst>
                                    </p:anim>
                                    <p:anim calcmode="lin" valueType="num">
                                      <p:cBhvr>
                                        <p:cTn id="44" dur="500" fill="hold"/>
                                        <p:tgtEl>
                                          <p:spTgt spid="48"/>
                                        </p:tgtEl>
                                        <p:attrNameLst>
                                          <p:attrName>ppt_h</p:attrName>
                                        </p:attrNameLst>
                                      </p:cBhvr>
                                      <p:tavLst>
                                        <p:tav tm="0">
                                          <p:val>
                                            <p:fltVal val="0"/>
                                          </p:val>
                                        </p:tav>
                                        <p:tav tm="100000">
                                          <p:val>
                                            <p:strVal val="#ppt_h"/>
                                          </p:val>
                                        </p:tav>
                                      </p:tavLst>
                                    </p:anim>
                                    <p:animEffect transition="in" filter="fade">
                                      <p:cBhvr>
                                        <p:cTn id="45" dur="5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0"/>
                                        </p:tgtEl>
                                        <p:attrNameLst>
                                          <p:attrName>style.visibility</p:attrName>
                                        </p:attrNameLst>
                                      </p:cBhvr>
                                      <p:to>
                                        <p:strVal val="visible"/>
                                      </p:to>
                                    </p:set>
                                    <p:anim calcmode="lin" valueType="num">
                                      <p:cBhvr>
                                        <p:cTn id="50" dur="500" fill="hold"/>
                                        <p:tgtEl>
                                          <p:spTgt spid="50"/>
                                        </p:tgtEl>
                                        <p:attrNameLst>
                                          <p:attrName>ppt_w</p:attrName>
                                        </p:attrNameLst>
                                      </p:cBhvr>
                                      <p:tavLst>
                                        <p:tav tm="0">
                                          <p:val>
                                            <p:fltVal val="0"/>
                                          </p:val>
                                        </p:tav>
                                        <p:tav tm="100000">
                                          <p:val>
                                            <p:strVal val="#ppt_w"/>
                                          </p:val>
                                        </p:tav>
                                      </p:tavLst>
                                    </p:anim>
                                    <p:anim calcmode="lin" valueType="num">
                                      <p:cBhvr>
                                        <p:cTn id="51" dur="500" fill="hold"/>
                                        <p:tgtEl>
                                          <p:spTgt spid="50"/>
                                        </p:tgtEl>
                                        <p:attrNameLst>
                                          <p:attrName>ppt_h</p:attrName>
                                        </p:attrNameLst>
                                      </p:cBhvr>
                                      <p:tavLst>
                                        <p:tav tm="0">
                                          <p:val>
                                            <p:fltVal val="0"/>
                                          </p:val>
                                        </p:tav>
                                        <p:tav tm="100000">
                                          <p:val>
                                            <p:strVal val="#ppt_h"/>
                                          </p:val>
                                        </p:tav>
                                      </p:tavLst>
                                    </p:anim>
                                    <p:animEffect transition="in" filter="fade">
                                      <p:cBhvr>
                                        <p:cTn id="52" dur="500"/>
                                        <p:tgtEl>
                                          <p:spTgt spid="50"/>
                                        </p:tgtEl>
                                      </p:cBhvr>
                                    </p:animEffect>
                                  </p:childTnLst>
                                </p:cTn>
                              </p:par>
                            </p:childTnLst>
                          </p:cTn>
                        </p:par>
                        <p:par>
                          <p:cTn id="53" fill="hold">
                            <p:stCondLst>
                              <p:cond delay="500"/>
                            </p:stCondLst>
                            <p:childTnLst>
                              <p:par>
                                <p:cTn id="54" presetID="53" presetClass="entr" presetSubtype="16" fill="hold" grpId="0" nodeType="afterEffect">
                                  <p:stCondLst>
                                    <p:cond delay="250"/>
                                  </p:stCondLst>
                                  <p:childTnLst>
                                    <p:set>
                                      <p:cBhvr>
                                        <p:cTn id="55" dur="1" fill="hold">
                                          <p:stCondLst>
                                            <p:cond delay="0"/>
                                          </p:stCondLst>
                                        </p:cTn>
                                        <p:tgtEl>
                                          <p:spTgt spid="52"/>
                                        </p:tgtEl>
                                        <p:attrNameLst>
                                          <p:attrName>style.visibility</p:attrName>
                                        </p:attrNameLst>
                                      </p:cBhvr>
                                      <p:to>
                                        <p:strVal val="visible"/>
                                      </p:to>
                                    </p:set>
                                    <p:anim calcmode="lin" valueType="num">
                                      <p:cBhvr>
                                        <p:cTn id="56" dur="500" fill="hold"/>
                                        <p:tgtEl>
                                          <p:spTgt spid="52"/>
                                        </p:tgtEl>
                                        <p:attrNameLst>
                                          <p:attrName>ppt_w</p:attrName>
                                        </p:attrNameLst>
                                      </p:cBhvr>
                                      <p:tavLst>
                                        <p:tav tm="0">
                                          <p:val>
                                            <p:fltVal val="0"/>
                                          </p:val>
                                        </p:tav>
                                        <p:tav tm="100000">
                                          <p:val>
                                            <p:strVal val="#ppt_w"/>
                                          </p:val>
                                        </p:tav>
                                      </p:tavLst>
                                    </p:anim>
                                    <p:anim calcmode="lin" valueType="num">
                                      <p:cBhvr>
                                        <p:cTn id="57" dur="500" fill="hold"/>
                                        <p:tgtEl>
                                          <p:spTgt spid="52"/>
                                        </p:tgtEl>
                                        <p:attrNameLst>
                                          <p:attrName>ppt_h</p:attrName>
                                        </p:attrNameLst>
                                      </p:cBhvr>
                                      <p:tavLst>
                                        <p:tav tm="0">
                                          <p:val>
                                            <p:fltVal val="0"/>
                                          </p:val>
                                        </p:tav>
                                        <p:tav tm="100000">
                                          <p:val>
                                            <p:strVal val="#ppt_h"/>
                                          </p:val>
                                        </p:tav>
                                      </p:tavLst>
                                    </p:anim>
                                    <p:animEffect transition="in" filter="fade">
                                      <p:cBhvr>
                                        <p:cTn id="58" dur="500"/>
                                        <p:tgtEl>
                                          <p:spTgt spid="52"/>
                                        </p:tgtEl>
                                      </p:cBhvr>
                                    </p:animEffect>
                                  </p:childTnLst>
                                </p:cTn>
                              </p:par>
                            </p:childTnLst>
                          </p:cTn>
                        </p:par>
                        <p:par>
                          <p:cTn id="59" fill="hold">
                            <p:stCondLst>
                              <p:cond delay="1250"/>
                            </p:stCondLst>
                            <p:childTnLst>
                              <p:par>
                                <p:cTn id="60" presetID="53" presetClass="entr" presetSubtype="16" fill="hold" grpId="0" nodeType="afterEffect">
                                  <p:stCondLst>
                                    <p:cond delay="250"/>
                                  </p:stCondLst>
                                  <p:childTnLst>
                                    <p:set>
                                      <p:cBhvr>
                                        <p:cTn id="61" dur="1" fill="hold">
                                          <p:stCondLst>
                                            <p:cond delay="0"/>
                                          </p:stCondLst>
                                        </p:cTn>
                                        <p:tgtEl>
                                          <p:spTgt spid="53"/>
                                        </p:tgtEl>
                                        <p:attrNameLst>
                                          <p:attrName>style.visibility</p:attrName>
                                        </p:attrNameLst>
                                      </p:cBhvr>
                                      <p:to>
                                        <p:strVal val="visible"/>
                                      </p:to>
                                    </p:set>
                                    <p:anim calcmode="lin" valueType="num">
                                      <p:cBhvr>
                                        <p:cTn id="62" dur="500" fill="hold"/>
                                        <p:tgtEl>
                                          <p:spTgt spid="53"/>
                                        </p:tgtEl>
                                        <p:attrNameLst>
                                          <p:attrName>ppt_w</p:attrName>
                                        </p:attrNameLst>
                                      </p:cBhvr>
                                      <p:tavLst>
                                        <p:tav tm="0">
                                          <p:val>
                                            <p:fltVal val="0"/>
                                          </p:val>
                                        </p:tav>
                                        <p:tav tm="100000">
                                          <p:val>
                                            <p:strVal val="#ppt_w"/>
                                          </p:val>
                                        </p:tav>
                                      </p:tavLst>
                                    </p:anim>
                                    <p:anim calcmode="lin" valueType="num">
                                      <p:cBhvr>
                                        <p:cTn id="63" dur="500" fill="hold"/>
                                        <p:tgtEl>
                                          <p:spTgt spid="53"/>
                                        </p:tgtEl>
                                        <p:attrNameLst>
                                          <p:attrName>ppt_h</p:attrName>
                                        </p:attrNameLst>
                                      </p:cBhvr>
                                      <p:tavLst>
                                        <p:tav tm="0">
                                          <p:val>
                                            <p:fltVal val="0"/>
                                          </p:val>
                                        </p:tav>
                                        <p:tav tm="100000">
                                          <p:val>
                                            <p:strVal val="#ppt_h"/>
                                          </p:val>
                                        </p:tav>
                                      </p:tavLst>
                                    </p:anim>
                                    <p:animEffect transition="in" filter="fade">
                                      <p:cBhvr>
                                        <p:cTn id="64" dur="500"/>
                                        <p:tgtEl>
                                          <p:spTgt spid="53"/>
                                        </p:tgtEl>
                                      </p:cBhvr>
                                    </p:animEffect>
                                  </p:childTnLst>
                                </p:cTn>
                              </p:par>
                            </p:childTnLst>
                          </p:cTn>
                        </p:par>
                        <p:par>
                          <p:cTn id="65" fill="hold">
                            <p:stCondLst>
                              <p:cond delay="2000"/>
                            </p:stCondLst>
                            <p:childTnLst>
                              <p:par>
                                <p:cTn id="66" presetID="53" presetClass="entr" presetSubtype="16" fill="hold" grpId="0" nodeType="afterEffect">
                                  <p:stCondLst>
                                    <p:cond delay="250"/>
                                  </p:stCondLst>
                                  <p:childTnLst>
                                    <p:set>
                                      <p:cBhvr>
                                        <p:cTn id="67" dur="1" fill="hold">
                                          <p:stCondLst>
                                            <p:cond delay="0"/>
                                          </p:stCondLst>
                                        </p:cTn>
                                        <p:tgtEl>
                                          <p:spTgt spid="54"/>
                                        </p:tgtEl>
                                        <p:attrNameLst>
                                          <p:attrName>style.visibility</p:attrName>
                                        </p:attrNameLst>
                                      </p:cBhvr>
                                      <p:to>
                                        <p:strVal val="visible"/>
                                      </p:to>
                                    </p:set>
                                    <p:anim calcmode="lin" valueType="num">
                                      <p:cBhvr>
                                        <p:cTn id="68" dur="500" fill="hold"/>
                                        <p:tgtEl>
                                          <p:spTgt spid="54"/>
                                        </p:tgtEl>
                                        <p:attrNameLst>
                                          <p:attrName>ppt_w</p:attrName>
                                        </p:attrNameLst>
                                      </p:cBhvr>
                                      <p:tavLst>
                                        <p:tav tm="0">
                                          <p:val>
                                            <p:fltVal val="0"/>
                                          </p:val>
                                        </p:tav>
                                        <p:tav tm="100000">
                                          <p:val>
                                            <p:strVal val="#ppt_w"/>
                                          </p:val>
                                        </p:tav>
                                      </p:tavLst>
                                    </p:anim>
                                    <p:anim calcmode="lin" valueType="num">
                                      <p:cBhvr>
                                        <p:cTn id="69" dur="500" fill="hold"/>
                                        <p:tgtEl>
                                          <p:spTgt spid="54"/>
                                        </p:tgtEl>
                                        <p:attrNameLst>
                                          <p:attrName>ppt_h</p:attrName>
                                        </p:attrNameLst>
                                      </p:cBhvr>
                                      <p:tavLst>
                                        <p:tav tm="0">
                                          <p:val>
                                            <p:fltVal val="0"/>
                                          </p:val>
                                        </p:tav>
                                        <p:tav tm="100000">
                                          <p:val>
                                            <p:strVal val="#ppt_h"/>
                                          </p:val>
                                        </p:tav>
                                      </p:tavLst>
                                    </p:anim>
                                    <p:animEffect transition="in" filter="fade">
                                      <p:cBhvr>
                                        <p:cTn id="70" dur="500"/>
                                        <p:tgtEl>
                                          <p:spTgt spid="54"/>
                                        </p:tgtEl>
                                      </p:cBhvr>
                                    </p:animEffect>
                                  </p:childTnLst>
                                </p:cTn>
                              </p:par>
                            </p:childTnLst>
                          </p:cTn>
                        </p:par>
                        <p:par>
                          <p:cTn id="71" fill="hold">
                            <p:stCondLst>
                              <p:cond delay="2750"/>
                            </p:stCondLst>
                            <p:childTnLst>
                              <p:par>
                                <p:cTn id="72" presetID="53" presetClass="entr" presetSubtype="16" fill="hold" grpId="0" nodeType="afterEffect">
                                  <p:stCondLst>
                                    <p:cond delay="250"/>
                                  </p:stCondLst>
                                  <p:childTnLst>
                                    <p:set>
                                      <p:cBhvr>
                                        <p:cTn id="73" dur="1" fill="hold">
                                          <p:stCondLst>
                                            <p:cond delay="0"/>
                                          </p:stCondLst>
                                        </p:cTn>
                                        <p:tgtEl>
                                          <p:spTgt spid="55"/>
                                        </p:tgtEl>
                                        <p:attrNameLst>
                                          <p:attrName>style.visibility</p:attrName>
                                        </p:attrNameLst>
                                      </p:cBhvr>
                                      <p:to>
                                        <p:strVal val="visible"/>
                                      </p:to>
                                    </p:set>
                                    <p:anim calcmode="lin" valueType="num">
                                      <p:cBhvr>
                                        <p:cTn id="74" dur="500" fill="hold"/>
                                        <p:tgtEl>
                                          <p:spTgt spid="55"/>
                                        </p:tgtEl>
                                        <p:attrNameLst>
                                          <p:attrName>ppt_w</p:attrName>
                                        </p:attrNameLst>
                                      </p:cBhvr>
                                      <p:tavLst>
                                        <p:tav tm="0">
                                          <p:val>
                                            <p:fltVal val="0"/>
                                          </p:val>
                                        </p:tav>
                                        <p:tav tm="100000">
                                          <p:val>
                                            <p:strVal val="#ppt_w"/>
                                          </p:val>
                                        </p:tav>
                                      </p:tavLst>
                                    </p:anim>
                                    <p:anim calcmode="lin" valueType="num">
                                      <p:cBhvr>
                                        <p:cTn id="75" dur="500" fill="hold"/>
                                        <p:tgtEl>
                                          <p:spTgt spid="55"/>
                                        </p:tgtEl>
                                        <p:attrNameLst>
                                          <p:attrName>ppt_h</p:attrName>
                                        </p:attrNameLst>
                                      </p:cBhvr>
                                      <p:tavLst>
                                        <p:tav tm="0">
                                          <p:val>
                                            <p:fltVal val="0"/>
                                          </p:val>
                                        </p:tav>
                                        <p:tav tm="100000">
                                          <p:val>
                                            <p:strVal val="#ppt_h"/>
                                          </p:val>
                                        </p:tav>
                                      </p:tavLst>
                                    </p:anim>
                                    <p:animEffect transition="in" filter="fade">
                                      <p:cBhvr>
                                        <p:cTn id="76" dur="500"/>
                                        <p:tgtEl>
                                          <p:spTgt spid="55"/>
                                        </p:tgtEl>
                                      </p:cBhvr>
                                    </p:animEffect>
                                  </p:childTnLst>
                                </p:cTn>
                              </p:par>
                            </p:childTnLst>
                          </p:cTn>
                        </p:par>
                        <p:par>
                          <p:cTn id="77" fill="hold">
                            <p:stCondLst>
                              <p:cond delay="3500"/>
                            </p:stCondLst>
                            <p:childTnLst>
                              <p:par>
                                <p:cTn id="78" presetID="53" presetClass="entr" presetSubtype="16" fill="hold" grpId="0" nodeType="afterEffect">
                                  <p:stCondLst>
                                    <p:cond delay="250"/>
                                  </p:stCondLst>
                                  <p:childTnLst>
                                    <p:set>
                                      <p:cBhvr>
                                        <p:cTn id="79" dur="1" fill="hold">
                                          <p:stCondLst>
                                            <p:cond delay="0"/>
                                          </p:stCondLst>
                                        </p:cTn>
                                        <p:tgtEl>
                                          <p:spTgt spid="56"/>
                                        </p:tgtEl>
                                        <p:attrNameLst>
                                          <p:attrName>style.visibility</p:attrName>
                                        </p:attrNameLst>
                                      </p:cBhvr>
                                      <p:to>
                                        <p:strVal val="visible"/>
                                      </p:to>
                                    </p:set>
                                    <p:anim calcmode="lin" valueType="num">
                                      <p:cBhvr>
                                        <p:cTn id="80" dur="500" fill="hold"/>
                                        <p:tgtEl>
                                          <p:spTgt spid="56"/>
                                        </p:tgtEl>
                                        <p:attrNameLst>
                                          <p:attrName>ppt_w</p:attrName>
                                        </p:attrNameLst>
                                      </p:cBhvr>
                                      <p:tavLst>
                                        <p:tav tm="0">
                                          <p:val>
                                            <p:fltVal val="0"/>
                                          </p:val>
                                        </p:tav>
                                        <p:tav tm="100000">
                                          <p:val>
                                            <p:strVal val="#ppt_w"/>
                                          </p:val>
                                        </p:tav>
                                      </p:tavLst>
                                    </p:anim>
                                    <p:anim calcmode="lin" valueType="num">
                                      <p:cBhvr>
                                        <p:cTn id="81" dur="500" fill="hold"/>
                                        <p:tgtEl>
                                          <p:spTgt spid="56"/>
                                        </p:tgtEl>
                                        <p:attrNameLst>
                                          <p:attrName>ppt_h</p:attrName>
                                        </p:attrNameLst>
                                      </p:cBhvr>
                                      <p:tavLst>
                                        <p:tav tm="0">
                                          <p:val>
                                            <p:fltVal val="0"/>
                                          </p:val>
                                        </p:tav>
                                        <p:tav tm="100000">
                                          <p:val>
                                            <p:strVal val="#ppt_h"/>
                                          </p:val>
                                        </p:tav>
                                      </p:tavLst>
                                    </p:anim>
                                    <p:animEffect transition="in" filter="fade">
                                      <p:cBhvr>
                                        <p:cTn id="82" dur="500"/>
                                        <p:tgtEl>
                                          <p:spTgt spid="56"/>
                                        </p:tgtEl>
                                      </p:cBhvr>
                                    </p:animEffect>
                                  </p:childTnLst>
                                </p:cTn>
                              </p:par>
                            </p:childTnLst>
                          </p:cTn>
                        </p:par>
                        <p:par>
                          <p:cTn id="83" fill="hold">
                            <p:stCondLst>
                              <p:cond delay="4250"/>
                            </p:stCondLst>
                            <p:childTnLst>
                              <p:par>
                                <p:cTn id="84" presetID="53" presetClass="entr" presetSubtype="16" fill="hold" grpId="0" nodeType="afterEffect">
                                  <p:stCondLst>
                                    <p:cond delay="250"/>
                                  </p:stCondLst>
                                  <p:childTnLst>
                                    <p:set>
                                      <p:cBhvr>
                                        <p:cTn id="85" dur="1" fill="hold">
                                          <p:stCondLst>
                                            <p:cond delay="0"/>
                                          </p:stCondLst>
                                        </p:cTn>
                                        <p:tgtEl>
                                          <p:spTgt spid="57"/>
                                        </p:tgtEl>
                                        <p:attrNameLst>
                                          <p:attrName>style.visibility</p:attrName>
                                        </p:attrNameLst>
                                      </p:cBhvr>
                                      <p:to>
                                        <p:strVal val="visible"/>
                                      </p:to>
                                    </p:set>
                                    <p:anim calcmode="lin" valueType="num">
                                      <p:cBhvr>
                                        <p:cTn id="86" dur="500" fill="hold"/>
                                        <p:tgtEl>
                                          <p:spTgt spid="57"/>
                                        </p:tgtEl>
                                        <p:attrNameLst>
                                          <p:attrName>ppt_w</p:attrName>
                                        </p:attrNameLst>
                                      </p:cBhvr>
                                      <p:tavLst>
                                        <p:tav tm="0">
                                          <p:val>
                                            <p:fltVal val="0"/>
                                          </p:val>
                                        </p:tav>
                                        <p:tav tm="100000">
                                          <p:val>
                                            <p:strVal val="#ppt_w"/>
                                          </p:val>
                                        </p:tav>
                                      </p:tavLst>
                                    </p:anim>
                                    <p:anim calcmode="lin" valueType="num">
                                      <p:cBhvr>
                                        <p:cTn id="87" dur="500" fill="hold"/>
                                        <p:tgtEl>
                                          <p:spTgt spid="57"/>
                                        </p:tgtEl>
                                        <p:attrNameLst>
                                          <p:attrName>ppt_h</p:attrName>
                                        </p:attrNameLst>
                                      </p:cBhvr>
                                      <p:tavLst>
                                        <p:tav tm="0">
                                          <p:val>
                                            <p:fltVal val="0"/>
                                          </p:val>
                                        </p:tav>
                                        <p:tav tm="100000">
                                          <p:val>
                                            <p:strVal val="#ppt_h"/>
                                          </p:val>
                                        </p:tav>
                                      </p:tavLst>
                                    </p:anim>
                                    <p:animEffect transition="in" filter="fade">
                                      <p:cBhvr>
                                        <p:cTn id="8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p:bldP spid="39" grpId="0"/>
      <p:bldP spid="40" grpId="0"/>
      <p:bldP spid="44" grpId="0"/>
      <p:bldP spid="46" grpId="0"/>
      <p:bldP spid="48" grpId="0"/>
      <p:bldP spid="50" grpId="0"/>
      <p:bldP spid="52" grpId="0"/>
      <p:bldP spid="53" grpId="0"/>
      <p:bldP spid="54" grpId="0"/>
      <p:bldP spid="55" grpId="0"/>
      <p:bldP spid="56" grpId="0"/>
      <p:bldP spid="5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US" dirty="0" err="1"/>
              <a:t>Técnica</a:t>
            </a:r>
            <a:r>
              <a:rPr lang="en-US" dirty="0"/>
              <a:t> de Huffman</a:t>
            </a:r>
            <a:endParaRPr lang="es-NI" dirty="0"/>
          </a:p>
        </p:txBody>
      </p:sp>
      <p:sp>
        <p:nvSpPr>
          <p:cNvPr id="2" name="1 Marcador de contenido"/>
          <p:cNvSpPr>
            <a:spLocks noGrp="1"/>
          </p:cNvSpPr>
          <p:nvPr>
            <p:ph idx="1"/>
          </p:nvPr>
        </p:nvSpPr>
        <p:spPr>
          <a:xfrm>
            <a:off x="381001" y="1289303"/>
            <a:ext cx="8407893" cy="3514695"/>
          </a:xfrm>
        </p:spPr>
        <p:txBody>
          <a:bodyPr>
            <a:normAutofit/>
          </a:bodyPr>
          <a:lstStyle/>
          <a:p>
            <a:r>
              <a:rPr lang="en-US" dirty="0">
                <a:solidFill>
                  <a:schemeClr val="accent1">
                    <a:lumMod val="75000"/>
                  </a:schemeClr>
                </a:solidFill>
              </a:rPr>
              <a:t>4: </a:t>
            </a:r>
            <a:r>
              <a:rPr lang="en-US" dirty="0" err="1">
                <a:solidFill>
                  <a:srgbClr val="0070C0"/>
                </a:solidFill>
              </a:rPr>
              <a:t>Etiquetar</a:t>
            </a:r>
            <a:r>
              <a:rPr lang="en-US" dirty="0">
                <a:solidFill>
                  <a:srgbClr val="0070C0"/>
                </a:solidFill>
              </a:rPr>
              <a:t> con 0 </a:t>
            </a:r>
            <a:r>
              <a:rPr lang="en-US" dirty="0" err="1">
                <a:solidFill>
                  <a:srgbClr val="0070C0"/>
                </a:solidFill>
              </a:rPr>
              <a:t>las</a:t>
            </a:r>
            <a:r>
              <a:rPr lang="en-US" dirty="0">
                <a:solidFill>
                  <a:srgbClr val="0070C0"/>
                </a:solidFill>
              </a:rPr>
              <a:t> </a:t>
            </a:r>
            <a:r>
              <a:rPr lang="en-US" dirty="0" err="1">
                <a:solidFill>
                  <a:srgbClr val="0070C0"/>
                </a:solidFill>
              </a:rPr>
              <a:t>ramas</a:t>
            </a:r>
            <a:r>
              <a:rPr lang="en-US" dirty="0">
                <a:solidFill>
                  <a:srgbClr val="0070C0"/>
                </a:solidFill>
              </a:rPr>
              <a:t> </a:t>
            </a:r>
            <a:r>
              <a:rPr lang="en-US" dirty="0" err="1">
                <a:solidFill>
                  <a:srgbClr val="0070C0"/>
                </a:solidFill>
              </a:rPr>
              <a:t>derechas</a:t>
            </a:r>
            <a:r>
              <a:rPr lang="en-US" dirty="0">
                <a:solidFill>
                  <a:srgbClr val="0070C0"/>
                </a:solidFill>
              </a:rPr>
              <a:t> del </a:t>
            </a:r>
            <a:r>
              <a:rPr lang="en-US" dirty="0" err="1">
                <a:solidFill>
                  <a:srgbClr val="0070C0"/>
                </a:solidFill>
              </a:rPr>
              <a:t>árbol</a:t>
            </a:r>
            <a:r>
              <a:rPr lang="en-US" dirty="0">
                <a:solidFill>
                  <a:srgbClr val="0070C0"/>
                </a:solidFill>
              </a:rPr>
              <a:t> y con 1 </a:t>
            </a:r>
            <a:r>
              <a:rPr lang="en-US" dirty="0" err="1">
                <a:solidFill>
                  <a:srgbClr val="0070C0"/>
                </a:solidFill>
              </a:rPr>
              <a:t>las</a:t>
            </a:r>
            <a:r>
              <a:rPr lang="en-US" dirty="0">
                <a:solidFill>
                  <a:srgbClr val="0070C0"/>
                </a:solidFill>
              </a:rPr>
              <a:t> </a:t>
            </a:r>
            <a:r>
              <a:rPr lang="en-US" dirty="0" err="1">
                <a:solidFill>
                  <a:srgbClr val="0070C0"/>
                </a:solidFill>
              </a:rPr>
              <a:t>ramas</a:t>
            </a:r>
            <a:r>
              <a:rPr lang="en-US" dirty="0">
                <a:solidFill>
                  <a:srgbClr val="0070C0"/>
                </a:solidFill>
              </a:rPr>
              <a:t> </a:t>
            </a:r>
            <a:r>
              <a:rPr lang="en-US" dirty="0" err="1">
                <a:solidFill>
                  <a:srgbClr val="0070C0"/>
                </a:solidFill>
              </a:rPr>
              <a:t>izquierdas</a:t>
            </a:r>
            <a:r>
              <a:rPr lang="en-US" dirty="0">
                <a:solidFill>
                  <a:srgbClr val="0070C0"/>
                </a:solidFill>
              </a:rPr>
              <a:t>.</a:t>
            </a:r>
          </a:p>
          <a:p>
            <a:r>
              <a:rPr lang="en-US" dirty="0">
                <a:solidFill>
                  <a:schemeClr val="accent1">
                    <a:lumMod val="75000"/>
                  </a:schemeClr>
                </a:solidFill>
              </a:rPr>
              <a:t>5: </a:t>
            </a:r>
            <a:r>
              <a:rPr lang="en-US" dirty="0" err="1">
                <a:solidFill>
                  <a:srgbClr val="0070C0"/>
                </a:solidFill>
              </a:rPr>
              <a:t>Determinar</a:t>
            </a:r>
            <a:r>
              <a:rPr lang="en-US" dirty="0">
                <a:solidFill>
                  <a:srgbClr val="0070C0"/>
                </a:solidFill>
              </a:rPr>
              <a:t> el </a:t>
            </a:r>
            <a:r>
              <a:rPr lang="en-US" dirty="0" err="1">
                <a:solidFill>
                  <a:srgbClr val="0070C0"/>
                </a:solidFill>
              </a:rPr>
              <a:t>código</a:t>
            </a:r>
            <a:r>
              <a:rPr lang="en-US" dirty="0">
                <a:solidFill>
                  <a:srgbClr val="0070C0"/>
                </a:solidFill>
              </a:rPr>
              <a:t> de </a:t>
            </a:r>
            <a:r>
              <a:rPr lang="en-US" dirty="0" err="1">
                <a:solidFill>
                  <a:srgbClr val="0070C0"/>
                </a:solidFill>
              </a:rPr>
              <a:t>cada</a:t>
            </a:r>
            <a:r>
              <a:rPr lang="en-US" dirty="0">
                <a:solidFill>
                  <a:srgbClr val="0070C0"/>
                </a:solidFill>
              </a:rPr>
              <a:t> </a:t>
            </a:r>
            <a:r>
              <a:rPr lang="en-US" dirty="0" err="1">
                <a:solidFill>
                  <a:srgbClr val="0070C0"/>
                </a:solidFill>
              </a:rPr>
              <a:t>operación</a:t>
            </a:r>
            <a:r>
              <a:rPr lang="en-US" dirty="0">
                <a:solidFill>
                  <a:srgbClr val="0070C0"/>
                </a:solidFill>
              </a:rPr>
              <a:t> </a:t>
            </a:r>
            <a:r>
              <a:rPr lang="en-US" dirty="0" err="1">
                <a:solidFill>
                  <a:srgbClr val="0070C0"/>
                </a:solidFill>
              </a:rPr>
              <a:t>recorriendo</a:t>
            </a:r>
            <a:r>
              <a:rPr lang="en-US" dirty="0">
                <a:solidFill>
                  <a:srgbClr val="0070C0"/>
                </a:solidFill>
              </a:rPr>
              <a:t> el </a:t>
            </a:r>
            <a:r>
              <a:rPr lang="en-US" dirty="0" err="1">
                <a:solidFill>
                  <a:srgbClr val="0070C0"/>
                </a:solidFill>
              </a:rPr>
              <a:t>árbol</a:t>
            </a:r>
            <a:r>
              <a:rPr lang="en-US" dirty="0">
                <a:solidFill>
                  <a:srgbClr val="0070C0"/>
                </a:solidFill>
              </a:rPr>
              <a:t> de la </a:t>
            </a:r>
            <a:r>
              <a:rPr lang="en-US" dirty="0" err="1">
                <a:solidFill>
                  <a:srgbClr val="0070C0"/>
                </a:solidFill>
              </a:rPr>
              <a:t>raíz</a:t>
            </a:r>
            <a:r>
              <a:rPr lang="en-US" dirty="0">
                <a:solidFill>
                  <a:srgbClr val="0070C0"/>
                </a:solidFill>
              </a:rPr>
              <a:t> a la </a:t>
            </a:r>
            <a:r>
              <a:rPr lang="en-US" dirty="0" err="1">
                <a:solidFill>
                  <a:srgbClr val="0070C0"/>
                </a:solidFill>
              </a:rPr>
              <a:t>hoja</a:t>
            </a:r>
            <a:r>
              <a:rPr lang="en-US" dirty="0">
                <a:solidFill>
                  <a:srgbClr val="0070C0"/>
                </a:solidFill>
              </a:rPr>
              <a:t> de la </a:t>
            </a:r>
            <a:r>
              <a:rPr lang="en-US" dirty="0" err="1">
                <a:solidFill>
                  <a:srgbClr val="0070C0"/>
                </a:solidFill>
              </a:rPr>
              <a:t>operación</a:t>
            </a:r>
            <a:r>
              <a:rPr lang="en-US" dirty="0">
                <a:solidFill>
                  <a:srgbClr val="0070C0"/>
                </a:solidFill>
              </a:rPr>
              <a:t> </a:t>
            </a:r>
            <a:r>
              <a:rPr lang="en-US" dirty="0" err="1">
                <a:solidFill>
                  <a:srgbClr val="0070C0"/>
                </a:solidFill>
              </a:rPr>
              <a:t>correspodiente</a:t>
            </a:r>
            <a:r>
              <a:rPr lang="en-US" dirty="0">
                <a:solidFill>
                  <a:srgbClr val="0070C0"/>
                </a:solidFill>
              </a:rPr>
              <a:t>, </a:t>
            </a:r>
            <a:r>
              <a:rPr lang="en-US" dirty="0" err="1">
                <a:solidFill>
                  <a:srgbClr val="0070C0"/>
                </a:solidFill>
              </a:rPr>
              <a:t>yuxtaponiendo</a:t>
            </a:r>
            <a:r>
              <a:rPr lang="en-US" dirty="0">
                <a:solidFill>
                  <a:srgbClr val="0070C0"/>
                </a:solidFill>
              </a:rPr>
              <a:t> </a:t>
            </a:r>
            <a:r>
              <a:rPr lang="en-US" dirty="0" err="1">
                <a:solidFill>
                  <a:srgbClr val="0070C0"/>
                </a:solidFill>
              </a:rPr>
              <a:t>las</a:t>
            </a:r>
            <a:r>
              <a:rPr lang="en-US" dirty="0">
                <a:solidFill>
                  <a:srgbClr val="0070C0"/>
                </a:solidFill>
              </a:rPr>
              <a:t> </a:t>
            </a:r>
            <a:r>
              <a:rPr lang="en-US" dirty="0" err="1">
                <a:solidFill>
                  <a:srgbClr val="0070C0"/>
                </a:solidFill>
              </a:rPr>
              <a:t>etiquetas</a:t>
            </a:r>
            <a:r>
              <a:rPr lang="en-US" dirty="0">
                <a:solidFill>
                  <a:srgbClr val="0070C0"/>
                </a:solidFill>
              </a:rPr>
              <a:t> de los arcos o </a:t>
            </a:r>
            <a:r>
              <a:rPr lang="en-US" dirty="0" err="1">
                <a:solidFill>
                  <a:srgbClr val="0070C0"/>
                </a:solidFill>
              </a:rPr>
              <a:t>ramas</a:t>
            </a:r>
            <a:r>
              <a:rPr lang="en-US" dirty="0">
                <a:solidFill>
                  <a:srgbClr val="0070C0"/>
                </a:solidFill>
              </a:rPr>
              <a:t> </a:t>
            </a:r>
            <a:r>
              <a:rPr lang="en-US" dirty="0" err="1">
                <a:solidFill>
                  <a:srgbClr val="0070C0"/>
                </a:solidFill>
              </a:rPr>
              <a:t>por</a:t>
            </a:r>
            <a:r>
              <a:rPr lang="en-US" dirty="0">
                <a:solidFill>
                  <a:srgbClr val="0070C0"/>
                </a:solidFill>
              </a:rPr>
              <a:t> la </a:t>
            </a:r>
            <a:r>
              <a:rPr lang="en-US" dirty="0" err="1">
                <a:solidFill>
                  <a:srgbClr val="0070C0"/>
                </a:solidFill>
              </a:rPr>
              <a:t>que</a:t>
            </a:r>
            <a:r>
              <a:rPr lang="en-US" dirty="0">
                <a:solidFill>
                  <a:srgbClr val="0070C0"/>
                </a:solidFill>
              </a:rPr>
              <a:t> se </a:t>
            </a:r>
            <a:r>
              <a:rPr lang="en-US" dirty="0" err="1">
                <a:solidFill>
                  <a:srgbClr val="0070C0"/>
                </a:solidFill>
              </a:rPr>
              <a:t>transita</a:t>
            </a:r>
            <a:r>
              <a:rPr lang="en-US" dirty="0">
                <a:solidFill>
                  <a:srgbClr val="0070C0"/>
                </a:solidFill>
              </a:rPr>
              <a:t>.</a:t>
            </a:r>
          </a:p>
          <a:p>
            <a:endParaRPr lang="en-US" dirty="0">
              <a:solidFill>
                <a:srgbClr val="0070C0"/>
              </a:solidFill>
            </a:endParaRPr>
          </a:p>
        </p:txBody>
      </p:sp>
    </p:spTree>
    <p:extLst>
      <p:ext uri="{BB962C8B-B14F-4D97-AF65-F5344CB8AC3E}">
        <p14:creationId xmlns:p14="http://schemas.microsoft.com/office/powerpoint/2010/main" val="3089759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US" dirty="0" err="1"/>
              <a:t>Técnica</a:t>
            </a:r>
            <a:r>
              <a:rPr lang="en-US" dirty="0"/>
              <a:t> de Huffman</a:t>
            </a:r>
            <a:endParaRPr lang="es-NI" dirty="0"/>
          </a:p>
        </p:txBody>
      </p:sp>
      <p:sp>
        <p:nvSpPr>
          <p:cNvPr id="25" name="24 CuadroTexto"/>
          <p:cNvSpPr txBox="1"/>
          <p:nvPr/>
        </p:nvSpPr>
        <p:spPr>
          <a:xfrm>
            <a:off x="899592" y="1203598"/>
            <a:ext cx="7128792" cy="400110"/>
          </a:xfrm>
          <a:prstGeom prst="rect">
            <a:avLst/>
          </a:prstGeom>
          <a:noFill/>
        </p:spPr>
        <p:txBody>
          <a:bodyPr wrap="square" rtlCol="0">
            <a:spAutoFit/>
          </a:bodyPr>
          <a:lstStyle/>
          <a:p>
            <a:r>
              <a:rPr lang="en-US" sz="2000" b="1" dirty="0"/>
              <a:t>LOAD STORE  ADD  AND    NOT  RSHIFT  JUMP  HALT </a:t>
            </a:r>
            <a:endParaRPr lang="es-NI" sz="2000" b="1" dirty="0"/>
          </a:p>
        </p:txBody>
      </p:sp>
      <p:sp>
        <p:nvSpPr>
          <p:cNvPr id="26" name="25 Elipse"/>
          <p:cNvSpPr/>
          <p:nvPr/>
        </p:nvSpPr>
        <p:spPr>
          <a:xfrm>
            <a:off x="971600"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29" name="28 Elipse"/>
          <p:cNvSpPr/>
          <p:nvPr/>
        </p:nvSpPr>
        <p:spPr>
          <a:xfrm>
            <a:off x="1794549"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1/4</a:t>
            </a:r>
            <a:endParaRPr lang="es-NI" sz="1200" dirty="0"/>
          </a:p>
        </p:txBody>
      </p:sp>
      <p:sp>
        <p:nvSpPr>
          <p:cNvPr id="30" name="29 Elipse"/>
          <p:cNvSpPr/>
          <p:nvPr/>
        </p:nvSpPr>
        <p:spPr>
          <a:xfrm>
            <a:off x="2617498"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1" name="30 Elipse"/>
          <p:cNvSpPr/>
          <p:nvPr/>
        </p:nvSpPr>
        <p:spPr>
          <a:xfrm>
            <a:off x="3440447"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200" dirty="0"/>
              <a:t>1/8</a:t>
            </a:r>
            <a:endParaRPr lang="es-NI" sz="1200" dirty="0"/>
          </a:p>
        </p:txBody>
      </p:sp>
      <p:sp>
        <p:nvSpPr>
          <p:cNvPr id="32" name="31 Elipse"/>
          <p:cNvSpPr/>
          <p:nvPr/>
        </p:nvSpPr>
        <p:spPr>
          <a:xfrm>
            <a:off x="4263396"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3" name="32 Elipse"/>
          <p:cNvSpPr/>
          <p:nvPr/>
        </p:nvSpPr>
        <p:spPr>
          <a:xfrm>
            <a:off x="5086345"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4" name="33 Elipse"/>
          <p:cNvSpPr/>
          <p:nvPr/>
        </p:nvSpPr>
        <p:spPr>
          <a:xfrm>
            <a:off x="5909294"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35" name="34 Elipse"/>
          <p:cNvSpPr/>
          <p:nvPr/>
        </p:nvSpPr>
        <p:spPr>
          <a:xfrm>
            <a:off x="6732240" y="1551253"/>
            <a:ext cx="720080" cy="53599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a:t>1/16</a:t>
            </a:r>
            <a:endParaRPr lang="es-NI" sz="1100" dirty="0"/>
          </a:p>
        </p:txBody>
      </p:sp>
      <p:sp>
        <p:nvSpPr>
          <p:cNvPr id="15" name="14 Elipse"/>
          <p:cNvSpPr/>
          <p:nvPr/>
        </p:nvSpPr>
        <p:spPr>
          <a:xfrm>
            <a:off x="6372200" y="2408777"/>
            <a:ext cx="720080" cy="53599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t>1/8</a:t>
            </a:r>
            <a:endParaRPr lang="es-NI" sz="1200" dirty="0"/>
          </a:p>
        </p:txBody>
      </p:sp>
      <p:cxnSp>
        <p:nvCxnSpPr>
          <p:cNvPr id="6" name="5 Conector recto"/>
          <p:cNvCxnSpPr>
            <a:stCxn id="35" idx="4"/>
            <a:endCxn id="15" idx="0"/>
          </p:cNvCxnSpPr>
          <p:nvPr/>
        </p:nvCxnSpPr>
        <p:spPr>
          <a:xfrm flipH="1">
            <a:off x="6732240" y="2087247"/>
            <a:ext cx="360040" cy="321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a:stCxn id="34" idx="4"/>
            <a:endCxn id="15" idx="0"/>
          </p:cNvCxnSpPr>
          <p:nvPr/>
        </p:nvCxnSpPr>
        <p:spPr>
          <a:xfrm>
            <a:off x="6269334" y="2087247"/>
            <a:ext cx="462906" cy="3215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19 Elipse"/>
          <p:cNvSpPr/>
          <p:nvPr/>
        </p:nvSpPr>
        <p:spPr>
          <a:xfrm>
            <a:off x="4716016" y="2418484"/>
            <a:ext cx="720080" cy="53599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dirty="0"/>
              <a:t>1/8</a:t>
            </a:r>
            <a:endParaRPr lang="es-NI" sz="1200" dirty="0"/>
          </a:p>
        </p:txBody>
      </p:sp>
      <p:cxnSp>
        <p:nvCxnSpPr>
          <p:cNvPr id="21" name="20 Conector recto"/>
          <p:cNvCxnSpPr>
            <a:endCxn id="20" idx="0"/>
          </p:cNvCxnSpPr>
          <p:nvPr/>
        </p:nvCxnSpPr>
        <p:spPr>
          <a:xfrm flipH="1">
            <a:off x="5076056" y="2096954"/>
            <a:ext cx="360040" cy="321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a:endCxn id="20" idx="0"/>
          </p:cNvCxnSpPr>
          <p:nvPr/>
        </p:nvCxnSpPr>
        <p:spPr>
          <a:xfrm>
            <a:off x="4613150" y="2096954"/>
            <a:ext cx="462906" cy="321530"/>
          </a:xfrm>
          <a:prstGeom prst="line">
            <a:avLst/>
          </a:prstGeom>
        </p:spPr>
        <p:style>
          <a:lnRef idx="1">
            <a:schemeClr val="accent1"/>
          </a:lnRef>
          <a:fillRef idx="0">
            <a:schemeClr val="accent1"/>
          </a:fillRef>
          <a:effectRef idx="0">
            <a:schemeClr val="accent1"/>
          </a:effectRef>
          <a:fontRef idx="minor">
            <a:schemeClr val="tx1"/>
          </a:fontRef>
        </p:style>
      </p:cxnSp>
      <p:sp>
        <p:nvSpPr>
          <p:cNvPr id="23" name="22 Elipse"/>
          <p:cNvSpPr/>
          <p:nvPr/>
        </p:nvSpPr>
        <p:spPr>
          <a:xfrm>
            <a:off x="5549462" y="3147814"/>
            <a:ext cx="720080" cy="5359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1/4</a:t>
            </a:r>
            <a:endParaRPr lang="es-NI" sz="1200" dirty="0"/>
          </a:p>
        </p:txBody>
      </p:sp>
      <p:cxnSp>
        <p:nvCxnSpPr>
          <p:cNvPr id="10" name="9 Conector recto"/>
          <p:cNvCxnSpPr>
            <a:stCxn id="15" idx="4"/>
            <a:endCxn id="23" idx="0"/>
          </p:cNvCxnSpPr>
          <p:nvPr/>
        </p:nvCxnSpPr>
        <p:spPr>
          <a:xfrm flipH="1">
            <a:off x="5909502" y="2944771"/>
            <a:ext cx="822738" cy="2030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a:stCxn id="20" idx="4"/>
            <a:endCxn id="23" idx="0"/>
          </p:cNvCxnSpPr>
          <p:nvPr/>
        </p:nvCxnSpPr>
        <p:spPr>
          <a:xfrm>
            <a:off x="5076056" y="2954478"/>
            <a:ext cx="833446" cy="193336"/>
          </a:xfrm>
          <a:prstGeom prst="line">
            <a:avLst/>
          </a:prstGeom>
        </p:spPr>
        <p:style>
          <a:lnRef idx="1">
            <a:schemeClr val="accent1"/>
          </a:lnRef>
          <a:fillRef idx="0">
            <a:schemeClr val="accent1"/>
          </a:fillRef>
          <a:effectRef idx="0">
            <a:schemeClr val="accent1"/>
          </a:effectRef>
          <a:fontRef idx="minor">
            <a:schemeClr val="tx1"/>
          </a:fontRef>
        </p:style>
      </p:cxnSp>
      <p:sp>
        <p:nvSpPr>
          <p:cNvPr id="37" name="36 Elipse"/>
          <p:cNvSpPr/>
          <p:nvPr/>
        </p:nvSpPr>
        <p:spPr>
          <a:xfrm>
            <a:off x="3062554" y="2355726"/>
            <a:ext cx="720080" cy="5359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1/4</a:t>
            </a:r>
            <a:endParaRPr lang="es-NI" sz="1200" dirty="0"/>
          </a:p>
        </p:txBody>
      </p:sp>
      <p:cxnSp>
        <p:nvCxnSpPr>
          <p:cNvPr id="14" name="13 Conector recto"/>
          <p:cNvCxnSpPr>
            <a:stCxn id="31" idx="4"/>
            <a:endCxn id="37" idx="0"/>
          </p:cNvCxnSpPr>
          <p:nvPr/>
        </p:nvCxnSpPr>
        <p:spPr>
          <a:xfrm flipH="1">
            <a:off x="3422594" y="2087247"/>
            <a:ext cx="377893" cy="268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a:stCxn id="30" idx="4"/>
            <a:endCxn id="37" idx="0"/>
          </p:cNvCxnSpPr>
          <p:nvPr/>
        </p:nvCxnSpPr>
        <p:spPr>
          <a:xfrm>
            <a:off x="2977538" y="2087247"/>
            <a:ext cx="445056" cy="268479"/>
          </a:xfrm>
          <a:prstGeom prst="line">
            <a:avLst/>
          </a:prstGeom>
        </p:spPr>
        <p:style>
          <a:lnRef idx="1">
            <a:schemeClr val="accent1"/>
          </a:lnRef>
          <a:fillRef idx="0">
            <a:schemeClr val="accent1"/>
          </a:fillRef>
          <a:effectRef idx="0">
            <a:schemeClr val="accent1"/>
          </a:effectRef>
          <a:fontRef idx="minor">
            <a:schemeClr val="tx1"/>
          </a:fontRef>
        </p:style>
      </p:cxnSp>
      <p:sp>
        <p:nvSpPr>
          <p:cNvPr id="38" name="37 Elipse"/>
          <p:cNvSpPr/>
          <p:nvPr/>
        </p:nvSpPr>
        <p:spPr>
          <a:xfrm>
            <a:off x="3995936" y="3835956"/>
            <a:ext cx="720080" cy="53599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1/2</a:t>
            </a:r>
            <a:endParaRPr lang="es-NI" sz="1200" dirty="0"/>
          </a:p>
        </p:txBody>
      </p:sp>
      <p:cxnSp>
        <p:nvCxnSpPr>
          <p:cNvPr id="19" name="18 Conector recto"/>
          <p:cNvCxnSpPr>
            <a:stCxn id="23" idx="3"/>
            <a:endCxn id="38" idx="0"/>
          </p:cNvCxnSpPr>
          <p:nvPr/>
        </p:nvCxnSpPr>
        <p:spPr>
          <a:xfrm flipH="1">
            <a:off x="4355976" y="3605313"/>
            <a:ext cx="1298939" cy="23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40 Conector recto"/>
          <p:cNvCxnSpPr>
            <a:stCxn id="37" idx="4"/>
            <a:endCxn id="38" idx="0"/>
          </p:cNvCxnSpPr>
          <p:nvPr/>
        </p:nvCxnSpPr>
        <p:spPr>
          <a:xfrm>
            <a:off x="3422594" y="2891720"/>
            <a:ext cx="933382" cy="944236"/>
          </a:xfrm>
          <a:prstGeom prst="line">
            <a:avLst/>
          </a:prstGeom>
        </p:spPr>
        <p:style>
          <a:lnRef idx="1">
            <a:schemeClr val="accent1"/>
          </a:lnRef>
          <a:fillRef idx="0">
            <a:schemeClr val="accent1"/>
          </a:fillRef>
          <a:effectRef idx="0">
            <a:schemeClr val="accent1"/>
          </a:effectRef>
          <a:fontRef idx="minor">
            <a:schemeClr val="tx1"/>
          </a:fontRef>
        </p:style>
      </p:cxnSp>
      <p:sp>
        <p:nvSpPr>
          <p:cNvPr id="42" name="41 Elipse"/>
          <p:cNvSpPr/>
          <p:nvPr/>
        </p:nvSpPr>
        <p:spPr>
          <a:xfrm>
            <a:off x="1434509" y="2382800"/>
            <a:ext cx="720080" cy="53599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1/2</a:t>
            </a:r>
            <a:endParaRPr lang="es-NI" sz="1200" dirty="0"/>
          </a:p>
        </p:txBody>
      </p:sp>
      <p:sp>
        <p:nvSpPr>
          <p:cNvPr id="43" name="42 Elipse"/>
          <p:cNvSpPr/>
          <p:nvPr/>
        </p:nvSpPr>
        <p:spPr>
          <a:xfrm>
            <a:off x="3080407" y="4494196"/>
            <a:ext cx="720080" cy="535994"/>
          </a:xfrm>
          <a:prstGeom prst="ellipse">
            <a:avLst/>
          </a:prstGeom>
          <a:solidFill>
            <a:schemeClr val="accent1">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dirty="0"/>
              <a:t>1</a:t>
            </a:r>
            <a:endParaRPr lang="es-NI" sz="1200" dirty="0"/>
          </a:p>
        </p:txBody>
      </p:sp>
      <p:cxnSp>
        <p:nvCxnSpPr>
          <p:cNvPr id="45" name="44 Conector recto"/>
          <p:cNvCxnSpPr>
            <a:stCxn id="29" idx="4"/>
            <a:endCxn id="42" idx="0"/>
          </p:cNvCxnSpPr>
          <p:nvPr/>
        </p:nvCxnSpPr>
        <p:spPr>
          <a:xfrm flipH="1">
            <a:off x="1794549" y="2087247"/>
            <a:ext cx="360040" cy="295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46 Conector recto"/>
          <p:cNvCxnSpPr>
            <a:stCxn id="26" idx="4"/>
            <a:endCxn id="42" idx="0"/>
          </p:cNvCxnSpPr>
          <p:nvPr/>
        </p:nvCxnSpPr>
        <p:spPr>
          <a:xfrm>
            <a:off x="1331640" y="2087247"/>
            <a:ext cx="462909" cy="295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48 Conector recto"/>
          <p:cNvCxnSpPr>
            <a:stCxn id="38" idx="3"/>
            <a:endCxn id="43" idx="0"/>
          </p:cNvCxnSpPr>
          <p:nvPr/>
        </p:nvCxnSpPr>
        <p:spPr>
          <a:xfrm flipH="1">
            <a:off x="3440447" y="4293455"/>
            <a:ext cx="660942" cy="2007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50 Conector recto"/>
          <p:cNvCxnSpPr>
            <a:stCxn id="42" idx="4"/>
            <a:endCxn id="43" idx="0"/>
          </p:cNvCxnSpPr>
          <p:nvPr/>
        </p:nvCxnSpPr>
        <p:spPr>
          <a:xfrm>
            <a:off x="1794549" y="2918794"/>
            <a:ext cx="1645898" cy="1575402"/>
          </a:xfrm>
          <a:prstGeom prst="line">
            <a:avLst/>
          </a:prstGeom>
        </p:spPr>
        <p:style>
          <a:lnRef idx="1">
            <a:schemeClr val="accent1"/>
          </a:lnRef>
          <a:fillRef idx="0">
            <a:schemeClr val="accent1"/>
          </a:fillRef>
          <a:effectRef idx="0">
            <a:schemeClr val="accent1"/>
          </a:effectRef>
          <a:fontRef idx="minor">
            <a:schemeClr val="tx1"/>
          </a:fontRef>
        </p:style>
      </p:cxnSp>
      <p:sp>
        <p:nvSpPr>
          <p:cNvPr id="2" name="1 CuadroTexto"/>
          <p:cNvSpPr txBox="1"/>
          <p:nvPr/>
        </p:nvSpPr>
        <p:spPr>
          <a:xfrm>
            <a:off x="1285404" y="2201835"/>
            <a:ext cx="216024" cy="307777"/>
          </a:xfrm>
          <a:prstGeom prst="rect">
            <a:avLst/>
          </a:prstGeom>
          <a:noFill/>
        </p:spPr>
        <p:txBody>
          <a:bodyPr wrap="square" rtlCol="0">
            <a:spAutoFit/>
          </a:bodyPr>
          <a:lstStyle/>
          <a:p>
            <a:r>
              <a:rPr lang="en-US" sz="1400" dirty="0"/>
              <a:t>1</a:t>
            </a:r>
            <a:endParaRPr lang="es-NI" sz="1400" dirty="0"/>
          </a:p>
        </p:txBody>
      </p:sp>
      <p:sp>
        <p:nvSpPr>
          <p:cNvPr id="36" name="35 CuadroTexto"/>
          <p:cNvSpPr txBox="1"/>
          <p:nvPr/>
        </p:nvSpPr>
        <p:spPr>
          <a:xfrm>
            <a:off x="2298605" y="3566745"/>
            <a:ext cx="216024" cy="307777"/>
          </a:xfrm>
          <a:prstGeom prst="rect">
            <a:avLst/>
          </a:prstGeom>
          <a:noFill/>
        </p:spPr>
        <p:txBody>
          <a:bodyPr wrap="square" rtlCol="0">
            <a:spAutoFit/>
          </a:bodyPr>
          <a:lstStyle/>
          <a:p>
            <a:r>
              <a:rPr lang="en-US" sz="1400" dirty="0"/>
              <a:t>1</a:t>
            </a:r>
            <a:endParaRPr lang="es-NI" sz="1400" dirty="0"/>
          </a:p>
        </p:txBody>
      </p:sp>
      <p:sp>
        <p:nvSpPr>
          <p:cNvPr id="39" name="38 CuadroTexto"/>
          <p:cNvSpPr txBox="1"/>
          <p:nvPr/>
        </p:nvSpPr>
        <p:spPr>
          <a:xfrm>
            <a:off x="2945918" y="2110936"/>
            <a:ext cx="216024" cy="307777"/>
          </a:xfrm>
          <a:prstGeom prst="rect">
            <a:avLst/>
          </a:prstGeom>
          <a:noFill/>
        </p:spPr>
        <p:txBody>
          <a:bodyPr wrap="square" rtlCol="0">
            <a:spAutoFit/>
          </a:bodyPr>
          <a:lstStyle/>
          <a:p>
            <a:r>
              <a:rPr lang="en-US" sz="1400" dirty="0"/>
              <a:t>1</a:t>
            </a:r>
            <a:endParaRPr lang="es-NI" sz="1400" dirty="0"/>
          </a:p>
        </p:txBody>
      </p:sp>
      <p:sp>
        <p:nvSpPr>
          <p:cNvPr id="40" name="39 CuadroTexto"/>
          <p:cNvSpPr txBox="1"/>
          <p:nvPr/>
        </p:nvSpPr>
        <p:spPr>
          <a:xfrm>
            <a:off x="3554894" y="3258968"/>
            <a:ext cx="216024" cy="307777"/>
          </a:xfrm>
          <a:prstGeom prst="rect">
            <a:avLst/>
          </a:prstGeom>
          <a:noFill/>
        </p:spPr>
        <p:txBody>
          <a:bodyPr wrap="square" rtlCol="0">
            <a:spAutoFit/>
          </a:bodyPr>
          <a:lstStyle/>
          <a:p>
            <a:r>
              <a:rPr lang="en-US" sz="1400" dirty="0"/>
              <a:t>1</a:t>
            </a:r>
            <a:endParaRPr lang="es-NI" sz="1400" dirty="0"/>
          </a:p>
        </p:txBody>
      </p:sp>
      <p:sp>
        <p:nvSpPr>
          <p:cNvPr id="44" name="43 CuadroTexto"/>
          <p:cNvSpPr txBox="1"/>
          <p:nvPr/>
        </p:nvSpPr>
        <p:spPr>
          <a:xfrm>
            <a:off x="4604275" y="2200346"/>
            <a:ext cx="216024" cy="307777"/>
          </a:xfrm>
          <a:prstGeom prst="rect">
            <a:avLst/>
          </a:prstGeom>
          <a:noFill/>
        </p:spPr>
        <p:txBody>
          <a:bodyPr wrap="square" rtlCol="0">
            <a:spAutoFit/>
          </a:bodyPr>
          <a:lstStyle/>
          <a:p>
            <a:r>
              <a:rPr lang="en-US" sz="1400" dirty="0"/>
              <a:t>1</a:t>
            </a:r>
            <a:endParaRPr lang="es-NI" sz="1400" dirty="0"/>
          </a:p>
        </p:txBody>
      </p:sp>
      <p:sp>
        <p:nvSpPr>
          <p:cNvPr id="46" name="45 CuadroTexto"/>
          <p:cNvSpPr txBox="1"/>
          <p:nvPr/>
        </p:nvSpPr>
        <p:spPr>
          <a:xfrm>
            <a:off x="5328084" y="3056061"/>
            <a:ext cx="216024" cy="307777"/>
          </a:xfrm>
          <a:prstGeom prst="rect">
            <a:avLst/>
          </a:prstGeom>
          <a:noFill/>
        </p:spPr>
        <p:txBody>
          <a:bodyPr wrap="square" rtlCol="0">
            <a:spAutoFit/>
          </a:bodyPr>
          <a:lstStyle/>
          <a:p>
            <a:r>
              <a:rPr lang="en-US" sz="1400" dirty="0"/>
              <a:t>1</a:t>
            </a:r>
            <a:endParaRPr lang="es-NI" sz="1400" dirty="0"/>
          </a:p>
        </p:txBody>
      </p:sp>
      <p:sp>
        <p:nvSpPr>
          <p:cNvPr id="48" name="47 CuadroTexto"/>
          <p:cNvSpPr txBox="1"/>
          <p:nvPr/>
        </p:nvSpPr>
        <p:spPr>
          <a:xfrm>
            <a:off x="6245828" y="2235252"/>
            <a:ext cx="216024" cy="307777"/>
          </a:xfrm>
          <a:prstGeom prst="rect">
            <a:avLst/>
          </a:prstGeom>
          <a:noFill/>
        </p:spPr>
        <p:txBody>
          <a:bodyPr wrap="square" rtlCol="0">
            <a:spAutoFit/>
          </a:bodyPr>
          <a:lstStyle/>
          <a:p>
            <a:r>
              <a:rPr lang="en-US" sz="1400" dirty="0"/>
              <a:t>1</a:t>
            </a:r>
            <a:endParaRPr lang="es-NI" sz="1400" dirty="0"/>
          </a:p>
        </p:txBody>
      </p:sp>
      <p:sp>
        <p:nvSpPr>
          <p:cNvPr id="50" name="49 CuadroTexto"/>
          <p:cNvSpPr txBox="1"/>
          <p:nvPr/>
        </p:nvSpPr>
        <p:spPr>
          <a:xfrm>
            <a:off x="2000435" y="2197838"/>
            <a:ext cx="216024" cy="307777"/>
          </a:xfrm>
          <a:prstGeom prst="rect">
            <a:avLst/>
          </a:prstGeom>
          <a:noFill/>
        </p:spPr>
        <p:txBody>
          <a:bodyPr wrap="square" rtlCol="0">
            <a:spAutoFit/>
          </a:bodyPr>
          <a:lstStyle/>
          <a:p>
            <a:r>
              <a:rPr lang="en-US" sz="1400" dirty="0"/>
              <a:t>0</a:t>
            </a:r>
            <a:endParaRPr lang="es-NI" sz="1400" dirty="0"/>
          </a:p>
        </p:txBody>
      </p:sp>
      <p:sp>
        <p:nvSpPr>
          <p:cNvPr id="52" name="51 CuadroTexto"/>
          <p:cNvSpPr txBox="1"/>
          <p:nvPr/>
        </p:nvSpPr>
        <p:spPr>
          <a:xfrm>
            <a:off x="3770918" y="2111165"/>
            <a:ext cx="216024" cy="307777"/>
          </a:xfrm>
          <a:prstGeom prst="rect">
            <a:avLst/>
          </a:prstGeom>
          <a:noFill/>
        </p:spPr>
        <p:txBody>
          <a:bodyPr wrap="square" rtlCol="0">
            <a:spAutoFit/>
          </a:bodyPr>
          <a:lstStyle/>
          <a:p>
            <a:r>
              <a:rPr lang="en-US" sz="1400" dirty="0"/>
              <a:t>0</a:t>
            </a:r>
            <a:endParaRPr lang="es-NI" sz="1400" dirty="0"/>
          </a:p>
        </p:txBody>
      </p:sp>
      <p:sp>
        <p:nvSpPr>
          <p:cNvPr id="53" name="52 CuadroTexto"/>
          <p:cNvSpPr txBox="1"/>
          <p:nvPr/>
        </p:nvSpPr>
        <p:spPr>
          <a:xfrm>
            <a:off x="3878930" y="4372179"/>
            <a:ext cx="216024" cy="307777"/>
          </a:xfrm>
          <a:prstGeom prst="rect">
            <a:avLst/>
          </a:prstGeom>
          <a:noFill/>
        </p:spPr>
        <p:txBody>
          <a:bodyPr wrap="square" rtlCol="0">
            <a:spAutoFit/>
          </a:bodyPr>
          <a:lstStyle/>
          <a:p>
            <a:r>
              <a:rPr lang="en-US" sz="1400" dirty="0"/>
              <a:t>0</a:t>
            </a:r>
            <a:endParaRPr lang="es-NI" sz="1400" dirty="0"/>
          </a:p>
        </p:txBody>
      </p:sp>
      <p:sp>
        <p:nvSpPr>
          <p:cNvPr id="54" name="53 CuadroTexto"/>
          <p:cNvSpPr txBox="1"/>
          <p:nvPr/>
        </p:nvSpPr>
        <p:spPr>
          <a:xfrm>
            <a:off x="5086345" y="3733309"/>
            <a:ext cx="216024" cy="307777"/>
          </a:xfrm>
          <a:prstGeom prst="rect">
            <a:avLst/>
          </a:prstGeom>
          <a:noFill/>
        </p:spPr>
        <p:txBody>
          <a:bodyPr wrap="square" rtlCol="0">
            <a:spAutoFit/>
          </a:bodyPr>
          <a:lstStyle/>
          <a:p>
            <a:r>
              <a:rPr lang="en-US" sz="1400" dirty="0"/>
              <a:t>0</a:t>
            </a:r>
            <a:endParaRPr lang="es-NI" sz="1400" dirty="0"/>
          </a:p>
        </p:txBody>
      </p:sp>
      <p:sp>
        <p:nvSpPr>
          <p:cNvPr id="55" name="54 CuadroTexto"/>
          <p:cNvSpPr txBox="1"/>
          <p:nvPr/>
        </p:nvSpPr>
        <p:spPr>
          <a:xfrm>
            <a:off x="5362652" y="2189265"/>
            <a:ext cx="216024" cy="307777"/>
          </a:xfrm>
          <a:prstGeom prst="rect">
            <a:avLst/>
          </a:prstGeom>
          <a:noFill/>
        </p:spPr>
        <p:txBody>
          <a:bodyPr wrap="square" rtlCol="0">
            <a:spAutoFit/>
          </a:bodyPr>
          <a:lstStyle/>
          <a:p>
            <a:r>
              <a:rPr lang="en-US" sz="1400" dirty="0"/>
              <a:t>0</a:t>
            </a:r>
            <a:endParaRPr lang="es-NI" sz="1400" dirty="0"/>
          </a:p>
        </p:txBody>
      </p:sp>
      <p:sp>
        <p:nvSpPr>
          <p:cNvPr id="56" name="55 CuadroTexto"/>
          <p:cNvSpPr txBox="1"/>
          <p:nvPr/>
        </p:nvSpPr>
        <p:spPr>
          <a:xfrm>
            <a:off x="6313977" y="3039208"/>
            <a:ext cx="216024" cy="307777"/>
          </a:xfrm>
          <a:prstGeom prst="rect">
            <a:avLst/>
          </a:prstGeom>
          <a:noFill/>
        </p:spPr>
        <p:txBody>
          <a:bodyPr wrap="square" rtlCol="0">
            <a:spAutoFit/>
          </a:bodyPr>
          <a:lstStyle/>
          <a:p>
            <a:r>
              <a:rPr lang="en-US" sz="1400" dirty="0"/>
              <a:t>0</a:t>
            </a:r>
            <a:endParaRPr lang="es-NI" sz="1400" dirty="0"/>
          </a:p>
        </p:txBody>
      </p:sp>
      <p:sp>
        <p:nvSpPr>
          <p:cNvPr id="57" name="56 CuadroTexto"/>
          <p:cNvSpPr txBox="1"/>
          <p:nvPr/>
        </p:nvSpPr>
        <p:spPr>
          <a:xfrm>
            <a:off x="6984268" y="2187310"/>
            <a:ext cx="216024" cy="307777"/>
          </a:xfrm>
          <a:prstGeom prst="rect">
            <a:avLst/>
          </a:prstGeom>
          <a:noFill/>
        </p:spPr>
        <p:txBody>
          <a:bodyPr wrap="square" rtlCol="0">
            <a:spAutoFit/>
          </a:bodyPr>
          <a:lstStyle/>
          <a:p>
            <a:r>
              <a:rPr lang="en-US" sz="1400" dirty="0"/>
              <a:t>0</a:t>
            </a:r>
            <a:endParaRPr lang="es-NI" sz="1400" dirty="0"/>
          </a:p>
        </p:txBody>
      </p:sp>
      <p:sp>
        <p:nvSpPr>
          <p:cNvPr id="58" name="57 CuadroTexto"/>
          <p:cNvSpPr txBox="1"/>
          <p:nvPr/>
        </p:nvSpPr>
        <p:spPr>
          <a:xfrm>
            <a:off x="2297760" y="3571295"/>
            <a:ext cx="216024" cy="307777"/>
          </a:xfrm>
          <a:prstGeom prst="rect">
            <a:avLst/>
          </a:prstGeom>
          <a:noFill/>
        </p:spPr>
        <p:txBody>
          <a:bodyPr wrap="square" rtlCol="0">
            <a:spAutoFit/>
          </a:bodyPr>
          <a:lstStyle/>
          <a:p>
            <a:r>
              <a:rPr lang="en-US" sz="1400" b="1" dirty="0">
                <a:solidFill>
                  <a:srgbClr val="FF0000"/>
                </a:solidFill>
              </a:rPr>
              <a:t>1</a:t>
            </a:r>
            <a:endParaRPr lang="es-NI" sz="1400" b="1" dirty="0">
              <a:solidFill>
                <a:srgbClr val="FF0000"/>
              </a:solidFill>
            </a:endParaRPr>
          </a:p>
        </p:txBody>
      </p:sp>
      <p:sp>
        <p:nvSpPr>
          <p:cNvPr id="60" name="59 CuadroTexto"/>
          <p:cNvSpPr txBox="1"/>
          <p:nvPr/>
        </p:nvSpPr>
        <p:spPr>
          <a:xfrm>
            <a:off x="1280435" y="2199280"/>
            <a:ext cx="216024" cy="307777"/>
          </a:xfrm>
          <a:prstGeom prst="rect">
            <a:avLst/>
          </a:prstGeom>
          <a:noFill/>
        </p:spPr>
        <p:txBody>
          <a:bodyPr wrap="square" rtlCol="0">
            <a:spAutoFit/>
          </a:bodyPr>
          <a:lstStyle/>
          <a:p>
            <a:r>
              <a:rPr lang="en-US" sz="1400" b="1" dirty="0">
                <a:solidFill>
                  <a:srgbClr val="FF0000"/>
                </a:solidFill>
              </a:rPr>
              <a:t>1</a:t>
            </a:r>
            <a:endParaRPr lang="es-NI" sz="1400" b="1" dirty="0">
              <a:solidFill>
                <a:srgbClr val="FF0000"/>
              </a:solidFill>
            </a:endParaRPr>
          </a:p>
        </p:txBody>
      </p:sp>
      <p:sp>
        <p:nvSpPr>
          <p:cNvPr id="4" name="3 CuadroTexto"/>
          <p:cNvSpPr txBox="1"/>
          <p:nvPr/>
        </p:nvSpPr>
        <p:spPr>
          <a:xfrm>
            <a:off x="229825" y="3407259"/>
            <a:ext cx="1584176" cy="369332"/>
          </a:xfrm>
          <a:prstGeom prst="rect">
            <a:avLst/>
          </a:prstGeom>
          <a:noFill/>
        </p:spPr>
        <p:txBody>
          <a:bodyPr wrap="square" rtlCol="0">
            <a:spAutoFit/>
          </a:bodyPr>
          <a:lstStyle/>
          <a:p>
            <a:r>
              <a:rPr lang="en-US" dirty="0">
                <a:solidFill>
                  <a:srgbClr val="FF0000"/>
                </a:solidFill>
              </a:rPr>
              <a:t>LOAD   = 11</a:t>
            </a:r>
            <a:endParaRPr lang="es-NI" dirty="0">
              <a:solidFill>
                <a:srgbClr val="FF0000"/>
              </a:solidFill>
            </a:endParaRPr>
          </a:p>
        </p:txBody>
      </p:sp>
      <p:sp>
        <p:nvSpPr>
          <p:cNvPr id="61" name="60 CuadroTexto"/>
          <p:cNvSpPr txBox="1"/>
          <p:nvPr/>
        </p:nvSpPr>
        <p:spPr>
          <a:xfrm>
            <a:off x="2299091" y="3572626"/>
            <a:ext cx="216024" cy="307777"/>
          </a:xfrm>
          <a:prstGeom prst="rect">
            <a:avLst/>
          </a:prstGeom>
          <a:noFill/>
        </p:spPr>
        <p:txBody>
          <a:bodyPr wrap="square" rtlCol="0">
            <a:spAutoFit/>
          </a:bodyPr>
          <a:lstStyle/>
          <a:p>
            <a:r>
              <a:rPr lang="en-US" sz="1400" b="1" dirty="0">
                <a:solidFill>
                  <a:srgbClr val="CC66FF"/>
                </a:solidFill>
              </a:rPr>
              <a:t>1</a:t>
            </a:r>
            <a:endParaRPr lang="es-NI" sz="1400" b="1" dirty="0">
              <a:solidFill>
                <a:srgbClr val="CC66FF"/>
              </a:solidFill>
            </a:endParaRPr>
          </a:p>
        </p:txBody>
      </p:sp>
      <p:sp>
        <p:nvSpPr>
          <p:cNvPr id="62" name="61 CuadroTexto"/>
          <p:cNvSpPr txBox="1"/>
          <p:nvPr/>
        </p:nvSpPr>
        <p:spPr>
          <a:xfrm>
            <a:off x="1998924" y="2197633"/>
            <a:ext cx="216024" cy="307777"/>
          </a:xfrm>
          <a:prstGeom prst="rect">
            <a:avLst/>
          </a:prstGeom>
          <a:noFill/>
        </p:spPr>
        <p:txBody>
          <a:bodyPr wrap="square" rtlCol="0">
            <a:spAutoFit/>
          </a:bodyPr>
          <a:lstStyle/>
          <a:p>
            <a:r>
              <a:rPr lang="en-US" sz="1400" b="1" dirty="0">
                <a:solidFill>
                  <a:srgbClr val="CC66FF"/>
                </a:solidFill>
              </a:rPr>
              <a:t>0</a:t>
            </a:r>
            <a:endParaRPr lang="es-NI" sz="1400" b="1" dirty="0">
              <a:solidFill>
                <a:srgbClr val="CC66FF"/>
              </a:solidFill>
            </a:endParaRPr>
          </a:p>
        </p:txBody>
      </p:sp>
      <p:sp>
        <p:nvSpPr>
          <p:cNvPr id="63" name="62 CuadroTexto"/>
          <p:cNvSpPr txBox="1"/>
          <p:nvPr/>
        </p:nvSpPr>
        <p:spPr>
          <a:xfrm>
            <a:off x="210373" y="3744325"/>
            <a:ext cx="1584176" cy="369332"/>
          </a:xfrm>
          <a:prstGeom prst="rect">
            <a:avLst/>
          </a:prstGeom>
          <a:noFill/>
        </p:spPr>
        <p:txBody>
          <a:bodyPr wrap="square" rtlCol="0">
            <a:spAutoFit/>
          </a:bodyPr>
          <a:lstStyle/>
          <a:p>
            <a:r>
              <a:rPr lang="en-US" dirty="0">
                <a:solidFill>
                  <a:srgbClr val="CC66FF"/>
                </a:solidFill>
              </a:rPr>
              <a:t>STORE = 10</a:t>
            </a:r>
            <a:endParaRPr lang="es-NI" dirty="0">
              <a:solidFill>
                <a:srgbClr val="CC66FF"/>
              </a:solidFill>
            </a:endParaRPr>
          </a:p>
        </p:txBody>
      </p:sp>
      <p:sp>
        <p:nvSpPr>
          <p:cNvPr id="64" name="63 CuadroTexto"/>
          <p:cNvSpPr txBox="1"/>
          <p:nvPr/>
        </p:nvSpPr>
        <p:spPr>
          <a:xfrm>
            <a:off x="3874108" y="4377419"/>
            <a:ext cx="216024" cy="307777"/>
          </a:xfrm>
          <a:prstGeom prst="rect">
            <a:avLst/>
          </a:prstGeom>
          <a:noFill/>
        </p:spPr>
        <p:txBody>
          <a:bodyPr wrap="square" rtlCol="0">
            <a:spAutoFit/>
          </a:bodyPr>
          <a:lstStyle/>
          <a:p>
            <a:r>
              <a:rPr lang="en-US" sz="1400" b="1" dirty="0">
                <a:solidFill>
                  <a:srgbClr val="0070C0"/>
                </a:solidFill>
              </a:rPr>
              <a:t>0</a:t>
            </a:r>
            <a:endParaRPr lang="es-NI" sz="1400" b="1" dirty="0">
              <a:solidFill>
                <a:srgbClr val="0070C0"/>
              </a:solidFill>
            </a:endParaRPr>
          </a:p>
        </p:txBody>
      </p:sp>
      <p:sp>
        <p:nvSpPr>
          <p:cNvPr id="65" name="64 CuadroTexto"/>
          <p:cNvSpPr txBox="1"/>
          <p:nvPr/>
        </p:nvSpPr>
        <p:spPr>
          <a:xfrm>
            <a:off x="3554894" y="3265732"/>
            <a:ext cx="216024" cy="307777"/>
          </a:xfrm>
          <a:prstGeom prst="rect">
            <a:avLst/>
          </a:prstGeom>
          <a:noFill/>
        </p:spPr>
        <p:txBody>
          <a:bodyPr wrap="square" rtlCol="0">
            <a:spAutoFit/>
          </a:bodyPr>
          <a:lstStyle/>
          <a:p>
            <a:r>
              <a:rPr lang="en-US" sz="1400" b="1" dirty="0">
                <a:solidFill>
                  <a:srgbClr val="0070C0"/>
                </a:solidFill>
              </a:rPr>
              <a:t>1</a:t>
            </a:r>
            <a:endParaRPr lang="es-NI" sz="1400" b="1" dirty="0">
              <a:solidFill>
                <a:srgbClr val="0070C0"/>
              </a:solidFill>
            </a:endParaRPr>
          </a:p>
        </p:txBody>
      </p:sp>
      <p:sp>
        <p:nvSpPr>
          <p:cNvPr id="66" name="65 CuadroTexto"/>
          <p:cNvSpPr txBox="1"/>
          <p:nvPr/>
        </p:nvSpPr>
        <p:spPr>
          <a:xfrm>
            <a:off x="2948542" y="2110935"/>
            <a:ext cx="216024" cy="307777"/>
          </a:xfrm>
          <a:prstGeom prst="rect">
            <a:avLst/>
          </a:prstGeom>
          <a:noFill/>
        </p:spPr>
        <p:txBody>
          <a:bodyPr wrap="square" rtlCol="0">
            <a:spAutoFit/>
          </a:bodyPr>
          <a:lstStyle/>
          <a:p>
            <a:r>
              <a:rPr lang="en-US" sz="1400" b="1" dirty="0">
                <a:solidFill>
                  <a:srgbClr val="0070C0"/>
                </a:solidFill>
              </a:rPr>
              <a:t>1</a:t>
            </a:r>
            <a:endParaRPr lang="es-NI" sz="1400" b="1" dirty="0">
              <a:solidFill>
                <a:srgbClr val="0070C0"/>
              </a:solidFill>
            </a:endParaRPr>
          </a:p>
        </p:txBody>
      </p:sp>
      <p:sp>
        <p:nvSpPr>
          <p:cNvPr id="67" name="66 CuadroTexto"/>
          <p:cNvSpPr txBox="1"/>
          <p:nvPr/>
        </p:nvSpPr>
        <p:spPr>
          <a:xfrm>
            <a:off x="210372" y="4081391"/>
            <a:ext cx="2004575" cy="369332"/>
          </a:xfrm>
          <a:prstGeom prst="rect">
            <a:avLst/>
          </a:prstGeom>
          <a:noFill/>
        </p:spPr>
        <p:txBody>
          <a:bodyPr wrap="square" rtlCol="0">
            <a:spAutoFit/>
          </a:bodyPr>
          <a:lstStyle/>
          <a:p>
            <a:r>
              <a:rPr lang="en-US" dirty="0">
                <a:solidFill>
                  <a:srgbClr val="0070C0"/>
                </a:solidFill>
              </a:rPr>
              <a:t>ADD      = 011</a:t>
            </a:r>
            <a:endParaRPr lang="es-NI" dirty="0">
              <a:solidFill>
                <a:srgbClr val="0070C0"/>
              </a:solidFill>
            </a:endParaRPr>
          </a:p>
        </p:txBody>
      </p:sp>
      <p:sp>
        <p:nvSpPr>
          <p:cNvPr id="68" name="67 CuadroTexto"/>
          <p:cNvSpPr txBox="1"/>
          <p:nvPr/>
        </p:nvSpPr>
        <p:spPr>
          <a:xfrm>
            <a:off x="3875439" y="4386701"/>
            <a:ext cx="216024" cy="307777"/>
          </a:xfrm>
          <a:prstGeom prst="rect">
            <a:avLst/>
          </a:prstGeom>
          <a:noFill/>
        </p:spPr>
        <p:txBody>
          <a:bodyPr wrap="square" rtlCol="0">
            <a:spAutoFit/>
          </a:bodyPr>
          <a:lstStyle/>
          <a:p>
            <a:r>
              <a:rPr lang="en-US" sz="1400" b="1" dirty="0">
                <a:solidFill>
                  <a:srgbClr val="006600"/>
                </a:solidFill>
              </a:rPr>
              <a:t>0</a:t>
            </a:r>
            <a:endParaRPr lang="es-NI" sz="1400" b="1" dirty="0">
              <a:solidFill>
                <a:srgbClr val="006600"/>
              </a:solidFill>
            </a:endParaRPr>
          </a:p>
        </p:txBody>
      </p:sp>
      <p:sp>
        <p:nvSpPr>
          <p:cNvPr id="69" name="68 CuadroTexto"/>
          <p:cNvSpPr txBox="1"/>
          <p:nvPr/>
        </p:nvSpPr>
        <p:spPr>
          <a:xfrm>
            <a:off x="3556225" y="3267063"/>
            <a:ext cx="216024" cy="307777"/>
          </a:xfrm>
          <a:prstGeom prst="rect">
            <a:avLst/>
          </a:prstGeom>
          <a:noFill/>
        </p:spPr>
        <p:txBody>
          <a:bodyPr wrap="square" rtlCol="0">
            <a:spAutoFit/>
          </a:bodyPr>
          <a:lstStyle/>
          <a:p>
            <a:r>
              <a:rPr lang="en-US" sz="1400" b="1" dirty="0">
                <a:solidFill>
                  <a:srgbClr val="006600"/>
                </a:solidFill>
              </a:rPr>
              <a:t>1</a:t>
            </a:r>
            <a:endParaRPr lang="es-NI" sz="1400" b="1" dirty="0">
              <a:solidFill>
                <a:srgbClr val="006600"/>
              </a:solidFill>
            </a:endParaRPr>
          </a:p>
        </p:txBody>
      </p:sp>
      <p:sp>
        <p:nvSpPr>
          <p:cNvPr id="70" name="69 CuadroTexto"/>
          <p:cNvSpPr txBox="1"/>
          <p:nvPr/>
        </p:nvSpPr>
        <p:spPr>
          <a:xfrm>
            <a:off x="3771961" y="2108347"/>
            <a:ext cx="216024" cy="307777"/>
          </a:xfrm>
          <a:prstGeom prst="rect">
            <a:avLst/>
          </a:prstGeom>
          <a:noFill/>
        </p:spPr>
        <p:txBody>
          <a:bodyPr wrap="square" rtlCol="0">
            <a:spAutoFit/>
          </a:bodyPr>
          <a:lstStyle/>
          <a:p>
            <a:r>
              <a:rPr lang="en-US" sz="1400" b="1" dirty="0">
                <a:solidFill>
                  <a:srgbClr val="006600"/>
                </a:solidFill>
              </a:rPr>
              <a:t>0</a:t>
            </a:r>
            <a:endParaRPr lang="es-NI" sz="1400" b="1" dirty="0">
              <a:solidFill>
                <a:srgbClr val="006600"/>
              </a:solidFill>
            </a:endParaRPr>
          </a:p>
        </p:txBody>
      </p:sp>
      <p:sp>
        <p:nvSpPr>
          <p:cNvPr id="71" name="70 CuadroTexto"/>
          <p:cNvSpPr txBox="1"/>
          <p:nvPr/>
        </p:nvSpPr>
        <p:spPr>
          <a:xfrm>
            <a:off x="191161" y="4434666"/>
            <a:ext cx="2004575" cy="369332"/>
          </a:xfrm>
          <a:prstGeom prst="rect">
            <a:avLst/>
          </a:prstGeom>
          <a:noFill/>
        </p:spPr>
        <p:txBody>
          <a:bodyPr wrap="square" rtlCol="0">
            <a:spAutoFit/>
          </a:bodyPr>
          <a:lstStyle/>
          <a:p>
            <a:r>
              <a:rPr lang="en-US" dirty="0">
                <a:solidFill>
                  <a:srgbClr val="006600"/>
                </a:solidFill>
              </a:rPr>
              <a:t>AND      = 010</a:t>
            </a:r>
            <a:endParaRPr lang="es-NI" dirty="0">
              <a:solidFill>
                <a:srgbClr val="006600"/>
              </a:solidFill>
            </a:endParaRPr>
          </a:p>
        </p:txBody>
      </p:sp>
      <p:sp>
        <p:nvSpPr>
          <p:cNvPr id="72" name="71 CuadroTexto"/>
          <p:cNvSpPr txBox="1"/>
          <p:nvPr/>
        </p:nvSpPr>
        <p:spPr>
          <a:xfrm>
            <a:off x="3876770" y="4372130"/>
            <a:ext cx="216024" cy="307777"/>
          </a:xfrm>
          <a:prstGeom prst="rect">
            <a:avLst/>
          </a:prstGeom>
          <a:noFill/>
        </p:spPr>
        <p:txBody>
          <a:bodyPr wrap="square" rtlCol="0">
            <a:spAutoFit/>
          </a:bodyPr>
          <a:lstStyle/>
          <a:p>
            <a:r>
              <a:rPr lang="en-US" sz="1400" b="1" dirty="0">
                <a:solidFill>
                  <a:srgbClr val="FF3399"/>
                </a:solidFill>
              </a:rPr>
              <a:t>0</a:t>
            </a:r>
            <a:endParaRPr lang="es-NI" sz="1400" b="1" dirty="0">
              <a:solidFill>
                <a:srgbClr val="FF3399"/>
              </a:solidFill>
            </a:endParaRPr>
          </a:p>
        </p:txBody>
      </p:sp>
      <p:sp>
        <p:nvSpPr>
          <p:cNvPr id="73" name="72 CuadroTexto"/>
          <p:cNvSpPr txBox="1"/>
          <p:nvPr/>
        </p:nvSpPr>
        <p:spPr>
          <a:xfrm>
            <a:off x="5084007" y="3728435"/>
            <a:ext cx="216024" cy="307777"/>
          </a:xfrm>
          <a:prstGeom prst="rect">
            <a:avLst/>
          </a:prstGeom>
          <a:noFill/>
        </p:spPr>
        <p:txBody>
          <a:bodyPr wrap="square" rtlCol="0">
            <a:spAutoFit/>
          </a:bodyPr>
          <a:lstStyle/>
          <a:p>
            <a:r>
              <a:rPr lang="en-US" sz="1400" b="1" dirty="0">
                <a:solidFill>
                  <a:srgbClr val="FF3399"/>
                </a:solidFill>
              </a:rPr>
              <a:t>0</a:t>
            </a:r>
            <a:endParaRPr lang="es-NI" sz="1400" b="1" dirty="0">
              <a:solidFill>
                <a:srgbClr val="FF3399"/>
              </a:solidFill>
            </a:endParaRPr>
          </a:p>
        </p:txBody>
      </p:sp>
      <p:sp>
        <p:nvSpPr>
          <p:cNvPr id="74" name="73 CuadroTexto"/>
          <p:cNvSpPr txBox="1"/>
          <p:nvPr/>
        </p:nvSpPr>
        <p:spPr>
          <a:xfrm>
            <a:off x="5329761" y="3052402"/>
            <a:ext cx="216024" cy="307777"/>
          </a:xfrm>
          <a:prstGeom prst="rect">
            <a:avLst/>
          </a:prstGeom>
          <a:noFill/>
        </p:spPr>
        <p:txBody>
          <a:bodyPr wrap="square" rtlCol="0">
            <a:spAutoFit/>
          </a:bodyPr>
          <a:lstStyle/>
          <a:p>
            <a:r>
              <a:rPr lang="en-US" sz="1400" b="1" dirty="0">
                <a:solidFill>
                  <a:srgbClr val="FF3399"/>
                </a:solidFill>
              </a:rPr>
              <a:t>1</a:t>
            </a:r>
            <a:endParaRPr lang="es-NI" sz="1400" b="1" dirty="0">
              <a:solidFill>
                <a:srgbClr val="FF3399"/>
              </a:solidFill>
            </a:endParaRPr>
          </a:p>
        </p:txBody>
      </p:sp>
      <p:sp>
        <p:nvSpPr>
          <p:cNvPr id="75" name="74 CuadroTexto"/>
          <p:cNvSpPr txBox="1"/>
          <p:nvPr/>
        </p:nvSpPr>
        <p:spPr>
          <a:xfrm>
            <a:off x="4604275" y="2201837"/>
            <a:ext cx="216024" cy="307777"/>
          </a:xfrm>
          <a:prstGeom prst="rect">
            <a:avLst/>
          </a:prstGeom>
          <a:noFill/>
        </p:spPr>
        <p:txBody>
          <a:bodyPr wrap="square" rtlCol="0">
            <a:spAutoFit/>
          </a:bodyPr>
          <a:lstStyle/>
          <a:p>
            <a:r>
              <a:rPr lang="en-US" sz="1400" b="1" dirty="0">
                <a:solidFill>
                  <a:srgbClr val="FF3399"/>
                </a:solidFill>
              </a:rPr>
              <a:t>1</a:t>
            </a:r>
            <a:endParaRPr lang="es-NI" sz="1400" b="1" dirty="0">
              <a:solidFill>
                <a:srgbClr val="FF3399"/>
              </a:solidFill>
            </a:endParaRPr>
          </a:p>
        </p:txBody>
      </p:sp>
      <p:sp>
        <p:nvSpPr>
          <p:cNvPr id="76" name="75 CuadroTexto"/>
          <p:cNvSpPr txBox="1"/>
          <p:nvPr/>
        </p:nvSpPr>
        <p:spPr>
          <a:xfrm>
            <a:off x="6921387" y="3532009"/>
            <a:ext cx="2004575" cy="369332"/>
          </a:xfrm>
          <a:prstGeom prst="rect">
            <a:avLst/>
          </a:prstGeom>
          <a:noFill/>
        </p:spPr>
        <p:txBody>
          <a:bodyPr wrap="square" rtlCol="0">
            <a:spAutoFit/>
          </a:bodyPr>
          <a:lstStyle/>
          <a:p>
            <a:pPr algn="r"/>
            <a:r>
              <a:rPr lang="en-US" dirty="0">
                <a:solidFill>
                  <a:srgbClr val="FF3399"/>
                </a:solidFill>
              </a:rPr>
              <a:t>NOT         = 0011</a:t>
            </a:r>
            <a:endParaRPr lang="es-NI" dirty="0">
              <a:solidFill>
                <a:srgbClr val="FF3399"/>
              </a:solidFill>
            </a:endParaRPr>
          </a:p>
        </p:txBody>
      </p:sp>
      <p:sp>
        <p:nvSpPr>
          <p:cNvPr id="77" name="76 CuadroTexto"/>
          <p:cNvSpPr txBox="1"/>
          <p:nvPr/>
        </p:nvSpPr>
        <p:spPr>
          <a:xfrm>
            <a:off x="3878101" y="4373461"/>
            <a:ext cx="216024" cy="307777"/>
          </a:xfrm>
          <a:prstGeom prst="rect">
            <a:avLst/>
          </a:prstGeom>
          <a:noFill/>
        </p:spPr>
        <p:txBody>
          <a:bodyPr wrap="square" rtlCol="0">
            <a:spAutoFit/>
          </a:bodyPr>
          <a:lstStyle/>
          <a:p>
            <a:r>
              <a:rPr lang="en-US" sz="1400" b="1" dirty="0">
                <a:solidFill>
                  <a:srgbClr val="0000FF"/>
                </a:solidFill>
              </a:rPr>
              <a:t>0</a:t>
            </a:r>
            <a:endParaRPr lang="es-NI" sz="1400" b="1" dirty="0">
              <a:solidFill>
                <a:srgbClr val="0000FF"/>
              </a:solidFill>
            </a:endParaRPr>
          </a:p>
        </p:txBody>
      </p:sp>
      <p:sp>
        <p:nvSpPr>
          <p:cNvPr id="78" name="77 CuadroTexto"/>
          <p:cNvSpPr txBox="1"/>
          <p:nvPr/>
        </p:nvSpPr>
        <p:spPr>
          <a:xfrm>
            <a:off x="5084905" y="3731380"/>
            <a:ext cx="216024" cy="307777"/>
          </a:xfrm>
          <a:prstGeom prst="rect">
            <a:avLst/>
          </a:prstGeom>
          <a:noFill/>
        </p:spPr>
        <p:txBody>
          <a:bodyPr wrap="square" rtlCol="0">
            <a:spAutoFit/>
          </a:bodyPr>
          <a:lstStyle/>
          <a:p>
            <a:r>
              <a:rPr lang="en-US" sz="1400" b="1" dirty="0">
                <a:solidFill>
                  <a:srgbClr val="0000FF"/>
                </a:solidFill>
              </a:rPr>
              <a:t>0</a:t>
            </a:r>
            <a:endParaRPr lang="es-NI" sz="1400" b="1" dirty="0">
              <a:solidFill>
                <a:srgbClr val="0000FF"/>
              </a:solidFill>
            </a:endParaRPr>
          </a:p>
        </p:txBody>
      </p:sp>
      <p:sp>
        <p:nvSpPr>
          <p:cNvPr id="79" name="78 CuadroTexto"/>
          <p:cNvSpPr txBox="1"/>
          <p:nvPr/>
        </p:nvSpPr>
        <p:spPr>
          <a:xfrm>
            <a:off x="5332284" y="3056061"/>
            <a:ext cx="216024" cy="307777"/>
          </a:xfrm>
          <a:prstGeom prst="rect">
            <a:avLst/>
          </a:prstGeom>
          <a:noFill/>
        </p:spPr>
        <p:txBody>
          <a:bodyPr wrap="square" rtlCol="0">
            <a:spAutoFit/>
          </a:bodyPr>
          <a:lstStyle/>
          <a:p>
            <a:r>
              <a:rPr lang="en-US" sz="1400" b="1" dirty="0">
                <a:solidFill>
                  <a:srgbClr val="0000FF"/>
                </a:solidFill>
              </a:rPr>
              <a:t>1</a:t>
            </a:r>
            <a:endParaRPr lang="es-NI" sz="1400" b="1" dirty="0">
              <a:solidFill>
                <a:srgbClr val="0000FF"/>
              </a:solidFill>
            </a:endParaRPr>
          </a:p>
        </p:txBody>
      </p:sp>
      <p:sp>
        <p:nvSpPr>
          <p:cNvPr id="80" name="79 CuadroTexto"/>
          <p:cNvSpPr txBox="1"/>
          <p:nvPr/>
        </p:nvSpPr>
        <p:spPr>
          <a:xfrm>
            <a:off x="5364537" y="2189431"/>
            <a:ext cx="216024" cy="307777"/>
          </a:xfrm>
          <a:prstGeom prst="rect">
            <a:avLst/>
          </a:prstGeom>
          <a:noFill/>
        </p:spPr>
        <p:txBody>
          <a:bodyPr wrap="square" rtlCol="0">
            <a:spAutoFit/>
          </a:bodyPr>
          <a:lstStyle/>
          <a:p>
            <a:r>
              <a:rPr lang="en-US" sz="1400" b="1" dirty="0">
                <a:solidFill>
                  <a:srgbClr val="0000FF"/>
                </a:solidFill>
              </a:rPr>
              <a:t>0</a:t>
            </a:r>
            <a:endParaRPr lang="es-NI" sz="1400" b="1" dirty="0">
              <a:solidFill>
                <a:srgbClr val="0000FF"/>
              </a:solidFill>
            </a:endParaRPr>
          </a:p>
        </p:txBody>
      </p:sp>
      <p:sp>
        <p:nvSpPr>
          <p:cNvPr id="81" name="80 CuadroTexto"/>
          <p:cNvSpPr txBox="1"/>
          <p:nvPr/>
        </p:nvSpPr>
        <p:spPr>
          <a:xfrm>
            <a:off x="6887905" y="3858602"/>
            <a:ext cx="2004575" cy="369332"/>
          </a:xfrm>
          <a:prstGeom prst="rect">
            <a:avLst/>
          </a:prstGeom>
          <a:noFill/>
        </p:spPr>
        <p:txBody>
          <a:bodyPr wrap="square" rtlCol="0">
            <a:spAutoFit/>
          </a:bodyPr>
          <a:lstStyle/>
          <a:p>
            <a:pPr algn="r"/>
            <a:r>
              <a:rPr lang="en-US" dirty="0">
                <a:solidFill>
                  <a:srgbClr val="0000FF"/>
                </a:solidFill>
              </a:rPr>
              <a:t>RSHIFT   = 0010</a:t>
            </a:r>
            <a:endParaRPr lang="es-NI" dirty="0">
              <a:solidFill>
                <a:srgbClr val="0000FF"/>
              </a:solidFill>
            </a:endParaRPr>
          </a:p>
        </p:txBody>
      </p:sp>
      <p:sp>
        <p:nvSpPr>
          <p:cNvPr id="82" name="81 CuadroTexto"/>
          <p:cNvSpPr txBox="1"/>
          <p:nvPr/>
        </p:nvSpPr>
        <p:spPr>
          <a:xfrm>
            <a:off x="3879432" y="4374792"/>
            <a:ext cx="216024" cy="307777"/>
          </a:xfrm>
          <a:prstGeom prst="rect">
            <a:avLst/>
          </a:prstGeom>
          <a:noFill/>
        </p:spPr>
        <p:txBody>
          <a:bodyPr wrap="square" rtlCol="0">
            <a:spAutoFit/>
          </a:bodyPr>
          <a:lstStyle/>
          <a:p>
            <a:r>
              <a:rPr lang="en-US" sz="1400" b="1" dirty="0">
                <a:solidFill>
                  <a:srgbClr val="FF9900"/>
                </a:solidFill>
              </a:rPr>
              <a:t>0</a:t>
            </a:r>
            <a:endParaRPr lang="es-NI" sz="1400" b="1" dirty="0">
              <a:solidFill>
                <a:srgbClr val="FF9900"/>
              </a:solidFill>
            </a:endParaRPr>
          </a:p>
        </p:txBody>
      </p:sp>
      <p:sp>
        <p:nvSpPr>
          <p:cNvPr id="83" name="82 CuadroTexto"/>
          <p:cNvSpPr txBox="1"/>
          <p:nvPr/>
        </p:nvSpPr>
        <p:spPr>
          <a:xfrm>
            <a:off x="5086236" y="3732711"/>
            <a:ext cx="216024" cy="307777"/>
          </a:xfrm>
          <a:prstGeom prst="rect">
            <a:avLst/>
          </a:prstGeom>
          <a:noFill/>
        </p:spPr>
        <p:txBody>
          <a:bodyPr wrap="square" rtlCol="0">
            <a:spAutoFit/>
          </a:bodyPr>
          <a:lstStyle/>
          <a:p>
            <a:r>
              <a:rPr lang="en-US" sz="1400" b="1" dirty="0">
                <a:solidFill>
                  <a:srgbClr val="FF9900"/>
                </a:solidFill>
              </a:rPr>
              <a:t>0</a:t>
            </a:r>
            <a:endParaRPr lang="es-NI" sz="1400" b="1" dirty="0">
              <a:solidFill>
                <a:srgbClr val="FF9900"/>
              </a:solidFill>
            </a:endParaRPr>
          </a:p>
        </p:txBody>
      </p:sp>
      <p:sp>
        <p:nvSpPr>
          <p:cNvPr id="84" name="83 CuadroTexto"/>
          <p:cNvSpPr txBox="1"/>
          <p:nvPr/>
        </p:nvSpPr>
        <p:spPr>
          <a:xfrm>
            <a:off x="6314085" y="3039207"/>
            <a:ext cx="216024" cy="307777"/>
          </a:xfrm>
          <a:prstGeom prst="rect">
            <a:avLst/>
          </a:prstGeom>
          <a:noFill/>
        </p:spPr>
        <p:txBody>
          <a:bodyPr wrap="square" rtlCol="0">
            <a:spAutoFit/>
          </a:bodyPr>
          <a:lstStyle/>
          <a:p>
            <a:r>
              <a:rPr lang="en-US" sz="1400" b="1" dirty="0">
                <a:solidFill>
                  <a:srgbClr val="FF9900"/>
                </a:solidFill>
              </a:rPr>
              <a:t>0</a:t>
            </a:r>
            <a:endParaRPr lang="es-NI" sz="1400" b="1" dirty="0">
              <a:solidFill>
                <a:srgbClr val="FF9900"/>
              </a:solidFill>
            </a:endParaRPr>
          </a:p>
        </p:txBody>
      </p:sp>
      <p:sp>
        <p:nvSpPr>
          <p:cNvPr id="85" name="84 CuadroTexto"/>
          <p:cNvSpPr txBox="1"/>
          <p:nvPr/>
        </p:nvSpPr>
        <p:spPr>
          <a:xfrm>
            <a:off x="6252935" y="2235563"/>
            <a:ext cx="216024" cy="307777"/>
          </a:xfrm>
          <a:prstGeom prst="rect">
            <a:avLst/>
          </a:prstGeom>
          <a:noFill/>
        </p:spPr>
        <p:txBody>
          <a:bodyPr wrap="square" rtlCol="0">
            <a:spAutoFit/>
          </a:bodyPr>
          <a:lstStyle/>
          <a:p>
            <a:r>
              <a:rPr lang="en-US" sz="1400" b="1" dirty="0">
                <a:solidFill>
                  <a:srgbClr val="FF9900"/>
                </a:solidFill>
              </a:rPr>
              <a:t>1</a:t>
            </a:r>
            <a:endParaRPr lang="es-NI" sz="1400" b="1" dirty="0">
              <a:solidFill>
                <a:srgbClr val="FF9900"/>
              </a:solidFill>
            </a:endParaRPr>
          </a:p>
        </p:txBody>
      </p:sp>
      <p:sp>
        <p:nvSpPr>
          <p:cNvPr id="86" name="85 CuadroTexto"/>
          <p:cNvSpPr txBox="1"/>
          <p:nvPr/>
        </p:nvSpPr>
        <p:spPr>
          <a:xfrm>
            <a:off x="6876256" y="4218642"/>
            <a:ext cx="2004575" cy="369332"/>
          </a:xfrm>
          <a:prstGeom prst="rect">
            <a:avLst/>
          </a:prstGeom>
          <a:noFill/>
        </p:spPr>
        <p:txBody>
          <a:bodyPr wrap="square" rtlCol="0">
            <a:spAutoFit/>
          </a:bodyPr>
          <a:lstStyle/>
          <a:p>
            <a:pPr algn="r"/>
            <a:r>
              <a:rPr lang="en-US" dirty="0">
                <a:solidFill>
                  <a:srgbClr val="FF9900"/>
                </a:solidFill>
              </a:rPr>
              <a:t>JUMP      = 0001</a:t>
            </a:r>
            <a:endParaRPr lang="es-NI" dirty="0">
              <a:solidFill>
                <a:srgbClr val="FF9900"/>
              </a:solidFill>
            </a:endParaRPr>
          </a:p>
        </p:txBody>
      </p:sp>
      <p:sp>
        <p:nvSpPr>
          <p:cNvPr id="87" name="86 CuadroTexto"/>
          <p:cNvSpPr txBox="1"/>
          <p:nvPr/>
        </p:nvSpPr>
        <p:spPr>
          <a:xfrm>
            <a:off x="3872812" y="4376507"/>
            <a:ext cx="216024" cy="307777"/>
          </a:xfrm>
          <a:prstGeom prst="rect">
            <a:avLst/>
          </a:prstGeom>
          <a:noFill/>
        </p:spPr>
        <p:txBody>
          <a:bodyPr wrap="square" rtlCol="0">
            <a:spAutoFit/>
          </a:bodyPr>
          <a:lstStyle/>
          <a:p>
            <a:r>
              <a:rPr lang="en-US" sz="1400" b="1" dirty="0">
                <a:solidFill>
                  <a:srgbClr val="6600CC"/>
                </a:solidFill>
              </a:rPr>
              <a:t>0</a:t>
            </a:r>
            <a:endParaRPr lang="es-NI" sz="1400" b="1" dirty="0">
              <a:solidFill>
                <a:srgbClr val="6600CC"/>
              </a:solidFill>
            </a:endParaRPr>
          </a:p>
        </p:txBody>
      </p:sp>
      <p:sp>
        <p:nvSpPr>
          <p:cNvPr id="88" name="87 CuadroTexto"/>
          <p:cNvSpPr txBox="1"/>
          <p:nvPr/>
        </p:nvSpPr>
        <p:spPr>
          <a:xfrm>
            <a:off x="5087567" y="3734042"/>
            <a:ext cx="216024" cy="307777"/>
          </a:xfrm>
          <a:prstGeom prst="rect">
            <a:avLst/>
          </a:prstGeom>
          <a:noFill/>
        </p:spPr>
        <p:txBody>
          <a:bodyPr wrap="square" rtlCol="0">
            <a:spAutoFit/>
          </a:bodyPr>
          <a:lstStyle/>
          <a:p>
            <a:r>
              <a:rPr lang="en-US" sz="1400" b="1" dirty="0">
                <a:solidFill>
                  <a:srgbClr val="9900FF"/>
                </a:solidFill>
              </a:rPr>
              <a:t>0</a:t>
            </a:r>
            <a:endParaRPr lang="es-NI" sz="1400" b="1" dirty="0">
              <a:solidFill>
                <a:srgbClr val="9900FF"/>
              </a:solidFill>
            </a:endParaRPr>
          </a:p>
        </p:txBody>
      </p:sp>
      <p:sp>
        <p:nvSpPr>
          <p:cNvPr id="89" name="88 CuadroTexto"/>
          <p:cNvSpPr txBox="1"/>
          <p:nvPr/>
        </p:nvSpPr>
        <p:spPr>
          <a:xfrm>
            <a:off x="6316094" y="3035602"/>
            <a:ext cx="216024" cy="307777"/>
          </a:xfrm>
          <a:prstGeom prst="rect">
            <a:avLst/>
          </a:prstGeom>
          <a:noFill/>
        </p:spPr>
        <p:txBody>
          <a:bodyPr wrap="square" rtlCol="0">
            <a:spAutoFit/>
          </a:bodyPr>
          <a:lstStyle/>
          <a:p>
            <a:r>
              <a:rPr lang="en-US" sz="1400" b="1" dirty="0">
                <a:solidFill>
                  <a:srgbClr val="9900FF"/>
                </a:solidFill>
              </a:rPr>
              <a:t>0</a:t>
            </a:r>
            <a:endParaRPr lang="es-NI" sz="1400" b="1" dirty="0">
              <a:solidFill>
                <a:srgbClr val="9900FF"/>
              </a:solidFill>
            </a:endParaRPr>
          </a:p>
        </p:txBody>
      </p:sp>
      <p:sp>
        <p:nvSpPr>
          <p:cNvPr id="90" name="89 CuadroTexto"/>
          <p:cNvSpPr txBox="1"/>
          <p:nvPr/>
        </p:nvSpPr>
        <p:spPr>
          <a:xfrm>
            <a:off x="6988468" y="2187408"/>
            <a:ext cx="216024" cy="307777"/>
          </a:xfrm>
          <a:prstGeom prst="rect">
            <a:avLst/>
          </a:prstGeom>
          <a:noFill/>
        </p:spPr>
        <p:txBody>
          <a:bodyPr wrap="square" rtlCol="0">
            <a:spAutoFit/>
          </a:bodyPr>
          <a:lstStyle/>
          <a:p>
            <a:r>
              <a:rPr lang="en-US" sz="1400" b="1" dirty="0">
                <a:solidFill>
                  <a:srgbClr val="9900FF"/>
                </a:solidFill>
              </a:rPr>
              <a:t>0</a:t>
            </a:r>
            <a:endParaRPr lang="es-NI" sz="1400" b="1" dirty="0">
              <a:solidFill>
                <a:srgbClr val="9900FF"/>
              </a:solidFill>
            </a:endParaRPr>
          </a:p>
        </p:txBody>
      </p:sp>
      <p:sp>
        <p:nvSpPr>
          <p:cNvPr id="91" name="90 CuadroTexto"/>
          <p:cNvSpPr txBox="1"/>
          <p:nvPr/>
        </p:nvSpPr>
        <p:spPr>
          <a:xfrm>
            <a:off x="6872003" y="4515966"/>
            <a:ext cx="2004575" cy="369332"/>
          </a:xfrm>
          <a:prstGeom prst="rect">
            <a:avLst/>
          </a:prstGeom>
          <a:noFill/>
        </p:spPr>
        <p:txBody>
          <a:bodyPr wrap="square" rtlCol="0">
            <a:spAutoFit/>
          </a:bodyPr>
          <a:lstStyle/>
          <a:p>
            <a:pPr algn="r"/>
            <a:r>
              <a:rPr lang="en-US" dirty="0">
                <a:solidFill>
                  <a:srgbClr val="9900FF"/>
                </a:solidFill>
              </a:rPr>
              <a:t>HALT       = 0000</a:t>
            </a:r>
            <a:endParaRPr lang="es-NI" dirty="0">
              <a:solidFill>
                <a:srgbClr val="9900FF"/>
              </a:solidFill>
            </a:endParaRPr>
          </a:p>
        </p:txBody>
      </p:sp>
    </p:spTree>
    <p:extLst>
      <p:ext uri="{BB962C8B-B14F-4D97-AF65-F5344CB8AC3E}">
        <p14:creationId xmlns:p14="http://schemas.microsoft.com/office/powerpoint/2010/main" val="1408785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0"/>
                                        </p:tgtEl>
                                        <p:attrNameLst>
                                          <p:attrName>style.visibility</p:attrName>
                                        </p:attrNameLst>
                                      </p:cBhvr>
                                      <p:to>
                                        <p:strVal val="visible"/>
                                      </p:to>
                                    </p:set>
                                    <p:anim calcmode="lin" valueType="num">
                                      <p:cBhvr>
                                        <p:cTn id="13" dur="500" fill="hold"/>
                                        <p:tgtEl>
                                          <p:spTgt spid="60"/>
                                        </p:tgtEl>
                                        <p:attrNameLst>
                                          <p:attrName>ppt_w</p:attrName>
                                        </p:attrNameLst>
                                      </p:cBhvr>
                                      <p:tavLst>
                                        <p:tav tm="0">
                                          <p:val>
                                            <p:fltVal val="0"/>
                                          </p:val>
                                        </p:tav>
                                        <p:tav tm="100000">
                                          <p:val>
                                            <p:strVal val="#ppt_w"/>
                                          </p:val>
                                        </p:tav>
                                      </p:tavLst>
                                    </p:anim>
                                    <p:anim calcmode="lin" valueType="num">
                                      <p:cBhvr>
                                        <p:cTn id="14" dur="500" fill="hold"/>
                                        <p:tgtEl>
                                          <p:spTgt spid="60"/>
                                        </p:tgtEl>
                                        <p:attrNameLst>
                                          <p:attrName>ppt_h</p:attrName>
                                        </p:attrNameLst>
                                      </p:cBhvr>
                                      <p:tavLst>
                                        <p:tav tm="0">
                                          <p:val>
                                            <p:fltVal val="0"/>
                                          </p:val>
                                        </p:tav>
                                        <p:tav tm="100000">
                                          <p:val>
                                            <p:strVal val="#ppt_h"/>
                                          </p:val>
                                        </p:tav>
                                      </p:tavLst>
                                    </p:anim>
                                    <p:animEffect transition="in" filter="fade">
                                      <p:cBhvr>
                                        <p:cTn id="15" dur="500"/>
                                        <p:tgtEl>
                                          <p:spTgt spid="60"/>
                                        </p:tgtEl>
                                      </p:cBhvr>
                                    </p:animEffect>
                                  </p:childTnLst>
                                </p:cTn>
                              </p:par>
                            </p:childTnLst>
                          </p:cTn>
                        </p:par>
                        <p:par>
                          <p:cTn id="16" fill="hold">
                            <p:stCondLst>
                              <p:cond delay="1000"/>
                            </p:stCondLst>
                            <p:childTnLst>
                              <p:par>
                                <p:cTn id="17" presetID="53" presetClass="entr" presetSubtype="16" fill="hold" grpId="0" nodeType="afterEffect">
                                  <p:stCondLst>
                                    <p:cond delay="25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p:cTn id="26" dur="500" fill="hold"/>
                                        <p:tgtEl>
                                          <p:spTgt spid="61"/>
                                        </p:tgtEl>
                                        <p:attrNameLst>
                                          <p:attrName>ppt_w</p:attrName>
                                        </p:attrNameLst>
                                      </p:cBhvr>
                                      <p:tavLst>
                                        <p:tav tm="0">
                                          <p:val>
                                            <p:fltVal val="0"/>
                                          </p:val>
                                        </p:tav>
                                        <p:tav tm="100000">
                                          <p:val>
                                            <p:strVal val="#ppt_w"/>
                                          </p:val>
                                        </p:tav>
                                      </p:tavLst>
                                    </p:anim>
                                    <p:anim calcmode="lin" valueType="num">
                                      <p:cBhvr>
                                        <p:cTn id="27" dur="500" fill="hold"/>
                                        <p:tgtEl>
                                          <p:spTgt spid="61"/>
                                        </p:tgtEl>
                                        <p:attrNameLst>
                                          <p:attrName>ppt_h</p:attrName>
                                        </p:attrNameLst>
                                      </p:cBhvr>
                                      <p:tavLst>
                                        <p:tav tm="0">
                                          <p:val>
                                            <p:fltVal val="0"/>
                                          </p:val>
                                        </p:tav>
                                        <p:tav tm="100000">
                                          <p:val>
                                            <p:strVal val="#ppt_h"/>
                                          </p:val>
                                        </p:tav>
                                      </p:tavLst>
                                    </p:anim>
                                    <p:animEffect transition="in" filter="fade">
                                      <p:cBhvr>
                                        <p:cTn id="28" dur="500"/>
                                        <p:tgtEl>
                                          <p:spTgt spid="61"/>
                                        </p:tgtEl>
                                      </p:cBhvr>
                                    </p:animEffect>
                                  </p:childTnLst>
                                </p:cTn>
                              </p:par>
                            </p:childTnLst>
                          </p:cTn>
                        </p:par>
                        <p:par>
                          <p:cTn id="29" fill="hold">
                            <p:stCondLst>
                              <p:cond delay="500"/>
                            </p:stCondLst>
                            <p:childTnLst>
                              <p:par>
                                <p:cTn id="30" presetID="53" presetClass="entr" presetSubtype="16" fill="hold" grpId="0" nodeType="afterEffect">
                                  <p:stCondLst>
                                    <p:cond delay="0"/>
                                  </p:stCondLst>
                                  <p:childTnLst>
                                    <p:set>
                                      <p:cBhvr>
                                        <p:cTn id="31" dur="1" fill="hold">
                                          <p:stCondLst>
                                            <p:cond delay="0"/>
                                          </p:stCondLst>
                                        </p:cTn>
                                        <p:tgtEl>
                                          <p:spTgt spid="62"/>
                                        </p:tgtEl>
                                        <p:attrNameLst>
                                          <p:attrName>style.visibility</p:attrName>
                                        </p:attrNameLst>
                                      </p:cBhvr>
                                      <p:to>
                                        <p:strVal val="visible"/>
                                      </p:to>
                                    </p:set>
                                    <p:anim calcmode="lin" valueType="num">
                                      <p:cBhvr>
                                        <p:cTn id="32" dur="500" fill="hold"/>
                                        <p:tgtEl>
                                          <p:spTgt spid="62"/>
                                        </p:tgtEl>
                                        <p:attrNameLst>
                                          <p:attrName>ppt_w</p:attrName>
                                        </p:attrNameLst>
                                      </p:cBhvr>
                                      <p:tavLst>
                                        <p:tav tm="0">
                                          <p:val>
                                            <p:fltVal val="0"/>
                                          </p:val>
                                        </p:tav>
                                        <p:tav tm="100000">
                                          <p:val>
                                            <p:strVal val="#ppt_w"/>
                                          </p:val>
                                        </p:tav>
                                      </p:tavLst>
                                    </p:anim>
                                    <p:anim calcmode="lin" valueType="num">
                                      <p:cBhvr>
                                        <p:cTn id="33" dur="500" fill="hold"/>
                                        <p:tgtEl>
                                          <p:spTgt spid="62"/>
                                        </p:tgtEl>
                                        <p:attrNameLst>
                                          <p:attrName>ppt_h</p:attrName>
                                        </p:attrNameLst>
                                      </p:cBhvr>
                                      <p:tavLst>
                                        <p:tav tm="0">
                                          <p:val>
                                            <p:fltVal val="0"/>
                                          </p:val>
                                        </p:tav>
                                        <p:tav tm="100000">
                                          <p:val>
                                            <p:strVal val="#ppt_h"/>
                                          </p:val>
                                        </p:tav>
                                      </p:tavLst>
                                    </p:anim>
                                    <p:animEffect transition="in" filter="fade">
                                      <p:cBhvr>
                                        <p:cTn id="34" dur="500"/>
                                        <p:tgtEl>
                                          <p:spTgt spid="62"/>
                                        </p:tgtEl>
                                      </p:cBhvr>
                                    </p:animEffect>
                                  </p:childTnLst>
                                </p:cTn>
                              </p:par>
                            </p:childTnLst>
                          </p:cTn>
                        </p:par>
                        <p:par>
                          <p:cTn id="35" fill="hold">
                            <p:stCondLst>
                              <p:cond delay="1000"/>
                            </p:stCondLst>
                            <p:childTnLst>
                              <p:par>
                                <p:cTn id="36" presetID="53" presetClass="entr" presetSubtype="16" fill="hold" grpId="0" nodeType="afterEffect">
                                  <p:stCondLst>
                                    <p:cond delay="250"/>
                                  </p:stCondLst>
                                  <p:childTnLst>
                                    <p:set>
                                      <p:cBhvr>
                                        <p:cTn id="37" dur="1" fill="hold">
                                          <p:stCondLst>
                                            <p:cond delay="0"/>
                                          </p:stCondLst>
                                        </p:cTn>
                                        <p:tgtEl>
                                          <p:spTgt spid="63"/>
                                        </p:tgtEl>
                                        <p:attrNameLst>
                                          <p:attrName>style.visibility</p:attrName>
                                        </p:attrNameLst>
                                      </p:cBhvr>
                                      <p:to>
                                        <p:strVal val="visible"/>
                                      </p:to>
                                    </p:set>
                                    <p:anim calcmode="lin" valueType="num">
                                      <p:cBhvr>
                                        <p:cTn id="38" dur="500" fill="hold"/>
                                        <p:tgtEl>
                                          <p:spTgt spid="63"/>
                                        </p:tgtEl>
                                        <p:attrNameLst>
                                          <p:attrName>ppt_w</p:attrName>
                                        </p:attrNameLst>
                                      </p:cBhvr>
                                      <p:tavLst>
                                        <p:tav tm="0">
                                          <p:val>
                                            <p:fltVal val="0"/>
                                          </p:val>
                                        </p:tav>
                                        <p:tav tm="100000">
                                          <p:val>
                                            <p:strVal val="#ppt_w"/>
                                          </p:val>
                                        </p:tav>
                                      </p:tavLst>
                                    </p:anim>
                                    <p:anim calcmode="lin" valueType="num">
                                      <p:cBhvr>
                                        <p:cTn id="39" dur="500" fill="hold"/>
                                        <p:tgtEl>
                                          <p:spTgt spid="63"/>
                                        </p:tgtEl>
                                        <p:attrNameLst>
                                          <p:attrName>ppt_h</p:attrName>
                                        </p:attrNameLst>
                                      </p:cBhvr>
                                      <p:tavLst>
                                        <p:tav tm="0">
                                          <p:val>
                                            <p:fltVal val="0"/>
                                          </p:val>
                                        </p:tav>
                                        <p:tav tm="100000">
                                          <p:val>
                                            <p:strVal val="#ppt_h"/>
                                          </p:val>
                                        </p:tav>
                                      </p:tavLst>
                                    </p:anim>
                                    <p:animEffect transition="in" filter="fade">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anim calcmode="lin" valueType="num">
                                      <p:cBhvr>
                                        <p:cTn id="45" dur="500" fill="hold"/>
                                        <p:tgtEl>
                                          <p:spTgt spid="64"/>
                                        </p:tgtEl>
                                        <p:attrNameLst>
                                          <p:attrName>ppt_w</p:attrName>
                                        </p:attrNameLst>
                                      </p:cBhvr>
                                      <p:tavLst>
                                        <p:tav tm="0">
                                          <p:val>
                                            <p:fltVal val="0"/>
                                          </p:val>
                                        </p:tav>
                                        <p:tav tm="100000">
                                          <p:val>
                                            <p:strVal val="#ppt_w"/>
                                          </p:val>
                                        </p:tav>
                                      </p:tavLst>
                                    </p:anim>
                                    <p:anim calcmode="lin" valueType="num">
                                      <p:cBhvr>
                                        <p:cTn id="46" dur="500" fill="hold"/>
                                        <p:tgtEl>
                                          <p:spTgt spid="64"/>
                                        </p:tgtEl>
                                        <p:attrNameLst>
                                          <p:attrName>ppt_h</p:attrName>
                                        </p:attrNameLst>
                                      </p:cBhvr>
                                      <p:tavLst>
                                        <p:tav tm="0">
                                          <p:val>
                                            <p:fltVal val="0"/>
                                          </p:val>
                                        </p:tav>
                                        <p:tav tm="100000">
                                          <p:val>
                                            <p:strVal val="#ppt_h"/>
                                          </p:val>
                                        </p:tav>
                                      </p:tavLst>
                                    </p:anim>
                                    <p:animEffect transition="in" filter="fade">
                                      <p:cBhvr>
                                        <p:cTn id="47" dur="500"/>
                                        <p:tgtEl>
                                          <p:spTgt spid="64"/>
                                        </p:tgtEl>
                                      </p:cBhvr>
                                    </p:animEffect>
                                  </p:childTnLst>
                                </p:cTn>
                              </p:par>
                            </p:childTnLst>
                          </p:cTn>
                        </p:par>
                        <p:par>
                          <p:cTn id="48" fill="hold">
                            <p:stCondLst>
                              <p:cond delay="500"/>
                            </p:stCondLst>
                            <p:childTnLst>
                              <p:par>
                                <p:cTn id="49" presetID="53" presetClass="entr" presetSubtype="16" fill="hold" grpId="0" nodeType="afterEffect">
                                  <p:stCondLst>
                                    <p:cond delay="0"/>
                                  </p:stCondLst>
                                  <p:childTnLst>
                                    <p:set>
                                      <p:cBhvr>
                                        <p:cTn id="50" dur="1" fill="hold">
                                          <p:stCondLst>
                                            <p:cond delay="0"/>
                                          </p:stCondLst>
                                        </p:cTn>
                                        <p:tgtEl>
                                          <p:spTgt spid="65"/>
                                        </p:tgtEl>
                                        <p:attrNameLst>
                                          <p:attrName>style.visibility</p:attrName>
                                        </p:attrNameLst>
                                      </p:cBhvr>
                                      <p:to>
                                        <p:strVal val="visible"/>
                                      </p:to>
                                    </p:set>
                                    <p:anim calcmode="lin" valueType="num">
                                      <p:cBhvr>
                                        <p:cTn id="51" dur="500" fill="hold"/>
                                        <p:tgtEl>
                                          <p:spTgt spid="65"/>
                                        </p:tgtEl>
                                        <p:attrNameLst>
                                          <p:attrName>ppt_w</p:attrName>
                                        </p:attrNameLst>
                                      </p:cBhvr>
                                      <p:tavLst>
                                        <p:tav tm="0">
                                          <p:val>
                                            <p:fltVal val="0"/>
                                          </p:val>
                                        </p:tav>
                                        <p:tav tm="100000">
                                          <p:val>
                                            <p:strVal val="#ppt_w"/>
                                          </p:val>
                                        </p:tav>
                                      </p:tavLst>
                                    </p:anim>
                                    <p:anim calcmode="lin" valueType="num">
                                      <p:cBhvr>
                                        <p:cTn id="52" dur="500" fill="hold"/>
                                        <p:tgtEl>
                                          <p:spTgt spid="65"/>
                                        </p:tgtEl>
                                        <p:attrNameLst>
                                          <p:attrName>ppt_h</p:attrName>
                                        </p:attrNameLst>
                                      </p:cBhvr>
                                      <p:tavLst>
                                        <p:tav tm="0">
                                          <p:val>
                                            <p:fltVal val="0"/>
                                          </p:val>
                                        </p:tav>
                                        <p:tav tm="100000">
                                          <p:val>
                                            <p:strVal val="#ppt_h"/>
                                          </p:val>
                                        </p:tav>
                                      </p:tavLst>
                                    </p:anim>
                                    <p:animEffect transition="in" filter="fade">
                                      <p:cBhvr>
                                        <p:cTn id="53" dur="500"/>
                                        <p:tgtEl>
                                          <p:spTgt spid="65"/>
                                        </p:tgtEl>
                                      </p:cBhvr>
                                    </p:animEffect>
                                  </p:childTnLst>
                                </p:cTn>
                              </p:par>
                            </p:childTnLst>
                          </p:cTn>
                        </p:par>
                        <p:par>
                          <p:cTn id="54" fill="hold">
                            <p:stCondLst>
                              <p:cond delay="1000"/>
                            </p:stCondLst>
                            <p:childTnLst>
                              <p:par>
                                <p:cTn id="55" presetID="53" presetClass="entr" presetSubtype="16" fill="hold" grpId="0" nodeType="afterEffect">
                                  <p:stCondLst>
                                    <p:cond delay="0"/>
                                  </p:stCondLst>
                                  <p:childTnLst>
                                    <p:set>
                                      <p:cBhvr>
                                        <p:cTn id="56" dur="1" fill="hold">
                                          <p:stCondLst>
                                            <p:cond delay="0"/>
                                          </p:stCondLst>
                                        </p:cTn>
                                        <p:tgtEl>
                                          <p:spTgt spid="66"/>
                                        </p:tgtEl>
                                        <p:attrNameLst>
                                          <p:attrName>style.visibility</p:attrName>
                                        </p:attrNameLst>
                                      </p:cBhvr>
                                      <p:to>
                                        <p:strVal val="visible"/>
                                      </p:to>
                                    </p:set>
                                    <p:anim calcmode="lin" valueType="num">
                                      <p:cBhvr>
                                        <p:cTn id="57" dur="500" fill="hold"/>
                                        <p:tgtEl>
                                          <p:spTgt spid="66"/>
                                        </p:tgtEl>
                                        <p:attrNameLst>
                                          <p:attrName>ppt_w</p:attrName>
                                        </p:attrNameLst>
                                      </p:cBhvr>
                                      <p:tavLst>
                                        <p:tav tm="0">
                                          <p:val>
                                            <p:fltVal val="0"/>
                                          </p:val>
                                        </p:tav>
                                        <p:tav tm="100000">
                                          <p:val>
                                            <p:strVal val="#ppt_w"/>
                                          </p:val>
                                        </p:tav>
                                      </p:tavLst>
                                    </p:anim>
                                    <p:anim calcmode="lin" valueType="num">
                                      <p:cBhvr>
                                        <p:cTn id="58" dur="500" fill="hold"/>
                                        <p:tgtEl>
                                          <p:spTgt spid="66"/>
                                        </p:tgtEl>
                                        <p:attrNameLst>
                                          <p:attrName>ppt_h</p:attrName>
                                        </p:attrNameLst>
                                      </p:cBhvr>
                                      <p:tavLst>
                                        <p:tav tm="0">
                                          <p:val>
                                            <p:fltVal val="0"/>
                                          </p:val>
                                        </p:tav>
                                        <p:tav tm="100000">
                                          <p:val>
                                            <p:strVal val="#ppt_h"/>
                                          </p:val>
                                        </p:tav>
                                      </p:tavLst>
                                    </p:anim>
                                    <p:animEffect transition="in" filter="fade">
                                      <p:cBhvr>
                                        <p:cTn id="59" dur="500"/>
                                        <p:tgtEl>
                                          <p:spTgt spid="66"/>
                                        </p:tgtEl>
                                      </p:cBhvr>
                                    </p:animEffect>
                                  </p:childTnLst>
                                </p:cTn>
                              </p:par>
                            </p:childTnLst>
                          </p:cTn>
                        </p:par>
                        <p:par>
                          <p:cTn id="60" fill="hold">
                            <p:stCondLst>
                              <p:cond delay="1500"/>
                            </p:stCondLst>
                            <p:childTnLst>
                              <p:par>
                                <p:cTn id="61" presetID="53" presetClass="entr" presetSubtype="16" fill="hold" grpId="0" nodeType="afterEffect">
                                  <p:stCondLst>
                                    <p:cond delay="250"/>
                                  </p:stCondLst>
                                  <p:childTnLst>
                                    <p:set>
                                      <p:cBhvr>
                                        <p:cTn id="62" dur="1" fill="hold">
                                          <p:stCondLst>
                                            <p:cond delay="0"/>
                                          </p:stCondLst>
                                        </p:cTn>
                                        <p:tgtEl>
                                          <p:spTgt spid="67"/>
                                        </p:tgtEl>
                                        <p:attrNameLst>
                                          <p:attrName>style.visibility</p:attrName>
                                        </p:attrNameLst>
                                      </p:cBhvr>
                                      <p:to>
                                        <p:strVal val="visible"/>
                                      </p:to>
                                    </p:set>
                                    <p:anim calcmode="lin" valueType="num">
                                      <p:cBhvr>
                                        <p:cTn id="63" dur="500" fill="hold"/>
                                        <p:tgtEl>
                                          <p:spTgt spid="67"/>
                                        </p:tgtEl>
                                        <p:attrNameLst>
                                          <p:attrName>ppt_w</p:attrName>
                                        </p:attrNameLst>
                                      </p:cBhvr>
                                      <p:tavLst>
                                        <p:tav tm="0">
                                          <p:val>
                                            <p:fltVal val="0"/>
                                          </p:val>
                                        </p:tav>
                                        <p:tav tm="100000">
                                          <p:val>
                                            <p:strVal val="#ppt_w"/>
                                          </p:val>
                                        </p:tav>
                                      </p:tavLst>
                                    </p:anim>
                                    <p:anim calcmode="lin" valueType="num">
                                      <p:cBhvr>
                                        <p:cTn id="64" dur="500" fill="hold"/>
                                        <p:tgtEl>
                                          <p:spTgt spid="67"/>
                                        </p:tgtEl>
                                        <p:attrNameLst>
                                          <p:attrName>ppt_h</p:attrName>
                                        </p:attrNameLst>
                                      </p:cBhvr>
                                      <p:tavLst>
                                        <p:tav tm="0">
                                          <p:val>
                                            <p:fltVal val="0"/>
                                          </p:val>
                                        </p:tav>
                                        <p:tav tm="100000">
                                          <p:val>
                                            <p:strVal val="#ppt_h"/>
                                          </p:val>
                                        </p:tav>
                                      </p:tavLst>
                                    </p:anim>
                                    <p:animEffect transition="in" filter="fade">
                                      <p:cBhvr>
                                        <p:cTn id="65" dur="500"/>
                                        <p:tgtEl>
                                          <p:spTgt spid="67"/>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68"/>
                                        </p:tgtEl>
                                        <p:attrNameLst>
                                          <p:attrName>style.visibility</p:attrName>
                                        </p:attrNameLst>
                                      </p:cBhvr>
                                      <p:to>
                                        <p:strVal val="visible"/>
                                      </p:to>
                                    </p:set>
                                    <p:anim calcmode="lin" valueType="num">
                                      <p:cBhvr>
                                        <p:cTn id="70" dur="500" fill="hold"/>
                                        <p:tgtEl>
                                          <p:spTgt spid="68"/>
                                        </p:tgtEl>
                                        <p:attrNameLst>
                                          <p:attrName>ppt_w</p:attrName>
                                        </p:attrNameLst>
                                      </p:cBhvr>
                                      <p:tavLst>
                                        <p:tav tm="0">
                                          <p:val>
                                            <p:fltVal val="0"/>
                                          </p:val>
                                        </p:tav>
                                        <p:tav tm="100000">
                                          <p:val>
                                            <p:strVal val="#ppt_w"/>
                                          </p:val>
                                        </p:tav>
                                      </p:tavLst>
                                    </p:anim>
                                    <p:anim calcmode="lin" valueType="num">
                                      <p:cBhvr>
                                        <p:cTn id="71" dur="500" fill="hold"/>
                                        <p:tgtEl>
                                          <p:spTgt spid="68"/>
                                        </p:tgtEl>
                                        <p:attrNameLst>
                                          <p:attrName>ppt_h</p:attrName>
                                        </p:attrNameLst>
                                      </p:cBhvr>
                                      <p:tavLst>
                                        <p:tav tm="0">
                                          <p:val>
                                            <p:fltVal val="0"/>
                                          </p:val>
                                        </p:tav>
                                        <p:tav tm="100000">
                                          <p:val>
                                            <p:strVal val="#ppt_h"/>
                                          </p:val>
                                        </p:tav>
                                      </p:tavLst>
                                    </p:anim>
                                    <p:animEffect transition="in" filter="fade">
                                      <p:cBhvr>
                                        <p:cTn id="72" dur="500"/>
                                        <p:tgtEl>
                                          <p:spTgt spid="68"/>
                                        </p:tgtEl>
                                      </p:cBhvr>
                                    </p:animEffect>
                                  </p:childTnLst>
                                </p:cTn>
                              </p:par>
                            </p:childTnLst>
                          </p:cTn>
                        </p:par>
                        <p:par>
                          <p:cTn id="73" fill="hold">
                            <p:stCondLst>
                              <p:cond delay="500"/>
                            </p:stCondLst>
                            <p:childTnLst>
                              <p:par>
                                <p:cTn id="74" presetID="53" presetClass="entr" presetSubtype="16" fill="hold" grpId="0" nodeType="afterEffect">
                                  <p:stCondLst>
                                    <p:cond delay="0"/>
                                  </p:stCondLst>
                                  <p:childTnLst>
                                    <p:set>
                                      <p:cBhvr>
                                        <p:cTn id="75" dur="1" fill="hold">
                                          <p:stCondLst>
                                            <p:cond delay="0"/>
                                          </p:stCondLst>
                                        </p:cTn>
                                        <p:tgtEl>
                                          <p:spTgt spid="69"/>
                                        </p:tgtEl>
                                        <p:attrNameLst>
                                          <p:attrName>style.visibility</p:attrName>
                                        </p:attrNameLst>
                                      </p:cBhvr>
                                      <p:to>
                                        <p:strVal val="visible"/>
                                      </p:to>
                                    </p:set>
                                    <p:anim calcmode="lin" valueType="num">
                                      <p:cBhvr>
                                        <p:cTn id="76" dur="500" fill="hold"/>
                                        <p:tgtEl>
                                          <p:spTgt spid="69"/>
                                        </p:tgtEl>
                                        <p:attrNameLst>
                                          <p:attrName>ppt_w</p:attrName>
                                        </p:attrNameLst>
                                      </p:cBhvr>
                                      <p:tavLst>
                                        <p:tav tm="0">
                                          <p:val>
                                            <p:fltVal val="0"/>
                                          </p:val>
                                        </p:tav>
                                        <p:tav tm="100000">
                                          <p:val>
                                            <p:strVal val="#ppt_w"/>
                                          </p:val>
                                        </p:tav>
                                      </p:tavLst>
                                    </p:anim>
                                    <p:anim calcmode="lin" valueType="num">
                                      <p:cBhvr>
                                        <p:cTn id="77" dur="500" fill="hold"/>
                                        <p:tgtEl>
                                          <p:spTgt spid="69"/>
                                        </p:tgtEl>
                                        <p:attrNameLst>
                                          <p:attrName>ppt_h</p:attrName>
                                        </p:attrNameLst>
                                      </p:cBhvr>
                                      <p:tavLst>
                                        <p:tav tm="0">
                                          <p:val>
                                            <p:fltVal val="0"/>
                                          </p:val>
                                        </p:tav>
                                        <p:tav tm="100000">
                                          <p:val>
                                            <p:strVal val="#ppt_h"/>
                                          </p:val>
                                        </p:tav>
                                      </p:tavLst>
                                    </p:anim>
                                    <p:animEffect transition="in" filter="fade">
                                      <p:cBhvr>
                                        <p:cTn id="78" dur="500"/>
                                        <p:tgtEl>
                                          <p:spTgt spid="69"/>
                                        </p:tgtEl>
                                      </p:cBhvr>
                                    </p:animEffect>
                                  </p:childTnLst>
                                </p:cTn>
                              </p:par>
                            </p:childTnLst>
                          </p:cTn>
                        </p:par>
                        <p:par>
                          <p:cTn id="79" fill="hold">
                            <p:stCondLst>
                              <p:cond delay="1000"/>
                            </p:stCondLst>
                            <p:childTnLst>
                              <p:par>
                                <p:cTn id="80" presetID="53" presetClass="entr" presetSubtype="16" fill="hold" grpId="0" nodeType="afterEffect">
                                  <p:stCondLst>
                                    <p:cond delay="0"/>
                                  </p:stCondLst>
                                  <p:childTnLst>
                                    <p:set>
                                      <p:cBhvr>
                                        <p:cTn id="81" dur="1" fill="hold">
                                          <p:stCondLst>
                                            <p:cond delay="0"/>
                                          </p:stCondLst>
                                        </p:cTn>
                                        <p:tgtEl>
                                          <p:spTgt spid="70"/>
                                        </p:tgtEl>
                                        <p:attrNameLst>
                                          <p:attrName>style.visibility</p:attrName>
                                        </p:attrNameLst>
                                      </p:cBhvr>
                                      <p:to>
                                        <p:strVal val="visible"/>
                                      </p:to>
                                    </p:set>
                                    <p:anim calcmode="lin" valueType="num">
                                      <p:cBhvr>
                                        <p:cTn id="82" dur="500" fill="hold"/>
                                        <p:tgtEl>
                                          <p:spTgt spid="70"/>
                                        </p:tgtEl>
                                        <p:attrNameLst>
                                          <p:attrName>ppt_w</p:attrName>
                                        </p:attrNameLst>
                                      </p:cBhvr>
                                      <p:tavLst>
                                        <p:tav tm="0">
                                          <p:val>
                                            <p:fltVal val="0"/>
                                          </p:val>
                                        </p:tav>
                                        <p:tav tm="100000">
                                          <p:val>
                                            <p:strVal val="#ppt_w"/>
                                          </p:val>
                                        </p:tav>
                                      </p:tavLst>
                                    </p:anim>
                                    <p:anim calcmode="lin" valueType="num">
                                      <p:cBhvr>
                                        <p:cTn id="83" dur="500" fill="hold"/>
                                        <p:tgtEl>
                                          <p:spTgt spid="70"/>
                                        </p:tgtEl>
                                        <p:attrNameLst>
                                          <p:attrName>ppt_h</p:attrName>
                                        </p:attrNameLst>
                                      </p:cBhvr>
                                      <p:tavLst>
                                        <p:tav tm="0">
                                          <p:val>
                                            <p:fltVal val="0"/>
                                          </p:val>
                                        </p:tav>
                                        <p:tav tm="100000">
                                          <p:val>
                                            <p:strVal val="#ppt_h"/>
                                          </p:val>
                                        </p:tav>
                                      </p:tavLst>
                                    </p:anim>
                                    <p:animEffect transition="in" filter="fade">
                                      <p:cBhvr>
                                        <p:cTn id="84" dur="500"/>
                                        <p:tgtEl>
                                          <p:spTgt spid="70"/>
                                        </p:tgtEl>
                                      </p:cBhvr>
                                    </p:animEffect>
                                  </p:childTnLst>
                                </p:cTn>
                              </p:par>
                            </p:childTnLst>
                          </p:cTn>
                        </p:par>
                        <p:par>
                          <p:cTn id="85" fill="hold">
                            <p:stCondLst>
                              <p:cond delay="1500"/>
                            </p:stCondLst>
                            <p:childTnLst>
                              <p:par>
                                <p:cTn id="86" presetID="53" presetClass="entr" presetSubtype="16" fill="hold" grpId="0" nodeType="afterEffect">
                                  <p:stCondLst>
                                    <p:cond delay="250"/>
                                  </p:stCondLst>
                                  <p:childTnLst>
                                    <p:set>
                                      <p:cBhvr>
                                        <p:cTn id="87" dur="1" fill="hold">
                                          <p:stCondLst>
                                            <p:cond delay="0"/>
                                          </p:stCondLst>
                                        </p:cTn>
                                        <p:tgtEl>
                                          <p:spTgt spid="71"/>
                                        </p:tgtEl>
                                        <p:attrNameLst>
                                          <p:attrName>style.visibility</p:attrName>
                                        </p:attrNameLst>
                                      </p:cBhvr>
                                      <p:to>
                                        <p:strVal val="visible"/>
                                      </p:to>
                                    </p:set>
                                    <p:anim calcmode="lin" valueType="num">
                                      <p:cBhvr>
                                        <p:cTn id="88" dur="500" fill="hold"/>
                                        <p:tgtEl>
                                          <p:spTgt spid="71"/>
                                        </p:tgtEl>
                                        <p:attrNameLst>
                                          <p:attrName>ppt_w</p:attrName>
                                        </p:attrNameLst>
                                      </p:cBhvr>
                                      <p:tavLst>
                                        <p:tav tm="0">
                                          <p:val>
                                            <p:fltVal val="0"/>
                                          </p:val>
                                        </p:tav>
                                        <p:tav tm="100000">
                                          <p:val>
                                            <p:strVal val="#ppt_w"/>
                                          </p:val>
                                        </p:tav>
                                      </p:tavLst>
                                    </p:anim>
                                    <p:anim calcmode="lin" valueType="num">
                                      <p:cBhvr>
                                        <p:cTn id="89" dur="500" fill="hold"/>
                                        <p:tgtEl>
                                          <p:spTgt spid="71"/>
                                        </p:tgtEl>
                                        <p:attrNameLst>
                                          <p:attrName>ppt_h</p:attrName>
                                        </p:attrNameLst>
                                      </p:cBhvr>
                                      <p:tavLst>
                                        <p:tav tm="0">
                                          <p:val>
                                            <p:fltVal val="0"/>
                                          </p:val>
                                        </p:tav>
                                        <p:tav tm="100000">
                                          <p:val>
                                            <p:strVal val="#ppt_h"/>
                                          </p:val>
                                        </p:tav>
                                      </p:tavLst>
                                    </p:anim>
                                    <p:animEffect transition="in" filter="fade">
                                      <p:cBhvr>
                                        <p:cTn id="90" dur="500"/>
                                        <p:tgtEl>
                                          <p:spTgt spid="71"/>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72"/>
                                        </p:tgtEl>
                                        <p:attrNameLst>
                                          <p:attrName>style.visibility</p:attrName>
                                        </p:attrNameLst>
                                      </p:cBhvr>
                                      <p:to>
                                        <p:strVal val="visible"/>
                                      </p:to>
                                    </p:set>
                                    <p:anim calcmode="lin" valueType="num">
                                      <p:cBhvr>
                                        <p:cTn id="95" dur="500" fill="hold"/>
                                        <p:tgtEl>
                                          <p:spTgt spid="72"/>
                                        </p:tgtEl>
                                        <p:attrNameLst>
                                          <p:attrName>ppt_w</p:attrName>
                                        </p:attrNameLst>
                                      </p:cBhvr>
                                      <p:tavLst>
                                        <p:tav tm="0">
                                          <p:val>
                                            <p:fltVal val="0"/>
                                          </p:val>
                                        </p:tav>
                                        <p:tav tm="100000">
                                          <p:val>
                                            <p:strVal val="#ppt_w"/>
                                          </p:val>
                                        </p:tav>
                                      </p:tavLst>
                                    </p:anim>
                                    <p:anim calcmode="lin" valueType="num">
                                      <p:cBhvr>
                                        <p:cTn id="96" dur="500" fill="hold"/>
                                        <p:tgtEl>
                                          <p:spTgt spid="72"/>
                                        </p:tgtEl>
                                        <p:attrNameLst>
                                          <p:attrName>ppt_h</p:attrName>
                                        </p:attrNameLst>
                                      </p:cBhvr>
                                      <p:tavLst>
                                        <p:tav tm="0">
                                          <p:val>
                                            <p:fltVal val="0"/>
                                          </p:val>
                                        </p:tav>
                                        <p:tav tm="100000">
                                          <p:val>
                                            <p:strVal val="#ppt_h"/>
                                          </p:val>
                                        </p:tav>
                                      </p:tavLst>
                                    </p:anim>
                                    <p:animEffect transition="in" filter="fade">
                                      <p:cBhvr>
                                        <p:cTn id="97" dur="500"/>
                                        <p:tgtEl>
                                          <p:spTgt spid="72"/>
                                        </p:tgtEl>
                                      </p:cBhvr>
                                    </p:animEffect>
                                  </p:childTnLst>
                                </p:cTn>
                              </p:par>
                            </p:childTnLst>
                          </p:cTn>
                        </p:par>
                        <p:par>
                          <p:cTn id="98" fill="hold">
                            <p:stCondLst>
                              <p:cond delay="500"/>
                            </p:stCondLst>
                            <p:childTnLst>
                              <p:par>
                                <p:cTn id="99" presetID="53" presetClass="entr" presetSubtype="16" fill="hold" grpId="0" nodeType="afterEffect">
                                  <p:stCondLst>
                                    <p:cond delay="0"/>
                                  </p:stCondLst>
                                  <p:childTnLst>
                                    <p:set>
                                      <p:cBhvr>
                                        <p:cTn id="100" dur="1" fill="hold">
                                          <p:stCondLst>
                                            <p:cond delay="0"/>
                                          </p:stCondLst>
                                        </p:cTn>
                                        <p:tgtEl>
                                          <p:spTgt spid="73"/>
                                        </p:tgtEl>
                                        <p:attrNameLst>
                                          <p:attrName>style.visibility</p:attrName>
                                        </p:attrNameLst>
                                      </p:cBhvr>
                                      <p:to>
                                        <p:strVal val="visible"/>
                                      </p:to>
                                    </p:set>
                                    <p:anim calcmode="lin" valueType="num">
                                      <p:cBhvr>
                                        <p:cTn id="101" dur="500" fill="hold"/>
                                        <p:tgtEl>
                                          <p:spTgt spid="73"/>
                                        </p:tgtEl>
                                        <p:attrNameLst>
                                          <p:attrName>ppt_w</p:attrName>
                                        </p:attrNameLst>
                                      </p:cBhvr>
                                      <p:tavLst>
                                        <p:tav tm="0">
                                          <p:val>
                                            <p:fltVal val="0"/>
                                          </p:val>
                                        </p:tav>
                                        <p:tav tm="100000">
                                          <p:val>
                                            <p:strVal val="#ppt_w"/>
                                          </p:val>
                                        </p:tav>
                                      </p:tavLst>
                                    </p:anim>
                                    <p:anim calcmode="lin" valueType="num">
                                      <p:cBhvr>
                                        <p:cTn id="102" dur="500" fill="hold"/>
                                        <p:tgtEl>
                                          <p:spTgt spid="73"/>
                                        </p:tgtEl>
                                        <p:attrNameLst>
                                          <p:attrName>ppt_h</p:attrName>
                                        </p:attrNameLst>
                                      </p:cBhvr>
                                      <p:tavLst>
                                        <p:tav tm="0">
                                          <p:val>
                                            <p:fltVal val="0"/>
                                          </p:val>
                                        </p:tav>
                                        <p:tav tm="100000">
                                          <p:val>
                                            <p:strVal val="#ppt_h"/>
                                          </p:val>
                                        </p:tav>
                                      </p:tavLst>
                                    </p:anim>
                                    <p:animEffect transition="in" filter="fade">
                                      <p:cBhvr>
                                        <p:cTn id="103" dur="500"/>
                                        <p:tgtEl>
                                          <p:spTgt spid="73"/>
                                        </p:tgtEl>
                                      </p:cBhvr>
                                    </p:animEffect>
                                  </p:childTnLst>
                                </p:cTn>
                              </p:par>
                            </p:childTnLst>
                          </p:cTn>
                        </p:par>
                        <p:par>
                          <p:cTn id="104" fill="hold">
                            <p:stCondLst>
                              <p:cond delay="1000"/>
                            </p:stCondLst>
                            <p:childTnLst>
                              <p:par>
                                <p:cTn id="105" presetID="53" presetClass="entr" presetSubtype="16" fill="hold" grpId="0" nodeType="afterEffect">
                                  <p:stCondLst>
                                    <p:cond delay="0"/>
                                  </p:stCondLst>
                                  <p:childTnLst>
                                    <p:set>
                                      <p:cBhvr>
                                        <p:cTn id="106" dur="1" fill="hold">
                                          <p:stCondLst>
                                            <p:cond delay="0"/>
                                          </p:stCondLst>
                                        </p:cTn>
                                        <p:tgtEl>
                                          <p:spTgt spid="74"/>
                                        </p:tgtEl>
                                        <p:attrNameLst>
                                          <p:attrName>style.visibility</p:attrName>
                                        </p:attrNameLst>
                                      </p:cBhvr>
                                      <p:to>
                                        <p:strVal val="visible"/>
                                      </p:to>
                                    </p:set>
                                    <p:anim calcmode="lin" valueType="num">
                                      <p:cBhvr>
                                        <p:cTn id="107" dur="500" fill="hold"/>
                                        <p:tgtEl>
                                          <p:spTgt spid="74"/>
                                        </p:tgtEl>
                                        <p:attrNameLst>
                                          <p:attrName>ppt_w</p:attrName>
                                        </p:attrNameLst>
                                      </p:cBhvr>
                                      <p:tavLst>
                                        <p:tav tm="0">
                                          <p:val>
                                            <p:fltVal val="0"/>
                                          </p:val>
                                        </p:tav>
                                        <p:tav tm="100000">
                                          <p:val>
                                            <p:strVal val="#ppt_w"/>
                                          </p:val>
                                        </p:tav>
                                      </p:tavLst>
                                    </p:anim>
                                    <p:anim calcmode="lin" valueType="num">
                                      <p:cBhvr>
                                        <p:cTn id="108" dur="500" fill="hold"/>
                                        <p:tgtEl>
                                          <p:spTgt spid="74"/>
                                        </p:tgtEl>
                                        <p:attrNameLst>
                                          <p:attrName>ppt_h</p:attrName>
                                        </p:attrNameLst>
                                      </p:cBhvr>
                                      <p:tavLst>
                                        <p:tav tm="0">
                                          <p:val>
                                            <p:fltVal val="0"/>
                                          </p:val>
                                        </p:tav>
                                        <p:tav tm="100000">
                                          <p:val>
                                            <p:strVal val="#ppt_h"/>
                                          </p:val>
                                        </p:tav>
                                      </p:tavLst>
                                    </p:anim>
                                    <p:animEffect transition="in" filter="fade">
                                      <p:cBhvr>
                                        <p:cTn id="109" dur="500"/>
                                        <p:tgtEl>
                                          <p:spTgt spid="74"/>
                                        </p:tgtEl>
                                      </p:cBhvr>
                                    </p:animEffect>
                                  </p:childTnLst>
                                </p:cTn>
                              </p:par>
                            </p:childTnLst>
                          </p:cTn>
                        </p:par>
                        <p:par>
                          <p:cTn id="110" fill="hold">
                            <p:stCondLst>
                              <p:cond delay="1500"/>
                            </p:stCondLst>
                            <p:childTnLst>
                              <p:par>
                                <p:cTn id="111" presetID="53" presetClass="entr" presetSubtype="16" fill="hold" grpId="0" nodeType="afterEffect">
                                  <p:stCondLst>
                                    <p:cond delay="0"/>
                                  </p:stCondLst>
                                  <p:childTnLst>
                                    <p:set>
                                      <p:cBhvr>
                                        <p:cTn id="112" dur="1" fill="hold">
                                          <p:stCondLst>
                                            <p:cond delay="0"/>
                                          </p:stCondLst>
                                        </p:cTn>
                                        <p:tgtEl>
                                          <p:spTgt spid="75"/>
                                        </p:tgtEl>
                                        <p:attrNameLst>
                                          <p:attrName>style.visibility</p:attrName>
                                        </p:attrNameLst>
                                      </p:cBhvr>
                                      <p:to>
                                        <p:strVal val="visible"/>
                                      </p:to>
                                    </p:set>
                                    <p:anim calcmode="lin" valueType="num">
                                      <p:cBhvr>
                                        <p:cTn id="113" dur="500" fill="hold"/>
                                        <p:tgtEl>
                                          <p:spTgt spid="75"/>
                                        </p:tgtEl>
                                        <p:attrNameLst>
                                          <p:attrName>ppt_w</p:attrName>
                                        </p:attrNameLst>
                                      </p:cBhvr>
                                      <p:tavLst>
                                        <p:tav tm="0">
                                          <p:val>
                                            <p:fltVal val="0"/>
                                          </p:val>
                                        </p:tav>
                                        <p:tav tm="100000">
                                          <p:val>
                                            <p:strVal val="#ppt_w"/>
                                          </p:val>
                                        </p:tav>
                                      </p:tavLst>
                                    </p:anim>
                                    <p:anim calcmode="lin" valueType="num">
                                      <p:cBhvr>
                                        <p:cTn id="114" dur="500" fill="hold"/>
                                        <p:tgtEl>
                                          <p:spTgt spid="75"/>
                                        </p:tgtEl>
                                        <p:attrNameLst>
                                          <p:attrName>ppt_h</p:attrName>
                                        </p:attrNameLst>
                                      </p:cBhvr>
                                      <p:tavLst>
                                        <p:tav tm="0">
                                          <p:val>
                                            <p:fltVal val="0"/>
                                          </p:val>
                                        </p:tav>
                                        <p:tav tm="100000">
                                          <p:val>
                                            <p:strVal val="#ppt_h"/>
                                          </p:val>
                                        </p:tav>
                                      </p:tavLst>
                                    </p:anim>
                                    <p:animEffect transition="in" filter="fade">
                                      <p:cBhvr>
                                        <p:cTn id="115" dur="500"/>
                                        <p:tgtEl>
                                          <p:spTgt spid="75"/>
                                        </p:tgtEl>
                                      </p:cBhvr>
                                    </p:animEffect>
                                  </p:childTnLst>
                                </p:cTn>
                              </p:par>
                            </p:childTnLst>
                          </p:cTn>
                        </p:par>
                        <p:par>
                          <p:cTn id="116" fill="hold">
                            <p:stCondLst>
                              <p:cond delay="2000"/>
                            </p:stCondLst>
                            <p:childTnLst>
                              <p:par>
                                <p:cTn id="117" presetID="53" presetClass="entr" presetSubtype="16" fill="hold" grpId="0" nodeType="afterEffect">
                                  <p:stCondLst>
                                    <p:cond delay="250"/>
                                  </p:stCondLst>
                                  <p:childTnLst>
                                    <p:set>
                                      <p:cBhvr>
                                        <p:cTn id="118" dur="1" fill="hold">
                                          <p:stCondLst>
                                            <p:cond delay="0"/>
                                          </p:stCondLst>
                                        </p:cTn>
                                        <p:tgtEl>
                                          <p:spTgt spid="76"/>
                                        </p:tgtEl>
                                        <p:attrNameLst>
                                          <p:attrName>style.visibility</p:attrName>
                                        </p:attrNameLst>
                                      </p:cBhvr>
                                      <p:to>
                                        <p:strVal val="visible"/>
                                      </p:to>
                                    </p:set>
                                    <p:anim calcmode="lin" valueType="num">
                                      <p:cBhvr>
                                        <p:cTn id="119" dur="500" fill="hold"/>
                                        <p:tgtEl>
                                          <p:spTgt spid="76"/>
                                        </p:tgtEl>
                                        <p:attrNameLst>
                                          <p:attrName>ppt_w</p:attrName>
                                        </p:attrNameLst>
                                      </p:cBhvr>
                                      <p:tavLst>
                                        <p:tav tm="0">
                                          <p:val>
                                            <p:fltVal val="0"/>
                                          </p:val>
                                        </p:tav>
                                        <p:tav tm="100000">
                                          <p:val>
                                            <p:strVal val="#ppt_w"/>
                                          </p:val>
                                        </p:tav>
                                      </p:tavLst>
                                    </p:anim>
                                    <p:anim calcmode="lin" valueType="num">
                                      <p:cBhvr>
                                        <p:cTn id="120" dur="500" fill="hold"/>
                                        <p:tgtEl>
                                          <p:spTgt spid="76"/>
                                        </p:tgtEl>
                                        <p:attrNameLst>
                                          <p:attrName>ppt_h</p:attrName>
                                        </p:attrNameLst>
                                      </p:cBhvr>
                                      <p:tavLst>
                                        <p:tav tm="0">
                                          <p:val>
                                            <p:fltVal val="0"/>
                                          </p:val>
                                        </p:tav>
                                        <p:tav tm="100000">
                                          <p:val>
                                            <p:strVal val="#ppt_h"/>
                                          </p:val>
                                        </p:tav>
                                      </p:tavLst>
                                    </p:anim>
                                    <p:animEffect transition="in" filter="fade">
                                      <p:cBhvr>
                                        <p:cTn id="121" dur="500"/>
                                        <p:tgtEl>
                                          <p:spTgt spid="76"/>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77"/>
                                        </p:tgtEl>
                                        <p:attrNameLst>
                                          <p:attrName>style.visibility</p:attrName>
                                        </p:attrNameLst>
                                      </p:cBhvr>
                                      <p:to>
                                        <p:strVal val="visible"/>
                                      </p:to>
                                    </p:set>
                                    <p:anim calcmode="lin" valueType="num">
                                      <p:cBhvr>
                                        <p:cTn id="126" dur="500" fill="hold"/>
                                        <p:tgtEl>
                                          <p:spTgt spid="77"/>
                                        </p:tgtEl>
                                        <p:attrNameLst>
                                          <p:attrName>ppt_w</p:attrName>
                                        </p:attrNameLst>
                                      </p:cBhvr>
                                      <p:tavLst>
                                        <p:tav tm="0">
                                          <p:val>
                                            <p:fltVal val="0"/>
                                          </p:val>
                                        </p:tav>
                                        <p:tav tm="100000">
                                          <p:val>
                                            <p:strVal val="#ppt_w"/>
                                          </p:val>
                                        </p:tav>
                                      </p:tavLst>
                                    </p:anim>
                                    <p:anim calcmode="lin" valueType="num">
                                      <p:cBhvr>
                                        <p:cTn id="127" dur="500" fill="hold"/>
                                        <p:tgtEl>
                                          <p:spTgt spid="77"/>
                                        </p:tgtEl>
                                        <p:attrNameLst>
                                          <p:attrName>ppt_h</p:attrName>
                                        </p:attrNameLst>
                                      </p:cBhvr>
                                      <p:tavLst>
                                        <p:tav tm="0">
                                          <p:val>
                                            <p:fltVal val="0"/>
                                          </p:val>
                                        </p:tav>
                                        <p:tav tm="100000">
                                          <p:val>
                                            <p:strVal val="#ppt_h"/>
                                          </p:val>
                                        </p:tav>
                                      </p:tavLst>
                                    </p:anim>
                                    <p:animEffect transition="in" filter="fade">
                                      <p:cBhvr>
                                        <p:cTn id="128" dur="500"/>
                                        <p:tgtEl>
                                          <p:spTgt spid="77"/>
                                        </p:tgtEl>
                                      </p:cBhvr>
                                    </p:animEffect>
                                  </p:childTnLst>
                                </p:cTn>
                              </p:par>
                            </p:childTnLst>
                          </p:cTn>
                        </p:par>
                        <p:par>
                          <p:cTn id="129" fill="hold">
                            <p:stCondLst>
                              <p:cond delay="500"/>
                            </p:stCondLst>
                            <p:childTnLst>
                              <p:par>
                                <p:cTn id="130" presetID="53" presetClass="entr" presetSubtype="16" fill="hold" grpId="0" nodeType="afterEffect">
                                  <p:stCondLst>
                                    <p:cond delay="0"/>
                                  </p:stCondLst>
                                  <p:childTnLst>
                                    <p:set>
                                      <p:cBhvr>
                                        <p:cTn id="131" dur="1" fill="hold">
                                          <p:stCondLst>
                                            <p:cond delay="0"/>
                                          </p:stCondLst>
                                        </p:cTn>
                                        <p:tgtEl>
                                          <p:spTgt spid="78"/>
                                        </p:tgtEl>
                                        <p:attrNameLst>
                                          <p:attrName>style.visibility</p:attrName>
                                        </p:attrNameLst>
                                      </p:cBhvr>
                                      <p:to>
                                        <p:strVal val="visible"/>
                                      </p:to>
                                    </p:set>
                                    <p:anim calcmode="lin" valueType="num">
                                      <p:cBhvr>
                                        <p:cTn id="132" dur="500" fill="hold"/>
                                        <p:tgtEl>
                                          <p:spTgt spid="78"/>
                                        </p:tgtEl>
                                        <p:attrNameLst>
                                          <p:attrName>ppt_w</p:attrName>
                                        </p:attrNameLst>
                                      </p:cBhvr>
                                      <p:tavLst>
                                        <p:tav tm="0">
                                          <p:val>
                                            <p:fltVal val="0"/>
                                          </p:val>
                                        </p:tav>
                                        <p:tav tm="100000">
                                          <p:val>
                                            <p:strVal val="#ppt_w"/>
                                          </p:val>
                                        </p:tav>
                                      </p:tavLst>
                                    </p:anim>
                                    <p:anim calcmode="lin" valueType="num">
                                      <p:cBhvr>
                                        <p:cTn id="133" dur="500" fill="hold"/>
                                        <p:tgtEl>
                                          <p:spTgt spid="78"/>
                                        </p:tgtEl>
                                        <p:attrNameLst>
                                          <p:attrName>ppt_h</p:attrName>
                                        </p:attrNameLst>
                                      </p:cBhvr>
                                      <p:tavLst>
                                        <p:tav tm="0">
                                          <p:val>
                                            <p:fltVal val="0"/>
                                          </p:val>
                                        </p:tav>
                                        <p:tav tm="100000">
                                          <p:val>
                                            <p:strVal val="#ppt_h"/>
                                          </p:val>
                                        </p:tav>
                                      </p:tavLst>
                                    </p:anim>
                                    <p:animEffect transition="in" filter="fade">
                                      <p:cBhvr>
                                        <p:cTn id="134" dur="500"/>
                                        <p:tgtEl>
                                          <p:spTgt spid="78"/>
                                        </p:tgtEl>
                                      </p:cBhvr>
                                    </p:animEffect>
                                  </p:childTnLst>
                                </p:cTn>
                              </p:par>
                            </p:childTnLst>
                          </p:cTn>
                        </p:par>
                        <p:par>
                          <p:cTn id="135" fill="hold">
                            <p:stCondLst>
                              <p:cond delay="1000"/>
                            </p:stCondLst>
                            <p:childTnLst>
                              <p:par>
                                <p:cTn id="136" presetID="53" presetClass="entr" presetSubtype="16" fill="hold" grpId="0" nodeType="afterEffect">
                                  <p:stCondLst>
                                    <p:cond delay="0"/>
                                  </p:stCondLst>
                                  <p:childTnLst>
                                    <p:set>
                                      <p:cBhvr>
                                        <p:cTn id="137" dur="1" fill="hold">
                                          <p:stCondLst>
                                            <p:cond delay="0"/>
                                          </p:stCondLst>
                                        </p:cTn>
                                        <p:tgtEl>
                                          <p:spTgt spid="79"/>
                                        </p:tgtEl>
                                        <p:attrNameLst>
                                          <p:attrName>style.visibility</p:attrName>
                                        </p:attrNameLst>
                                      </p:cBhvr>
                                      <p:to>
                                        <p:strVal val="visible"/>
                                      </p:to>
                                    </p:set>
                                    <p:anim calcmode="lin" valueType="num">
                                      <p:cBhvr>
                                        <p:cTn id="138" dur="500" fill="hold"/>
                                        <p:tgtEl>
                                          <p:spTgt spid="79"/>
                                        </p:tgtEl>
                                        <p:attrNameLst>
                                          <p:attrName>ppt_w</p:attrName>
                                        </p:attrNameLst>
                                      </p:cBhvr>
                                      <p:tavLst>
                                        <p:tav tm="0">
                                          <p:val>
                                            <p:fltVal val="0"/>
                                          </p:val>
                                        </p:tav>
                                        <p:tav tm="100000">
                                          <p:val>
                                            <p:strVal val="#ppt_w"/>
                                          </p:val>
                                        </p:tav>
                                      </p:tavLst>
                                    </p:anim>
                                    <p:anim calcmode="lin" valueType="num">
                                      <p:cBhvr>
                                        <p:cTn id="139" dur="500" fill="hold"/>
                                        <p:tgtEl>
                                          <p:spTgt spid="79"/>
                                        </p:tgtEl>
                                        <p:attrNameLst>
                                          <p:attrName>ppt_h</p:attrName>
                                        </p:attrNameLst>
                                      </p:cBhvr>
                                      <p:tavLst>
                                        <p:tav tm="0">
                                          <p:val>
                                            <p:fltVal val="0"/>
                                          </p:val>
                                        </p:tav>
                                        <p:tav tm="100000">
                                          <p:val>
                                            <p:strVal val="#ppt_h"/>
                                          </p:val>
                                        </p:tav>
                                      </p:tavLst>
                                    </p:anim>
                                    <p:animEffect transition="in" filter="fade">
                                      <p:cBhvr>
                                        <p:cTn id="140" dur="500"/>
                                        <p:tgtEl>
                                          <p:spTgt spid="79"/>
                                        </p:tgtEl>
                                      </p:cBhvr>
                                    </p:animEffect>
                                  </p:childTnLst>
                                </p:cTn>
                              </p:par>
                            </p:childTnLst>
                          </p:cTn>
                        </p:par>
                        <p:par>
                          <p:cTn id="141" fill="hold">
                            <p:stCondLst>
                              <p:cond delay="1500"/>
                            </p:stCondLst>
                            <p:childTnLst>
                              <p:par>
                                <p:cTn id="142" presetID="53" presetClass="entr" presetSubtype="16" fill="hold" grpId="0" nodeType="afterEffect">
                                  <p:stCondLst>
                                    <p:cond delay="0"/>
                                  </p:stCondLst>
                                  <p:childTnLst>
                                    <p:set>
                                      <p:cBhvr>
                                        <p:cTn id="143" dur="1" fill="hold">
                                          <p:stCondLst>
                                            <p:cond delay="0"/>
                                          </p:stCondLst>
                                        </p:cTn>
                                        <p:tgtEl>
                                          <p:spTgt spid="80"/>
                                        </p:tgtEl>
                                        <p:attrNameLst>
                                          <p:attrName>style.visibility</p:attrName>
                                        </p:attrNameLst>
                                      </p:cBhvr>
                                      <p:to>
                                        <p:strVal val="visible"/>
                                      </p:to>
                                    </p:set>
                                    <p:anim calcmode="lin" valueType="num">
                                      <p:cBhvr>
                                        <p:cTn id="144" dur="500" fill="hold"/>
                                        <p:tgtEl>
                                          <p:spTgt spid="80"/>
                                        </p:tgtEl>
                                        <p:attrNameLst>
                                          <p:attrName>ppt_w</p:attrName>
                                        </p:attrNameLst>
                                      </p:cBhvr>
                                      <p:tavLst>
                                        <p:tav tm="0">
                                          <p:val>
                                            <p:fltVal val="0"/>
                                          </p:val>
                                        </p:tav>
                                        <p:tav tm="100000">
                                          <p:val>
                                            <p:strVal val="#ppt_w"/>
                                          </p:val>
                                        </p:tav>
                                      </p:tavLst>
                                    </p:anim>
                                    <p:anim calcmode="lin" valueType="num">
                                      <p:cBhvr>
                                        <p:cTn id="145" dur="500" fill="hold"/>
                                        <p:tgtEl>
                                          <p:spTgt spid="80"/>
                                        </p:tgtEl>
                                        <p:attrNameLst>
                                          <p:attrName>ppt_h</p:attrName>
                                        </p:attrNameLst>
                                      </p:cBhvr>
                                      <p:tavLst>
                                        <p:tav tm="0">
                                          <p:val>
                                            <p:fltVal val="0"/>
                                          </p:val>
                                        </p:tav>
                                        <p:tav tm="100000">
                                          <p:val>
                                            <p:strVal val="#ppt_h"/>
                                          </p:val>
                                        </p:tav>
                                      </p:tavLst>
                                    </p:anim>
                                    <p:animEffect transition="in" filter="fade">
                                      <p:cBhvr>
                                        <p:cTn id="146" dur="500"/>
                                        <p:tgtEl>
                                          <p:spTgt spid="80"/>
                                        </p:tgtEl>
                                      </p:cBhvr>
                                    </p:animEffect>
                                  </p:childTnLst>
                                </p:cTn>
                              </p:par>
                            </p:childTnLst>
                          </p:cTn>
                        </p:par>
                        <p:par>
                          <p:cTn id="147" fill="hold">
                            <p:stCondLst>
                              <p:cond delay="2000"/>
                            </p:stCondLst>
                            <p:childTnLst>
                              <p:par>
                                <p:cTn id="148" presetID="53" presetClass="entr" presetSubtype="16" fill="hold" grpId="0" nodeType="afterEffect">
                                  <p:stCondLst>
                                    <p:cond delay="250"/>
                                  </p:stCondLst>
                                  <p:childTnLst>
                                    <p:set>
                                      <p:cBhvr>
                                        <p:cTn id="149" dur="1" fill="hold">
                                          <p:stCondLst>
                                            <p:cond delay="0"/>
                                          </p:stCondLst>
                                        </p:cTn>
                                        <p:tgtEl>
                                          <p:spTgt spid="81"/>
                                        </p:tgtEl>
                                        <p:attrNameLst>
                                          <p:attrName>style.visibility</p:attrName>
                                        </p:attrNameLst>
                                      </p:cBhvr>
                                      <p:to>
                                        <p:strVal val="visible"/>
                                      </p:to>
                                    </p:set>
                                    <p:anim calcmode="lin" valueType="num">
                                      <p:cBhvr>
                                        <p:cTn id="150" dur="500" fill="hold"/>
                                        <p:tgtEl>
                                          <p:spTgt spid="81"/>
                                        </p:tgtEl>
                                        <p:attrNameLst>
                                          <p:attrName>ppt_w</p:attrName>
                                        </p:attrNameLst>
                                      </p:cBhvr>
                                      <p:tavLst>
                                        <p:tav tm="0">
                                          <p:val>
                                            <p:fltVal val="0"/>
                                          </p:val>
                                        </p:tav>
                                        <p:tav tm="100000">
                                          <p:val>
                                            <p:strVal val="#ppt_w"/>
                                          </p:val>
                                        </p:tav>
                                      </p:tavLst>
                                    </p:anim>
                                    <p:anim calcmode="lin" valueType="num">
                                      <p:cBhvr>
                                        <p:cTn id="151" dur="500" fill="hold"/>
                                        <p:tgtEl>
                                          <p:spTgt spid="81"/>
                                        </p:tgtEl>
                                        <p:attrNameLst>
                                          <p:attrName>ppt_h</p:attrName>
                                        </p:attrNameLst>
                                      </p:cBhvr>
                                      <p:tavLst>
                                        <p:tav tm="0">
                                          <p:val>
                                            <p:fltVal val="0"/>
                                          </p:val>
                                        </p:tav>
                                        <p:tav tm="100000">
                                          <p:val>
                                            <p:strVal val="#ppt_h"/>
                                          </p:val>
                                        </p:tav>
                                      </p:tavLst>
                                    </p:anim>
                                    <p:animEffect transition="in" filter="fade">
                                      <p:cBhvr>
                                        <p:cTn id="152" dur="500"/>
                                        <p:tgtEl>
                                          <p:spTgt spid="81"/>
                                        </p:tgtEl>
                                      </p:cBhvr>
                                    </p:animEffect>
                                  </p:childTnLst>
                                </p:cTn>
                              </p:par>
                            </p:childTnLst>
                          </p:cTn>
                        </p:par>
                      </p:childTnLst>
                    </p:cTn>
                  </p:par>
                  <p:par>
                    <p:cTn id="153" fill="hold">
                      <p:stCondLst>
                        <p:cond delay="indefinite"/>
                      </p:stCondLst>
                      <p:childTnLst>
                        <p:par>
                          <p:cTn id="154" fill="hold">
                            <p:stCondLst>
                              <p:cond delay="0"/>
                            </p:stCondLst>
                            <p:childTnLst>
                              <p:par>
                                <p:cTn id="155" presetID="53" presetClass="entr" presetSubtype="16" fill="hold" grpId="0" nodeType="clickEffect">
                                  <p:stCondLst>
                                    <p:cond delay="0"/>
                                  </p:stCondLst>
                                  <p:childTnLst>
                                    <p:set>
                                      <p:cBhvr>
                                        <p:cTn id="156" dur="1" fill="hold">
                                          <p:stCondLst>
                                            <p:cond delay="0"/>
                                          </p:stCondLst>
                                        </p:cTn>
                                        <p:tgtEl>
                                          <p:spTgt spid="82"/>
                                        </p:tgtEl>
                                        <p:attrNameLst>
                                          <p:attrName>style.visibility</p:attrName>
                                        </p:attrNameLst>
                                      </p:cBhvr>
                                      <p:to>
                                        <p:strVal val="visible"/>
                                      </p:to>
                                    </p:set>
                                    <p:anim calcmode="lin" valueType="num">
                                      <p:cBhvr>
                                        <p:cTn id="157" dur="500" fill="hold"/>
                                        <p:tgtEl>
                                          <p:spTgt spid="82"/>
                                        </p:tgtEl>
                                        <p:attrNameLst>
                                          <p:attrName>ppt_w</p:attrName>
                                        </p:attrNameLst>
                                      </p:cBhvr>
                                      <p:tavLst>
                                        <p:tav tm="0">
                                          <p:val>
                                            <p:fltVal val="0"/>
                                          </p:val>
                                        </p:tav>
                                        <p:tav tm="100000">
                                          <p:val>
                                            <p:strVal val="#ppt_w"/>
                                          </p:val>
                                        </p:tav>
                                      </p:tavLst>
                                    </p:anim>
                                    <p:anim calcmode="lin" valueType="num">
                                      <p:cBhvr>
                                        <p:cTn id="158" dur="500" fill="hold"/>
                                        <p:tgtEl>
                                          <p:spTgt spid="82"/>
                                        </p:tgtEl>
                                        <p:attrNameLst>
                                          <p:attrName>ppt_h</p:attrName>
                                        </p:attrNameLst>
                                      </p:cBhvr>
                                      <p:tavLst>
                                        <p:tav tm="0">
                                          <p:val>
                                            <p:fltVal val="0"/>
                                          </p:val>
                                        </p:tav>
                                        <p:tav tm="100000">
                                          <p:val>
                                            <p:strVal val="#ppt_h"/>
                                          </p:val>
                                        </p:tav>
                                      </p:tavLst>
                                    </p:anim>
                                    <p:animEffect transition="in" filter="fade">
                                      <p:cBhvr>
                                        <p:cTn id="159" dur="500"/>
                                        <p:tgtEl>
                                          <p:spTgt spid="82"/>
                                        </p:tgtEl>
                                      </p:cBhvr>
                                    </p:animEffect>
                                  </p:childTnLst>
                                </p:cTn>
                              </p:par>
                            </p:childTnLst>
                          </p:cTn>
                        </p:par>
                        <p:par>
                          <p:cTn id="160" fill="hold">
                            <p:stCondLst>
                              <p:cond delay="500"/>
                            </p:stCondLst>
                            <p:childTnLst>
                              <p:par>
                                <p:cTn id="161" presetID="53" presetClass="entr" presetSubtype="16" fill="hold" grpId="0" nodeType="afterEffect">
                                  <p:stCondLst>
                                    <p:cond delay="0"/>
                                  </p:stCondLst>
                                  <p:childTnLst>
                                    <p:set>
                                      <p:cBhvr>
                                        <p:cTn id="162" dur="1" fill="hold">
                                          <p:stCondLst>
                                            <p:cond delay="0"/>
                                          </p:stCondLst>
                                        </p:cTn>
                                        <p:tgtEl>
                                          <p:spTgt spid="83"/>
                                        </p:tgtEl>
                                        <p:attrNameLst>
                                          <p:attrName>style.visibility</p:attrName>
                                        </p:attrNameLst>
                                      </p:cBhvr>
                                      <p:to>
                                        <p:strVal val="visible"/>
                                      </p:to>
                                    </p:set>
                                    <p:anim calcmode="lin" valueType="num">
                                      <p:cBhvr>
                                        <p:cTn id="163" dur="500" fill="hold"/>
                                        <p:tgtEl>
                                          <p:spTgt spid="83"/>
                                        </p:tgtEl>
                                        <p:attrNameLst>
                                          <p:attrName>ppt_w</p:attrName>
                                        </p:attrNameLst>
                                      </p:cBhvr>
                                      <p:tavLst>
                                        <p:tav tm="0">
                                          <p:val>
                                            <p:fltVal val="0"/>
                                          </p:val>
                                        </p:tav>
                                        <p:tav tm="100000">
                                          <p:val>
                                            <p:strVal val="#ppt_w"/>
                                          </p:val>
                                        </p:tav>
                                      </p:tavLst>
                                    </p:anim>
                                    <p:anim calcmode="lin" valueType="num">
                                      <p:cBhvr>
                                        <p:cTn id="164" dur="500" fill="hold"/>
                                        <p:tgtEl>
                                          <p:spTgt spid="83"/>
                                        </p:tgtEl>
                                        <p:attrNameLst>
                                          <p:attrName>ppt_h</p:attrName>
                                        </p:attrNameLst>
                                      </p:cBhvr>
                                      <p:tavLst>
                                        <p:tav tm="0">
                                          <p:val>
                                            <p:fltVal val="0"/>
                                          </p:val>
                                        </p:tav>
                                        <p:tav tm="100000">
                                          <p:val>
                                            <p:strVal val="#ppt_h"/>
                                          </p:val>
                                        </p:tav>
                                      </p:tavLst>
                                    </p:anim>
                                    <p:animEffect transition="in" filter="fade">
                                      <p:cBhvr>
                                        <p:cTn id="165" dur="500"/>
                                        <p:tgtEl>
                                          <p:spTgt spid="83"/>
                                        </p:tgtEl>
                                      </p:cBhvr>
                                    </p:animEffect>
                                  </p:childTnLst>
                                </p:cTn>
                              </p:par>
                            </p:childTnLst>
                          </p:cTn>
                        </p:par>
                        <p:par>
                          <p:cTn id="166" fill="hold">
                            <p:stCondLst>
                              <p:cond delay="1000"/>
                            </p:stCondLst>
                            <p:childTnLst>
                              <p:par>
                                <p:cTn id="167" presetID="53" presetClass="entr" presetSubtype="16" fill="hold" grpId="0" nodeType="afterEffect">
                                  <p:stCondLst>
                                    <p:cond delay="0"/>
                                  </p:stCondLst>
                                  <p:childTnLst>
                                    <p:set>
                                      <p:cBhvr>
                                        <p:cTn id="168" dur="1" fill="hold">
                                          <p:stCondLst>
                                            <p:cond delay="0"/>
                                          </p:stCondLst>
                                        </p:cTn>
                                        <p:tgtEl>
                                          <p:spTgt spid="84"/>
                                        </p:tgtEl>
                                        <p:attrNameLst>
                                          <p:attrName>style.visibility</p:attrName>
                                        </p:attrNameLst>
                                      </p:cBhvr>
                                      <p:to>
                                        <p:strVal val="visible"/>
                                      </p:to>
                                    </p:set>
                                    <p:anim calcmode="lin" valueType="num">
                                      <p:cBhvr>
                                        <p:cTn id="169" dur="500" fill="hold"/>
                                        <p:tgtEl>
                                          <p:spTgt spid="84"/>
                                        </p:tgtEl>
                                        <p:attrNameLst>
                                          <p:attrName>ppt_w</p:attrName>
                                        </p:attrNameLst>
                                      </p:cBhvr>
                                      <p:tavLst>
                                        <p:tav tm="0">
                                          <p:val>
                                            <p:fltVal val="0"/>
                                          </p:val>
                                        </p:tav>
                                        <p:tav tm="100000">
                                          <p:val>
                                            <p:strVal val="#ppt_w"/>
                                          </p:val>
                                        </p:tav>
                                      </p:tavLst>
                                    </p:anim>
                                    <p:anim calcmode="lin" valueType="num">
                                      <p:cBhvr>
                                        <p:cTn id="170" dur="500" fill="hold"/>
                                        <p:tgtEl>
                                          <p:spTgt spid="84"/>
                                        </p:tgtEl>
                                        <p:attrNameLst>
                                          <p:attrName>ppt_h</p:attrName>
                                        </p:attrNameLst>
                                      </p:cBhvr>
                                      <p:tavLst>
                                        <p:tav tm="0">
                                          <p:val>
                                            <p:fltVal val="0"/>
                                          </p:val>
                                        </p:tav>
                                        <p:tav tm="100000">
                                          <p:val>
                                            <p:strVal val="#ppt_h"/>
                                          </p:val>
                                        </p:tav>
                                      </p:tavLst>
                                    </p:anim>
                                    <p:animEffect transition="in" filter="fade">
                                      <p:cBhvr>
                                        <p:cTn id="171" dur="500"/>
                                        <p:tgtEl>
                                          <p:spTgt spid="84"/>
                                        </p:tgtEl>
                                      </p:cBhvr>
                                    </p:animEffect>
                                  </p:childTnLst>
                                </p:cTn>
                              </p:par>
                            </p:childTnLst>
                          </p:cTn>
                        </p:par>
                        <p:par>
                          <p:cTn id="172" fill="hold">
                            <p:stCondLst>
                              <p:cond delay="1500"/>
                            </p:stCondLst>
                            <p:childTnLst>
                              <p:par>
                                <p:cTn id="173" presetID="53" presetClass="entr" presetSubtype="16" fill="hold" grpId="0" nodeType="afterEffect">
                                  <p:stCondLst>
                                    <p:cond delay="0"/>
                                  </p:stCondLst>
                                  <p:childTnLst>
                                    <p:set>
                                      <p:cBhvr>
                                        <p:cTn id="174" dur="1" fill="hold">
                                          <p:stCondLst>
                                            <p:cond delay="0"/>
                                          </p:stCondLst>
                                        </p:cTn>
                                        <p:tgtEl>
                                          <p:spTgt spid="85"/>
                                        </p:tgtEl>
                                        <p:attrNameLst>
                                          <p:attrName>style.visibility</p:attrName>
                                        </p:attrNameLst>
                                      </p:cBhvr>
                                      <p:to>
                                        <p:strVal val="visible"/>
                                      </p:to>
                                    </p:set>
                                    <p:anim calcmode="lin" valueType="num">
                                      <p:cBhvr>
                                        <p:cTn id="175" dur="500" fill="hold"/>
                                        <p:tgtEl>
                                          <p:spTgt spid="85"/>
                                        </p:tgtEl>
                                        <p:attrNameLst>
                                          <p:attrName>ppt_w</p:attrName>
                                        </p:attrNameLst>
                                      </p:cBhvr>
                                      <p:tavLst>
                                        <p:tav tm="0">
                                          <p:val>
                                            <p:fltVal val="0"/>
                                          </p:val>
                                        </p:tav>
                                        <p:tav tm="100000">
                                          <p:val>
                                            <p:strVal val="#ppt_w"/>
                                          </p:val>
                                        </p:tav>
                                      </p:tavLst>
                                    </p:anim>
                                    <p:anim calcmode="lin" valueType="num">
                                      <p:cBhvr>
                                        <p:cTn id="176" dur="500" fill="hold"/>
                                        <p:tgtEl>
                                          <p:spTgt spid="85"/>
                                        </p:tgtEl>
                                        <p:attrNameLst>
                                          <p:attrName>ppt_h</p:attrName>
                                        </p:attrNameLst>
                                      </p:cBhvr>
                                      <p:tavLst>
                                        <p:tav tm="0">
                                          <p:val>
                                            <p:fltVal val="0"/>
                                          </p:val>
                                        </p:tav>
                                        <p:tav tm="100000">
                                          <p:val>
                                            <p:strVal val="#ppt_h"/>
                                          </p:val>
                                        </p:tav>
                                      </p:tavLst>
                                    </p:anim>
                                    <p:animEffect transition="in" filter="fade">
                                      <p:cBhvr>
                                        <p:cTn id="177" dur="500"/>
                                        <p:tgtEl>
                                          <p:spTgt spid="85"/>
                                        </p:tgtEl>
                                      </p:cBhvr>
                                    </p:animEffect>
                                  </p:childTnLst>
                                </p:cTn>
                              </p:par>
                            </p:childTnLst>
                          </p:cTn>
                        </p:par>
                        <p:par>
                          <p:cTn id="178" fill="hold">
                            <p:stCondLst>
                              <p:cond delay="2000"/>
                            </p:stCondLst>
                            <p:childTnLst>
                              <p:par>
                                <p:cTn id="179" presetID="53" presetClass="entr" presetSubtype="16" fill="hold" grpId="0" nodeType="afterEffect">
                                  <p:stCondLst>
                                    <p:cond delay="250"/>
                                  </p:stCondLst>
                                  <p:childTnLst>
                                    <p:set>
                                      <p:cBhvr>
                                        <p:cTn id="180" dur="1" fill="hold">
                                          <p:stCondLst>
                                            <p:cond delay="0"/>
                                          </p:stCondLst>
                                        </p:cTn>
                                        <p:tgtEl>
                                          <p:spTgt spid="86"/>
                                        </p:tgtEl>
                                        <p:attrNameLst>
                                          <p:attrName>style.visibility</p:attrName>
                                        </p:attrNameLst>
                                      </p:cBhvr>
                                      <p:to>
                                        <p:strVal val="visible"/>
                                      </p:to>
                                    </p:set>
                                    <p:anim calcmode="lin" valueType="num">
                                      <p:cBhvr>
                                        <p:cTn id="181" dur="500" fill="hold"/>
                                        <p:tgtEl>
                                          <p:spTgt spid="86"/>
                                        </p:tgtEl>
                                        <p:attrNameLst>
                                          <p:attrName>ppt_w</p:attrName>
                                        </p:attrNameLst>
                                      </p:cBhvr>
                                      <p:tavLst>
                                        <p:tav tm="0">
                                          <p:val>
                                            <p:fltVal val="0"/>
                                          </p:val>
                                        </p:tav>
                                        <p:tav tm="100000">
                                          <p:val>
                                            <p:strVal val="#ppt_w"/>
                                          </p:val>
                                        </p:tav>
                                      </p:tavLst>
                                    </p:anim>
                                    <p:anim calcmode="lin" valueType="num">
                                      <p:cBhvr>
                                        <p:cTn id="182" dur="500" fill="hold"/>
                                        <p:tgtEl>
                                          <p:spTgt spid="86"/>
                                        </p:tgtEl>
                                        <p:attrNameLst>
                                          <p:attrName>ppt_h</p:attrName>
                                        </p:attrNameLst>
                                      </p:cBhvr>
                                      <p:tavLst>
                                        <p:tav tm="0">
                                          <p:val>
                                            <p:fltVal val="0"/>
                                          </p:val>
                                        </p:tav>
                                        <p:tav tm="100000">
                                          <p:val>
                                            <p:strVal val="#ppt_h"/>
                                          </p:val>
                                        </p:tav>
                                      </p:tavLst>
                                    </p:anim>
                                    <p:animEffect transition="in" filter="fade">
                                      <p:cBhvr>
                                        <p:cTn id="183" dur="500"/>
                                        <p:tgtEl>
                                          <p:spTgt spid="86"/>
                                        </p:tgtEl>
                                      </p:cBhvr>
                                    </p:animEffect>
                                  </p:childTnLst>
                                </p:cTn>
                              </p:par>
                            </p:childTnLst>
                          </p:cTn>
                        </p:par>
                      </p:childTnLst>
                    </p:cTn>
                  </p:par>
                  <p:par>
                    <p:cTn id="184" fill="hold">
                      <p:stCondLst>
                        <p:cond delay="indefinite"/>
                      </p:stCondLst>
                      <p:childTnLst>
                        <p:par>
                          <p:cTn id="185" fill="hold">
                            <p:stCondLst>
                              <p:cond delay="0"/>
                            </p:stCondLst>
                            <p:childTnLst>
                              <p:par>
                                <p:cTn id="186" presetID="53" presetClass="entr" presetSubtype="16" fill="hold" grpId="0" nodeType="clickEffect">
                                  <p:stCondLst>
                                    <p:cond delay="0"/>
                                  </p:stCondLst>
                                  <p:childTnLst>
                                    <p:set>
                                      <p:cBhvr>
                                        <p:cTn id="187" dur="1" fill="hold">
                                          <p:stCondLst>
                                            <p:cond delay="0"/>
                                          </p:stCondLst>
                                        </p:cTn>
                                        <p:tgtEl>
                                          <p:spTgt spid="87"/>
                                        </p:tgtEl>
                                        <p:attrNameLst>
                                          <p:attrName>style.visibility</p:attrName>
                                        </p:attrNameLst>
                                      </p:cBhvr>
                                      <p:to>
                                        <p:strVal val="visible"/>
                                      </p:to>
                                    </p:set>
                                    <p:anim calcmode="lin" valueType="num">
                                      <p:cBhvr>
                                        <p:cTn id="188" dur="500" fill="hold"/>
                                        <p:tgtEl>
                                          <p:spTgt spid="87"/>
                                        </p:tgtEl>
                                        <p:attrNameLst>
                                          <p:attrName>ppt_w</p:attrName>
                                        </p:attrNameLst>
                                      </p:cBhvr>
                                      <p:tavLst>
                                        <p:tav tm="0">
                                          <p:val>
                                            <p:fltVal val="0"/>
                                          </p:val>
                                        </p:tav>
                                        <p:tav tm="100000">
                                          <p:val>
                                            <p:strVal val="#ppt_w"/>
                                          </p:val>
                                        </p:tav>
                                      </p:tavLst>
                                    </p:anim>
                                    <p:anim calcmode="lin" valueType="num">
                                      <p:cBhvr>
                                        <p:cTn id="189" dur="500" fill="hold"/>
                                        <p:tgtEl>
                                          <p:spTgt spid="87"/>
                                        </p:tgtEl>
                                        <p:attrNameLst>
                                          <p:attrName>ppt_h</p:attrName>
                                        </p:attrNameLst>
                                      </p:cBhvr>
                                      <p:tavLst>
                                        <p:tav tm="0">
                                          <p:val>
                                            <p:fltVal val="0"/>
                                          </p:val>
                                        </p:tav>
                                        <p:tav tm="100000">
                                          <p:val>
                                            <p:strVal val="#ppt_h"/>
                                          </p:val>
                                        </p:tav>
                                      </p:tavLst>
                                    </p:anim>
                                    <p:animEffect transition="in" filter="fade">
                                      <p:cBhvr>
                                        <p:cTn id="190" dur="500"/>
                                        <p:tgtEl>
                                          <p:spTgt spid="87"/>
                                        </p:tgtEl>
                                      </p:cBhvr>
                                    </p:animEffect>
                                  </p:childTnLst>
                                </p:cTn>
                              </p:par>
                            </p:childTnLst>
                          </p:cTn>
                        </p:par>
                        <p:par>
                          <p:cTn id="191" fill="hold">
                            <p:stCondLst>
                              <p:cond delay="500"/>
                            </p:stCondLst>
                            <p:childTnLst>
                              <p:par>
                                <p:cTn id="192" presetID="53" presetClass="entr" presetSubtype="16" fill="hold" grpId="0" nodeType="afterEffect">
                                  <p:stCondLst>
                                    <p:cond delay="0"/>
                                  </p:stCondLst>
                                  <p:childTnLst>
                                    <p:set>
                                      <p:cBhvr>
                                        <p:cTn id="193" dur="1" fill="hold">
                                          <p:stCondLst>
                                            <p:cond delay="0"/>
                                          </p:stCondLst>
                                        </p:cTn>
                                        <p:tgtEl>
                                          <p:spTgt spid="88"/>
                                        </p:tgtEl>
                                        <p:attrNameLst>
                                          <p:attrName>style.visibility</p:attrName>
                                        </p:attrNameLst>
                                      </p:cBhvr>
                                      <p:to>
                                        <p:strVal val="visible"/>
                                      </p:to>
                                    </p:set>
                                    <p:anim calcmode="lin" valueType="num">
                                      <p:cBhvr>
                                        <p:cTn id="194" dur="500" fill="hold"/>
                                        <p:tgtEl>
                                          <p:spTgt spid="88"/>
                                        </p:tgtEl>
                                        <p:attrNameLst>
                                          <p:attrName>ppt_w</p:attrName>
                                        </p:attrNameLst>
                                      </p:cBhvr>
                                      <p:tavLst>
                                        <p:tav tm="0">
                                          <p:val>
                                            <p:fltVal val="0"/>
                                          </p:val>
                                        </p:tav>
                                        <p:tav tm="100000">
                                          <p:val>
                                            <p:strVal val="#ppt_w"/>
                                          </p:val>
                                        </p:tav>
                                      </p:tavLst>
                                    </p:anim>
                                    <p:anim calcmode="lin" valueType="num">
                                      <p:cBhvr>
                                        <p:cTn id="195" dur="500" fill="hold"/>
                                        <p:tgtEl>
                                          <p:spTgt spid="88"/>
                                        </p:tgtEl>
                                        <p:attrNameLst>
                                          <p:attrName>ppt_h</p:attrName>
                                        </p:attrNameLst>
                                      </p:cBhvr>
                                      <p:tavLst>
                                        <p:tav tm="0">
                                          <p:val>
                                            <p:fltVal val="0"/>
                                          </p:val>
                                        </p:tav>
                                        <p:tav tm="100000">
                                          <p:val>
                                            <p:strVal val="#ppt_h"/>
                                          </p:val>
                                        </p:tav>
                                      </p:tavLst>
                                    </p:anim>
                                    <p:animEffect transition="in" filter="fade">
                                      <p:cBhvr>
                                        <p:cTn id="196" dur="500"/>
                                        <p:tgtEl>
                                          <p:spTgt spid="88"/>
                                        </p:tgtEl>
                                      </p:cBhvr>
                                    </p:animEffect>
                                  </p:childTnLst>
                                </p:cTn>
                              </p:par>
                            </p:childTnLst>
                          </p:cTn>
                        </p:par>
                        <p:par>
                          <p:cTn id="197" fill="hold">
                            <p:stCondLst>
                              <p:cond delay="1000"/>
                            </p:stCondLst>
                            <p:childTnLst>
                              <p:par>
                                <p:cTn id="198" presetID="53" presetClass="entr" presetSubtype="16" fill="hold" grpId="0" nodeType="afterEffect">
                                  <p:stCondLst>
                                    <p:cond delay="0"/>
                                  </p:stCondLst>
                                  <p:childTnLst>
                                    <p:set>
                                      <p:cBhvr>
                                        <p:cTn id="199" dur="1" fill="hold">
                                          <p:stCondLst>
                                            <p:cond delay="0"/>
                                          </p:stCondLst>
                                        </p:cTn>
                                        <p:tgtEl>
                                          <p:spTgt spid="89"/>
                                        </p:tgtEl>
                                        <p:attrNameLst>
                                          <p:attrName>style.visibility</p:attrName>
                                        </p:attrNameLst>
                                      </p:cBhvr>
                                      <p:to>
                                        <p:strVal val="visible"/>
                                      </p:to>
                                    </p:set>
                                    <p:anim calcmode="lin" valueType="num">
                                      <p:cBhvr>
                                        <p:cTn id="200" dur="500" fill="hold"/>
                                        <p:tgtEl>
                                          <p:spTgt spid="89"/>
                                        </p:tgtEl>
                                        <p:attrNameLst>
                                          <p:attrName>ppt_w</p:attrName>
                                        </p:attrNameLst>
                                      </p:cBhvr>
                                      <p:tavLst>
                                        <p:tav tm="0">
                                          <p:val>
                                            <p:fltVal val="0"/>
                                          </p:val>
                                        </p:tav>
                                        <p:tav tm="100000">
                                          <p:val>
                                            <p:strVal val="#ppt_w"/>
                                          </p:val>
                                        </p:tav>
                                      </p:tavLst>
                                    </p:anim>
                                    <p:anim calcmode="lin" valueType="num">
                                      <p:cBhvr>
                                        <p:cTn id="201" dur="500" fill="hold"/>
                                        <p:tgtEl>
                                          <p:spTgt spid="89"/>
                                        </p:tgtEl>
                                        <p:attrNameLst>
                                          <p:attrName>ppt_h</p:attrName>
                                        </p:attrNameLst>
                                      </p:cBhvr>
                                      <p:tavLst>
                                        <p:tav tm="0">
                                          <p:val>
                                            <p:fltVal val="0"/>
                                          </p:val>
                                        </p:tav>
                                        <p:tav tm="100000">
                                          <p:val>
                                            <p:strVal val="#ppt_h"/>
                                          </p:val>
                                        </p:tav>
                                      </p:tavLst>
                                    </p:anim>
                                    <p:animEffect transition="in" filter="fade">
                                      <p:cBhvr>
                                        <p:cTn id="202" dur="500"/>
                                        <p:tgtEl>
                                          <p:spTgt spid="89"/>
                                        </p:tgtEl>
                                      </p:cBhvr>
                                    </p:animEffect>
                                  </p:childTnLst>
                                </p:cTn>
                              </p:par>
                            </p:childTnLst>
                          </p:cTn>
                        </p:par>
                        <p:par>
                          <p:cTn id="203" fill="hold">
                            <p:stCondLst>
                              <p:cond delay="1500"/>
                            </p:stCondLst>
                            <p:childTnLst>
                              <p:par>
                                <p:cTn id="204" presetID="53" presetClass="entr" presetSubtype="16" fill="hold" grpId="0" nodeType="afterEffect">
                                  <p:stCondLst>
                                    <p:cond delay="0"/>
                                  </p:stCondLst>
                                  <p:childTnLst>
                                    <p:set>
                                      <p:cBhvr>
                                        <p:cTn id="205" dur="1" fill="hold">
                                          <p:stCondLst>
                                            <p:cond delay="0"/>
                                          </p:stCondLst>
                                        </p:cTn>
                                        <p:tgtEl>
                                          <p:spTgt spid="90"/>
                                        </p:tgtEl>
                                        <p:attrNameLst>
                                          <p:attrName>style.visibility</p:attrName>
                                        </p:attrNameLst>
                                      </p:cBhvr>
                                      <p:to>
                                        <p:strVal val="visible"/>
                                      </p:to>
                                    </p:set>
                                    <p:anim calcmode="lin" valueType="num">
                                      <p:cBhvr>
                                        <p:cTn id="206" dur="500" fill="hold"/>
                                        <p:tgtEl>
                                          <p:spTgt spid="90"/>
                                        </p:tgtEl>
                                        <p:attrNameLst>
                                          <p:attrName>ppt_w</p:attrName>
                                        </p:attrNameLst>
                                      </p:cBhvr>
                                      <p:tavLst>
                                        <p:tav tm="0">
                                          <p:val>
                                            <p:fltVal val="0"/>
                                          </p:val>
                                        </p:tav>
                                        <p:tav tm="100000">
                                          <p:val>
                                            <p:strVal val="#ppt_w"/>
                                          </p:val>
                                        </p:tav>
                                      </p:tavLst>
                                    </p:anim>
                                    <p:anim calcmode="lin" valueType="num">
                                      <p:cBhvr>
                                        <p:cTn id="207" dur="500" fill="hold"/>
                                        <p:tgtEl>
                                          <p:spTgt spid="90"/>
                                        </p:tgtEl>
                                        <p:attrNameLst>
                                          <p:attrName>ppt_h</p:attrName>
                                        </p:attrNameLst>
                                      </p:cBhvr>
                                      <p:tavLst>
                                        <p:tav tm="0">
                                          <p:val>
                                            <p:fltVal val="0"/>
                                          </p:val>
                                        </p:tav>
                                        <p:tav tm="100000">
                                          <p:val>
                                            <p:strVal val="#ppt_h"/>
                                          </p:val>
                                        </p:tav>
                                      </p:tavLst>
                                    </p:anim>
                                    <p:animEffect transition="in" filter="fade">
                                      <p:cBhvr>
                                        <p:cTn id="208" dur="500"/>
                                        <p:tgtEl>
                                          <p:spTgt spid="90"/>
                                        </p:tgtEl>
                                      </p:cBhvr>
                                    </p:animEffect>
                                  </p:childTnLst>
                                </p:cTn>
                              </p:par>
                            </p:childTnLst>
                          </p:cTn>
                        </p:par>
                        <p:par>
                          <p:cTn id="209" fill="hold">
                            <p:stCondLst>
                              <p:cond delay="2000"/>
                            </p:stCondLst>
                            <p:childTnLst>
                              <p:par>
                                <p:cTn id="210" presetID="53" presetClass="entr" presetSubtype="16" fill="hold" grpId="0" nodeType="afterEffect">
                                  <p:stCondLst>
                                    <p:cond delay="250"/>
                                  </p:stCondLst>
                                  <p:childTnLst>
                                    <p:set>
                                      <p:cBhvr>
                                        <p:cTn id="211" dur="1" fill="hold">
                                          <p:stCondLst>
                                            <p:cond delay="0"/>
                                          </p:stCondLst>
                                        </p:cTn>
                                        <p:tgtEl>
                                          <p:spTgt spid="91"/>
                                        </p:tgtEl>
                                        <p:attrNameLst>
                                          <p:attrName>style.visibility</p:attrName>
                                        </p:attrNameLst>
                                      </p:cBhvr>
                                      <p:to>
                                        <p:strVal val="visible"/>
                                      </p:to>
                                    </p:set>
                                    <p:anim calcmode="lin" valueType="num">
                                      <p:cBhvr>
                                        <p:cTn id="212" dur="500" fill="hold"/>
                                        <p:tgtEl>
                                          <p:spTgt spid="91"/>
                                        </p:tgtEl>
                                        <p:attrNameLst>
                                          <p:attrName>ppt_w</p:attrName>
                                        </p:attrNameLst>
                                      </p:cBhvr>
                                      <p:tavLst>
                                        <p:tav tm="0">
                                          <p:val>
                                            <p:fltVal val="0"/>
                                          </p:val>
                                        </p:tav>
                                        <p:tav tm="100000">
                                          <p:val>
                                            <p:strVal val="#ppt_w"/>
                                          </p:val>
                                        </p:tav>
                                      </p:tavLst>
                                    </p:anim>
                                    <p:anim calcmode="lin" valueType="num">
                                      <p:cBhvr>
                                        <p:cTn id="213" dur="500" fill="hold"/>
                                        <p:tgtEl>
                                          <p:spTgt spid="91"/>
                                        </p:tgtEl>
                                        <p:attrNameLst>
                                          <p:attrName>ppt_h</p:attrName>
                                        </p:attrNameLst>
                                      </p:cBhvr>
                                      <p:tavLst>
                                        <p:tav tm="0">
                                          <p:val>
                                            <p:fltVal val="0"/>
                                          </p:val>
                                        </p:tav>
                                        <p:tav tm="100000">
                                          <p:val>
                                            <p:strVal val="#ppt_h"/>
                                          </p:val>
                                        </p:tav>
                                      </p:tavLst>
                                    </p:anim>
                                    <p:animEffect transition="in" filter="fade">
                                      <p:cBhvr>
                                        <p:cTn id="214"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0" grpId="0"/>
      <p:bldP spid="4" grpId="0"/>
      <p:bldP spid="61" grpId="0"/>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US" dirty="0" err="1"/>
              <a:t>Técnica</a:t>
            </a:r>
            <a:r>
              <a:rPr lang="en-US" dirty="0"/>
              <a:t> de Huffman</a:t>
            </a:r>
            <a:endParaRPr lang="es-NI" dirty="0"/>
          </a:p>
        </p:txBody>
      </p:sp>
      <p:sp>
        <p:nvSpPr>
          <p:cNvPr id="2" name="1 Marcador de contenido"/>
          <p:cNvSpPr>
            <a:spLocks noGrp="1"/>
          </p:cNvSpPr>
          <p:nvPr>
            <p:ph idx="1"/>
          </p:nvPr>
        </p:nvSpPr>
        <p:spPr/>
        <p:txBody>
          <a:bodyPr/>
          <a:lstStyle/>
          <a:p>
            <a:r>
              <a:rPr lang="es-NI" dirty="0"/>
              <a:t>De acuerdo a la teoría estadística de las comunicaciones, el número promedio de bits empleados por un código es:</a:t>
            </a:r>
          </a:p>
          <a:p>
            <a:endParaRPr lang="es-NI" dirty="0"/>
          </a:p>
          <a:p>
            <a:endParaRPr lang="es-NI" dirty="0"/>
          </a:p>
          <a:p>
            <a:r>
              <a:rPr lang="es-ES" dirty="0"/>
              <a:t> Y el número óptimo de bits en un código es:</a:t>
            </a:r>
          </a:p>
          <a:p>
            <a:endParaRPr lang="es-ES" dirty="0"/>
          </a:p>
          <a:p>
            <a:endParaRPr lang="es-ES" dirty="0"/>
          </a:p>
          <a:p>
            <a:r>
              <a:rPr lang="es-NI" dirty="0"/>
              <a:t>Con lo cual la redundancia de bits es:</a:t>
            </a:r>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NI" altLang="es-NI"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5" name="4 Objeto"/>
          <p:cNvGraphicFramePr>
            <a:graphicFrameLocks noChangeAspect="1"/>
          </p:cNvGraphicFramePr>
          <p:nvPr>
            <p:extLst>
              <p:ext uri="{D42A27DB-BD31-4B8C-83A1-F6EECF244321}">
                <p14:modId xmlns:p14="http://schemas.microsoft.com/office/powerpoint/2010/main" val="3672614723"/>
              </p:ext>
            </p:extLst>
          </p:nvPr>
        </p:nvGraphicFramePr>
        <p:xfrm>
          <a:off x="2555776" y="1995686"/>
          <a:ext cx="3248361" cy="720080"/>
        </p:xfrm>
        <a:graphic>
          <a:graphicData uri="http://schemas.openxmlformats.org/presentationml/2006/ole">
            <mc:AlternateContent xmlns:mc="http://schemas.openxmlformats.org/markup-compatibility/2006">
              <mc:Choice xmlns:v="urn:schemas-microsoft-com:vml" Requires="v">
                <p:oleObj spid="_x0000_s14379" name="Ecuación" r:id="rId3" imgW="1930400" imgH="431800" progId="Equation.3">
                  <p:embed/>
                </p:oleObj>
              </mc:Choice>
              <mc:Fallback>
                <p:oleObj name="Ecuación" r:id="rId3" imgW="1930400" imgH="4318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1995686"/>
                        <a:ext cx="3248361" cy="720080"/>
                      </a:xfrm>
                      <a:prstGeom prst="rect">
                        <a:avLst/>
                      </a:prstGeom>
                      <a:noFill/>
                    </p:spPr>
                  </p:pic>
                </p:oleObj>
              </mc:Fallback>
            </mc:AlternateContent>
          </a:graphicData>
        </a:graphic>
      </p:graphicFrame>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7" name="6 Objeto"/>
          <p:cNvGraphicFramePr>
            <a:graphicFrameLocks noChangeAspect="1"/>
          </p:cNvGraphicFramePr>
          <p:nvPr>
            <p:extLst>
              <p:ext uri="{D42A27DB-BD31-4B8C-83A1-F6EECF244321}">
                <p14:modId xmlns:p14="http://schemas.microsoft.com/office/powerpoint/2010/main" val="1766981785"/>
              </p:ext>
            </p:extLst>
          </p:nvPr>
        </p:nvGraphicFramePr>
        <p:xfrm>
          <a:off x="2555776" y="3291830"/>
          <a:ext cx="4752529" cy="795033"/>
        </p:xfrm>
        <a:graphic>
          <a:graphicData uri="http://schemas.openxmlformats.org/presentationml/2006/ole">
            <mc:AlternateContent xmlns:mc="http://schemas.openxmlformats.org/markup-compatibility/2006">
              <mc:Choice xmlns:v="urn:schemas-microsoft-com:vml" Requires="v">
                <p:oleObj spid="_x0000_s14380" name="Ecuación" r:id="rId5" imgW="2565400" imgH="431800" progId="Equation.3">
                  <p:embed/>
                </p:oleObj>
              </mc:Choice>
              <mc:Fallback>
                <p:oleObj name="Ecuación" r:id="rId5" imgW="2565400"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776" y="3291830"/>
                        <a:ext cx="4752529" cy="795033"/>
                      </a:xfrm>
                      <a:prstGeom prst="rect">
                        <a:avLst/>
                      </a:prstGeom>
                      <a:noFill/>
                    </p:spPr>
                  </p:pic>
                </p:oleObj>
              </mc:Fallback>
            </mc:AlternateContent>
          </a:graphicData>
        </a:graphic>
      </p:graphicFrame>
      <p:sp>
        <p:nvSpPr>
          <p:cNvPr id="8" name="7 Rectángulo"/>
          <p:cNvSpPr/>
          <p:nvPr/>
        </p:nvSpPr>
        <p:spPr>
          <a:xfrm>
            <a:off x="6300192" y="4155926"/>
            <a:ext cx="1728192" cy="707886"/>
          </a:xfrm>
          <a:prstGeom prst="rect">
            <a:avLst/>
          </a:prstGeom>
        </p:spPr>
        <p:txBody>
          <a:bodyPr wrap="square">
            <a:spAutoFit/>
          </a:bodyPr>
          <a:lstStyle/>
          <a:p>
            <a:r>
              <a:rPr lang="es-ES" sz="2000" dirty="0">
                <a:latin typeface="Times New Roman" panose="02020603050405020304" pitchFamily="18" charset="0"/>
                <a:cs typeface="Times New Roman" panose="02020603050405020304" pitchFamily="18" charset="0"/>
              </a:rPr>
              <a:t>R  =  </a:t>
            </a:r>
            <a:r>
              <a:rPr lang="es-ES" sz="2000" i="1" u="sng" dirty="0">
                <a:latin typeface="Times New Roman" panose="02020603050405020304" pitchFamily="18" charset="0"/>
                <a:cs typeface="Times New Roman" panose="02020603050405020304" pitchFamily="18" charset="0"/>
              </a:rPr>
              <a:t>LA</a:t>
            </a:r>
            <a:r>
              <a:rPr lang="es-ES" sz="2000" u="sng" dirty="0">
                <a:latin typeface="Times New Roman" panose="02020603050405020304" pitchFamily="18" charset="0"/>
                <a:cs typeface="Times New Roman" panose="02020603050405020304" pitchFamily="18" charset="0"/>
              </a:rPr>
              <a:t> - </a:t>
            </a:r>
            <a:r>
              <a:rPr lang="es-ES" sz="2000" i="1" u="sng" dirty="0">
                <a:latin typeface="Times New Roman" panose="02020603050405020304" pitchFamily="18" charset="0"/>
                <a:cs typeface="Times New Roman" panose="02020603050405020304" pitchFamily="18" charset="0"/>
              </a:rPr>
              <a:t>LO </a:t>
            </a:r>
            <a:r>
              <a:rPr lang="es-ES" sz="2000" i="1" dirty="0">
                <a:latin typeface="Times New Roman" panose="02020603050405020304" pitchFamily="18" charset="0"/>
                <a:cs typeface="Times New Roman" panose="02020603050405020304" pitchFamily="18" charset="0"/>
              </a:rPr>
              <a:t>            </a:t>
            </a:r>
            <a:endParaRPr lang="es-NI" sz="2000" i="1" dirty="0">
              <a:latin typeface="Times New Roman" panose="02020603050405020304" pitchFamily="18" charset="0"/>
              <a:cs typeface="Times New Roman" panose="02020603050405020304" pitchFamily="18" charset="0"/>
            </a:endParaRPr>
          </a:p>
          <a:p>
            <a:r>
              <a:rPr lang="es-ES" sz="2000" dirty="0">
                <a:latin typeface="Times New Roman" panose="02020603050405020304" pitchFamily="18" charset="0"/>
                <a:cs typeface="Times New Roman" panose="02020603050405020304" pitchFamily="18" charset="0"/>
              </a:rPr>
              <a:t>            </a:t>
            </a:r>
            <a:r>
              <a:rPr lang="es-ES" sz="2000" i="1" dirty="0">
                <a:latin typeface="Times New Roman" panose="02020603050405020304" pitchFamily="18" charset="0"/>
                <a:cs typeface="Times New Roman" panose="02020603050405020304" pitchFamily="18" charset="0"/>
              </a:rPr>
              <a:t>LA                                     </a:t>
            </a:r>
            <a:endParaRPr lang="es-NI"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594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US" dirty="0" err="1"/>
              <a:t>Técnica</a:t>
            </a:r>
            <a:r>
              <a:rPr lang="en-US" dirty="0"/>
              <a:t> de Huffman</a:t>
            </a:r>
            <a:endParaRPr lang="es-NI" dirty="0"/>
          </a:p>
        </p:txBody>
      </p:sp>
      <p:sp>
        <p:nvSpPr>
          <p:cNvPr id="2" name="1 Marcador de contenido"/>
          <p:cNvSpPr>
            <a:spLocks noGrp="1"/>
          </p:cNvSpPr>
          <p:nvPr>
            <p:ph idx="1"/>
          </p:nvPr>
        </p:nvSpPr>
        <p:spPr>
          <a:xfrm>
            <a:off x="381001" y="1289302"/>
            <a:ext cx="8407893" cy="3658711"/>
          </a:xfrm>
        </p:spPr>
        <p:txBody>
          <a:bodyPr>
            <a:normAutofit fontScale="92500" lnSpcReduction="10000"/>
          </a:bodyPr>
          <a:lstStyle/>
          <a:p>
            <a:r>
              <a:rPr lang="es-NI" dirty="0"/>
              <a:t>Del ejemplo anterior podemos ver que para </a:t>
            </a:r>
            <a:r>
              <a:rPr lang="es-NI" dirty="0" err="1"/>
              <a:t>Huffman</a:t>
            </a:r>
            <a:r>
              <a:rPr lang="es-NI" dirty="0"/>
              <a:t> LA es:</a:t>
            </a:r>
          </a:p>
          <a:p>
            <a:endParaRPr lang="es-NI" dirty="0"/>
          </a:p>
          <a:p>
            <a:endParaRPr lang="es-NI" dirty="0"/>
          </a:p>
          <a:p>
            <a:r>
              <a:rPr lang="es-NI" dirty="0"/>
              <a:t>Cuando en bloque fijo sería 3 bits</a:t>
            </a:r>
          </a:p>
          <a:p>
            <a:endParaRPr lang="es-NI" dirty="0"/>
          </a:p>
          <a:p>
            <a:endParaRPr lang="es-NI" dirty="0"/>
          </a:p>
          <a:p>
            <a:r>
              <a:rPr lang="es-NI" dirty="0"/>
              <a:t>Y el óptimo es:</a:t>
            </a:r>
          </a:p>
          <a:p>
            <a:endParaRPr lang="es-NI" dirty="0"/>
          </a:p>
          <a:p>
            <a:r>
              <a:rPr lang="es-NI" dirty="0"/>
              <a:t>Así la Redundancia es 0, por tanto la codificación </a:t>
            </a:r>
            <a:r>
              <a:rPr lang="es-NI" dirty="0" err="1"/>
              <a:t>Huffman</a:t>
            </a:r>
            <a:r>
              <a:rPr lang="es-NI" dirty="0"/>
              <a:t> es la más óptima en cuanto al uso de bits de codificación.</a:t>
            </a:r>
          </a:p>
          <a:p>
            <a:endParaRPr lang="es-NI" dirty="0"/>
          </a:p>
          <a:p>
            <a:endParaRPr lang="es-NI" dirty="0"/>
          </a:p>
        </p:txBody>
      </p:sp>
      <p:sp>
        <p:nvSpPr>
          <p:cNvPr id="4" name="3 Rectángulo"/>
          <p:cNvSpPr/>
          <p:nvPr/>
        </p:nvSpPr>
        <p:spPr>
          <a:xfrm>
            <a:off x="1115616" y="1707654"/>
            <a:ext cx="7776864" cy="523220"/>
          </a:xfrm>
          <a:prstGeom prst="rect">
            <a:avLst/>
          </a:prstGeom>
        </p:spPr>
        <p:txBody>
          <a:bodyPr wrap="square">
            <a:spAutoFit/>
          </a:bodyPr>
          <a:lstStyle/>
          <a:p>
            <a:r>
              <a:rPr lang="es-ES" sz="1400" i="1" dirty="0">
                <a:latin typeface="Kunstler Script" panose="030304020206070D0D06" pitchFamily="66" charset="0"/>
              </a:rPr>
              <a:t>L     </a:t>
            </a:r>
            <a:r>
              <a:rPr lang="es-ES" sz="1400" dirty="0"/>
              <a:t>(CO)</a:t>
            </a:r>
            <a:r>
              <a:rPr lang="es-ES" sz="1400" i="1" baseline="-25000" dirty="0" err="1"/>
              <a:t>med</a:t>
            </a:r>
            <a:r>
              <a:rPr lang="es-ES" sz="1400" dirty="0"/>
              <a:t>    =   2(1/4 )+2(1/4) + 3(1/8) +3(1/8) + 4(1/16) + 4(1/16 )+ 4(1/16) + 4(1/16)</a:t>
            </a:r>
            <a:endParaRPr lang="es-NI" sz="1400" dirty="0"/>
          </a:p>
          <a:p>
            <a:r>
              <a:rPr lang="es-NI" sz="1400" dirty="0"/>
              <a:t>                              = 1 + ¾ + 1   =  2.75 bits.</a:t>
            </a:r>
          </a:p>
        </p:txBody>
      </p:sp>
      <p:sp>
        <p:nvSpPr>
          <p:cNvPr id="5" name="4 Rectángulo"/>
          <p:cNvSpPr/>
          <p:nvPr/>
        </p:nvSpPr>
        <p:spPr>
          <a:xfrm>
            <a:off x="1115616" y="2859782"/>
            <a:ext cx="7848872" cy="523220"/>
          </a:xfrm>
          <a:prstGeom prst="rect">
            <a:avLst/>
          </a:prstGeom>
        </p:spPr>
        <p:txBody>
          <a:bodyPr wrap="square">
            <a:spAutoFit/>
          </a:bodyPr>
          <a:lstStyle/>
          <a:p>
            <a:r>
              <a:rPr lang="es-NI" sz="1400" dirty="0"/>
              <a:t> </a:t>
            </a:r>
            <a:r>
              <a:rPr lang="es-NI" sz="1400" i="1" dirty="0">
                <a:latin typeface="Kunstler Script" panose="030304020206070D0D06" pitchFamily="66" charset="0"/>
              </a:rPr>
              <a:t>L</a:t>
            </a:r>
            <a:r>
              <a:rPr lang="es-NI" sz="1400" dirty="0"/>
              <a:t>   </a:t>
            </a:r>
            <a:r>
              <a:rPr lang="es-ES" sz="1400" dirty="0"/>
              <a:t>(CO)</a:t>
            </a:r>
            <a:r>
              <a:rPr lang="es-ES" sz="1400" baseline="-25000" dirty="0" err="1"/>
              <a:t>med</a:t>
            </a:r>
            <a:r>
              <a:rPr lang="es-ES" sz="1400" dirty="0"/>
              <a:t>   =  3(1/4 +1/4) + 3(1/8 + 1/8) +3(1/16 + 1/16 + 1/16 + 1/16)</a:t>
            </a:r>
            <a:endParaRPr lang="es-NI" sz="1400" dirty="0"/>
          </a:p>
          <a:p>
            <a:r>
              <a:rPr lang="es-NI" sz="1400" dirty="0"/>
              <a:t>	    = 3/2 + ¾ + ¾    = 3 bits.</a:t>
            </a:r>
          </a:p>
        </p:txBody>
      </p:sp>
      <p:sp>
        <p:nvSpPr>
          <p:cNvPr id="6" name="5 Rectángulo"/>
          <p:cNvSpPr/>
          <p:nvPr/>
        </p:nvSpPr>
        <p:spPr>
          <a:xfrm>
            <a:off x="1475656" y="3853901"/>
            <a:ext cx="7128792" cy="307777"/>
          </a:xfrm>
          <a:prstGeom prst="rect">
            <a:avLst/>
          </a:prstGeom>
        </p:spPr>
        <p:txBody>
          <a:bodyPr wrap="square">
            <a:spAutoFit/>
          </a:bodyPr>
          <a:lstStyle/>
          <a:p>
            <a:r>
              <a:rPr lang="es-ES" sz="1400" dirty="0"/>
              <a:t>LO   =   ­­–[2(1/4) log</a:t>
            </a:r>
            <a:r>
              <a:rPr lang="es-ES" sz="1400" baseline="-25000" dirty="0"/>
              <a:t>2</a:t>
            </a:r>
            <a:r>
              <a:rPr lang="es-ES" sz="1400" dirty="0"/>
              <a:t>(1/4) + 2(1/8)log</a:t>
            </a:r>
            <a:r>
              <a:rPr lang="es-ES" sz="1400" baseline="-25000" dirty="0"/>
              <a:t>2</a:t>
            </a:r>
            <a:r>
              <a:rPr lang="es-ES" sz="1400" dirty="0"/>
              <a:t>(1/8) + 4(1/16)log</a:t>
            </a:r>
            <a:r>
              <a:rPr lang="es-ES" sz="1400" baseline="-25000" dirty="0"/>
              <a:t>2</a:t>
            </a:r>
            <a:r>
              <a:rPr lang="es-ES" sz="1400" dirty="0"/>
              <a:t>(1/16)] =  2.75 bits.</a:t>
            </a:r>
            <a:endParaRPr lang="es-NI" sz="1400" dirty="0"/>
          </a:p>
        </p:txBody>
      </p:sp>
    </p:spTree>
    <p:extLst>
      <p:ext uri="{BB962C8B-B14F-4D97-AF65-F5344CB8AC3E}">
        <p14:creationId xmlns:p14="http://schemas.microsoft.com/office/powerpoint/2010/main" val="3094142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Campos de </a:t>
            </a:r>
            <a:r>
              <a:rPr lang="en-US" dirty="0" err="1"/>
              <a:t>Dirección</a:t>
            </a:r>
            <a:endParaRPr lang="es-NI" dirty="0"/>
          </a:p>
        </p:txBody>
      </p:sp>
      <p:sp>
        <p:nvSpPr>
          <p:cNvPr id="3" name="2 Marcador de contenido"/>
          <p:cNvSpPr>
            <a:spLocks noGrp="1"/>
          </p:cNvSpPr>
          <p:nvPr>
            <p:ph idx="1"/>
          </p:nvPr>
        </p:nvSpPr>
        <p:spPr/>
        <p:txBody>
          <a:bodyPr/>
          <a:lstStyle/>
          <a:p>
            <a:r>
              <a:rPr lang="en-US" dirty="0" err="1">
                <a:solidFill>
                  <a:srgbClr val="0070C0"/>
                </a:solidFill>
              </a:rPr>
              <a:t>Explicitan</a:t>
            </a:r>
            <a:r>
              <a:rPr lang="en-US" dirty="0">
                <a:solidFill>
                  <a:srgbClr val="0070C0"/>
                </a:solidFill>
              </a:rPr>
              <a:t> los operandos con los </a:t>
            </a:r>
            <a:r>
              <a:rPr lang="en-US" dirty="0" err="1">
                <a:solidFill>
                  <a:srgbClr val="0070C0"/>
                </a:solidFill>
              </a:rPr>
              <a:t>que</a:t>
            </a:r>
            <a:r>
              <a:rPr lang="en-US" dirty="0">
                <a:solidFill>
                  <a:srgbClr val="0070C0"/>
                </a:solidFill>
              </a:rPr>
              <a:t> la </a:t>
            </a:r>
            <a:r>
              <a:rPr lang="en-US" dirty="0" err="1">
                <a:solidFill>
                  <a:srgbClr val="0070C0"/>
                </a:solidFill>
              </a:rPr>
              <a:t>instrucción</a:t>
            </a:r>
            <a:r>
              <a:rPr lang="en-US" dirty="0">
                <a:solidFill>
                  <a:srgbClr val="0070C0"/>
                </a:solidFill>
              </a:rPr>
              <a:t> </a:t>
            </a:r>
            <a:r>
              <a:rPr lang="en-US" dirty="0" err="1">
                <a:solidFill>
                  <a:srgbClr val="0070C0"/>
                </a:solidFill>
              </a:rPr>
              <a:t>realizará</a:t>
            </a:r>
            <a:r>
              <a:rPr lang="en-US" dirty="0">
                <a:solidFill>
                  <a:srgbClr val="0070C0"/>
                </a:solidFill>
              </a:rPr>
              <a:t> la </a:t>
            </a:r>
            <a:r>
              <a:rPr lang="en-US" dirty="0" err="1">
                <a:solidFill>
                  <a:srgbClr val="0070C0"/>
                </a:solidFill>
              </a:rPr>
              <a:t>operación</a:t>
            </a:r>
            <a:r>
              <a:rPr lang="en-US" dirty="0">
                <a:solidFill>
                  <a:srgbClr val="0070C0"/>
                </a:solidFill>
              </a:rPr>
              <a:t>.</a:t>
            </a:r>
          </a:p>
          <a:p>
            <a:r>
              <a:rPr lang="en-US" dirty="0" err="1"/>
              <a:t>Estos</a:t>
            </a:r>
            <a:r>
              <a:rPr lang="en-US" dirty="0"/>
              <a:t> </a:t>
            </a:r>
            <a:r>
              <a:rPr lang="en-US" dirty="0" err="1"/>
              <a:t>pueden</a:t>
            </a:r>
            <a:r>
              <a:rPr lang="en-US" dirty="0"/>
              <a:t> </a:t>
            </a:r>
            <a:r>
              <a:rPr lang="en-US" dirty="0" err="1"/>
              <a:t>estar</a:t>
            </a:r>
            <a:r>
              <a:rPr lang="en-US" dirty="0"/>
              <a:t>:</a:t>
            </a:r>
          </a:p>
          <a:p>
            <a:pPr lvl="1"/>
            <a:r>
              <a:rPr lang="en-US" dirty="0" err="1">
                <a:solidFill>
                  <a:srgbClr val="0070C0"/>
                </a:solidFill>
              </a:rPr>
              <a:t>Definido</a:t>
            </a:r>
            <a:r>
              <a:rPr lang="en-US" dirty="0">
                <a:solidFill>
                  <a:srgbClr val="0070C0"/>
                </a:solidFill>
              </a:rPr>
              <a:t> </a:t>
            </a:r>
            <a:r>
              <a:rPr lang="en-US" dirty="0" err="1">
                <a:solidFill>
                  <a:srgbClr val="0070C0"/>
                </a:solidFill>
              </a:rPr>
              <a:t>inmediatamente</a:t>
            </a:r>
            <a:r>
              <a:rPr lang="en-US" dirty="0">
                <a:solidFill>
                  <a:srgbClr val="0070C0"/>
                </a:solidFill>
              </a:rPr>
              <a:t> en la </a:t>
            </a:r>
            <a:r>
              <a:rPr lang="en-US" dirty="0" err="1">
                <a:solidFill>
                  <a:srgbClr val="0070C0"/>
                </a:solidFill>
              </a:rPr>
              <a:t>instrucción</a:t>
            </a:r>
            <a:r>
              <a:rPr lang="en-US" dirty="0"/>
              <a:t>.</a:t>
            </a:r>
          </a:p>
          <a:p>
            <a:pPr lvl="1"/>
            <a:r>
              <a:rPr lang="en-US" dirty="0" err="1">
                <a:solidFill>
                  <a:srgbClr val="7030A0"/>
                </a:solidFill>
              </a:rPr>
              <a:t>Directamente</a:t>
            </a:r>
            <a:r>
              <a:rPr lang="en-US" dirty="0">
                <a:solidFill>
                  <a:srgbClr val="7030A0"/>
                </a:solidFill>
              </a:rPr>
              <a:t> en el </a:t>
            </a:r>
            <a:r>
              <a:rPr lang="en-US" dirty="0" err="1">
                <a:solidFill>
                  <a:srgbClr val="7030A0"/>
                </a:solidFill>
              </a:rPr>
              <a:t>procesador</a:t>
            </a:r>
            <a:r>
              <a:rPr lang="en-US" dirty="0">
                <a:solidFill>
                  <a:srgbClr val="7030A0"/>
                </a:solidFill>
              </a:rPr>
              <a:t>: </a:t>
            </a:r>
            <a:r>
              <a:rPr lang="en-US" dirty="0" err="1">
                <a:solidFill>
                  <a:srgbClr val="7030A0"/>
                </a:solidFill>
              </a:rPr>
              <a:t>Registro</a:t>
            </a:r>
            <a:r>
              <a:rPr lang="en-US" dirty="0">
                <a:solidFill>
                  <a:srgbClr val="7030A0"/>
                </a:solidFill>
              </a:rPr>
              <a:t> de </a:t>
            </a:r>
            <a:r>
              <a:rPr lang="en-US" dirty="0" err="1">
                <a:solidFill>
                  <a:srgbClr val="7030A0"/>
                </a:solidFill>
              </a:rPr>
              <a:t>Propósito</a:t>
            </a:r>
            <a:r>
              <a:rPr lang="en-US" dirty="0">
                <a:solidFill>
                  <a:srgbClr val="7030A0"/>
                </a:solidFill>
              </a:rPr>
              <a:t> General</a:t>
            </a:r>
          </a:p>
          <a:p>
            <a:pPr lvl="1"/>
            <a:r>
              <a:rPr lang="en-US" dirty="0">
                <a:solidFill>
                  <a:srgbClr val="FF3399"/>
                </a:solidFill>
              </a:rPr>
              <a:t>En la </a:t>
            </a:r>
            <a:r>
              <a:rPr lang="en-US" dirty="0" err="1">
                <a:solidFill>
                  <a:srgbClr val="FF3399"/>
                </a:solidFill>
              </a:rPr>
              <a:t>Memoria</a:t>
            </a:r>
            <a:r>
              <a:rPr lang="en-US" dirty="0">
                <a:solidFill>
                  <a:srgbClr val="FF3399"/>
                </a:solidFill>
              </a:rPr>
              <a:t>.</a:t>
            </a:r>
          </a:p>
          <a:p>
            <a:r>
              <a:rPr lang="en-US" dirty="0"/>
              <a:t>Forma de </a:t>
            </a:r>
            <a:r>
              <a:rPr lang="en-US" dirty="0" err="1"/>
              <a:t>definir</a:t>
            </a:r>
            <a:r>
              <a:rPr lang="en-US" dirty="0"/>
              <a:t> la </a:t>
            </a:r>
            <a:r>
              <a:rPr lang="en-US" dirty="0" err="1"/>
              <a:t>dirección</a:t>
            </a:r>
            <a:r>
              <a:rPr lang="en-US" dirty="0"/>
              <a:t> </a:t>
            </a:r>
            <a:r>
              <a:rPr lang="en-US" dirty="0" err="1"/>
              <a:t>efectiva</a:t>
            </a:r>
            <a:r>
              <a:rPr lang="en-US" dirty="0"/>
              <a:t> (EA) del operando y </a:t>
            </a:r>
            <a:r>
              <a:rPr lang="en-US" dirty="0" err="1"/>
              <a:t>obtener</a:t>
            </a:r>
            <a:r>
              <a:rPr lang="en-US" dirty="0"/>
              <a:t> </a:t>
            </a:r>
            <a:r>
              <a:rPr lang="en-US" dirty="0" err="1"/>
              <a:t>su</a:t>
            </a:r>
            <a:r>
              <a:rPr lang="en-US" dirty="0"/>
              <a:t> valor: </a:t>
            </a:r>
            <a:r>
              <a:rPr lang="en-US" dirty="0" err="1">
                <a:solidFill>
                  <a:srgbClr val="FF0000"/>
                </a:solidFill>
              </a:rPr>
              <a:t>Modo</a:t>
            </a:r>
            <a:r>
              <a:rPr lang="en-US" dirty="0">
                <a:solidFill>
                  <a:srgbClr val="FF0000"/>
                </a:solidFill>
              </a:rPr>
              <a:t> de </a:t>
            </a:r>
            <a:r>
              <a:rPr lang="en-US" dirty="0" err="1">
                <a:solidFill>
                  <a:srgbClr val="FF0000"/>
                </a:solidFill>
              </a:rPr>
              <a:t>direccionamiento</a:t>
            </a:r>
            <a:r>
              <a:rPr lang="en-US" dirty="0"/>
              <a:t>.</a:t>
            </a:r>
          </a:p>
        </p:txBody>
      </p:sp>
    </p:spTree>
    <p:extLst>
      <p:ext uri="{BB962C8B-B14F-4D97-AF65-F5344CB8AC3E}">
        <p14:creationId xmlns:p14="http://schemas.microsoft.com/office/powerpoint/2010/main" val="3019066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Campos de </a:t>
            </a:r>
            <a:r>
              <a:rPr lang="en-US" dirty="0" err="1"/>
              <a:t>Dirección</a:t>
            </a:r>
            <a:endParaRPr lang="es-NI" dirty="0"/>
          </a:p>
        </p:txBody>
      </p:sp>
      <p:sp>
        <p:nvSpPr>
          <p:cNvPr id="3" name="2 Marcador de contenido"/>
          <p:cNvSpPr>
            <a:spLocks noGrp="1"/>
          </p:cNvSpPr>
          <p:nvPr>
            <p:ph idx="1"/>
          </p:nvPr>
        </p:nvSpPr>
        <p:spPr/>
        <p:txBody>
          <a:bodyPr/>
          <a:lstStyle/>
          <a:p>
            <a:r>
              <a:rPr lang="en-US" dirty="0" err="1"/>
              <a:t>Bloque</a:t>
            </a:r>
            <a:r>
              <a:rPr lang="en-US" dirty="0"/>
              <a:t> de </a:t>
            </a:r>
            <a:r>
              <a:rPr lang="en-US" dirty="0" err="1"/>
              <a:t>direccionamiento</a:t>
            </a:r>
            <a:r>
              <a:rPr lang="en-US" dirty="0"/>
              <a:t>: </a:t>
            </a:r>
            <a:r>
              <a:rPr lang="en-US" dirty="0">
                <a:solidFill>
                  <a:srgbClr val="FF0000"/>
                </a:solidFill>
              </a:rPr>
              <a:t>Campos de </a:t>
            </a:r>
            <a:r>
              <a:rPr lang="en-US" dirty="0" err="1">
                <a:solidFill>
                  <a:srgbClr val="FF0000"/>
                </a:solidFill>
              </a:rPr>
              <a:t>Dirección</a:t>
            </a:r>
            <a:endParaRPr lang="en-US" dirty="0">
              <a:solidFill>
                <a:srgbClr val="FF0000"/>
              </a:solidFill>
            </a:endParaRPr>
          </a:p>
          <a:p>
            <a:r>
              <a:rPr lang="en-US" dirty="0"/>
              <a:t>Campo de </a:t>
            </a:r>
            <a:r>
              <a:rPr lang="en-US" dirty="0" err="1"/>
              <a:t>dirección</a:t>
            </a:r>
            <a:r>
              <a:rPr lang="en-US" dirty="0"/>
              <a:t>: </a:t>
            </a:r>
            <a:r>
              <a:rPr lang="en-US" dirty="0" err="1">
                <a:solidFill>
                  <a:srgbClr val="FF0000"/>
                </a:solidFill>
              </a:rPr>
              <a:t>modo</a:t>
            </a:r>
            <a:r>
              <a:rPr lang="en-US" dirty="0">
                <a:solidFill>
                  <a:srgbClr val="FF0000"/>
                </a:solidFill>
              </a:rPr>
              <a:t> de </a:t>
            </a:r>
            <a:r>
              <a:rPr lang="en-US" dirty="0" err="1">
                <a:solidFill>
                  <a:srgbClr val="FF0000"/>
                </a:solidFill>
              </a:rPr>
              <a:t>direccionamiento</a:t>
            </a:r>
            <a:r>
              <a:rPr lang="en-US" dirty="0"/>
              <a:t> + </a:t>
            </a:r>
            <a:r>
              <a:rPr lang="en-US" dirty="0" err="1">
                <a:solidFill>
                  <a:srgbClr val="6600CC"/>
                </a:solidFill>
              </a:rPr>
              <a:t>valores</a:t>
            </a:r>
            <a:endParaRPr lang="en-US" dirty="0">
              <a:solidFill>
                <a:srgbClr val="6600CC"/>
              </a:solidFill>
            </a:endParaRPr>
          </a:p>
          <a:p>
            <a:r>
              <a:rPr lang="en-US" dirty="0" err="1"/>
              <a:t>Valores</a:t>
            </a:r>
            <a:r>
              <a:rPr lang="en-US" dirty="0"/>
              <a:t>: </a:t>
            </a:r>
            <a:r>
              <a:rPr lang="en-US" dirty="0" err="1">
                <a:solidFill>
                  <a:srgbClr val="0070C0"/>
                </a:solidFill>
              </a:rPr>
              <a:t>información</a:t>
            </a:r>
            <a:r>
              <a:rPr lang="en-US" dirty="0">
                <a:solidFill>
                  <a:srgbClr val="0070C0"/>
                </a:solidFill>
              </a:rPr>
              <a:t> </a:t>
            </a:r>
            <a:r>
              <a:rPr lang="en-US" dirty="0" err="1">
                <a:solidFill>
                  <a:srgbClr val="0070C0"/>
                </a:solidFill>
              </a:rPr>
              <a:t>requerida</a:t>
            </a:r>
            <a:r>
              <a:rPr lang="en-US" dirty="0">
                <a:solidFill>
                  <a:srgbClr val="0070C0"/>
                </a:solidFill>
              </a:rPr>
              <a:t> para </a:t>
            </a:r>
            <a:r>
              <a:rPr lang="en-US" dirty="0" err="1">
                <a:solidFill>
                  <a:srgbClr val="0070C0"/>
                </a:solidFill>
              </a:rPr>
              <a:t>obtener</a:t>
            </a:r>
            <a:r>
              <a:rPr lang="en-US" dirty="0">
                <a:solidFill>
                  <a:srgbClr val="0070C0"/>
                </a:solidFill>
              </a:rPr>
              <a:t> la EA y operando a </a:t>
            </a:r>
            <a:r>
              <a:rPr lang="en-US" dirty="0" err="1">
                <a:solidFill>
                  <a:srgbClr val="0070C0"/>
                </a:solidFill>
              </a:rPr>
              <a:t>partir</a:t>
            </a:r>
            <a:r>
              <a:rPr lang="en-US" dirty="0">
                <a:solidFill>
                  <a:srgbClr val="0070C0"/>
                </a:solidFill>
              </a:rPr>
              <a:t> del </a:t>
            </a:r>
            <a:r>
              <a:rPr lang="en-US" dirty="0" err="1">
                <a:solidFill>
                  <a:srgbClr val="0070C0"/>
                </a:solidFill>
              </a:rPr>
              <a:t>modo</a:t>
            </a:r>
            <a:r>
              <a:rPr lang="en-US" dirty="0"/>
              <a:t>:</a:t>
            </a:r>
          </a:p>
          <a:p>
            <a:pPr lvl="1"/>
            <a:r>
              <a:rPr lang="en-US" dirty="0" err="1">
                <a:solidFill>
                  <a:schemeClr val="accent1">
                    <a:lumMod val="75000"/>
                  </a:schemeClr>
                </a:solidFill>
              </a:rPr>
              <a:t>Número</a:t>
            </a:r>
            <a:r>
              <a:rPr lang="en-US" dirty="0">
                <a:solidFill>
                  <a:schemeClr val="accent1">
                    <a:lumMod val="75000"/>
                  </a:schemeClr>
                </a:solidFill>
              </a:rPr>
              <a:t> (n): Valor </a:t>
            </a:r>
            <a:r>
              <a:rPr lang="en-US" dirty="0" err="1">
                <a:solidFill>
                  <a:schemeClr val="accent1">
                    <a:lumMod val="75000"/>
                  </a:schemeClr>
                </a:solidFill>
              </a:rPr>
              <a:t>es</a:t>
            </a:r>
            <a:r>
              <a:rPr lang="en-US" dirty="0">
                <a:solidFill>
                  <a:schemeClr val="accent1">
                    <a:lumMod val="75000"/>
                  </a:schemeClr>
                </a:solidFill>
              </a:rPr>
              <a:t> el operando o un </a:t>
            </a:r>
            <a:r>
              <a:rPr lang="en-US" dirty="0" err="1">
                <a:solidFill>
                  <a:schemeClr val="accent1">
                    <a:lumMod val="75000"/>
                  </a:schemeClr>
                </a:solidFill>
              </a:rPr>
              <a:t>desplazamiento</a:t>
            </a:r>
            <a:r>
              <a:rPr lang="en-US" dirty="0">
                <a:solidFill>
                  <a:schemeClr val="accent1">
                    <a:lumMod val="75000"/>
                  </a:schemeClr>
                </a:solidFill>
              </a:rPr>
              <a:t> </a:t>
            </a:r>
            <a:r>
              <a:rPr lang="en-US" dirty="0" err="1">
                <a:solidFill>
                  <a:schemeClr val="accent1">
                    <a:lumMod val="75000"/>
                  </a:schemeClr>
                </a:solidFill>
              </a:rPr>
              <a:t>para</a:t>
            </a:r>
            <a:r>
              <a:rPr lang="en-US" dirty="0">
                <a:solidFill>
                  <a:schemeClr val="accent1">
                    <a:lumMod val="75000"/>
                  </a:schemeClr>
                </a:solidFill>
              </a:rPr>
              <a:t> </a:t>
            </a:r>
            <a:r>
              <a:rPr lang="en-US" dirty="0" err="1">
                <a:solidFill>
                  <a:schemeClr val="accent1">
                    <a:lumMod val="75000"/>
                  </a:schemeClr>
                </a:solidFill>
              </a:rPr>
              <a:t>calcularlo</a:t>
            </a:r>
            <a:r>
              <a:rPr lang="en-US" dirty="0">
                <a:solidFill>
                  <a:schemeClr val="accent1">
                    <a:lumMod val="75000"/>
                  </a:schemeClr>
                </a:solidFill>
              </a:rPr>
              <a:t>.</a:t>
            </a:r>
          </a:p>
          <a:p>
            <a:pPr lvl="1"/>
            <a:r>
              <a:rPr lang="en-US" dirty="0" err="1">
                <a:solidFill>
                  <a:srgbClr val="7030A0"/>
                </a:solidFill>
              </a:rPr>
              <a:t>Registro</a:t>
            </a:r>
            <a:r>
              <a:rPr lang="en-US" dirty="0">
                <a:solidFill>
                  <a:srgbClr val="7030A0"/>
                </a:solidFill>
              </a:rPr>
              <a:t> (R): Valor </a:t>
            </a:r>
            <a:r>
              <a:rPr lang="en-US" dirty="0" err="1">
                <a:solidFill>
                  <a:srgbClr val="7030A0"/>
                </a:solidFill>
              </a:rPr>
              <a:t>es</a:t>
            </a:r>
            <a:r>
              <a:rPr lang="en-US" dirty="0">
                <a:solidFill>
                  <a:srgbClr val="7030A0"/>
                </a:solidFill>
              </a:rPr>
              <a:t> el </a:t>
            </a:r>
            <a:r>
              <a:rPr lang="en-US" dirty="0" err="1">
                <a:solidFill>
                  <a:srgbClr val="7030A0"/>
                </a:solidFill>
              </a:rPr>
              <a:t>índice</a:t>
            </a:r>
            <a:r>
              <a:rPr lang="en-US" dirty="0">
                <a:solidFill>
                  <a:srgbClr val="7030A0"/>
                </a:solidFill>
              </a:rPr>
              <a:t> o </a:t>
            </a:r>
            <a:r>
              <a:rPr lang="en-US" dirty="0" err="1">
                <a:solidFill>
                  <a:srgbClr val="7030A0"/>
                </a:solidFill>
              </a:rPr>
              <a:t>número</a:t>
            </a:r>
            <a:r>
              <a:rPr lang="en-US" dirty="0">
                <a:solidFill>
                  <a:srgbClr val="7030A0"/>
                </a:solidFill>
              </a:rPr>
              <a:t> de </a:t>
            </a:r>
            <a:r>
              <a:rPr lang="en-US" dirty="0" err="1">
                <a:solidFill>
                  <a:srgbClr val="7030A0"/>
                </a:solidFill>
              </a:rPr>
              <a:t>registro</a:t>
            </a:r>
            <a:r>
              <a:rPr lang="en-US" dirty="0">
                <a:solidFill>
                  <a:srgbClr val="7030A0"/>
                </a:solidFill>
              </a:rPr>
              <a:t>.</a:t>
            </a:r>
          </a:p>
          <a:p>
            <a:pPr lvl="1"/>
            <a:r>
              <a:rPr lang="en-US" dirty="0" err="1">
                <a:solidFill>
                  <a:srgbClr val="FF3399"/>
                </a:solidFill>
              </a:rPr>
              <a:t>Memoria</a:t>
            </a:r>
            <a:r>
              <a:rPr lang="en-US" dirty="0">
                <a:solidFill>
                  <a:srgbClr val="FF3399"/>
                </a:solidFill>
              </a:rPr>
              <a:t> (M): </a:t>
            </a:r>
            <a:r>
              <a:rPr lang="en-US" dirty="0" err="1">
                <a:solidFill>
                  <a:srgbClr val="FF3399"/>
                </a:solidFill>
              </a:rPr>
              <a:t>Valores</a:t>
            </a:r>
            <a:r>
              <a:rPr lang="en-US" dirty="0">
                <a:solidFill>
                  <a:srgbClr val="FF3399"/>
                </a:solidFill>
              </a:rPr>
              <a:t> </a:t>
            </a:r>
            <a:r>
              <a:rPr lang="en-US" dirty="0" err="1">
                <a:solidFill>
                  <a:srgbClr val="FF3399"/>
                </a:solidFill>
              </a:rPr>
              <a:t>permiten</a:t>
            </a:r>
            <a:r>
              <a:rPr lang="en-US" dirty="0">
                <a:solidFill>
                  <a:srgbClr val="FF3399"/>
                </a:solidFill>
              </a:rPr>
              <a:t> </a:t>
            </a:r>
            <a:r>
              <a:rPr lang="en-US" dirty="0" err="1">
                <a:solidFill>
                  <a:srgbClr val="FF3399"/>
                </a:solidFill>
              </a:rPr>
              <a:t>calcular</a:t>
            </a:r>
            <a:r>
              <a:rPr lang="en-US" dirty="0">
                <a:solidFill>
                  <a:srgbClr val="FF3399"/>
                </a:solidFill>
              </a:rPr>
              <a:t> la EA</a:t>
            </a:r>
          </a:p>
        </p:txBody>
      </p:sp>
    </p:spTree>
    <p:extLst>
      <p:ext uri="{BB962C8B-B14F-4D97-AF65-F5344CB8AC3E}">
        <p14:creationId xmlns:p14="http://schemas.microsoft.com/office/powerpoint/2010/main" val="291765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de </a:t>
            </a:r>
            <a:r>
              <a:rPr lang="en-US" dirty="0" err="1"/>
              <a:t>Direccionamiento</a:t>
            </a:r>
            <a:endParaRPr lang="es-NI" dirty="0"/>
          </a:p>
        </p:txBody>
      </p:sp>
      <p:sp>
        <p:nvSpPr>
          <p:cNvPr id="3" name="2 Marcador de contenido"/>
          <p:cNvSpPr>
            <a:spLocks noGrp="1"/>
          </p:cNvSpPr>
          <p:nvPr>
            <p:ph idx="1"/>
          </p:nvPr>
        </p:nvSpPr>
        <p:spPr>
          <a:xfrm>
            <a:off x="381001" y="1289302"/>
            <a:ext cx="8407893" cy="3658711"/>
          </a:xfrm>
        </p:spPr>
        <p:txBody>
          <a:bodyPr>
            <a:normAutofit/>
          </a:bodyPr>
          <a:lstStyle/>
          <a:p>
            <a:r>
              <a:rPr lang="en-US" sz="2400" dirty="0"/>
              <a:t>Forma de </a:t>
            </a:r>
            <a:r>
              <a:rPr lang="en-US" sz="2400" dirty="0" err="1"/>
              <a:t>determinar</a:t>
            </a:r>
            <a:r>
              <a:rPr lang="en-US" sz="2400" dirty="0"/>
              <a:t> la </a:t>
            </a:r>
            <a:r>
              <a:rPr lang="en-US" sz="2400" dirty="0" err="1"/>
              <a:t>Dirección</a:t>
            </a:r>
            <a:r>
              <a:rPr lang="en-US" sz="2400" dirty="0"/>
              <a:t> </a:t>
            </a:r>
            <a:r>
              <a:rPr lang="en-US" sz="2400" dirty="0" err="1"/>
              <a:t>Efectiva</a:t>
            </a:r>
            <a:r>
              <a:rPr lang="en-US" sz="2400" dirty="0"/>
              <a:t> del operando y </a:t>
            </a:r>
            <a:r>
              <a:rPr lang="en-US" sz="2400" dirty="0" err="1"/>
              <a:t>cómo</a:t>
            </a:r>
            <a:r>
              <a:rPr lang="en-US" sz="2400" dirty="0"/>
              <a:t> </a:t>
            </a:r>
            <a:r>
              <a:rPr lang="en-US" sz="2400" dirty="0" err="1"/>
              <a:t>obtenerlo</a:t>
            </a:r>
            <a:r>
              <a:rPr lang="en-US" sz="2400" dirty="0"/>
              <a:t>.</a:t>
            </a:r>
          </a:p>
          <a:p>
            <a:endParaRPr lang="en-US" dirty="0"/>
          </a:p>
          <a:p>
            <a:r>
              <a:rPr lang="en-US" sz="2400" dirty="0" err="1">
                <a:solidFill>
                  <a:srgbClr val="0070C0"/>
                </a:solidFill>
              </a:rPr>
              <a:t>Modos</a:t>
            </a:r>
            <a:r>
              <a:rPr lang="en-US" sz="2400" dirty="0">
                <a:solidFill>
                  <a:srgbClr val="0070C0"/>
                </a:solidFill>
              </a:rPr>
              <a:t> </a:t>
            </a:r>
            <a:r>
              <a:rPr lang="en-US" sz="2400" dirty="0" err="1">
                <a:solidFill>
                  <a:srgbClr val="0070C0"/>
                </a:solidFill>
              </a:rPr>
              <a:t>básicos</a:t>
            </a:r>
            <a:r>
              <a:rPr lang="en-US" sz="2400" dirty="0">
                <a:solidFill>
                  <a:srgbClr val="0070C0"/>
                </a:solidFill>
              </a:rPr>
              <a:t> y </a:t>
            </a:r>
            <a:r>
              <a:rPr lang="en-US" sz="2400" dirty="0" err="1">
                <a:solidFill>
                  <a:srgbClr val="0070C0"/>
                </a:solidFill>
              </a:rPr>
              <a:t>modos</a:t>
            </a:r>
            <a:r>
              <a:rPr lang="en-US" sz="2400" dirty="0">
                <a:solidFill>
                  <a:srgbClr val="0070C0"/>
                </a:solidFill>
              </a:rPr>
              <a:t> </a:t>
            </a:r>
            <a:r>
              <a:rPr lang="en-US" sz="2400" dirty="0" err="1">
                <a:solidFill>
                  <a:srgbClr val="0070C0"/>
                </a:solidFill>
              </a:rPr>
              <a:t>compuestos</a:t>
            </a:r>
            <a:endParaRPr lang="en-US" sz="2400" dirty="0">
              <a:solidFill>
                <a:srgbClr val="0070C0"/>
              </a:solidFill>
            </a:endParaRPr>
          </a:p>
          <a:p>
            <a:pPr lvl="1"/>
            <a:r>
              <a:rPr lang="en-US" sz="2000" b="1" dirty="0" err="1">
                <a:solidFill>
                  <a:schemeClr val="accent1">
                    <a:lumMod val="75000"/>
                  </a:schemeClr>
                </a:solidFill>
              </a:rPr>
              <a:t>Básicos</a:t>
            </a:r>
            <a:r>
              <a:rPr lang="en-US" sz="2000" dirty="0"/>
              <a:t>: Un solo valor </a:t>
            </a:r>
            <a:r>
              <a:rPr lang="en-US" sz="2000" dirty="0" err="1"/>
              <a:t>está</a:t>
            </a:r>
            <a:r>
              <a:rPr lang="en-US" sz="2000" dirty="0"/>
              <a:t> </a:t>
            </a:r>
            <a:r>
              <a:rPr lang="en-US" sz="2000" dirty="0" err="1"/>
              <a:t>presente</a:t>
            </a:r>
            <a:r>
              <a:rPr lang="en-US" sz="2000" dirty="0"/>
              <a:t> en el campo de </a:t>
            </a:r>
            <a:r>
              <a:rPr lang="en-US" sz="2000" dirty="0" err="1"/>
              <a:t>dirección</a:t>
            </a:r>
            <a:r>
              <a:rPr lang="en-US" sz="2000" dirty="0"/>
              <a:t>: Valor, </a:t>
            </a:r>
            <a:r>
              <a:rPr lang="en-US" sz="2000" dirty="0" err="1"/>
              <a:t>Índice</a:t>
            </a:r>
            <a:r>
              <a:rPr lang="en-US" sz="2000" dirty="0"/>
              <a:t> del </a:t>
            </a:r>
            <a:r>
              <a:rPr lang="en-US" sz="2000" dirty="0" err="1"/>
              <a:t>Registro</a:t>
            </a:r>
            <a:r>
              <a:rPr lang="en-US" sz="2000" dirty="0"/>
              <a:t> o </a:t>
            </a:r>
            <a:r>
              <a:rPr lang="en-US" sz="2000" dirty="0" err="1"/>
              <a:t>Dirección</a:t>
            </a:r>
            <a:r>
              <a:rPr lang="en-US" sz="2000" dirty="0"/>
              <a:t> de </a:t>
            </a:r>
            <a:r>
              <a:rPr lang="en-US" sz="2000" dirty="0" err="1"/>
              <a:t>Memoria</a:t>
            </a:r>
            <a:r>
              <a:rPr lang="en-US" sz="2000" dirty="0"/>
              <a:t>.</a:t>
            </a:r>
          </a:p>
          <a:p>
            <a:pPr lvl="1"/>
            <a:r>
              <a:rPr lang="en-US" sz="2000" b="1" dirty="0" err="1">
                <a:solidFill>
                  <a:schemeClr val="accent1">
                    <a:lumMod val="75000"/>
                  </a:schemeClr>
                </a:solidFill>
              </a:rPr>
              <a:t>Compuestos</a:t>
            </a:r>
            <a:r>
              <a:rPr lang="en-US" sz="2000" b="1" dirty="0">
                <a:solidFill>
                  <a:schemeClr val="accent1">
                    <a:lumMod val="75000"/>
                  </a:schemeClr>
                </a:solidFill>
              </a:rPr>
              <a:t>: </a:t>
            </a:r>
            <a:r>
              <a:rPr lang="en-US" sz="2000" dirty="0"/>
              <a:t>Se </a:t>
            </a:r>
            <a:r>
              <a:rPr lang="en-US" sz="2000" dirty="0" err="1"/>
              <a:t>requiere</a:t>
            </a:r>
            <a:r>
              <a:rPr lang="en-US" sz="2000" dirty="0"/>
              <a:t> </a:t>
            </a:r>
            <a:r>
              <a:rPr lang="en-US" sz="2000" dirty="0" err="1"/>
              <a:t>más</a:t>
            </a:r>
            <a:r>
              <a:rPr lang="en-US" sz="2000" dirty="0"/>
              <a:t> de un valor para </a:t>
            </a:r>
            <a:r>
              <a:rPr lang="en-US" sz="2000" dirty="0" err="1"/>
              <a:t>calcular</a:t>
            </a:r>
            <a:r>
              <a:rPr lang="en-US" sz="2000" dirty="0"/>
              <a:t> la </a:t>
            </a:r>
            <a:r>
              <a:rPr lang="en-US" sz="2000" dirty="0" err="1"/>
              <a:t>dirección</a:t>
            </a:r>
            <a:r>
              <a:rPr lang="en-US" sz="2000" dirty="0"/>
              <a:t> </a:t>
            </a:r>
            <a:r>
              <a:rPr lang="en-US" sz="2000" dirty="0" err="1"/>
              <a:t>efectiva</a:t>
            </a:r>
            <a:r>
              <a:rPr lang="en-US" sz="2000" dirty="0"/>
              <a:t> del operando.</a:t>
            </a:r>
          </a:p>
        </p:txBody>
      </p:sp>
    </p:spTree>
    <p:extLst>
      <p:ext uri="{BB962C8B-B14F-4D97-AF65-F5344CB8AC3E}">
        <p14:creationId xmlns:p14="http://schemas.microsoft.com/office/powerpoint/2010/main" val="1691333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323528" y="1347614"/>
            <a:ext cx="8712968" cy="3600400"/>
          </a:xfrm>
        </p:spPr>
        <p:txBody>
          <a:bodyPr>
            <a:normAutofit lnSpcReduction="10000"/>
          </a:bodyPr>
          <a:lstStyle/>
          <a:p>
            <a:r>
              <a:rPr lang="en-US" b="1" dirty="0">
                <a:solidFill>
                  <a:srgbClr val="9900FF"/>
                </a:solidFill>
              </a:rPr>
              <a:t>A. </a:t>
            </a:r>
            <a:r>
              <a:rPr lang="en-US" b="1" dirty="0" err="1">
                <a:solidFill>
                  <a:srgbClr val="9900FF"/>
                </a:solidFill>
              </a:rPr>
              <a:t>Inmediato</a:t>
            </a:r>
            <a:r>
              <a:rPr lang="en-US" dirty="0">
                <a:solidFill>
                  <a:srgbClr val="9900FF"/>
                </a:solidFill>
              </a:rPr>
              <a:t>: </a:t>
            </a:r>
            <a:r>
              <a:rPr lang="en-US" dirty="0"/>
              <a:t>Operando </a:t>
            </a:r>
            <a:r>
              <a:rPr lang="en-US" dirty="0" err="1"/>
              <a:t>definido</a:t>
            </a:r>
            <a:r>
              <a:rPr lang="en-US" dirty="0"/>
              <a:t> en la </a:t>
            </a:r>
            <a:r>
              <a:rPr lang="en-US" dirty="0" err="1"/>
              <a:t>instrucción</a:t>
            </a:r>
            <a:r>
              <a:rPr lang="en-US" dirty="0"/>
              <a:t>.</a:t>
            </a:r>
          </a:p>
          <a:p>
            <a:endParaRPr lang="en-US" dirty="0"/>
          </a:p>
          <a:p>
            <a:endParaRPr lang="en-US" dirty="0"/>
          </a:p>
          <a:p>
            <a:pPr marL="1257300" lvl="3" indent="0">
              <a:buNone/>
            </a:pPr>
            <a:r>
              <a:rPr lang="en-US" sz="3200" b="1" dirty="0"/>
              <a:t>MOV R5, </a:t>
            </a:r>
            <a:r>
              <a:rPr lang="en-US" sz="3200" b="1" dirty="0">
                <a:solidFill>
                  <a:schemeClr val="accent1">
                    <a:lumMod val="75000"/>
                  </a:schemeClr>
                </a:solidFill>
              </a:rPr>
              <a:t>5</a:t>
            </a:r>
            <a:r>
              <a:rPr lang="en-US" sz="3200" b="1" dirty="0">
                <a:solidFill>
                  <a:srgbClr val="92D050"/>
                </a:solidFill>
              </a:rPr>
              <a:t>		</a:t>
            </a:r>
            <a:r>
              <a:rPr lang="en-US" sz="3200" b="1" dirty="0">
                <a:solidFill>
                  <a:srgbClr val="9900FF"/>
                </a:solidFill>
              </a:rPr>
              <a:t>; R5 </a:t>
            </a:r>
            <a:r>
              <a:rPr lang="en-US" sz="3200" b="1" dirty="0">
                <a:solidFill>
                  <a:srgbClr val="9900FF"/>
                </a:solidFill>
                <a:sym typeface="Wingdings" pitchFamily="2" charset="2"/>
              </a:rPr>
              <a:t> 5</a:t>
            </a:r>
            <a:endParaRPr lang="en-US" sz="3200" b="1" dirty="0">
              <a:solidFill>
                <a:srgbClr val="9900FF"/>
              </a:solidFill>
            </a:endParaRPr>
          </a:p>
          <a:p>
            <a:r>
              <a:rPr lang="es-ES" sz="2400" dirty="0"/>
              <a:t>Ventajas:  	Forma sencilla de obtención del operando.</a:t>
            </a:r>
            <a:endParaRPr lang="es-NI" sz="2400" dirty="0"/>
          </a:p>
          <a:p>
            <a:r>
              <a:rPr lang="es-ES" sz="2400" dirty="0"/>
              <a:t>Desventaja: Sólo permite operandos fuente y valores constantes.</a:t>
            </a:r>
            <a:endParaRPr lang="es-NI" sz="2400" dirty="0"/>
          </a:p>
          <a:p>
            <a:r>
              <a:rPr lang="es-ES" sz="2400" dirty="0"/>
              <a:t>Uso: Inicialización  de variables y declaración de constantes.</a:t>
            </a:r>
            <a:endParaRPr lang="es-NI" sz="2400" dirty="0"/>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5" name="4 Objeto"/>
          <p:cNvGraphicFramePr>
            <a:graphicFrameLocks noChangeAspect="1"/>
          </p:cNvGraphicFramePr>
          <p:nvPr>
            <p:extLst>
              <p:ext uri="{D42A27DB-BD31-4B8C-83A1-F6EECF244321}">
                <p14:modId xmlns:p14="http://schemas.microsoft.com/office/powerpoint/2010/main" val="4263036242"/>
              </p:ext>
            </p:extLst>
          </p:nvPr>
        </p:nvGraphicFramePr>
        <p:xfrm>
          <a:off x="1907704" y="1779662"/>
          <a:ext cx="6120680" cy="614629"/>
        </p:xfrm>
        <a:graphic>
          <a:graphicData uri="http://schemas.openxmlformats.org/presentationml/2006/ole">
            <mc:AlternateContent xmlns:mc="http://schemas.openxmlformats.org/markup-compatibility/2006">
              <mc:Choice xmlns:v="urn:schemas-microsoft-com:vml" Requires="v">
                <p:oleObj spid="_x0000_s2127" name="Visio" r:id="rId3" imgW="3694176" imgH="493776" progId="Visio.Drawing.11">
                  <p:embed/>
                </p:oleObj>
              </mc:Choice>
              <mc:Fallback>
                <p:oleObj name="Visio" r:id="rId3" imgW="3694176" imgH="49377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1779662"/>
                        <a:ext cx="6120680" cy="614629"/>
                      </a:xfrm>
                      <a:prstGeom prst="rect">
                        <a:avLst/>
                      </a:prstGeom>
                      <a:noFill/>
                    </p:spPr>
                  </p:pic>
                </p:oleObj>
              </mc:Fallback>
            </mc:AlternateContent>
          </a:graphicData>
        </a:graphic>
      </p:graphicFrame>
    </p:spTree>
    <p:extLst>
      <p:ext uri="{BB962C8B-B14F-4D97-AF65-F5344CB8AC3E}">
        <p14:creationId xmlns:p14="http://schemas.microsoft.com/office/powerpoint/2010/main" val="3053982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92366" y="1275606"/>
            <a:ext cx="8944130" cy="3744416"/>
          </a:xfrm>
        </p:spPr>
        <p:txBody>
          <a:bodyPr>
            <a:normAutofit fontScale="92500" lnSpcReduction="10000"/>
          </a:bodyPr>
          <a:lstStyle/>
          <a:p>
            <a:r>
              <a:rPr lang="en-US" b="1" dirty="0">
                <a:solidFill>
                  <a:srgbClr val="9900FF"/>
                </a:solidFill>
              </a:rPr>
              <a:t>B. </a:t>
            </a:r>
            <a:r>
              <a:rPr lang="en-US" b="1" dirty="0" err="1">
                <a:solidFill>
                  <a:srgbClr val="9900FF"/>
                </a:solidFill>
              </a:rPr>
              <a:t>Directo</a:t>
            </a:r>
            <a:r>
              <a:rPr lang="en-US" b="1" dirty="0">
                <a:solidFill>
                  <a:srgbClr val="9900FF"/>
                </a:solidFill>
              </a:rPr>
              <a:t> o </a:t>
            </a:r>
            <a:r>
              <a:rPr lang="en-US" b="1" dirty="0" err="1">
                <a:solidFill>
                  <a:srgbClr val="9900FF"/>
                </a:solidFill>
              </a:rPr>
              <a:t>Registro</a:t>
            </a:r>
            <a:r>
              <a:rPr lang="en-US" dirty="0">
                <a:solidFill>
                  <a:srgbClr val="9900FF"/>
                </a:solidFill>
              </a:rPr>
              <a:t>: </a:t>
            </a:r>
            <a:r>
              <a:rPr lang="en-US" dirty="0"/>
              <a:t>Operando se </a:t>
            </a:r>
            <a:r>
              <a:rPr lang="en-US" dirty="0" err="1"/>
              <a:t>encuentra</a:t>
            </a:r>
            <a:r>
              <a:rPr lang="en-US" dirty="0"/>
              <a:t> en un </a:t>
            </a:r>
            <a:r>
              <a:rPr lang="en-US" dirty="0" err="1"/>
              <a:t>registro</a:t>
            </a:r>
            <a:r>
              <a:rPr lang="en-US" dirty="0"/>
              <a:t> del CPU.</a:t>
            </a:r>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1257300" lvl="3" indent="0">
              <a:buNone/>
            </a:pPr>
            <a:r>
              <a:rPr lang="en-US" sz="3200" b="1" dirty="0"/>
              <a:t>MOV R5, </a:t>
            </a:r>
            <a:r>
              <a:rPr lang="en-US" sz="3200" b="1" dirty="0">
                <a:solidFill>
                  <a:schemeClr val="accent1">
                    <a:lumMod val="75000"/>
                  </a:schemeClr>
                </a:solidFill>
              </a:rPr>
              <a:t>R7</a:t>
            </a:r>
            <a:r>
              <a:rPr lang="en-US" sz="3200" b="1" dirty="0">
                <a:solidFill>
                  <a:srgbClr val="92D050"/>
                </a:solidFill>
              </a:rPr>
              <a:t>		</a:t>
            </a:r>
            <a:r>
              <a:rPr lang="en-US" sz="3200" b="1" dirty="0">
                <a:solidFill>
                  <a:srgbClr val="9900FF"/>
                </a:solidFill>
              </a:rPr>
              <a:t>; R5 </a:t>
            </a:r>
            <a:r>
              <a:rPr lang="en-US" sz="3200" b="1" dirty="0">
                <a:solidFill>
                  <a:srgbClr val="9900FF"/>
                </a:solidFill>
                <a:sym typeface="Wingdings" pitchFamily="2" charset="2"/>
              </a:rPr>
              <a:t> [R7]</a:t>
            </a:r>
            <a:endParaRPr lang="en-US" sz="3200" b="1" dirty="0">
              <a:solidFill>
                <a:srgbClr val="9900FF"/>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7" name="6 Objeto"/>
          <p:cNvGraphicFramePr>
            <a:graphicFrameLocks noChangeAspect="1"/>
          </p:cNvGraphicFramePr>
          <p:nvPr>
            <p:extLst>
              <p:ext uri="{D42A27DB-BD31-4B8C-83A1-F6EECF244321}">
                <p14:modId xmlns:p14="http://schemas.microsoft.com/office/powerpoint/2010/main" val="1081707476"/>
              </p:ext>
            </p:extLst>
          </p:nvPr>
        </p:nvGraphicFramePr>
        <p:xfrm>
          <a:off x="1619672" y="2031690"/>
          <a:ext cx="7294508" cy="2322258"/>
        </p:xfrm>
        <a:graphic>
          <a:graphicData uri="http://schemas.openxmlformats.org/presentationml/2006/ole">
            <mc:AlternateContent xmlns:mc="http://schemas.openxmlformats.org/markup-compatibility/2006">
              <mc:Choice xmlns:v="urn:schemas-microsoft-com:vml" Requires="v">
                <p:oleObj spid="_x0000_s3150" name="Visio" r:id="rId3" imgW="6558733" imgH="2209046" progId="Visio.Drawing.11">
                  <p:embed/>
                </p:oleObj>
              </mc:Choice>
              <mc:Fallback>
                <p:oleObj name="Visio" r:id="rId3" imgW="6558733" imgH="220904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2031690"/>
                        <a:ext cx="7294508" cy="2322258"/>
                      </a:xfrm>
                      <a:prstGeom prst="rect">
                        <a:avLst/>
                      </a:prstGeom>
                      <a:noFill/>
                    </p:spPr>
                  </p:pic>
                </p:oleObj>
              </mc:Fallback>
            </mc:AlternateContent>
          </a:graphicData>
        </a:graphic>
      </p:graphicFrame>
    </p:spTree>
    <p:extLst>
      <p:ext uri="{BB962C8B-B14F-4D97-AF65-F5344CB8AC3E}">
        <p14:creationId xmlns:p14="http://schemas.microsoft.com/office/powerpoint/2010/main" val="1200069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92366" y="1275606"/>
            <a:ext cx="8944130" cy="3672408"/>
          </a:xfrm>
        </p:spPr>
        <p:txBody>
          <a:bodyPr>
            <a:normAutofit fontScale="92500" lnSpcReduction="10000"/>
          </a:bodyPr>
          <a:lstStyle/>
          <a:p>
            <a:r>
              <a:rPr lang="en-US" b="1" dirty="0">
                <a:solidFill>
                  <a:srgbClr val="9900FF"/>
                </a:solidFill>
              </a:rPr>
              <a:t>B. </a:t>
            </a:r>
            <a:r>
              <a:rPr lang="en-US" b="1" dirty="0" err="1">
                <a:solidFill>
                  <a:srgbClr val="9900FF"/>
                </a:solidFill>
              </a:rPr>
              <a:t>Directo</a:t>
            </a:r>
            <a:r>
              <a:rPr lang="en-US" b="1" dirty="0">
                <a:solidFill>
                  <a:srgbClr val="9900FF"/>
                </a:solidFill>
              </a:rPr>
              <a:t> o </a:t>
            </a:r>
            <a:r>
              <a:rPr lang="en-US" b="1" dirty="0" err="1">
                <a:solidFill>
                  <a:srgbClr val="9900FF"/>
                </a:solidFill>
              </a:rPr>
              <a:t>Registro</a:t>
            </a:r>
            <a:r>
              <a:rPr lang="en-US" dirty="0">
                <a:solidFill>
                  <a:srgbClr val="9900FF"/>
                </a:solidFill>
              </a:rPr>
              <a:t>: </a:t>
            </a:r>
            <a:r>
              <a:rPr lang="en-US" dirty="0"/>
              <a:t>Operando se </a:t>
            </a:r>
            <a:r>
              <a:rPr lang="en-US" dirty="0" err="1"/>
              <a:t>encuentra</a:t>
            </a:r>
            <a:r>
              <a:rPr lang="en-US" dirty="0"/>
              <a:t> en un </a:t>
            </a:r>
            <a:r>
              <a:rPr lang="en-US" dirty="0" err="1"/>
              <a:t>registro</a:t>
            </a:r>
            <a:r>
              <a:rPr lang="en-US" dirty="0"/>
              <a:t> del CPU.</a:t>
            </a:r>
          </a:p>
          <a:p>
            <a:pPr marL="1257300" lvl="3" indent="0">
              <a:buNone/>
            </a:pPr>
            <a:endParaRPr lang="en-US" b="1" dirty="0"/>
          </a:p>
          <a:p>
            <a:pPr marL="1257300" lvl="3" indent="0">
              <a:buNone/>
            </a:pPr>
            <a:r>
              <a:rPr lang="en-US" sz="3200" b="1" dirty="0"/>
              <a:t>MOV R5, </a:t>
            </a:r>
            <a:r>
              <a:rPr lang="en-US" sz="3200" b="1" dirty="0">
                <a:solidFill>
                  <a:schemeClr val="accent1">
                    <a:lumMod val="75000"/>
                  </a:schemeClr>
                </a:solidFill>
              </a:rPr>
              <a:t>R7</a:t>
            </a:r>
            <a:r>
              <a:rPr lang="en-US" sz="3200" b="1" dirty="0">
                <a:solidFill>
                  <a:srgbClr val="92D050"/>
                </a:solidFill>
              </a:rPr>
              <a:t>		</a:t>
            </a:r>
            <a:r>
              <a:rPr lang="en-US" sz="3200" b="1" dirty="0">
                <a:solidFill>
                  <a:srgbClr val="9900FF"/>
                </a:solidFill>
              </a:rPr>
              <a:t>; R5 </a:t>
            </a:r>
            <a:r>
              <a:rPr lang="en-US" sz="3200" b="1" dirty="0">
                <a:solidFill>
                  <a:srgbClr val="9900FF"/>
                </a:solidFill>
                <a:sym typeface="Wingdings" pitchFamily="2" charset="2"/>
              </a:rPr>
              <a:t> 5</a:t>
            </a:r>
          </a:p>
          <a:p>
            <a:pPr marL="1257300" lvl="3" indent="0">
              <a:buNone/>
            </a:pPr>
            <a:endParaRPr lang="en-US" sz="2800" b="1" dirty="0">
              <a:solidFill>
                <a:srgbClr val="FFC000"/>
              </a:solidFill>
            </a:endParaRPr>
          </a:p>
          <a:p>
            <a:r>
              <a:rPr lang="es-ES" sz="2400" b="1" dirty="0">
                <a:solidFill>
                  <a:schemeClr val="accent1">
                    <a:lumMod val="75000"/>
                  </a:schemeClr>
                </a:solidFill>
              </a:rPr>
              <a:t>Ventajas</a:t>
            </a:r>
            <a:r>
              <a:rPr lang="es-ES" sz="2400" dirty="0">
                <a:solidFill>
                  <a:schemeClr val="accent1">
                    <a:lumMod val="75000"/>
                  </a:schemeClr>
                </a:solidFill>
              </a:rPr>
              <a:t>: </a:t>
            </a:r>
            <a:r>
              <a:rPr lang="es-ES" sz="2400" dirty="0"/>
              <a:t>	i) Rapidez de acceso, ii) El operando ya está dentro del procesador, iii) Pocos bits para codificar los registros.</a:t>
            </a:r>
            <a:endParaRPr lang="es-NI" sz="2400" dirty="0"/>
          </a:p>
          <a:p>
            <a:r>
              <a:rPr lang="es-ES" sz="2400" b="1" dirty="0">
                <a:solidFill>
                  <a:schemeClr val="accent1">
                    <a:lumMod val="75000"/>
                  </a:schemeClr>
                </a:solidFill>
              </a:rPr>
              <a:t>Desventajas</a:t>
            </a:r>
            <a:r>
              <a:rPr lang="es-ES" sz="2400" dirty="0">
                <a:solidFill>
                  <a:schemeClr val="accent1">
                    <a:lumMod val="75000"/>
                  </a:schemeClr>
                </a:solidFill>
              </a:rPr>
              <a:t>: </a:t>
            </a:r>
            <a:r>
              <a:rPr lang="es-ES" sz="2400" dirty="0"/>
              <a:t>i) Requerido continuo intercambio con una variable si pocos registros.</a:t>
            </a:r>
            <a:endParaRPr lang="es-NI" sz="2400" dirty="0"/>
          </a:p>
          <a:p>
            <a:r>
              <a:rPr lang="es-ES" sz="2400" b="1" dirty="0">
                <a:solidFill>
                  <a:schemeClr val="accent1">
                    <a:lumMod val="75000"/>
                  </a:schemeClr>
                </a:solidFill>
              </a:rPr>
              <a:t>Uso:</a:t>
            </a:r>
            <a:r>
              <a:rPr lang="es-ES" sz="2400" dirty="0">
                <a:solidFill>
                  <a:schemeClr val="accent1">
                    <a:lumMod val="75000"/>
                  </a:schemeClr>
                </a:solidFill>
              </a:rPr>
              <a:t> </a:t>
            </a:r>
            <a:r>
              <a:rPr lang="es-ES" sz="2400" dirty="0"/>
              <a:t>Almacenar datos que se utilizan con mucha frecuencia.</a:t>
            </a:r>
            <a:endParaRPr lang="es-NI" sz="2400" dirty="0"/>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1902062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92366" y="1347614"/>
            <a:ext cx="8944130" cy="3600400"/>
          </a:xfrm>
        </p:spPr>
        <p:txBody>
          <a:bodyPr>
            <a:normAutofit fontScale="92500" lnSpcReduction="20000"/>
          </a:bodyPr>
          <a:lstStyle/>
          <a:p>
            <a:r>
              <a:rPr lang="en-US" b="1" dirty="0">
                <a:solidFill>
                  <a:srgbClr val="7030A0"/>
                </a:solidFill>
              </a:rPr>
              <a:t>C. </a:t>
            </a:r>
            <a:r>
              <a:rPr lang="en-US" b="1" dirty="0" err="1">
                <a:solidFill>
                  <a:srgbClr val="7030A0"/>
                </a:solidFill>
              </a:rPr>
              <a:t>Absoluto</a:t>
            </a:r>
            <a:r>
              <a:rPr lang="en-US" dirty="0">
                <a:solidFill>
                  <a:srgbClr val="7030A0"/>
                </a:solidFill>
              </a:rPr>
              <a:t>: </a:t>
            </a:r>
            <a:r>
              <a:rPr lang="en-US" dirty="0"/>
              <a:t>Operando se </a:t>
            </a:r>
            <a:r>
              <a:rPr lang="en-US" dirty="0" err="1"/>
              <a:t>encuentra</a:t>
            </a:r>
            <a:r>
              <a:rPr lang="en-US" dirty="0"/>
              <a:t> en </a:t>
            </a:r>
            <a:r>
              <a:rPr lang="en-US" dirty="0" err="1"/>
              <a:t>una</a:t>
            </a:r>
            <a:r>
              <a:rPr lang="en-US" dirty="0"/>
              <a:t> variable en </a:t>
            </a:r>
            <a:r>
              <a:rPr lang="en-US" dirty="0" err="1"/>
              <a:t>Memoria</a:t>
            </a:r>
            <a:r>
              <a:rPr lang="en-US" dirty="0"/>
              <a:t>.</a:t>
            </a:r>
          </a:p>
          <a:p>
            <a:endParaRPr lang="en-US" dirty="0"/>
          </a:p>
          <a:p>
            <a:endParaRPr lang="en-US" dirty="0"/>
          </a:p>
          <a:p>
            <a:endParaRPr lang="en-US" dirty="0"/>
          </a:p>
          <a:p>
            <a:endParaRPr lang="en-US" dirty="0"/>
          </a:p>
          <a:p>
            <a:endParaRPr lang="en-US" dirty="0"/>
          </a:p>
          <a:p>
            <a:pPr marL="1257300" lvl="3" indent="0">
              <a:buNone/>
            </a:pPr>
            <a:endParaRPr lang="en-US" sz="3200" b="1" dirty="0"/>
          </a:p>
          <a:p>
            <a:pPr marL="1257300" lvl="3" indent="0">
              <a:buNone/>
            </a:pPr>
            <a:r>
              <a:rPr lang="en-US" sz="3000" b="1" dirty="0"/>
              <a:t>MOV R5, </a:t>
            </a:r>
            <a:r>
              <a:rPr lang="en-US" sz="3000" b="1" dirty="0">
                <a:solidFill>
                  <a:schemeClr val="accent1">
                    <a:lumMod val="75000"/>
                  </a:schemeClr>
                </a:solidFill>
              </a:rPr>
              <a:t>(1000)</a:t>
            </a:r>
            <a:r>
              <a:rPr lang="en-US" sz="3000" b="1" dirty="0">
                <a:solidFill>
                  <a:srgbClr val="92D050"/>
                </a:solidFill>
              </a:rPr>
              <a:t>	</a:t>
            </a:r>
            <a:r>
              <a:rPr lang="en-US" sz="3000" b="1" dirty="0">
                <a:solidFill>
                  <a:srgbClr val="7030A0"/>
                </a:solidFill>
              </a:rPr>
              <a:t>; R5 </a:t>
            </a:r>
            <a:r>
              <a:rPr lang="en-US" sz="3000" b="1" dirty="0">
                <a:solidFill>
                  <a:srgbClr val="7030A0"/>
                </a:solidFill>
                <a:sym typeface="Wingdings" pitchFamily="2" charset="2"/>
              </a:rPr>
              <a:t> M(1000)</a:t>
            </a:r>
          </a:p>
          <a:p>
            <a:pPr marL="1257300" lvl="3" indent="0">
              <a:buNone/>
            </a:pPr>
            <a:r>
              <a:rPr lang="en-US" sz="3000" b="1" dirty="0">
                <a:sym typeface="Wingdings" pitchFamily="2" charset="2"/>
              </a:rPr>
              <a:t>MOV R5, </a:t>
            </a:r>
            <a:r>
              <a:rPr lang="en-US" sz="3000" b="1" dirty="0">
                <a:solidFill>
                  <a:schemeClr val="accent1">
                    <a:lumMod val="75000"/>
                  </a:schemeClr>
                </a:solidFill>
                <a:sym typeface="Wingdings" pitchFamily="2" charset="2"/>
              </a:rPr>
              <a:t>A</a:t>
            </a:r>
            <a:r>
              <a:rPr lang="en-US" sz="3000" b="1" dirty="0">
                <a:solidFill>
                  <a:srgbClr val="FFC000"/>
                </a:solidFill>
                <a:sym typeface="Wingdings" pitchFamily="2" charset="2"/>
              </a:rPr>
              <a:t>		</a:t>
            </a:r>
            <a:r>
              <a:rPr lang="en-US" sz="3000" b="1" dirty="0">
                <a:solidFill>
                  <a:srgbClr val="7030A0"/>
                </a:solidFill>
                <a:sym typeface="Wingdings" pitchFamily="2" charset="2"/>
              </a:rPr>
              <a:t>: R5  M(A)</a:t>
            </a:r>
            <a:endParaRPr lang="en-US" sz="3000" b="1" dirty="0">
              <a:solidFill>
                <a:srgbClr val="7030A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8" name="7 Objeto"/>
          <p:cNvGraphicFramePr>
            <a:graphicFrameLocks noChangeAspect="1"/>
          </p:cNvGraphicFramePr>
          <p:nvPr>
            <p:extLst>
              <p:ext uri="{D42A27DB-BD31-4B8C-83A1-F6EECF244321}">
                <p14:modId xmlns:p14="http://schemas.microsoft.com/office/powerpoint/2010/main" val="609073788"/>
              </p:ext>
            </p:extLst>
          </p:nvPr>
        </p:nvGraphicFramePr>
        <p:xfrm>
          <a:off x="1619672" y="1851670"/>
          <a:ext cx="7263207" cy="1836204"/>
        </p:xfrm>
        <a:graphic>
          <a:graphicData uri="http://schemas.openxmlformats.org/presentationml/2006/ole">
            <mc:AlternateContent xmlns:mc="http://schemas.openxmlformats.org/markup-compatibility/2006">
              <mc:Choice xmlns:v="urn:schemas-microsoft-com:vml" Requires="v">
                <p:oleObj spid="_x0000_s4174" name="Visio" r:id="rId3" imgW="6558733" imgH="2209046" progId="Visio.Drawing.11">
                  <p:embed/>
                </p:oleObj>
              </mc:Choice>
              <mc:Fallback>
                <p:oleObj name="Visio" r:id="rId3" imgW="6558733" imgH="220904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1851670"/>
                        <a:ext cx="7263207" cy="1836204"/>
                      </a:xfrm>
                      <a:prstGeom prst="rect">
                        <a:avLst/>
                      </a:prstGeom>
                      <a:noFill/>
                    </p:spPr>
                  </p:pic>
                </p:oleObj>
              </mc:Fallback>
            </mc:AlternateContent>
          </a:graphicData>
        </a:graphic>
      </p:graphicFrame>
    </p:spTree>
    <p:extLst>
      <p:ext uri="{BB962C8B-B14F-4D97-AF65-F5344CB8AC3E}">
        <p14:creationId xmlns:p14="http://schemas.microsoft.com/office/powerpoint/2010/main" val="1850293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707748" cy="3867894"/>
          </a:xfrm>
        </p:spPr>
        <p:txBody>
          <a:bodyPr>
            <a:normAutofit fontScale="92500"/>
          </a:bodyPr>
          <a:lstStyle/>
          <a:p>
            <a:r>
              <a:rPr lang="en-US" b="1" dirty="0">
                <a:solidFill>
                  <a:srgbClr val="7030A0"/>
                </a:solidFill>
              </a:rPr>
              <a:t>C. </a:t>
            </a:r>
            <a:r>
              <a:rPr lang="en-US" b="1" dirty="0" err="1">
                <a:solidFill>
                  <a:srgbClr val="7030A0"/>
                </a:solidFill>
              </a:rPr>
              <a:t>Absoluto</a:t>
            </a:r>
            <a:r>
              <a:rPr lang="en-US" dirty="0">
                <a:solidFill>
                  <a:srgbClr val="7030A0"/>
                </a:solidFill>
              </a:rPr>
              <a:t>: </a:t>
            </a:r>
            <a:r>
              <a:rPr lang="en-US" dirty="0"/>
              <a:t>Operando se </a:t>
            </a:r>
            <a:r>
              <a:rPr lang="en-US" dirty="0" err="1"/>
              <a:t>encuentra</a:t>
            </a:r>
            <a:r>
              <a:rPr lang="en-US" dirty="0"/>
              <a:t> en </a:t>
            </a:r>
            <a:r>
              <a:rPr lang="en-US" dirty="0" err="1"/>
              <a:t>una</a:t>
            </a:r>
            <a:r>
              <a:rPr lang="en-US" dirty="0"/>
              <a:t> variable en </a:t>
            </a:r>
            <a:r>
              <a:rPr lang="en-US" dirty="0" err="1"/>
              <a:t>Memoria</a:t>
            </a:r>
            <a:r>
              <a:rPr lang="en-US" dirty="0"/>
              <a:t>.</a:t>
            </a:r>
          </a:p>
          <a:p>
            <a:pPr marL="1257300" lvl="3" indent="0">
              <a:buNone/>
            </a:pPr>
            <a:endParaRPr lang="en-US" sz="1100" b="1" dirty="0"/>
          </a:p>
          <a:p>
            <a:pPr marL="1257300" lvl="3" indent="0">
              <a:buNone/>
            </a:pPr>
            <a:r>
              <a:rPr lang="en-US" sz="3000" b="1" dirty="0"/>
              <a:t>MOV R5, </a:t>
            </a:r>
            <a:r>
              <a:rPr lang="en-US" sz="3000" b="1" dirty="0">
                <a:solidFill>
                  <a:schemeClr val="accent1">
                    <a:lumMod val="75000"/>
                  </a:schemeClr>
                </a:solidFill>
              </a:rPr>
              <a:t>(1000)</a:t>
            </a:r>
            <a:r>
              <a:rPr lang="en-US" sz="3000" b="1" dirty="0">
                <a:solidFill>
                  <a:srgbClr val="92D050"/>
                </a:solidFill>
              </a:rPr>
              <a:t>	</a:t>
            </a:r>
            <a:r>
              <a:rPr lang="en-US" sz="3000" b="1" dirty="0">
                <a:solidFill>
                  <a:srgbClr val="9900FF"/>
                </a:solidFill>
              </a:rPr>
              <a:t>; R5 </a:t>
            </a:r>
            <a:r>
              <a:rPr lang="en-US" sz="3000" b="1" dirty="0">
                <a:solidFill>
                  <a:srgbClr val="9900FF"/>
                </a:solidFill>
                <a:sym typeface="Wingdings" pitchFamily="2" charset="2"/>
              </a:rPr>
              <a:t> M(1000)</a:t>
            </a:r>
          </a:p>
          <a:p>
            <a:pPr marL="1257300" lvl="3" indent="0">
              <a:buNone/>
            </a:pPr>
            <a:r>
              <a:rPr lang="en-US" sz="3000" b="1" dirty="0">
                <a:sym typeface="Wingdings" pitchFamily="2" charset="2"/>
              </a:rPr>
              <a:t>MOV R5, </a:t>
            </a:r>
            <a:r>
              <a:rPr lang="en-US" sz="3000" b="1" dirty="0">
                <a:solidFill>
                  <a:schemeClr val="accent1">
                    <a:lumMod val="75000"/>
                  </a:schemeClr>
                </a:solidFill>
                <a:sym typeface="Wingdings" pitchFamily="2" charset="2"/>
              </a:rPr>
              <a:t>A</a:t>
            </a:r>
            <a:r>
              <a:rPr lang="en-US" sz="3000" b="1" dirty="0">
                <a:solidFill>
                  <a:srgbClr val="FFC000"/>
                </a:solidFill>
                <a:sym typeface="Wingdings" pitchFamily="2" charset="2"/>
              </a:rPr>
              <a:t>		</a:t>
            </a:r>
            <a:r>
              <a:rPr lang="en-US" sz="3000" b="1" dirty="0">
                <a:solidFill>
                  <a:srgbClr val="9900FF"/>
                </a:solidFill>
                <a:sym typeface="Wingdings" pitchFamily="2" charset="2"/>
              </a:rPr>
              <a:t>; R5  M(A)</a:t>
            </a:r>
          </a:p>
          <a:p>
            <a:r>
              <a:rPr lang="es-ES" sz="2400" b="1" dirty="0">
                <a:solidFill>
                  <a:schemeClr val="accent1">
                    <a:lumMod val="75000"/>
                  </a:schemeClr>
                </a:solidFill>
              </a:rPr>
              <a:t>Ventajas</a:t>
            </a:r>
            <a:r>
              <a:rPr lang="es-ES" sz="2400" dirty="0"/>
              <a:t>: Permite acceder a cualquier dirección de memoria. 	</a:t>
            </a:r>
          </a:p>
          <a:p>
            <a:r>
              <a:rPr lang="es-ES" sz="2400" b="1" dirty="0">
                <a:solidFill>
                  <a:schemeClr val="accent1">
                    <a:lumMod val="75000"/>
                  </a:schemeClr>
                </a:solidFill>
              </a:rPr>
              <a:t>Desventajas</a:t>
            </a:r>
            <a:r>
              <a:rPr lang="es-ES" sz="2400" dirty="0"/>
              <a:t>: i) Requiere muchos bits para el direccionamiento, ii) Requiere soporte especial en programas portables.</a:t>
            </a:r>
            <a:endParaRPr lang="es-NI" sz="2400" dirty="0"/>
          </a:p>
          <a:p>
            <a:r>
              <a:rPr lang="es-ES" sz="2400" b="1" dirty="0">
                <a:solidFill>
                  <a:schemeClr val="accent1">
                    <a:lumMod val="75000"/>
                  </a:schemeClr>
                </a:solidFill>
              </a:rPr>
              <a:t>Uso</a:t>
            </a:r>
            <a:r>
              <a:rPr lang="es-ES" sz="2400" dirty="0"/>
              <a:t>: Saltos absolutos, Rutinas fijas, paso de parámetros, puertos de E/S.</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2610077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851764" cy="3672408"/>
          </a:xfrm>
        </p:spPr>
        <p:txBody>
          <a:bodyPr>
            <a:normAutofit fontScale="85000" lnSpcReduction="20000"/>
          </a:bodyPr>
          <a:lstStyle/>
          <a:p>
            <a:r>
              <a:rPr lang="en-US" b="1" dirty="0">
                <a:solidFill>
                  <a:srgbClr val="7030A0"/>
                </a:solidFill>
              </a:rPr>
              <a:t>D. </a:t>
            </a:r>
            <a:r>
              <a:rPr lang="en-US" b="1" dirty="0" err="1">
                <a:solidFill>
                  <a:srgbClr val="7030A0"/>
                </a:solidFill>
              </a:rPr>
              <a:t>Indirecto</a:t>
            </a:r>
            <a:r>
              <a:rPr lang="en-US" b="1" dirty="0">
                <a:solidFill>
                  <a:srgbClr val="7030A0"/>
                </a:solidFill>
              </a:rPr>
              <a:t> de </a:t>
            </a:r>
            <a:r>
              <a:rPr lang="en-US" b="1" dirty="0" err="1">
                <a:solidFill>
                  <a:srgbClr val="7030A0"/>
                </a:solidFill>
              </a:rPr>
              <a:t>registro</a:t>
            </a:r>
            <a:r>
              <a:rPr lang="en-US" dirty="0">
                <a:solidFill>
                  <a:srgbClr val="7030A0"/>
                </a:solidFill>
              </a:rPr>
              <a:t>: </a:t>
            </a:r>
            <a:r>
              <a:rPr lang="en-US" dirty="0" err="1"/>
              <a:t>Uso</a:t>
            </a:r>
            <a:r>
              <a:rPr lang="en-US" dirty="0"/>
              <a:t> de </a:t>
            </a:r>
            <a:r>
              <a:rPr lang="en-US" dirty="0" err="1"/>
              <a:t>registro</a:t>
            </a:r>
            <a:r>
              <a:rPr lang="en-US" dirty="0"/>
              <a:t> </a:t>
            </a:r>
            <a:r>
              <a:rPr lang="en-US" dirty="0" err="1"/>
              <a:t>como</a:t>
            </a:r>
            <a:r>
              <a:rPr lang="en-US" dirty="0"/>
              <a:t> </a:t>
            </a:r>
            <a:r>
              <a:rPr lang="en-US" dirty="0" err="1"/>
              <a:t>puntero</a:t>
            </a:r>
            <a:r>
              <a:rPr lang="en-US" dirty="0"/>
              <a:t> a variable en </a:t>
            </a:r>
            <a:r>
              <a:rPr lang="en-US" dirty="0" err="1"/>
              <a:t>memoria</a:t>
            </a:r>
            <a:r>
              <a:rPr lang="en-US" dirty="0"/>
              <a:t>.</a:t>
            </a:r>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1257300" lvl="3" indent="0">
              <a:buNone/>
            </a:pPr>
            <a:endParaRPr lang="en-US" sz="3200" b="1" dirty="0"/>
          </a:p>
          <a:p>
            <a:pPr marL="1257300" lvl="3" indent="0">
              <a:buNone/>
            </a:pPr>
            <a:r>
              <a:rPr lang="en-US" sz="3200" b="1" dirty="0"/>
              <a:t>MOV R5, </a:t>
            </a:r>
            <a:r>
              <a:rPr lang="en-US" sz="3200" b="1" dirty="0">
                <a:solidFill>
                  <a:schemeClr val="accent1">
                    <a:lumMod val="75000"/>
                  </a:schemeClr>
                </a:solidFill>
              </a:rPr>
              <a:t>(R3)</a:t>
            </a:r>
            <a:r>
              <a:rPr lang="en-US" sz="3200" b="1" dirty="0">
                <a:solidFill>
                  <a:srgbClr val="92D050"/>
                </a:solidFill>
              </a:rPr>
              <a:t>	   </a:t>
            </a:r>
            <a:r>
              <a:rPr lang="en-US" sz="3200" b="1" dirty="0">
                <a:solidFill>
                  <a:srgbClr val="7030A0"/>
                </a:solidFill>
              </a:rPr>
              <a:t>; R5 </a:t>
            </a:r>
            <a:r>
              <a:rPr lang="en-US" sz="3200" b="1" dirty="0">
                <a:solidFill>
                  <a:srgbClr val="7030A0"/>
                </a:solidFill>
                <a:sym typeface="Wingdings" pitchFamily="2" charset="2"/>
              </a:rPr>
              <a:t> M(R3)</a:t>
            </a: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9" name="8 Objeto"/>
          <p:cNvGraphicFramePr>
            <a:graphicFrameLocks noChangeAspect="1"/>
          </p:cNvGraphicFramePr>
          <p:nvPr>
            <p:extLst>
              <p:ext uri="{D42A27DB-BD31-4B8C-83A1-F6EECF244321}">
                <p14:modId xmlns:p14="http://schemas.microsoft.com/office/powerpoint/2010/main" val="4125478501"/>
              </p:ext>
            </p:extLst>
          </p:nvPr>
        </p:nvGraphicFramePr>
        <p:xfrm>
          <a:off x="1640550" y="2031691"/>
          <a:ext cx="7179922" cy="2214246"/>
        </p:xfrm>
        <a:graphic>
          <a:graphicData uri="http://schemas.openxmlformats.org/presentationml/2006/ole">
            <mc:AlternateContent xmlns:mc="http://schemas.openxmlformats.org/markup-compatibility/2006">
              <mc:Choice xmlns:v="urn:schemas-microsoft-com:vml" Requires="v">
                <p:oleObj spid="_x0000_s7246" name="Visio" r:id="rId3" imgW="6208776" imgH="2548128" progId="Visio.Drawing.11">
                  <p:embed/>
                </p:oleObj>
              </mc:Choice>
              <mc:Fallback>
                <p:oleObj name="Visio" r:id="rId3" imgW="6208776" imgH="2548128"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550" y="2031691"/>
                        <a:ext cx="7179922" cy="2214246"/>
                      </a:xfrm>
                      <a:prstGeom prst="rect">
                        <a:avLst/>
                      </a:prstGeom>
                      <a:noFill/>
                    </p:spPr>
                  </p:pic>
                </p:oleObj>
              </mc:Fallback>
            </mc:AlternateContent>
          </a:graphicData>
        </a:graphic>
      </p:graphicFrame>
    </p:spTree>
    <p:extLst>
      <p:ext uri="{BB962C8B-B14F-4D97-AF65-F5344CB8AC3E}">
        <p14:creationId xmlns:p14="http://schemas.microsoft.com/office/powerpoint/2010/main" val="171290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635740" cy="3672408"/>
          </a:xfrm>
        </p:spPr>
        <p:txBody>
          <a:bodyPr>
            <a:normAutofit fontScale="92500" lnSpcReduction="20000"/>
          </a:bodyPr>
          <a:lstStyle/>
          <a:p>
            <a:r>
              <a:rPr lang="en-US" b="1" dirty="0">
                <a:solidFill>
                  <a:srgbClr val="9900FF"/>
                </a:solidFill>
              </a:rPr>
              <a:t>D. </a:t>
            </a:r>
            <a:r>
              <a:rPr lang="en-US" b="1" dirty="0" err="1">
                <a:solidFill>
                  <a:srgbClr val="9900FF"/>
                </a:solidFill>
              </a:rPr>
              <a:t>Indirecto</a:t>
            </a:r>
            <a:r>
              <a:rPr lang="en-US" b="1" dirty="0">
                <a:solidFill>
                  <a:srgbClr val="9900FF"/>
                </a:solidFill>
              </a:rPr>
              <a:t> de </a:t>
            </a:r>
            <a:r>
              <a:rPr lang="en-US" b="1" dirty="0" err="1">
                <a:solidFill>
                  <a:srgbClr val="9900FF"/>
                </a:solidFill>
              </a:rPr>
              <a:t>registro</a:t>
            </a:r>
            <a:r>
              <a:rPr lang="en-US" dirty="0">
                <a:solidFill>
                  <a:srgbClr val="9900FF"/>
                </a:solidFill>
              </a:rPr>
              <a:t>: </a:t>
            </a:r>
            <a:r>
              <a:rPr lang="en-US" dirty="0" err="1"/>
              <a:t>Uso</a:t>
            </a:r>
            <a:r>
              <a:rPr lang="en-US" dirty="0"/>
              <a:t> de </a:t>
            </a:r>
            <a:r>
              <a:rPr lang="en-US" dirty="0" err="1"/>
              <a:t>registro</a:t>
            </a:r>
            <a:r>
              <a:rPr lang="en-US" dirty="0"/>
              <a:t> </a:t>
            </a:r>
            <a:r>
              <a:rPr lang="en-US" dirty="0" err="1"/>
              <a:t>como</a:t>
            </a:r>
            <a:r>
              <a:rPr lang="en-US" dirty="0"/>
              <a:t> </a:t>
            </a:r>
            <a:r>
              <a:rPr lang="en-US" dirty="0" err="1"/>
              <a:t>puntero</a:t>
            </a:r>
            <a:r>
              <a:rPr lang="en-US" dirty="0"/>
              <a:t> a variable en </a:t>
            </a:r>
            <a:r>
              <a:rPr lang="en-US" dirty="0" err="1"/>
              <a:t>memoria</a:t>
            </a:r>
            <a:r>
              <a:rPr lang="en-US" dirty="0"/>
              <a:t>.</a:t>
            </a:r>
          </a:p>
          <a:p>
            <a:pPr marL="1257300" lvl="3" indent="0">
              <a:buNone/>
            </a:pPr>
            <a:endParaRPr lang="en-US" sz="1200" b="1" dirty="0"/>
          </a:p>
          <a:p>
            <a:pPr marL="1257300" lvl="3" indent="0">
              <a:buNone/>
            </a:pPr>
            <a:r>
              <a:rPr lang="en-US" sz="3200" b="1" dirty="0"/>
              <a:t>MOV R5, </a:t>
            </a:r>
            <a:r>
              <a:rPr lang="en-US" sz="3200" b="1" dirty="0">
                <a:solidFill>
                  <a:schemeClr val="accent1">
                    <a:lumMod val="75000"/>
                  </a:schemeClr>
                </a:solidFill>
              </a:rPr>
              <a:t>(R3)</a:t>
            </a:r>
            <a:r>
              <a:rPr lang="en-US" sz="3200" b="1" dirty="0">
                <a:solidFill>
                  <a:srgbClr val="92D050"/>
                </a:solidFill>
              </a:rPr>
              <a:t>	</a:t>
            </a:r>
            <a:r>
              <a:rPr lang="en-US" sz="3200" b="1" dirty="0">
                <a:solidFill>
                  <a:srgbClr val="9900FF"/>
                </a:solidFill>
              </a:rPr>
              <a:t>; R5 </a:t>
            </a:r>
            <a:r>
              <a:rPr lang="en-US" sz="3200" b="1" dirty="0">
                <a:solidFill>
                  <a:srgbClr val="9900FF"/>
                </a:solidFill>
                <a:sym typeface="Wingdings" pitchFamily="2" charset="2"/>
              </a:rPr>
              <a:t> M(R3)</a:t>
            </a:r>
          </a:p>
          <a:p>
            <a:pPr marL="1257300" lvl="3" indent="0">
              <a:buNone/>
            </a:pPr>
            <a:endParaRPr lang="en-US" sz="28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Permite acceder a direcciones de memoria usando un registro, ii) Flexibiliza el uso punteros, vectores y estructuras.	</a:t>
            </a:r>
          </a:p>
          <a:p>
            <a:r>
              <a:rPr lang="es-ES" sz="2400" b="1" dirty="0">
                <a:solidFill>
                  <a:schemeClr val="accent1">
                    <a:lumMod val="75000"/>
                  </a:schemeClr>
                </a:solidFill>
              </a:rPr>
              <a:t>Desventajas</a:t>
            </a:r>
            <a:r>
              <a:rPr lang="es-ES" sz="2400" dirty="0"/>
              <a:t>: i) Requiere que se cargue la dirección al registro, ii) Limita el uso de registros para operandos.</a:t>
            </a:r>
            <a:endParaRPr lang="es-NI" sz="2400" dirty="0"/>
          </a:p>
          <a:p>
            <a:r>
              <a:rPr lang="es-ES" sz="2400" b="1" dirty="0">
                <a:solidFill>
                  <a:schemeClr val="accent1">
                    <a:lumMod val="75000"/>
                  </a:schemeClr>
                </a:solidFill>
              </a:rPr>
              <a:t>Uso</a:t>
            </a:r>
            <a:r>
              <a:rPr lang="es-ES" sz="2400" dirty="0"/>
              <a:t>: Acceso a elementos de datos estructurados y paso de parámetros a subrutinas.</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4038112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851764" cy="3960440"/>
          </a:xfrm>
        </p:spPr>
        <p:txBody>
          <a:bodyPr>
            <a:normAutofit fontScale="92500" lnSpcReduction="20000"/>
          </a:bodyPr>
          <a:lstStyle/>
          <a:p>
            <a:r>
              <a:rPr lang="en-US" b="1" dirty="0">
                <a:solidFill>
                  <a:srgbClr val="7030A0"/>
                </a:solidFill>
              </a:rPr>
              <a:t>E. </a:t>
            </a:r>
            <a:r>
              <a:rPr lang="en-US" b="1" dirty="0" err="1">
                <a:solidFill>
                  <a:srgbClr val="7030A0"/>
                </a:solidFill>
              </a:rPr>
              <a:t>Indirecto</a:t>
            </a:r>
            <a:r>
              <a:rPr lang="en-US" b="1" dirty="0">
                <a:solidFill>
                  <a:srgbClr val="7030A0"/>
                </a:solidFill>
              </a:rPr>
              <a:t> de </a:t>
            </a:r>
            <a:r>
              <a:rPr lang="en-US" b="1" dirty="0" err="1">
                <a:solidFill>
                  <a:srgbClr val="7030A0"/>
                </a:solidFill>
              </a:rPr>
              <a:t>memoria</a:t>
            </a:r>
            <a:r>
              <a:rPr lang="en-US" dirty="0">
                <a:solidFill>
                  <a:srgbClr val="7030A0"/>
                </a:solidFill>
              </a:rPr>
              <a:t>: </a:t>
            </a:r>
            <a:r>
              <a:rPr lang="en-US" dirty="0" err="1"/>
              <a:t>Uso</a:t>
            </a:r>
            <a:r>
              <a:rPr lang="en-US" dirty="0"/>
              <a:t> de variable de </a:t>
            </a:r>
            <a:r>
              <a:rPr lang="en-US" dirty="0" err="1"/>
              <a:t>memoria</a:t>
            </a:r>
            <a:r>
              <a:rPr lang="en-US" dirty="0"/>
              <a:t> </a:t>
            </a:r>
            <a:r>
              <a:rPr lang="en-US" dirty="0" err="1"/>
              <a:t>como</a:t>
            </a:r>
            <a:r>
              <a:rPr lang="en-US" dirty="0"/>
              <a:t> </a:t>
            </a:r>
            <a:r>
              <a:rPr lang="en-US" dirty="0" err="1"/>
              <a:t>puntero</a:t>
            </a:r>
            <a:r>
              <a:rPr lang="en-US" dirty="0"/>
              <a:t> a </a:t>
            </a:r>
            <a:r>
              <a:rPr lang="en-US" dirty="0" err="1"/>
              <a:t>otras</a:t>
            </a:r>
            <a:r>
              <a:rPr lang="en-US" dirty="0"/>
              <a:t> </a:t>
            </a:r>
            <a:r>
              <a:rPr lang="en-US" dirty="0" err="1"/>
              <a:t>localidades</a:t>
            </a:r>
            <a:r>
              <a:rPr lang="en-US" dirty="0"/>
              <a:t> en </a:t>
            </a:r>
            <a:r>
              <a:rPr lang="en-US" dirty="0" err="1"/>
              <a:t>memoria</a:t>
            </a:r>
            <a:r>
              <a:rPr lang="en-US" dirty="0"/>
              <a:t>. </a:t>
            </a:r>
            <a:r>
              <a:rPr lang="es-ES" dirty="0"/>
              <a:t>El valor especifica la dirección de memoria en cuyo contenido está la dirección efectiva del operando</a:t>
            </a:r>
            <a:r>
              <a:rPr lang="en-US" dirty="0"/>
              <a:t>.</a:t>
            </a:r>
          </a:p>
          <a:p>
            <a:endParaRPr lang="en-US" dirty="0"/>
          </a:p>
          <a:p>
            <a:endParaRPr lang="en-US" dirty="0"/>
          </a:p>
          <a:p>
            <a:endParaRPr lang="en-US" dirty="0"/>
          </a:p>
          <a:p>
            <a:endParaRPr lang="en-US" dirty="0"/>
          </a:p>
          <a:p>
            <a:pPr marL="1257300" lvl="3" indent="0">
              <a:buNone/>
            </a:pPr>
            <a:endParaRPr lang="en-US" sz="3200" b="1" dirty="0"/>
          </a:p>
          <a:p>
            <a:pPr marL="1257300" lvl="3" indent="0">
              <a:buNone/>
            </a:pPr>
            <a:r>
              <a:rPr lang="en-US" sz="3000" b="1" dirty="0"/>
              <a:t>MOV R5, </a:t>
            </a:r>
            <a:r>
              <a:rPr lang="en-US" sz="3000" b="1" dirty="0">
                <a:solidFill>
                  <a:schemeClr val="accent1">
                    <a:lumMod val="75000"/>
                  </a:schemeClr>
                </a:solidFill>
              </a:rPr>
              <a:t>(A)</a:t>
            </a:r>
            <a:r>
              <a:rPr lang="en-US" sz="3000" b="1" dirty="0">
                <a:solidFill>
                  <a:srgbClr val="92D050"/>
                </a:solidFill>
              </a:rPr>
              <a:t>	   	  </a:t>
            </a:r>
            <a:r>
              <a:rPr lang="en-US" sz="3000" b="1" dirty="0">
                <a:solidFill>
                  <a:srgbClr val="7030A0"/>
                </a:solidFill>
              </a:rPr>
              <a:t>; R5 </a:t>
            </a:r>
            <a:r>
              <a:rPr lang="en-US" sz="3000" b="1" dirty="0">
                <a:solidFill>
                  <a:srgbClr val="7030A0"/>
                </a:solidFill>
                <a:sym typeface="Wingdings" pitchFamily="2" charset="2"/>
              </a:rPr>
              <a:t> M(M(A))</a:t>
            </a:r>
          </a:p>
          <a:p>
            <a:pPr marL="1257300" lvl="3" indent="0">
              <a:buNone/>
            </a:pPr>
            <a:r>
              <a:rPr lang="en-US" sz="3000" b="1" dirty="0"/>
              <a:t>MOV R5, </a:t>
            </a:r>
            <a:r>
              <a:rPr lang="en-US" sz="3000" b="1" dirty="0">
                <a:solidFill>
                  <a:schemeClr val="accent1">
                    <a:lumMod val="75000"/>
                  </a:schemeClr>
                </a:solidFill>
              </a:rPr>
              <a:t>((1000))</a:t>
            </a:r>
            <a:r>
              <a:rPr lang="en-US" sz="3000" b="1" dirty="0">
                <a:solidFill>
                  <a:srgbClr val="92D050"/>
                </a:solidFill>
              </a:rPr>
              <a:t>	  </a:t>
            </a:r>
            <a:r>
              <a:rPr lang="en-US" sz="3000" b="1" dirty="0">
                <a:solidFill>
                  <a:srgbClr val="7030A0"/>
                </a:solidFill>
              </a:rPr>
              <a:t>; R5 </a:t>
            </a:r>
            <a:r>
              <a:rPr lang="en-US" sz="3000" b="1" dirty="0">
                <a:solidFill>
                  <a:srgbClr val="7030A0"/>
                </a:solidFill>
                <a:sym typeface="Wingdings" pitchFamily="2" charset="2"/>
              </a:rPr>
              <a:t> M(M(1000))</a:t>
            </a: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10" name="9 Objeto"/>
          <p:cNvGraphicFramePr>
            <a:graphicFrameLocks noChangeAspect="1"/>
          </p:cNvGraphicFramePr>
          <p:nvPr>
            <p:extLst>
              <p:ext uri="{D42A27DB-BD31-4B8C-83A1-F6EECF244321}">
                <p14:modId xmlns:p14="http://schemas.microsoft.com/office/powerpoint/2010/main" val="3637450514"/>
              </p:ext>
            </p:extLst>
          </p:nvPr>
        </p:nvGraphicFramePr>
        <p:xfrm>
          <a:off x="2195736" y="2139702"/>
          <a:ext cx="5112568" cy="1729068"/>
        </p:xfrm>
        <a:graphic>
          <a:graphicData uri="http://schemas.openxmlformats.org/presentationml/2006/ole">
            <mc:AlternateContent xmlns:mc="http://schemas.openxmlformats.org/markup-compatibility/2006">
              <mc:Choice xmlns:v="urn:schemas-microsoft-com:vml" Requires="v">
                <p:oleObj spid="_x0000_s8264" r:id="rId3" imgW="6208776" imgH="2090928" progId="ShapewareVISIO20">
                  <p:embed/>
                </p:oleObj>
              </mc:Choice>
              <mc:Fallback>
                <p:oleObj r:id="rId3" imgW="6208776" imgH="2090928" progId="ShapewareVISIO2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2139702"/>
                        <a:ext cx="5112568" cy="1729068"/>
                      </a:xfrm>
                      <a:prstGeom prst="rect">
                        <a:avLst/>
                      </a:prstGeom>
                      <a:noFill/>
                    </p:spPr>
                  </p:pic>
                </p:oleObj>
              </mc:Fallback>
            </mc:AlternateContent>
          </a:graphicData>
        </a:graphic>
      </p:graphicFrame>
    </p:spTree>
    <p:extLst>
      <p:ext uri="{BB962C8B-B14F-4D97-AF65-F5344CB8AC3E}">
        <p14:creationId xmlns:p14="http://schemas.microsoft.com/office/powerpoint/2010/main" val="30484213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635740" cy="3672408"/>
          </a:xfrm>
        </p:spPr>
        <p:txBody>
          <a:bodyPr>
            <a:normAutofit fontScale="85000" lnSpcReduction="10000"/>
          </a:bodyPr>
          <a:lstStyle/>
          <a:p>
            <a:r>
              <a:rPr lang="en-US" b="1" dirty="0">
                <a:solidFill>
                  <a:srgbClr val="9900FF"/>
                </a:solidFill>
              </a:rPr>
              <a:t>E. </a:t>
            </a:r>
            <a:r>
              <a:rPr lang="en-US" b="1" dirty="0" err="1">
                <a:solidFill>
                  <a:srgbClr val="9900FF"/>
                </a:solidFill>
              </a:rPr>
              <a:t>Indirecto</a:t>
            </a:r>
            <a:r>
              <a:rPr lang="en-US" b="1" dirty="0">
                <a:solidFill>
                  <a:srgbClr val="9900FF"/>
                </a:solidFill>
              </a:rPr>
              <a:t> de </a:t>
            </a:r>
            <a:r>
              <a:rPr lang="en-US" b="1" dirty="0" err="1">
                <a:solidFill>
                  <a:srgbClr val="9900FF"/>
                </a:solidFill>
              </a:rPr>
              <a:t>memoria</a:t>
            </a:r>
            <a:r>
              <a:rPr lang="en-US" dirty="0">
                <a:solidFill>
                  <a:srgbClr val="9900FF"/>
                </a:solidFill>
              </a:rPr>
              <a:t>: </a:t>
            </a:r>
            <a:r>
              <a:rPr lang="en-US" dirty="0" err="1"/>
              <a:t>Uso</a:t>
            </a:r>
            <a:r>
              <a:rPr lang="en-US" dirty="0"/>
              <a:t> de variable de </a:t>
            </a:r>
            <a:r>
              <a:rPr lang="en-US" dirty="0" err="1"/>
              <a:t>memoria</a:t>
            </a:r>
            <a:r>
              <a:rPr lang="en-US" dirty="0"/>
              <a:t> </a:t>
            </a:r>
            <a:r>
              <a:rPr lang="en-US" dirty="0" err="1"/>
              <a:t>como</a:t>
            </a:r>
            <a:r>
              <a:rPr lang="en-US" dirty="0"/>
              <a:t> </a:t>
            </a:r>
            <a:r>
              <a:rPr lang="en-US" dirty="0" err="1"/>
              <a:t>puntero</a:t>
            </a:r>
            <a:r>
              <a:rPr lang="en-US" dirty="0"/>
              <a:t> a </a:t>
            </a:r>
            <a:r>
              <a:rPr lang="en-US" dirty="0" err="1"/>
              <a:t>otras</a:t>
            </a:r>
            <a:r>
              <a:rPr lang="en-US" dirty="0"/>
              <a:t> </a:t>
            </a:r>
            <a:r>
              <a:rPr lang="en-US" dirty="0" err="1"/>
              <a:t>localidades</a:t>
            </a:r>
            <a:r>
              <a:rPr lang="en-US" dirty="0"/>
              <a:t> en </a:t>
            </a:r>
            <a:r>
              <a:rPr lang="en-US" dirty="0" err="1"/>
              <a:t>memoria</a:t>
            </a:r>
            <a:r>
              <a:rPr lang="en-US" dirty="0"/>
              <a:t>. </a:t>
            </a:r>
            <a:endParaRPr lang="en-US" sz="1200" b="1" dirty="0"/>
          </a:p>
          <a:p>
            <a:pPr marL="1257300" lvl="3" indent="0">
              <a:buNone/>
            </a:pPr>
            <a:r>
              <a:rPr lang="en-US" sz="3600" b="1" dirty="0"/>
              <a:t>MOV R5, </a:t>
            </a:r>
            <a:r>
              <a:rPr lang="en-US" sz="3600" b="1" dirty="0">
                <a:solidFill>
                  <a:schemeClr val="accent1">
                    <a:lumMod val="75000"/>
                  </a:schemeClr>
                </a:solidFill>
              </a:rPr>
              <a:t>(A)</a:t>
            </a:r>
            <a:r>
              <a:rPr lang="en-US" sz="3600" b="1" dirty="0">
                <a:solidFill>
                  <a:srgbClr val="92D050"/>
                </a:solidFill>
              </a:rPr>
              <a:t>	   	  </a:t>
            </a:r>
            <a:r>
              <a:rPr lang="en-US" sz="3600" b="1" dirty="0">
                <a:solidFill>
                  <a:srgbClr val="7030A0"/>
                </a:solidFill>
              </a:rPr>
              <a:t>; R5 </a:t>
            </a:r>
            <a:r>
              <a:rPr lang="en-US" sz="3600" b="1" dirty="0">
                <a:solidFill>
                  <a:srgbClr val="7030A0"/>
                </a:solidFill>
                <a:sym typeface="Wingdings" pitchFamily="2" charset="2"/>
              </a:rPr>
              <a:t> M(M(A))</a:t>
            </a:r>
          </a:p>
          <a:p>
            <a:pPr marL="1257300" lvl="3" indent="0">
              <a:buNone/>
            </a:pPr>
            <a:r>
              <a:rPr lang="en-US" sz="3600" b="1" dirty="0"/>
              <a:t>MOV R5, </a:t>
            </a:r>
            <a:r>
              <a:rPr lang="en-US" sz="3600" b="1" dirty="0">
                <a:solidFill>
                  <a:schemeClr val="accent1">
                    <a:lumMod val="75000"/>
                  </a:schemeClr>
                </a:solidFill>
              </a:rPr>
              <a:t>((1000))</a:t>
            </a:r>
            <a:r>
              <a:rPr lang="en-US" sz="3600" b="1" dirty="0">
                <a:solidFill>
                  <a:srgbClr val="92D050"/>
                </a:solidFill>
              </a:rPr>
              <a:t>	  </a:t>
            </a:r>
            <a:r>
              <a:rPr lang="en-US" sz="3600" b="1" dirty="0">
                <a:solidFill>
                  <a:srgbClr val="7030A0"/>
                </a:solidFill>
              </a:rPr>
              <a:t>; R5 </a:t>
            </a:r>
            <a:r>
              <a:rPr lang="en-US" sz="3600" b="1" dirty="0">
                <a:solidFill>
                  <a:srgbClr val="7030A0"/>
                </a:solidFill>
                <a:sym typeface="Wingdings" pitchFamily="2" charset="2"/>
              </a:rPr>
              <a:t> M(M(1000))</a:t>
            </a:r>
          </a:p>
          <a:p>
            <a:pPr marL="1257300" lvl="3" indent="0">
              <a:buNone/>
            </a:pPr>
            <a:endParaRPr lang="en-US" sz="19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Permite implementar punteros en memoria.</a:t>
            </a:r>
          </a:p>
          <a:p>
            <a:r>
              <a:rPr lang="es-ES" sz="2400" b="1" dirty="0">
                <a:solidFill>
                  <a:schemeClr val="accent1">
                    <a:lumMod val="75000"/>
                  </a:schemeClr>
                </a:solidFill>
              </a:rPr>
              <a:t>Desventajas</a:t>
            </a:r>
            <a:r>
              <a:rPr lang="es-ES" sz="2400" dirty="0"/>
              <a:t>: i) Requiere múltiples accesos a memoria.</a:t>
            </a:r>
            <a:endParaRPr lang="es-NI" sz="2400" dirty="0"/>
          </a:p>
          <a:p>
            <a:r>
              <a:rPr lang="es-ES" sz="2400" b="1" dirty="0">
                <a:solidFill>
                  <a:schemeClr val="accent1">
                    <a:lumMod val="75000"/>
                  </a:schemeClr>
                </a:solidFill>
              </a:rPr>
              <a:t>Uso</a:t>
            </a:r>
            <a:r>
              <a:rPr lang="es-ES" sz="2400" dirty="0"/>
              <a:t>: No frecuente. Punteros a datos estructurados, selector de variables.</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32110241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851764" cy="3672408"/>
          </a:xfrm>
        </p:spPr>
        <p:txBody>
          <a:bodyPr>
            <a:normAutofit fontScale="92500" lnSpcReduction="10000"/>
          </a:bodyPr>
          <a:lstStyle/>
          <a:p>
            <a:r>
              <a:rPr lang="en-US" b="1" dirty="0">
                <a:solidFill>
                  <a:srgbClr val="7030A0"/>
                </a:solidFill>
              </a:rPr>
              <a:t>F. </a:t>
            </a:r>
            <a:r>
              <a:rPr lang="en-US" b="1" dirty="0" err="1">
                <a:solidFill>
                  <a:srgbClr val="7030A0"/>
                </a:solidFill>
              </a:rPr>
              <a:t>Autoincremento</a:t>
            </a:r>
            <a:r>
              <a:rPr lang="en-US" dirty="0">
                <a:solidFill>
                  <a:srgbClr val="7030A0"/>
                </a:solidFill>
              </a:rPr>
              <a:t>: </a:t>
            </a:r>
            <a:r>
              <a:rPr lang="es-ES" dirty="0"/>
              <a:t>Variante del modo indirecto de registro. El</a:t>
            </a:r>
            <a:r>
              <a:rPr lang="en-US" dirty="0"/>
              <a:t> </a:t>
            </a:r>
            <a:r>
              <a:rPr lang="en-US" dirty="0" err="1"/>
              <a:t>registro</a:t>
            </a:r>
            <a:r>
              <a:rPr lang="en-US" dirty="0"/>
              <a:t> se </a:t>
            </a:r>
            <a:r>
              <a:rPr lang="en-US" dirty="0" err="1"/>
              <a:t>autoincrementa</a:t>
            </a:r>
            <a:r>
              <a:rPr lang="en-US" dirty="0"/>
              <a:t> </a:t>
            </a:r>
            <a:r>
              <a:rPr lang="en-US" dirty="0" err="1"/>
              <a:t>una</a:t>
            </a:r>
            <a:r>
              <a:rPr lang="en-US" dirty="0"/>
              <a:t> </a:t>
            </a:r>
            <a:r>
              <a:rPr lang="en-US" dirty="0" err="1"/>
              <a:t>vez</a:t>
            </a:r>
            <a:r>
              <a:rPr lang="en-US" dirty="0"/>
              <a:t> </a:t>
            </a:r>
            <a:r>
              <a:rPr lang="en-US" dirty="0" err="1"/>
              <a:t>accedemos</a:t>
            </a:r>
            <a:r>
              <a:rPr lang="en-US" dirty="0"/>
              <a:t> a la </a:t>
            </a:r>
            <a:r>
              <a:rPr lang="en-US" dirty="0" err="1"/>
              <a:t>dirección</a:t>
            </a:r>
            <a:r>
              <a:rPr lang="en-US" dirty="0"/>
              <a:t>.</a:t>
            </a:r>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434340" indent="0">
              <a:buNone/>
            </a:pPr>
            <a:r>
              <a:rPr lang="en-US" sz="3000" b="1" dirty="0"/>
              <a:t>MOV R5, </a:t>
            </a:r>
            <a:r>
              <a:rPr lang="en-US" sz="3000" b="1" dirty="0">
                <a:solidFill>
                  <a:schemeClr val="accent1">
                    <a:lumMod val="75000"/>
                  </a:schemeClr>
                </a:solidFill>
              </a:rPr>
              <a:t>(R3)+</a:t>
            </a:r>
            <a:r>
              <a:rPr lang="en-US" sz="3000" b="1" dirty="0">
                <a:solidFill>
                  <a:srgbClr val="92D050"/>
                </a:solidFill>
              </a:rPr>
              <a:t>   </a:t>
            </a:r>
            <a:r>
              <a:rPr lang="en-US" sz="3000" b="1" dirty="0">
                <a:solidFill>
                  <a:srgbClr val="7030A0"/>
                </a:solidFill>
              </a:rPr>
              <a:t>; R5 </a:t>
            </a:r>
            <a:r>
              <a:rPr lang="en-US" sz="3000" b="1" dirty="0">
                <a:solidFill>
                  <a:srgbClr val="7030A0"/>
                </a:solidFill>
                <a:sym typeface="Wingdings" pitchFamily="2" charset="2"/>
              </a:rPr>
              <a:t> M(R3), R3  [R3]+1</a:t>
            </a: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10" name="9 Objeto"/>
          <p:cNvGraphicFramePr>
            <a:graphicFrameLocks noChangeAspect="1"/>
          </p:cNvGraphicFramePr>
          <p:nvPr>
            <p:extLst>
              <p:ext uri="{D42A27DB-BD31-4B8C-83A1-F6EECF244321}">
                <p14:modId xmlns:p14="http://schemas.microsoft.com/office/powerpoint/2010/main" val="2322784335"/>
              </p:ext>
            </p:extLst>
          </p:nvPr>
        </p:nvGraphicFramePr>
        <p:xfrm>
          <a:off x="1763687" y="1995686"/>
          <a:ext cx="5305563" cy="2160240"/>
        </p:xfrm>
        <a:graphic>
          <a:graphicData uri="http://schemas.openxmlformats.org/presentationml/2006/ole">
            <mc:AlternateContent xmlns:mc="http://schemas.openxmlformats.org/markup-compatibility/2006">
              <mc:Choice xmlns:v="urn:schemas-microsoft-com:vml" Requires="v">
                <p:oleObj spid="_x0000_s9288" r:id="rId3" imgW="4837176" imgH="2319528" progId="ShapewareVISIO20">
                  <p:embed/>
                </p:oleObj>
              </mc:Choice>
              <mc:Fallback>
                <p:oleObj r:id="rId3" imgW="4837176" imgH="2319528" progId="ShapewareVISIO20">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7" y="1995686"/>
                        <a:ext cx="5305563" cy="2160240"/>
                      </a:xfrm>
                      <a:prstGeom prst="rect">
                        <a:avLst/>
                      </a:prstGeom>
                      <a:noFill/>
                    </p:spPr>
                  </p:pic>
                </p:oleObj>
              </mc:Fallback>
            </mc:AlternateContent>
          </a:graphicData>
        </a:graphic>
      </p:graphicFrame>
    </p:spTree>
    <p:extLst>
      <p:ext uri="{BB962C8B-B14F-4D97-AF65-F5344CB8AC3E}">
        <p14:creationId xmlns:p14="http://schemas.microsoft.com/office/powerpoint/2010/main" val="1761163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635740" cy="3672408"/>
          </a:xfrm>
        </p:spPr>
        <p:txBody>
          <a:bodyPr>
            <a:normAutofit fontScale="85000" lnSpcReduction="10000"/>
          </a:bodyPr>
          <a:lstStyle/>
          <a:p>
            <a:r>
              <a:rPr lang="en-US" b="1" dirty="0">
                <a:solidFill>
                  <a:srgbClr val="9900FF"/>
                </a:solidFill>
              </a:rPr>
              <a:t>F. </a:t>
            </a:r>
            <a:r>
              <a:rPr lang="en-US" b="1" dirty="0" err="1">
                <a:solidFill>
                  <a:srgbClr val="9900FF"/>
                </a:solidFill>
              </a:rPr>
              <a:t>Autoincremento</a:t>
            </a:r>
            <a:r>
              <a:rPr lang="en-US" dirty="0">
                <a:solidFill>
                  <a:srgbClr val="9900FF"/>
                </a:solidFill>
              </a:rPr>
              <a:t>: </a:t>
            </a:r>
            <a:r>
              <a:rPr lang="en-US" dirty="0" err="1"/>
              <a:t>Indirecto</a:t>
            </a:r>
            <a:r>
              <a:rPr lang="en-US" dirty="0"/>
              <a:t> de </a:t>
            </a:r>
            <a:r>
              <a:rPr lang="en-US" dirty="0" err="1"/>
              <a:t>registro</a:t>
            </a:r>
            <a:r>
              <a:rPr lang="en-US" dirty="0"/>
              <a:t> con </a:t>
            </a:r>
            <a:r>
              <a:rPr lang="en-US" dirty="0" err="1"/>
              <a:t>incremento</a:t>
            </a:r>
            <a:r>
              <a:rPr lang="en-US" dirty="0"/>
              <a:t> del </a:t>
            </a:r>
            <a:r>
              <a:rPr lang="en-US" dirty="0" err="1"/>
              <a:t>puntero</a:t>
            </a:r>
            <a:r>
              <a:rPr lang="en-US" dirty="0"/>
              <a:t> a </a:t>
            </a:r>
            <a:r>
              <a:rPr lang="en-US" dirty="0" err="1"/>
              <a:t>próximo</a:t>
            </a:r>
            <a:r>
              <a:rPr lang="en-US" dirty="0"/>
              <a:t> </a:t>
            </a:r>
            <a:r>
              <a:rPr lang="en-US" dirty="0" err="1"/>
              <a:t>elemento</a:t>
            </a:r>
            <a:r>
              <a:rPr lang="en-US" dirty="0"/>
              <a:t>.</a:t>
            </a:r>
          </a:p>
          <a:p>
            <a:pPr marL="1257300" lvl="3" indent="0">
              <a:buNone/>
            </a:pPr>
            <a:endParaRPr lang="en-US" sz="1200" b="1" dirty="0"/>
          </a:p>
          <a:p>
            <a:pPr marL="1257300" lvl="3" indent="0">
              <a:buNone/>
            </a:pPr>
            <a:r>
              <a:rPr lang="en-US" sz="3200" b="1" dirty="0"/>
              <a:t>MOV R5, </a:t>
            </a:r>
            <a:r>
              <a:rPr lang="en-US" sz="3200" b="1" dirty="0">
                <a:solidFill>
                  <a:schemeClr val="accent1">
                    <a:lumMod val="75000"/>
                  </a:schemeClr>
                </a:solidFill>
              </a:rPr>
              <a:t>(R3)+  </a:t>
            </a:r>
            <a:r>
              <a:rPr lang="en-US" sz="3200" b="1" dirty="0">
                <a:solidFill>
                  <a:srgbClr val="9900FF"/>
                </a:solidFill>
              </a:rPr>
              <a:t>; R5 </a:t>
            </a:r>
            <a:r>
              <a:rPr lang="en-US" sz="3200" b="1" dirty="0">
                <a:solidFill>
                  <a:srgbClr val="9900FF"/>
                </a:solidFill>
                <a:sym typeface="Wingdings" pitchFamily="2" charset="2"/>
              </a:rPr>
              <a:t> M(R3), R3  [R3]+1</a:t>
            </a:r>
          </a:p>
          <a:p>
            <a:pPr marL="1257300" lvl="3" indent="0">
              <a:buNone/>
            </a:pPr>
            <a:endParaRPr lang="en-US" sz="28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Acceso eficiente a elementos consecutivos en arreglos.	</a:t>
            </a:r>
          </a:p>
          <a:p>
            <a:r>
              <a:rPr lang="es-ES" sz="2400" b="1" dirty="0">
                <a:solidFill>
                  <a:schemeClr val="accent1">
                    <a:lumMod val="75000"/>
                  </a:schemeClr>
                </a:solidFill>
              </a:rPr>
              <a:t>Desventajas</a:t>
            </a:r>
            <a:r>
              <a:rPr lang="es-ES" sz="2400" dirty="0"/>
              <a:t>: i) </a:t>
            </a:r>
            <a:r>
              <a:rPr lang="es-NI" sz="2400" dirty="0"/>
              <a:t>Las del indirecto de registro, ii) No se puede usar como puntero a estructuras de elementos de tamaño variable.</a:t>
            </a:r>
          </a:p>
          <a:p>
            <a:r>
              <a:rPr lang="es-ES" sz="2400" b="1" dirty="0">
                <a:solidFill>
                  <a:schemeClr val="accent1">
                    <a:lumMod val="75000"/>
                  </a:schemeClr>
                </a:solidFill>
              </a:rPr>
              <a:t>Uso</a:t>
            </a:r>
            <a:r>
              <a:rPr lang="es-ES" sz="2400" dirty="0"/>
              <a:t>: Recorrer los elementos de arreglos secuencialmente de inicio a fin.</a:t>
            </a:r>
            <a:endParaRPr lang="es-NI" sz="2400" dirty="0"/>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1146929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851764" cy="3672408"/>
          </a:xfrm>
        </p:spPr>
        <p:txBody>
          <a:bodyPr>
            <a:normAutofit fontScale="92500" lnSpcReduction="10000"/>
          </a:bodyPr>
          <a:lstStyle/>
          <a:p>
            <a:r>
              <a:rPr lang="en-US" b="1" dirty="0">
                <a:solidFill>
                  <a:srgbClr val="7030A0"/>
                </a:solidFill>
              </a:rPr>
              <a:t>G. </a:t>
            </a:r>
            <a:r>
              <a:rPr lang="en-US" b="1" dirty="0" err="1">
                <a:solidFill>
                  <a:srgbClr val="7030A0"/>
                </a:solidFill>
              </a:rPr>
              <a:t>Autodecremento</a:t>
            </a:r>
            <a:r>
              <a:rPr lang="en-US" dirty="0">
                <a:solidFill>
                  <a:srgbClr val="7030A0"/>
                </a:solidFill>
              </a:rPr>
              <a:t>: </a:t>
            </a:r>
            <a:r>
              <a:rPr lang="es-ES" dirty="0"/>
              <a:t>Similar al autoincremento, pero el registro se </a:t>
            </a:r>
            <a:r>
              <a:rPr lang="es-ES" dirty="0" err="1"/>
              <a:t>decrementa</a:t>
            </a:r>
            <a:r>
              <a:rPr lang="es-ES" dirty="0"/>
              <a:t> antes de </a:t>
            </a:r>
            <a:r>
              <a:rPr lang="en-US" dirty="0" err="1"/>
              <a:t>acceder</a:t>
            </a:r>
            <a:r>
              <a:rPr lang="en-US" dirty="0"/>
              <a:t> a la </a:t>
            </a:r>
            <a:r>
              <a:rPr lang="en-US" dirty="0" err="1"/>
              <a:t>dirección</a:t>
            </a:r>
            <a:r>
              <a:rPr lang="en-US" dirty="0"/>
              <a:t>.</a:t>
            </a:r>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434340" indent="0">
              <a:buNone/>
            </a:pPr>
            <a:r>
              <a:rPr lang="en-US" sz="3000" b="1" dirty="0"/>
              <a:t>MOV R5, </a:t>
            </a:r>
            <a:r>
              <a:rPr lang="en-US" sz="3000" b="1" dirty="0">
                <a:solidFill>
                  <a:schemeClr val="accent1">
                    <a:lumMod val="75000"/>
                  </a:schemeClr>
                </a:solidFill>
              </a:rPr>
              <a:t>-(R3)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R3  [R3]-1, </a:t>
            </a:r>
            <a:r>
              <a:rPr lang="en-US" sz="3000" b="1" dirty="0">
                <a:solidFill>
                  <a:srgbClr val="7030A0"/>
                </a:solidFill>
              </a:rPr>
              <a:t>R5 </a:t>
            </a:r>
            <a:r>
              <a:rPr lang="en-US" sz="3000" b="1" dirty="0">
                <a:solidFill>
                  <a:srgbClr val="7030A0"/>
                </a:solidFill>
                <a:sym typeface="Wingdings" pitchFamily="2" charset="2"/>
              </a:rPr>
              <a:t> M(R3)</a:t>
            </a: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11" name="10 Objeto"/>
          <p:cNvGraphicFramePr>
            <a:graphicFrameLocks noChangeAspect="1"/>
          </p:cNvGraphicFramePr>
          <p:nvPr>
            <p:extLst>
              <p:ext uri="{D42A27DB-BD31-4B8C-83A1-F6EECF244321}">
                <p14:modId xmlns:p14="http://schemas.microsoft.com/office/powerpoint/2010/main" val="1313854267"/>
              </p:ext>
            </p:extLst>
          </p:nvPr>
        </p:nvGraphicFramePr>
        <p:xfrm>
          <a:off x="2195736" y="1923678"/>
          <a:ext cx="4807356" cy="2304256"/>
        </p:xfrm>
        <a:graphic>
          <a:graphicData uri="http://schemas.openxmlformats.org/presentationml/2006/ole">
            <mc:AlternateContent xmlns:mc="http://schemas.openxmlformats.org/markup-compatibility/2006">
              <mc:Choice xmlns:v="urn:schemas-microsoft-com:vml" Requires="v">
                <p:oleObj spid="_x0000_s10310" r:id="rId3" imgW="4837176" imgH="2319528" progId="ShapewareVISIO20">
                  <p:embed/>
                </p:oleObj>
              </mc:Choice>
              <mc:Fallback>
                <p:oleObj r:id="rId3" imgW="4837176" imgH="2319528" progId="ShapewareVISIO20">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1923678"/>
                        <a:ext cx="4807356" cy="2304256"/>
                      </a:xfrm>
                      <a:prstGeom prst="rect">
                        <a:avLst/>
                      </a:prstGeom>
                      <a:noFill/>
                    </p:spPr>
                  </p:pic>
                </p:oleObj>
              </mc:Fallback>
            </mc:AlternateContent>
          </a:graphicData>
        </a:graphic>
      </p:graphicFrame>
    </p:spTree>
    <p:extLst>
      <p:ext uri="{BB962C8B-B14F-4D97-AF65-F5344CB8AC3E}">
        <p14:creationId xmlns:p14="http://schemas.microsoft.com/office/powerpoint/2010/main" val="33457716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635740" cy="3672408"/>
          </a:xfrm>
        </p:spPr>
        <p:txBody>
          <a:bodyPr>
            <a:normAutofit fontScale="92500" lnSpcReduction="10000"/>
          </a:bodyPr>
          <a:lstStyle/>
          <a:p>
            <a:r>
              <a:rPr lang="en-US" b="1" dirty="0">
                <a:solidFill>
                  <a:srgbClr val="9900FF"/>
                </a:solidFill>
              </a:rPr>
              <a:t>F. </a:t>
            </a:r>
            <a:r>
              <a:rPr lang="en-US" b="1" dirty="0" err="1">
                <a:solidFill>
                  <a:srgbClr val="9900FF"/>
                </a:solidFill>
              </a:rPr>
              <a:t>Autodecremento</a:t>
            </a:r>
            <a:r>
              <a:rPr lang="en-US" dirty="0">
                <a:solidFill>
                  <a:srgbClr val="9900FF"/>
                </a:solidFill>
              </a:rPr>
              <a:t>: </a:t>
            </a:r>
            <a:r>
              <a:rPr lang="en-US" dirty="0" err="1"/>
              <a:t>Indirecto</a:t>
            </a:r>
            <a:r>
              <a:rPr lang="en-US" dirty="0"/>
              <a:t> de </a:t>
            </a:r>
            <a:r>
              <a:rPr lang="en-US" dirty="0" err="1"/>
              <a:t>registro</a:t>
            </a:r>
            <a:r>
              <a:rPr lang="en-US" dirty="0"/>
              <a:t> con </a:t>
            </a:r>
            <a:r>
              <a:rPr lang="en-US" dirty="0" err="1"/>
              <a:t>previo</a:t>
            </a:r>
            <a:r>
              <a:rPr lang="en-US" dirty="0"/>
              <a:t> </a:t>
            </a:r>
            <a:r>
              <a:rPr lang="en-US" dirty="0" err="1"/>
              <a:t>decremento</a:t>
            </a:r>
            <a:r>
              <a:rPr lang="en-US" dirty="0"/>
              <a:t> del </a:t>
            </a:r>
            <a:r>
              <a:rPr lang="en-US" dirty="0" err="1"/>
              <a:t>puntero</a:t>
            </a:r>
            <a:r>
              <a:rPr lang="en-US" dirty="0"/>
              <a:t>.</a:t>
            </a:r>
          </a:p>
          <a:p>
            <a:pPr marL="1257300" lvl="3" indent="0">
              <a:buNone/>
            </a:pPr>
            <a:endParaRPr lang="en-US" sz="1200" b="1" dirty="0"/>
          </a:p>
          <a:p>
            <a:pPr marL="1257300" lvl="3" indent="0">
              <a:buNone/>
            </a:pPr>
            <a:r>
              <a:rPr lang="en-US" sz="3200" b="1" dirty="0"/>
              <a:t>MOV R5, </a:t>
            </a:r>
            <a:r>
              <a:rPr lang="en-US" sz="3200" b="1" dirty="0">
                <a:solidFill>
                  <a:schemeClr val="accent1">
                    <a:lumMod val="75000"/>
                  </a:schemeClr>
                </a:solidFill>
              </a:rPr>
              <a:t>-(R3)  </a:t>
            </a:r>
            <a:r>
              <a:rPr lang="en-US" sz="3200" b="1" dirty="0">
                <a:solidFill>
                  <a:srgbClr val="9900FF"/>
                </a:solidFill>
              </a:rPr>
              <a:t>; </a:t>
            </a:r>
            <a:r>
              <a:rPr lang="en-US" sz="3200" b="1" dirty="0">
                <a:solidFill>
                  <a:srgbClr val="9900FF"/>
                </a:solidFill>
                <a:sym typeface="Wingdings" pitchFamily="2" charset="2"/>
              </a:rPr>
              <a:t>R3  [R3]-1, </a:t>
            </a:r>
            <a:r>
              <a:rPr lang="en-US" sz="3200" b="1" dirty="0">
                <a:solidFill>
                  <a:srgbClr val="9900FF"/>
                </a:solidFill>
              </a:rPr>
              <a:t>R5 </a:t>
            </a:r>
            <a:r>
              <a:rPr lang="en-US" sz="3200" b="1" dirty="0">
                <a:solidFill>
                  <a:srgbClr val="9900FF"/>
                </a:solidFill>
                <a:sym typeface="Wingdings" pitchFamily="2" charset="2"/>
              </a:rPr>
              <a:t> M(R3)</a:t>
            </a:r>
          </a:p>
          <a:p>
            <a:pPr marL="1257300" lvl="3" indent="0">
              <a:buNone/>
            </a:pPr>
            <a:endParaRPr lang="en-US" sz="11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Agiliza el uso de punteros, vectores y estructuras estáticas al </a:t>
            </a:r>
            <a:r>
              <a:rPr lang="es-ES" sz="2400" dirty="0" err="1"/>
              <a:t>autodecrementarse</a:t>
            </a:r>
            <a:r>
              <a:rPr lang="es-ES" sz="2400" dirty="0"/>
              <a:t>.	</a:t>
            </a:r>
          </a:p>
          <a:p>
            <a:r>
              <a:rPr lang="es-ES" sz="2400" b="1" dirty="0">
                <a:solidFill>
                  <a:schemeClr val="accent1">
                    <a:lumMod val="75000"/>
                  </a:schemeClr>
                </a:solidFill>
              </a:rPr>
              <a:t>Desventajas</a:t>
            </a:r>
            <a:r>
              <a:rPr lang="es-ES" sz="2400" dirty="0"/>
              <a:t>: i) Mismas que autoincremento.</a:t>
            </a:r>
            <a:endParaRPr lang="es-NI" sz="2400" dirty="0"/>
          </a:p>
          <a:p>
            <a:r>
              <a:rPr lang="es-ES" sz="2400" b="1" dirty="0">
                <a:solidFill>
                  <a:schemeClr val="accent1">
                    <a:lumMod val="75000"/>
                  </a:schemeClr>
                </a:solidFill>
              </a:rPr>
              <a:t>Uso</a:t>
            </a:r>
            <a:r>
              <a:rPr lang="es-ES" sz="2400" dirty="0"/>
              <a:t>: Recorrer los elementos de arreglos secuencialmente, pero del final hacia el inicio.</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24710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Modos</a:t>
            </a:r>
            <a:r>
              <a:rPr lang="en-US" dirty="0"/>
              <a:t> </a:t>
            </a:r>
            <a:r>
              <a:rPr lang="en-US" dirty="0" err="1"/>
              <a:t>Básicos</a:t>
            </a:r>
            <a:endParaRPr lang="es-NI" dirty="0"/>
          </a:p>
        </p:txBody>
      </p:sp>
      <p:sp>
        <p:nvSpPr>
          <p:cNvPr id="3" name="2 Marcador de contenido"/>
          <p:cNvSpPr>
            <a:spLocks noGrp="1"/>
          </p:cNvSpPr>
          <p:nvPr>
            <p:ph idx="1"/>
          </p:nvPr>
        </p:nvSpPr>
        <p:spPr>
          <a:xfrm>
            <a:off x="184732" y="1275606"/>
            <a:ext cx="8851764" cy="3672408"/>
          </a:xfrm>
        </p:spPr>
        <p:txBody>
          <a:bodyPr>
            <a:normAutofit fontScale="92500" lnSpcReduction="20000"/>
          </a:bodyPr>
          <a:lstStyle/>
          <a:p>
            <a:r>
              <a:rPr lang="en-US" b="1" dirty="0">
                <a:solidFill>
                  <a:srgbClr val="9900FF"/>
                </a:solidFill>
              </a:rPr>
              <a:t>H e I. </a:t>
            </a:r>
            <a:r>
              <a:rPr lang="en-US" b="1" dirty="0" err="1">
                <a:solidFill>
                  <a:srgbClr val="9900FF"/>
                </a:solidFill>
              </a:rPr>
              <a:t>Autoincremento</a:t>
            </a:r>
            <a:r>
              <a:rPr lang="en-US" b="1" dirty="0">
                <a:solidFill>
                  <a:srgbClr val="9900FF"/>
                </a:solidFill>
              </a:rPr>
              <a:t> y </a:t>
            </a:r>
            <a:r>
              <a:rPr lang="en-US" b="1" dirty="0" err="1">
                <a:solidFill>
                  <a:srgbClr val="9900FF"/>
                </a:solidFill>
              </a:rPr>
              <a:t>autodecremento</a:t>
            </a:r>
            <a:r>
              <a:rPr lang="en-US" b="1" dirty="0">
                <a:solidFill>
                  <a:srgbClr val="9900FF"/>
                </a:solidFill>
              </a:rPr>
              <a:t> </a:t>
            </a:r>
            <a:r>
              <a:rPr lang="en-US" b="1" dirty="0" err="1">
                <a:solidFill>
                  <a:srgbClr val="9900FF"/>
                </a:solidFill>
              </a:rPr>
              <a:t>indirectos</a:t>
            </a:r>
            <a:r>
              <a:rPr lang="en-US" dirty="0">
                <a:solidFill>
                  <a:srgbClr val="9900FF"/>
                </a:solidFill>
              </a:rPr>
              <a:t>: </a:t>
            </a:r>
            <a:r>
              <a:rPr lang="en-US" dirty="0" err="1"/>
              <a:t>Estos</a:t>
            </a:r>
            <a:r>
              <a:rPr lang="en-US" dirty="0"/>
              <a:t> </a:t>
            </a:r>
            <a:r>
              <a:rPr lang="en-US" dirty="0" err="1"/>
              <a:t>modos</a:t>
            </a:r>
            <a:r>
              <a:rPr lang="en-US" dirty="0"/>
              <a:t> </a:t>
            </a:r>
            <a:r>
              <a:rPr lang="en-US" dirty="0" err="1"/>
              <a:t>pueden</a:t>
            </a:r>
            <a:r>
              <a:rPr lang="en-US" dirty="0"/>
              <a:t> </a:t>
            </a:r>
            <a:r>
              <a:rPr lang="en-US" dirty="0" err="1"/>
              <a:t>tener</a:t>
            </a:r>
            <a:r>
              <a:rPr lang="en-US" dirty="0"/>
              <a:t> </a:t>
            </a:r>
            <a:r>
              <a:rPr lang="en-US" dirty="0" err="1"/>
              <a:t>su</a:t>
            </a:r>
            <a:r>
              <a:rPr lang="en-US" dirty="0"/>
              <a:t> </a:t>
            </a:r>
            <a:r>
              <a:rPr lang="en-US" dirty="0" err="1"/>
              <a:t>indirecto</a:t>
            </a:r>
            <a:r>
              <a:rPr lang="en-US" dirty="0"/>
              <a:t>.  De </a:t>
            </a:r>
            <a:r>
              <a:rPr lang="en-US" dirty="0" err="1"/>
              <a:t>esta</a:t>
            </a:r>
            <a:r>
              <a:rPr lang="en-US" dirty="0"/>
              <a:t> forma </a:t>
            </a:r>
            <a:r>
              <a:rPr lang="en-US" dirty="0" err="1"/>
              <a:t>actúan</a:t>
            </a:r>
            <a:r>
              <a:rPr lang="en-US" dirty="0"/>
              <a:t> </a:t>
            </a:r>
            <a:r>
              <a:rPr lang="en-US" dirty="0" err="1"/>
              <a:t>como</a:t>
            </a:r>
            <a:r>
              <a:rPr lang="en-US" dirty="0"/>
              <a:t> </a:t>
            </a:r>
            <a:r>
              <a:rPr lang="en-US" dirty="0" err="1"/>
              <a:t>punteros</a:t>
            </a:r>
            <a:r>
              <a:rPr lang="en-US" dirty="0"/>
              <a:t> a </a:t>
            </a:r>
            <a:r>
              <a:rPr lang="en-US" dirty="0" err="1"/>
              <a:t>arreglos</a:t>
            </a:r>
            <a:r>
              <a:rPr lang="en-US" dirty="0"/>
              <a:t> de </a:t>
            </a:r>
            <a:r>
              <a:rPr lang="en-US" dirty="0" err="1"/>
              <a:t>punteros</a:t>
            </a:r>
            <a:r>
              <a:rPr lang="en-US" dirty="0"/>
              <a:t>.</a:t>
            </a:r>
          </a:p>
          <a:p>
            <a:pPr marL="1257300" lvl="3" indent="0">
              <a:buNone/>
            </a:pPr>
            <a:endParaRPr lang="en-US" sz="1200" b="1" dirty="0"/>
          </a:p>
          <a:p>
            <a:pPr marL="434340" indent="0">
              <a:buNone/>
            </a:pPr>
            <a:r>
              <a:rPr lang="en-US" sz="3000" b="1" dirty="0"/>
              <a:t>MOV R5, </a:t>
            </a:r>
            <a:r>
              <a:rPr lang="en-US" sz="3000" b="1" dirty="0">
                <a:solidFill>
                  <a:schemeClr val="accent1">
                    <a:lumMod val="75000"/>
                  </a:schemeClr>
                </a:solidFill>
              </a:rPr>
              <a:t>((R3)+)  </a:t>
            </a:r>
            <a:r>
              <a:rPr lang="en-US" sz="3000" b="1" dirty="0">
                <a:solidFill>
                  <a:srgbClr val="9900FF"/>
                </a:solidFill>
              </a:rPr>
              <a:t>; R5</a:t>
            </a:r>
            <a:r>
              <a:rPr lang="en-US" sz="3000" b="1" dirty="0">
                <a:solidFill>
                  <a:srgbClr val="9900FF"/>
                </a:solidFill>
                <a:sym typeface="Wingdings" pitchFamily="2" charset="2"/>
              </a:rPr>
              <a:t>M(M(R3)), R3[R3]+1</a:t>
            </a:r>
          </a:p>
          <a:p>
            <a:pPr marL="434340" indent="0">
              <a:buNone/>
            </a:pPr>
            <a:r>
              <a:rPr lang="en-US" sz="3000" b="1" dirty="0"/>
              <a:t>MOV R5, </a:t>
            </a:r>
            <a:r>
              <a:rPr lang="en-US" sz="3000" b="1" dirty="0">
                <a:solidFill>
                  <a:schemeClr val="accent1">
                    <a:lumMod val="75000"/>
                  </a:schemeClr>
                </a:solidFill>
              </a:rPr>
              <a:t>(-(R3))  </a:t>
            </a:r>
            <a:r>
              <a:rPr lang="en-US" sz="3000" b="1" dirty="0">
                <a:solidFill>
                  <a:srgbClr val="9900FF"/>
                </a:solidFill>
              </a:rPr>
              <a:t>; </a:t>
            </a:r>
            <a:r>
              <a:rPr lang="en-US" sz="3000" b="1" dirty="0">
                <a:solidFill>
                  <a:srgbClr val="9900FF"/>
                </a:solidFill>
                <a:sym typeface="Wingdings" pitchFamily="2" charset="2"/>
              </a:rPr>
              <a:t>R3[R3]-1, </a:t>
            </a:r>
            <a:r>
              <a:rPr lang="en-US" sz="3000" b="1" dirty="0">
                <a:solidFill>
                  <a:srgbClr val="9900FF"/>
                </a:solidFill>
              </a:rPr>
              <a:t>R5</a:t>
            </a:r>
            <a:r>
              <a:rPr lang="en-US" sz="3000" b="1" dirty="0">
                <a:solidFill>
                  <a:srgbClr val="9900FF"/>
                </a:solidFill>
                <a:sym typeface="Wingdings" pitchFamily="2" charset="2"/>
              </a:rPr>
              <a:t>M(M(R3))</a:t>
            </a:r>
          </a:p>
          <a:p>
            <a:pPr marL="1257300" lvl="3" indent="0">
              <a:buNone/>
            </a:pPr>
            <a:endParaRPr lang="en-US" sz="11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Agiliza el recorrido de arreglos de punteros al auto{</a:t>
            </a:r>
            <a:r>
              <a:rPr lang="es-ES" sz="2400" dirty="0" err="1"/>
              <a:t>in|de</a:t>
            </a:r>
            <a:r>
              <a:rPr lang="es-ES" sz="2400" dirty="0"/>
              <a:t>}</a:t>
            </a:r>
            <a:r>
              <a:rPr lang="es-ES" sz="2400" dirty="0" err="1"/>
              <a:t>crementarse</a:t>
            </a:r>
            <a:r>
              <a:rPr lang="es-ES" sz="2400" dirty="0"/>
              <a:t>.	</a:t>
            </a:r>
          </a:p>
          <a:p>
            <a:r>
              <a:rPr lang="es-ES" sz="2400" b="1" dirty="0">
                <a:solidFill>
                  <a:schemeClr val="accent1">
                    <a:lumMod val="75000"/>
                  </a:schemeClr>
                </a:solidFill>
              </a:rPr>
              <a:t>Desventajas</a:t>
            </a:r>
            <a:r>
              <a:rPr lang="es-ES" sz="2400" dirty="0"/>
              <a:t>: i) </a:t>
            </a:r>
            <a:r>
              <a:rPr lang="es-NI" sz="2400" dirty="0"/>
              <a:t>Múltiples accesos a memoria.</a:t>
            </a:r>
          </a:p>
          <a:p>
            <a:r>
              <a:rPr lang="es-ES" sz="2400" b="1" dirty="0">
                <a:solidFill>
                  <a:schemeClr val="accent1">
                    <a:lumMod val="75000"/>
                  </a:schemeClr>
                </a:solidFill>
              </a:rPr>
              <a:t>Uso</a:t>
            </a:r>
            <a:r>
              <a:rPr lang="es-ES" sz="2400" dirty="0"/>
              <a:t>: No frecuente. Recorrer arreglos de punteros.</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8312545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2" name="1 Marcador de contenido"/>
          <p:cNvSpPr>
            <a:spLocks noGrp="1"/>
          </p:cNvSpPr>
          <p:nvPr>
            <p:ph idx="1"/>
          </p:nvPr>
        </p:nvSpPr>
        <p:spPr>
          <a:xfrm>
            <a:off x="381001" y="1289302"/>
            <a:ext cx="8407893" cy="3658711"/>
          </a:xfrm>
        </p:spPr>
        <p:txBody>
          <a:bodyPr>
            <a:normAutofit/>
          </a:bodyPr>
          <a:lstStyle/>
          <a:p>
            <a:r>
              <a:rPr lang="es-ES" sz="2400" dirty="0">
                <a:solidFill>
                  <a:srgbClr val="7030A0"/>
                </a:solidFill>
              </a:rPr>
              <a:t>Usan más de un valor.</a:t>
            </a:r>
          </a:p>
          <a:p>
            <a:r>
              <a:rPr lang="es-ES" sz="2400" dirty="0"/>
              <a:t>Modos flexibles para direccionamiento dinámico: controlar  acceso a cualquier localidad de datos en Memoria.</a:t>
            </a:r>
          </a:p>
          <a:p>
            <a:r>
              <a:rPr lang="es-ES" sz="2400" dirty="0"/>
              <a:t>Obtienen la EA calculándola por suma entre Registros con valores numéricos. </a:t>
            </a:r>
          </a:p>
          <a:p>
            <a:r>
              <a:rPr lang="es-ES" sz="2400" dirty="0"/>
              <a:t>Recorrer estructuras de datos.</a:t>
            </a:r>
          </a:p>
        </p:txBody>
      </p:sp>
    </p:spTree>
    <p:extLst>
      <p:ext uri="{BB962C8B-B14F-4D97-AF65-F5344CB8AC3E}">
        <p14:creationId xmlns:p14="http://schemas.microsoft.com/office/powerpoint/2010/main" val="39786760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2" name="1 Marcador de contenido"/>
          <p:cNvSpPr>
            <a:spLocks noGrp="1"/>
          </p:cNvSpPr>
          <p:nvPr>
            <p:ph idx="1"/>
          </p:nvPr>
        </p:nvSpPr>
        <p:spPr>
          <a:xfrm>
            <a:off x="381001" y="1289302"/>
            <a:ext cx="8407893" cy="3658711"/>
          </a:xfrm>
        </p:spPr>
        <p:txBody>
          <a:bodyPr>
            <a:normAutofit/>
          </a:bodyPr>
          <a:lstStyle/>
          <a:p>
            <a:r>
              <a:rPr lang="es-ES" sz="2400" dirty="0"/>
              <a:t>Modos complejos donde se incluye también </a:t>
            </a:r>
            <a:r>
              <a:rPr lang="es-ES" sz="2400" dirty="0" err="1"/>
              <a:t>escalación</a:t>
            </a:r>
            <a:r>
              <a:rPr lang="es-ES" sz="2400" dirty="0"/>
              <a:t> (Uno de los valores es multiplicado por una constante que representa el tamaño del elemento).</a:t>
            </a:r>
            <a:endParaRPr lang="es-NI" sz="2400" dirty="0"/>
          </a:p>
          <a:p>
            <a:r>
              <a:rPr lang="es-ES" sz="2400" dirty="0"/>
              <a:t> Caso de interés es el modo relativo, donde el desplazamiento es relativo al valor de un registro. </a:t>
            </a:r>
          </a:p>
          <a:p>
            <a:r>
              <a:rPr lang="es-ES" sz="2400" dirty="0"/>
              <a:t>El más útil de los relativos es el relativo al PC: </a:t>
            </a:r>
            <a:r>
              <a:rPr lang="es-ES" sz="2400" dirty="0">
                <a:solidFill>
                  <a:srgbClr val="7030A0"/>
                </a:solidFill>
              </a:rPr>
              <a:t>instrucciones de salto</a:t>
            </a:r>
            <a:endParaRPr lang="es-NI" sz="2400" dirty="0">
              <a:solidFill>
                <a:srgbClr val="7030A0"/>
              </a:solidFill>
            </a:endParaRPr>
          </a:p>
        </p:txBody>
      </p:sp>
    </p:spTree>
    <p:extLst>
      <p:ext uri="{BB962C8B-B14F-4D97-AF65-F5344CB8AC3E}">
        <p14:creationId xmlns:p14="http://schemas.microsoft.com/office/powerpoint/2010/main" val="4025604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184732" y="1203598"/>
            <a:ext cx="8851764" cy="3939902"/>
          </a:xfrm>
        </p:spPr>
        <p:txBody>
          <a:bodyPr>
            <a:normAutofit fontScale="77500" lnSpcReduction="20000"/>
          </a:bodyPr>
          <a:lstStyle/>
          <a:p>
            <a:r>
              <a:rPr lang="en-US" b="1" dirty="0">
                <a:solidFill>
                  <a:srgbClr val="7030A0"/>
                </a:solidFill>
              </a:rPr>
              <a:t>J. </a:t>
            </a:r>
            <a:r>
              <a:rPr lang="en-US" b="1" dirty="0" err="1">
                <a:solidFill>
                  <a:srgbClr val="7030A0"/>
                </a:solidFill>
              </a:rPr>
              <a:t>Índice</a:t>
            </a:r>
            <a:r>
              <a:rPr lang="en-US" b="1" dirty="0">
                <a:solidFill>
                  <a:srgbClr val="7030A0"/>
                </a:solidFill>
              </a:rPr>
              <a:t> o </a:t>
            </a:r>
            <a:r>
              <a:rPr lang="en-US" b="1" dirty="0" err="1">
                <a:solidFill>
                  <a:srgbClr val="7030A0"/>
                </a:solidFill>
              </a:rPr>
              <a:t>Indizado</a:t>
            </a:r>
            <a:r>
              <a:rPr lang="en-US" dirty="0">
                <a:solidFill>
                  <a:srgbClr val="7030A0"/>
                </a:solidFill>
              </a:rPr>
              <a:t>: </a:t>
            </a:r>
            <a:r>
              <a:rPr lang="es-NI" dirty="0"/>
              <a:t>Posee una dirección o registro base y un registro índice</a:t>
            </a:r>
            <a:r>
              <a:rPr lang="en-US" dirty="0"/>
              <a:t>. La EA se </a:t>
            </a:r>
            <a:r>
              <a:rPr lang="en-US" dirty="0" err="1"/>
              <a:t>obtiene</a:t>
            </a:r>
            <a:r>
              <a:rPr lang="en-US" dirty="0"/>
              <a:t> </a:t>
            </a:r>
            <a:r>
              <a:rPr lang="en-US" dirty="0" err="1"/>
              <a:t>sumando</a:t>
            </a:r>
            <a:r>
              <a:rPr lang="en-US" dirty="0"/>
              <a:t> la base con el </a:t>
            </a:r>
            <a:r>
              <a:rPr lang="en-US" dirty="0" err="1"/>
              <a:t>índice</a:t>
            </a:r>
            <a:r>
              <a:rPr lang="en-US" dirty="0"/>
              <a:t>.</a:t>
            </a:r>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1257300" lvl="3" indent="0">
              <a:buNone/>
            </a:pPr>
            <a:endParaRPr lang="en-US" sz="3200" b="1" dirty="0"/>
          </a:p>
          <a:p>
            <a:pPr marL="1257300" lvl="3" indent="0">
              <a:buNone/>
            </a:pPr>
            <a:endParaRPr lang="en-US" sz="3200" b="1" dirty="0"/>
          </a:p>
          <a:p>
            <a:pPr marL="434340" indent="0">
              <a:buNone/>
            </a:pPr>
            <a:r>
              <a:rPr lang="en-US" sz="3000" b="1" dirty="0"/>
              <a:t>MOV R5, </a:t>
            </a:r>
            <a:r>
              <a:rPr lang="en-US" sz="3000" b="1" dirty="0">
                <a:solidFill>
                  <a:schemeClr val="accent1">
                    <a:lumMod val="75000"/>
                  </a:schemeClr>
                </a:solidFill>
              </a:rPr>
              <a:t>1000(R3)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R5M(1000+[R3])</a:t>
            </a:r>
          </a:p>
          <a:p>
            <a:pPr marL="434340" indent="0">
              <a:buNone/>
            </a:pPr>
            <a:r>
              <a:rPr lang="en-US" sz="3000" b="1" dirty="0"/>
              <a:t>MOV R5, </a:t>
            </a:r>
            <a:r>
              <a:rPr lang="en-US" sz="3000" b="1" dirty="0">
                <a:solidFill>
                  <a:schemeClr val="accent1">
                    <a:lumMod val="75000"/>
                  </a:schemeClr>
                </a:solidFill>
              </a:rPr>
              <a:t>R7(R3)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R5M([R7] + [R3])</a:t>
            </a: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12" name="11 Objeto"/>
          <p:cNvGraphicFramePr>
            <a:graphicFrameLocks noChangeAspect="1"/>
          </p:cNvGraphicFramePr>
          <p:nvPr>
            <p:extLst>
              <p:ext uri="{D42A27DB-BD31-4B8C-83A1-F6EECF244321}">
                <p14:modId xmlns:p14="http://schemas.microsoft.com/office/powerpoint/2010/main" val="2174675591"/>
              </p:ext>
            </p:extLst>
          </p:nvPr>
        </p:nvGraphicFramePr>
        <p:xfrm>
          <a:off x="1403647" y="1779662"/>
          <a:ext cx="5957493" cy="2232248"/>
        </p:xfrm>
        <a:graphic>
          <a:graphicData uri="http://schemas.openxmlformats.org/presentationml/2006/ole">
            <mc:AlternateContent xmlns:mc="http://schemas.openxmlformats.org/markup-compatibility/2006">
              <mc:Choice xmlns:v="urn:schemas-microsoft-com:vml" Requires="v">
                <p:oleObj spid="_x0000_s11329" r:id="rId3" imgW="6208776" imgH="2319528" progId="ShapewareVISIO20">
                  <p:embed/>
                </p:oleObj>
              </mc:Choice>
              <mc:Fallback>
                <p:oleObj r:id="rId3" imgW="6208776" imgH="2319528" progId="ShapewareVISIO2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7" y="1779662"/>
                        <a:ext cx="5957493" cy="2232248"/>
                      </a:xfrm>
                      <a:prstGeom prst="rect">
                        <a:avLst/>
                      </a:prstGeom>
                      <a:noFill/>
                    </p:spPr>
                  </p:pic>
                </p:oleObj>
              </mc:Fallback>
            </mc:AlternateContent>
          </a:graphicData>
        </a:graphic>
      </p:graphicFrame>
    </p:spTree>
    <p:extLst>
      <p:ext uri="{BB962C8B-B14F-4D97-AF65-F5344CB8AC3E}">
        <p14:creationId xmlns:p14="http://schemas.microsoft.com/office/powerpoint/2010/main" val="28589282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184732" y="1275606"/>
            <a:ext cx="8635740" cy="3672408"/>
          </a:xfrm>
        </p:spPr>
        <p:txBody>
          <a:bodyPr>
            <a:normAutofit fontScale="92500" lnSpcReduction="20000"/>
          </a:bodyPr>
          <a:lstStyle/>
          <a:p>
            <a:r>
              <a:rPr lang="en-US" b="1" dirty="0">
                <a:solidFill>
                  <a:srgbClr val="9900FF"/>
                </a:solidFill>
              </a:rPr>
              <a:t>J. </a:t>
            </a:r>
            <a:r>
              <a:rPr lang="en-US" b="1" dirty="0" err="1">
                <a:solidFill>
                  <a:srgbClr val="9900FF"/>
                </a:solidFill>
              </a:rPr>
              <a:t>Indice</a:t>
            </a:r>
            <a:r>
              <a:rPr lang="en-US" dirty="0">
                <a:solidFill>
                  <a:srgbClr val="9900FF"/>
                </a:solidFill>
              </a:rPr>
              <a:t>: </a:t>
            </a:r>
            <a:r>
              <a:rPr lang="en-US" dirty="0"/>
              <a:t>EA se </a:t>
            </a:r>
            <a:r>
              <a:rPr lang="en-US" dirty="0" err="1"/>
              <a:t>obtiene</a:t>
            </a:r>
            <a:r>
              <a:rPr lang="en-US" dirty="0"/>
              <a:t> </a:t>
            </a:r>
            <a:r>
              <a:rPr lang="en-US" dirty="0" err="1"/>
              <a:t>sumando</a:t>
            </a:r>
            <a:r>
              <a:rPr lang="en-US" dirty="0"/>
              <a:t> la base con el </a:t>
            </a:r>
            <a:r>
              <a:rPr lang="en-US" dirty="0" err="1"/>
              <a:t>índice</a:t>
            </a:r>
            <a:r>
              <a:rPr lang="en-US" dirty="0"/>
              <a:t>.</a:t>
            </a:r>
          </a:p>
          <a:p>
            <a:pPr marL="1257300" lvl="3" indent="0">
              <a:buNone/>
            </a:pPr>
            <a:endParaRPr lang="en-US" sz="1200" b="1" dirty="0"/>
          </a:p>
          <a:p>
            <a:pPr marL="434340" indent="0">
              <a:buNone/>
            </a:pPr>
            <a:r>
              <a:rPr lang="en-US" sz="3000" b="1" dirty="0"/>
              <a:t>MOV R5, </a:t>
            </a:r>
            <a:r>
              <a:rPr lang="en-US" sz="3000" b="1" dirty="0">
                <a:solidFill>
                  <a:schemeClr val="accent1">
                    <a:lumMod val="75000"/>
                  </a:schemeClr>
                </a:solidFill>
              </a:rPr>
              <a:t>1000(R3)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R5M(1000+[R3])</a:t>
            </a:r>
          </a:p>
          <a:p>
            <a:pPr marL="434340" indent="0">
              <a:buNone/>
            </a:pPr>
            <a:r>
              <a:rPr lang="en-US" sz="3000" b="1" dirty="0"/>
              <a:t>MOV R5, </a:t>
            </a:r>
            <a:r>
              <a:rPr lang="en-US" sz="3000" b="1" dirty="0">
                <a:solidFill>
                  <a:schemeClr val="accent1">
                    <a:lumMod val="75000"/>
                  </a:schemeClr>
                </a:solidFill>
              </a:rPr>
              <a:t>R7(R3)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R5M([R7] + [R3])</a:t>
            </a:r>
          </a:p>
          <a:p>
            <a:pPr marL="1257300" lvl="3" indent="0">
              <a:buNone/>
            </a:pPr>
            <a:endParaRPr lang="en-US" sz="11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Acceso eficiente a arreglos y estructuras en la memoria. Es considerado uno de los modos más versátiles de acceso a memoria.	</a:t>
            </a:r>
          </a:p>
          <a:p>
            <a:r>
              <a:rPr lang="es-ES" sz="2400" b="1" dirty="0">
                <a:solidFill>
                  <a:schemeClr val="accent1">
                    <a:lumMod val="75000"/>
                  </a:schemeClr>
                </a:solidFill>
              </a:rPr>
              <a:t>Desventajas</a:t>
            </a:r>
            <a:r>
              <a:rPr lang="es-ES" sz="2400" dirty="0"/>
              <a:t>: i) Precisa cargar y actualizar el índice por aparte.</a:t>
            </a:r>
            <a:endParaRPr lang="es-NI" sz="2400" dirty="0"/>
          </a:p>
          <a:p>
            <a:r>
              <a:rPr lang="es-ES" sz="2400" b="1" dirty="0">
                <a:solidFill>
                  <a:schemeClr val="accent1">
                    <a:lumMod val="75000"/>
                  </a:schemeClr>
                </a:solidFill>
              </a:rPr>
              <a:t>Uso</a:t>
            </a:r>
            <a:r>
              <a:rPr lang="es-ES" sz="2400" dirty="0"/>
              <a:t>: Acceder elementos de estructuras de datos o Recorrer arreglos secuencialmente, sean de tamaño fijo o variable.</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21313517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184732" y="1275606"/>
            <a:ext cx="8635740" cy="3672408"/>
          </a:xfrm>
        </p:spPr>
        <p:txBody>
          <a:bodyPr>
            <a:normAutofit fontScale="92500"/>
          </a:bodyPr>
          <a:lstStyle/>
          <a:p>
            <a:r>
              <a:rPr lang="en-US" b="1" dirty="0">
                <a:solidFill>
                  <a:srgbClr val="9900FF"/>
                </a:solidFill>
              </a:rPr>
              <a:t>K. </a:t>
            </a:r>
            <a:r>
              <a:rPr lang="en-US" b="1" dirty="0" err="1">
                <a:solidFill>
                  <a:srgbClr val="9900FF"/>
                </a:solidFill>
              </a:rPr>
              <a:t>Indirecto</a:t>
            </a:r>
            <a:r>
              <a:rPr lang="en-US" b="1" dirty="0">
                <a:solidFill>
                  <a:srgbClr val="9900FF"/>
                </a:solidFill>
              </a:rPr>
              <a:t> de </a:t>
            </a:r>
            <a:r>
              <a:rPr lang="en-US" b="1" dirty="0" err="1">
                <a:solidFill>
                  <a:srgbClr val="9900FF"/>
                </a:solidFill>
              </a:rPr>
              <a:t>índice</a:t>
            </a:r>
            <a:r>
              <a:rPr lang="en-US" dirty="0">
                <a:solidFill>
                  <a:srgbClr val="9900FF"/>
                </a:solidFill>
              </a:rPr>
              <a:t>: </a:t>
            </a:r>
            <a:r>
              <a:rPr lang="en-US" dirty="0" err="1"/>
              <a:t>Indirecto</a:t>
            </a:r>
            <a:r>
              <a:rPr lang="en-US" dirty="0"/>
              <a:t> del </a:t>
            </a:r>
            <a:r>
              <a:rPr lang="en-US" dirty="0" err="1"/>
              <a:t>modo</a:t>
            </a:r>
            <a:r>
              <a:rPr lang="en-US" dirty="0"/>
              <a:t> de </a:t>
            </a:r>
            <a:r>
              <a:rPr lang="en-US" dirty="0" err="1"/>
              <a:t>índice</a:t>
            </a:r>
            <a:r>
              <a:rPr lang="en-US" dirty="0"/>
              <a:t>.</a:t>
            </a:r>
          </a:p>
          <a:p>
            <a:pPr marL="1257300" lvl="3" indent="0">
              <a:buNone/>
            </a:pPr>
            <a:endParaRPr lang="en-US" sz="1200" b="1" dirty="0"/>
          </a:p>
          <a:p>
            <a:pPr marL="434340" indent="0">
              <a:buNone/>
            </a:pPr>
            <a:r>
              <a:rPr lang="en-US" sz="3000" b="1" dirty="0"/>
              <a:t>MOV R5, </a:t>
            </a:r>
            <a:r>
              <a:rPr lang="en-US" sz="3000" b="1" dirty="0">
                <a:solidFill>
                  <a:schemeClr val="accent1">
                    <a:lumMod val="75000"/>
                  </a:schemeClr>
                </a:solidFill>
              </a:rPr>
              <a:t>(1000(R3))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R5M(M(1000+[R3]))</a:t>
            </a:r>
          </a:p>
          <a:p>
            <a:pPr marL="434340" indent="0">
              <a:buNone/>
            </a:pPr>
            <a:r>
              <a:rPr lang="en-US" sz="3000" b="1" dirty="0"/>
              <a:t>MOV R5, </a:t>
            </a:r>
            <a:r>
              <a:rPr lang="en-US" sz="3000" b="1" dirty="0">
                <a:solidFill>
                  <a:schemeClr val="accent1">
                    <a:lumMod val="75000"/>
                  </a:schemeClr>
                </a:solidFill>
              </a:rPr>
              <a:t>(R7(R3))</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R5M(M([R7] + [R3]))</a:t>
            </a:r>
          </a:p>
          <a:p>
            <a:pPr marL="1257300" lvl="3" indent="0">
              <a:buNone/>
            </a:pPr>
            <a:endParaRPr lang="en-US" sz="1100" b="1" dirty="0">
              <a:solidFill>
                <a:srgbClr val="FFC000"/>
              </a:solidFill>
              <a:sym typeface="Wingdings" pitchFamily="2" charset="2"/>
            </a:endParaRPr>
          </a:p>
          <a:p>
            <a:r>
              <a:rPr lang="es-ES" sz="2400" b="1" dirty="0">
                <a:solidFill>
                  <a:schemeClr val="accent1">
                    <a:lumMod val="75000"/>
                  </a:schemeClr>
                </a:solidFill>
              </a:rPr>
              <a:t>Ventajas</a:t>
            </a:r>
            <a:r>
              <a:rPr lang="es-ES" sz="2400" dirty="0"/>
              <a:t>: i) Acceso eficiente a arreglos de punteros en memoria.</a:t>
            </a:r>
          </a:p>
          <a:p>
            <a:r>
              <a:rPr lang="es-ES" sz="2400" b="1" dirty="0">
                <a:solidFill>
                  <a:schemeClr val="accent1">
                    <a:lumMod val="75000"/>
                  </a:schemeClr>
                </a:solidFill>
              </a:rPr>
              <a:t>Desventajas</a:t>
            </a:r>
            <a:r>
              <a:rPr lang="es-ES" sz="2400" dirty="0"/>
              <a:t>: i)Requiere múltiples accesos a memoria.</a:t>
            </a:r>
            <a:endParaRPr lang="es-NI" sz="2400" dirty="0"/>
          </a:p>
          <a:p>
            <a:r>
              <a:rPr lang="es-ES" sz="2400" b="1" dirty="0">
                <a:solidFill>
                  <a:schemeClr val="accent1">
                    <a:lumMod val="75000"/>
                  </a:schemeClr>
                </a:solidFill>
              </a:rPr>
              <a:t>Uso</a:t>
            </a:r>
            <a:r>
              <a:rPr lang="es-ES" sz="2400" dirty="0"/>
              <a:t>: Acceder elementos de arreglos de punteros en memoria no necesariamente en orden secuencial.</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9827739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184732" y="1203598"/>
            <a:ext cx="8851764" cy="3939902"/>
          </a:xfrm>
        </p:spPr>
        <p:txBody>
          <a:bodyPr>
            <a:normAutofit fontScale="70000" lnSpcReduction="20000"/>
          </a:bodyPr>
          <a:lstStyle/>
          <a:p>
            <a:r>
              <a:rPr lang="en-US" sz="2600" b="1" dirty="0">
                <a:solidFill>
                  <a:srgbClr val="7030A0"/>
                </a:solidFill>
              </a:rPr>
              <a:t>L. Base - </a:t>
            </a:r>
            <a:r>
              <a:rPr lang="en-US" sz="2600" b="1" dirty="0" err="1">
                <a:solidFill>
                  <a:srgbClr val="7030A0"/>
                </a:solidFill>
              </a:rPr>
              <a:t>Desplazamiento</a:t>
            </a:r>
            <a:r>
              <a:rPr lang="en-US" sz="2600" dirty="0">
                <a:solidFill>
                  <a:srgbClr val="7030A0"/>
                </a:solidFill>
              </a:rPr>
              <a:t>: </a:t>
            </a:r>
            <a:r>
              <a:rPr lang="es-NI" sz="2600" dirty="0"/>
              <a:t>Posee una dirección o registro base y un valor de desplazamiento</a:t>
            </a:r>
            <a:r>
              <a:rPr lang="en-US" sz="2600" dirty="0"/>
              <a:t>. La EA se </a:t>
            </a:r>
            <a:r>
              <a:rPr lang="en-US" sz="2600" dirty="0" err="1"/>
              <a:t>obtiene</a:t>
            </a:r>
            <a:r>
              <a:rPr lang="en-US" sz="2600" dirty="0"/>
              <a:t> </a:t>
            </a:r>
            <a:r>
              <a:rPr lang="en-US" sz="2600" dirty="0" err="1"/>
              <a:t>sumando</a:t>
            </a:r>
            <a:r>
              <a:rPr lang="en-US" sz="2600" dirty="0"/>
              <a:t> la base con el </a:t>
            </a:r>
            <a:r>
              <a:rPr lang="en-US" sz="2600" dirty="0" err="1"/>
              <a:t>desplazamiento</a:t>
            </a:r>
            <a:r>
              <a:rPr lang="en-US" sz="2600" dirty="0"/>
              <a:t>.</a:t>
            </a:r>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1257300" lvl="3" indent="0">
              <a:buNone/>
            </a:pPr>
            <a:endParaRPr lang="en-US" sz="3200" b="1" dirty="0"/>
          </a:p>
          <a:p>
            <a:pPr marL="1257300" lvl="3" indent="0">
              <a:buNone/>
            </a:pPr>
            <a:endParaRPr lang="en-US" sz="3200" b="1" dirty="0"/>
          </a:p>
          <a:p>
            <a:pPr marL="434340" indent="0">
              <a:buNone/>
            </a:pPr>
            <a:r>
              <a:rPr lang="en-US" sz="3000" b="1" dirty="0"/>
              <a:t>MOV R5, </a:t>
            </a:r>
            <a:r>
              <a:rPr lang="en-US" sz="3000" b="1" dirty="0">
                <a:solidFill>
                  <a:schemeClr val="accent1">
                    <a:lumMod val="75000"/>
                  </a:schemeClr>
                </a:solidFill>
              </a:rPr>
              <a:t>1000(10)</a:t>
            </a:r>
            <a:r>
              <a:rPr lang="en-US" sz="3000" b="1" dirty="0">
                <a:solidFill>
                  <a:srgbClr val="92D050"/>
                </a:solidFill>
              </a:rPr>
              <a:t>  </a:t>
            </a:r>
            <a:r>
              <a:rPr lang="en-US" sz="3000" b="1" dirty="0">
                <a:solidFill>
                  <a:srgbClr val="7030A0"/>
                </a:solidFill>
              </a:rPr>
              <a:t>o</a:t>
            </a:r>
            <a:r>
              <a:rPr lang="en-US" sz="3000" b="1" dirty="0">
                <a:solidFill>
                  <a:srgbClr val="92D050"/>
                </a:solidFill>
              </a:rPr>
              <a:t> </a:t>
            </a:r>
            <a:r>
              <a:rPr lang="en-US" sz="3000" b="1" dirty="0"/>
              <a:t>MOV R5, </a:t>
            </a:r>
            <a:r>
              <a:rPr lang="en-US" sz="3000" b="1" dirty="0">
                <a:solidFill>
                  <a:schemeClr val="accent1">
                    <a:lumMod val="75000"/>
                  </a:schemeClr>
                </a:solidFill>
              </a:rPr>
              <a:t>1000:10</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R5M(1000+10)</a:t>
            </a:r>
          </a:p>
          <a:p>
            <a:pPr marL="434340" indent="0">
              <a:buNone/>
            </a:pPr>
            <a:r>
              <a:rPr lang="en-US" sz="3000" b="1" dirty="0"/>
              <a:t>MOV R5, </a:t>
            </a:r>
            <a:r>
              <a:rPr lang="en-US" sz="3000" b="1" dirty="0">
                <a:solidFill>
                  <a:schemeClr val="accent1">
                    <a:lumMod val="75000"/>
                  </a:schemeClr>
                </a:solidFill>
              </a:rPr>
              <a:t>R7(10)</a:t>
            </a:r>
            <a:r>
              <a:rPr lang="en-US" sz="3000" b="1" dirty="0">
                <a:solidFill>
                  <a:srgbClr val="92D050"/>
                </a:solidFill>
              </a:rPr>
              <a:t> </a:t>
            </a:r>
            <a:r>
              <a:rPr lang="en-US" sz="3000" b="1" dirty="0">
                <a:solidFill>
                  <a:srgbClr val="7030A0"/>
                </a:solidFill>
              </a:rPr>
              <a:t>o</a:t>
            </a:r>
            <a:r>
              <a:rPr lang="en-US" sz="3000" b="1" dirty="0">
                <a:solidFill>
                  <a:srgbClr val="92D050"/>
                </a:solidFill>
              </a:rPr>
              <a:t> </a:t>
            </a:r>
            <a:r>
              <a:rPr lang="en-US" sz="3000" b="1" dirty="0"/>
              <a:t>MOV R5, </a:t>
            </a:r>
            <a:r>
              <a:rPr lang="en-US" sz="3000" b="1" dirty="0">
                <a:solidFill>
                  <a:schemeClr val="accent1">
                    <a:lumMod val="75000"/>
                  </a:schemeClr>
                </a:solidFill>
              </a:rPr>
              <a:t>R7:10</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R5M([R7] + 10)</a:t>
            </a: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1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13" name="12 Objeto"/>
          <p:cNvGraphicFramePr>
            <a:graphicFrameLocks noChangeAspect="1"/>
          </p:cNvGraphicFramePr>
          <p:nvPr>
            <p:extLst>
              <p:ext uri="{D42A27DB-BD31-4B8C-83A1-F6EECF244321}">
                <p14:modId xmlns:p14="http://schemas.microsoft.com/office/powerpoint/2010/main" val="571004911"/>
              </p:ext>
            </p:extLst>
          </p:nvPr>
        </p:nvGraphicFramePr>
        <p:xfrm>
          <a:off x="1763688" y="1995686"/>
          <a:ext cx="5472608" cy="2050564"/>
        </p:xfrm>
        <a:graphic>
          <a:graphicData uri="http://schemas.openxmlformats.org/presentationml/2006/ole">
            <mc:AlternateContent xmlns:mc="http://schemas.openxmlformats.org/markup-compatibility/2006">
              <mc:Choice xmlns:v="urn:schemas-microsoft-com:vml" Requires="v">
                <p:oleObj spid="_x0000_s12349" r:id="rId3" imgW="6208776" imgH="2319528" progId="ShapewareVISIO20">
                  <p:embed/>
                </p:oleObj>
              </mc:Choice>
              <mc:Fallback>
                <p:oleObj r:id="rId3" imgW="6208776" imgH="2319528" progId="ShapewareVISIO2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1995686"/>
                        <a:ext cx="5472608" cy="2050564"/>
                      </a:xfrm>
                      <a:prstGeom prst="rect">
                        <a:avLst/>
                      </a:prstGeom>
                      <a:noFill/>
                    </p:spPr>
                  </p:pic>
                </p:oleObj>
              </mc:Fallback>
            </mc:AlternateContent>
          </a:graphicData>
        </a:graphic>
      </p:graphicFrame>
    </p:spTree>
    <p:extLst>
      <p:ext uri="{BB962C8B-B14F-4D97-AF65-F5344CB8AC3E}">
        <p14:creationId xmlns:p14="http://schemas.microsoft.com/office/powerpoint/2010/main" val="4247772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184732" y="1275606"/>
            <a:ext cx="8851764" cy="3672408"/>
          </a:xfrm>
        </p:spPr>
        <p:txBody>
          <a:bodyPr>
            <a:normAutofit fontScale="77500" lnSpcReduction="20000"/>
          </a:bodyPr>
          <a:lstStyle/>
          <a:p>
            <a:r>
              <a:rPr lang="en-US" b="1" dirty="0">
                <a:solidFill>
                  <a:srgbClr val="9900FF"/>
                </a:solidFill>
              </a:rPr>
              <a:t>L. Base - </a:t>
            </a:r>
            <a:r>
              <a:rPr lang="en-US" b="1" dirty="0" err="1">
                <a:solidFill>
                  <a:srgbClr val="9900FF"/>
                </a:solidFill>
              </a:rPr>
              <a:t>Desplazamiento</a:t>
            </a:r>
            <a:r>
              <a:rPr lang="en-US" dirty="0">
                <a:solidFill>
                  <a:srgbClr val="9900FF"/>
                </a:solidFill>
              </a:rPr>
              <a:t>: </a:t>
            </a:r>
            <a:r>
              <a:rPr lang="en-US" sz="2400" dirty="0"/>
              <a:t>EA se </a:t>
            </a:r>
            <a:r>
              <a:rPr lang="en-US" sz="2400" dirty="0" err="1"/>
              <a:t>obtiene</a:t>
            </a:r>
            <a:r>
              <a:rPr lang="en-US" sz="2400" dirty="0"/>
              <a:t> </a:t>
            </a:r>
            <a:r>
              <a:rPr lang="en-US" sz="2400" dirty="0" err="1"/>
              <a:t>por</a:t>
            </a:r>
            <a:r>
              <a:rPr lang="en-US" sz="2400" dirty="0"/>
              <a:t> </a:t>
            </a:r>
            <a:r>
              <a:rPr lang="en-US" sz="2400" dirty="0" err="1"/>
              <a:t>suma</a:t>
            </a:r>
            <a:r>
              <a:rPr lang="en-US" sz="2400" dirty="0"/>
              <a:t> de base con </a:t>
            </a:r>
            <a:r>
              <a:rPr lang="en-US" sz="2400" dirty="0" err="1"/>
              <a:t>desplazamiento</a:t>
            </a:r>
            <a:r>
              <a:rPr lang="en-US" sz="2400" dirty="0"/>
              <a:t>.</a:t>
            </a:r>
          </a:p>
          <a:p>
            <a:endParaRPr lang="en-US" sz="2400" dirty="0"/>
          </a:p>
          <a:p>
            <a:pPr marL="45720" indent="0">
              <a:buNone/>
            </a:pPr>
            <a:r>
              <a:rPr lang="en-US" sz="3000" b="1" dirty="0"/>
              <a:t>MOV R5, </a:t>
            </a:r>
            <a:r>
              <a:rPr lang="en-US" sz="3000" b="1" dirty="0">
                <a:solidFill>
                  <a:schemeClr val="accent1">
                    <a:lumMod val="75000"/>
                  </a:schemeClr>
                </a:solidFill>
              </a:rPr>
              <a:t>1000(10)</a:t>
            </a:r>
            <a:r>
              <a:rPr lang="en-US" sz="3000" b="1" dirty="0">
                <a:solidFill>
                  <a:srgbClr val="92D050"/>
                </a:solidFill>
              </a:rPr>
              <a:t>  </a:t>
            </a:r>
            <a:r>
              <a:rPr lang="en-US" sz="3000" b="1" dirty="0">
                <a:solidFill>
                  <a:srgbClr val="7030A0"/>
                </a:solidFill>
              </a:rPr>
              <a:t>o</a:t>
            </a:r>
            <a:r>
              <a:rPr lang="en-US" sz="3000" b="1" dirty="0">
                <a:solidFill>
                  <a:srgbClr val="92D050"/>
                </a:solidFill>
              </a:rPr>
              <a:t> </a:t>
            </a:r>
            <a:r>
              <a:rPr lang="en-US" sz="3000" b="1" dirty="0"/>
              <a:t>MOV R5, </a:t>
            </a:r>
            <a:r>
              <a:rPr lang="en-US" sz="3000" b="1" dirty="0">
                <a:solidFill>
                  <a:schemeClr val="accent1">
                    <a:lumMod val="75000"/>
                  </a:schemeClr>
                </a:solidFill>
              </a:rPr>
              <a:t>1000:10</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R5M(1000+10)</a:t>
            </a:r>
          </a:p>
          <a:p>
            <a:pPr marL="45720" indent="0">
              <a:buNone/>
            </a:pPr>
            <a:r>
              <a:rPr lang="en-US" sz="3000" b="1" dirty="0"/>
              <a:t>MOV R5, </a:t>
            </a:r>
            <a:r>
              <a:rPr lang="en-US" sz="3000" b="1" dirty="0">
                <a:solidFill>
                  <a:schemeClr val="accent1">
                    <a:lumMod val="75000"/>
                  </a:schemeClr>
                </a:solidFill>
              </a:rPr>
              <a:t>R7(10)</a:t>
            </a:r>
            <a:r>
              <a:rPr lang="en-US" sz="3000" b="1" dirty="0">
                <a:solidFill>
                  <a:srgbClr val="92D050"/>
                </a:solidFill>
              </a:rPr>
              <a:t> </a:t>
            </a:r>
            <a:r>
              <a:rPr lang="en-US" sz="3000" b="1" dirty="0">
                <a:solidFill>
                  <a:srgbClr val="7030A0"/>
                </a:solidFill>
              </a:rPr>
              <a:t>o</a:t>
            </a:r>
            <a:r>
              <a:rPr lang="en-US" sz="3000" b="1" dirty="0">
                <a:solidFill>
                  <a:srgbClr val="92D050"/>
                </a:solidFill>
              </a:rPr>
              <a:t> </a:t>
            </a:r>
            <a:r>
              <a:rPr lang="en-US" sz="3000" b="1" dirty="0"/>
              <a:t>MOV R5, </a:t>
            </a:r>
            <a:r>
              <a:rPr lang="en-US" sz="3000" b="1" dirty="0">
                <a:solidFill>
                  <a:schemeClr val="accent1">
                    <a:lumMod val="75000"/>
                  </a:schemeClr>
                </a:solidFill>
              </a:rPr>
              <a:t>R7:10</a:t>
            </a:r>
            <a:r>
              <a:rPr lang="en-US" sz="3000" b="1" dirty="0">
                <a:solidFill>
                  <a:srgbClr val="92D050"/>
                </a:solidFill>
              </a:rPr>
              <a:t>    </a:t>
            </a:r>
            <a:r>
              <a:rPr lang="en-US" sz="3000" b="1" dirty="0">
                <a:solidFill>
                  <a:srgbClr val="7030A0"/>
                </a:solidFill>
              </a:rPr>
              <a:t>; </a:t>
            </a:r>
            <a:r>
              <a:rPr lang="en-US" sz="3000" b="1" dirty="0">
                <a:solidFill>
                  <a:srgbClr val="7030A0"/>
                </a:solidFill>
                <a:sym typeface="Wingdings" pitchFamily="2" charset="2"/>
              </a:rPr>
              <a:t>R5M([R7] + 10)</a:t>
            </a:r>
          </a:p>
          <a:p>
            <a:pPr marL="1257300" lvl="3" indent="0">
              <a:buNone/>
            </a:pPr>
            <a:endParaRPr lang="en-US" sz="1100" b="1" dirty="0">
              <a:solidFill>
                <a:srgbClr val="FFC000"/>
              </a:solidFill>
              <a:sym typeface="Wingdings" pitchFamily="2" charset="2"/>
            </a:endParaRPr>
          </a:p>
          <a:p>
            <a:r>
              <a:rPr lang="es-ES" sz="2400" b="1" dirty="0">
                <a:solidFill>
                  <a:schemeClr val="accent1">
                    <a:lumMod val="75000"/>
                  </a:schemeClr>
                </a:solidFill>
              </a:rPr>
              <a:t>Ventajas</a:t>
            </a:r>
            <a:r>
              <a:rPr lang="es-ES" sz="2400" dirty="0"/>
              <a:t>: </a:t>
            </a:r>
            <a:r>
              <a:rPr lang="es-ES" sz="2500" dirty="0"/>
              <a:t>i) Cambiando la base se puede acceder al mismo elemento de varias estructuras, ii) Permite desplazarse en un área de memoria cuyo punto de referencia es la dirección base, iii) Permite desplazamientos fijos relativos a un punto móvil.</a:t>
            </a:r>
            <a:endParaRPr lang="es-ES" sz="2400" dirty="0"/>
          </a:p>
          <a:p>
            <a:r>
              <a:rPr lang="es-ES" sz="2400" b="1" dirty="0">
                <a:solidFill>
                  <a:schemeClr val="accent1">
                    <a:lumMod val="75000"/>
                  </a:schemeClr>
                </a:solidFill>
              </a:rPr>
              <a:t>Desventajas</a:t>
            </a:r>
            <a:r>
              <a:rPr lang="es-ES" sz="2400" dirty="0"/>
              <a:t>: i) Requiere control de la base.</a:t>
            </a:r>
          </a:p>
          <a:p>
            <a:r>
              <a:rPr lang="es-ES" sz="2400" b="1" dirty="0">
                <a:solidFill>
                  <a:schemeClr val="accent1">
                    <a:lumMod val="75000"/>
                  </a:schemeClr>
                </a:solidFill>
              </a:rPr>
              <a:t>Uso</a:t>
            </a:r>
            <a:r>
              <a:rPr lang="es-ES" sz="2400" dirty="0"/>
              <a:t>: Acceder elementos de estructuras de datos. Implementación de memoria segmentada (caso de arquitectura x86 de 16 bits)</a:t>
            </a:r>
            <a:endParaRPr lang="es-NI" sz="2400" dirty="0"/>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2051306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184732" y="1275606"/>
            <a:ext cx="8851764" cy="3672408"/>
          </a:xfrm>
        </p:spPr>
        <p:txBody>
          <a:bodyPr>
            <a:normAutofit fontScale="85000" lnSpcReduction="20000"/>
          </a:bodyPr>
          <a:lstStyle/>
          <a:p>
            <a:r>
              <a:rPr lang="en-US" b="1" dirty="0">
                <a:solidFill>
                  <a:srgbClr val="9900FF"/>
                </a:solidFill>
              </a:rPr>
              <a:t>M. Base – </a:t>
            </a:r>
            <a:r>
              <a:rPr lang="en-US" b="1" dirty="0" err="1">
                <a:solidFill>
                  <a:srgbClr val="9900FF"/>
                </a:solidFill>
              </a:rPr>
              <a:t>desplazamiento</a:t>
            </a:r>
            <a:r>
              <a:rPr lang="en-US" b="1" dirty="0">
                <a:solidFill>
                  <a:srgbClr val="9900FF"/>
                </a:solidFill>
              </a:rPr>
              <a:t> </a:t>
            </a:r>
            <a:r>
              <a:rPr lang="en-US" b="1" dirty="0" err="1">
                <a:solidFill>
                  <a:srgbClr val="9900FF"/>
                </a:solidFill>
              </a:rPr>
              <a:t>escalado</a:t>
            </a:r>
            <a:r>
              <a:rPr lang="en-US" dirty="0">
                <a:solidFill>
                  <a:srgbClr val="9900FF"/>
                </a:solidFill>
              </a:rPr>
              <a:t>: </a:t>
            </a:r>
            <a:r>
              <a:rPr lang="en-US" sz="2400" dirty="0"/>
              <a:t>EA se </a:t>
            </a:r>
            <a:r>
              <a:rPr lang="en-US" sz="2400" dirty="0" err="1"/>
              <a:t>obtiene</a:t>
            </a:r>
            <a:r>
              <a:rPr lang="en-US" sz="2400" dirty="0"/>
              <a:t> </a:t>
            </a:r>
            <a:r>
              <a:rPr lang="en-US" sz="2400" dirty="0" err="1"/>
              <a:t>por</a:t>
            </a:r>
            <a:r>
              <a:rPr lang="en-US" sz="2400" dirty="0"/>
              <a:t> </a:t>
            </a:r>
            <a:r>
              <a:rPr lang="en-US" sz="2400" dirty="0" err="1"/>
              <a:t>suma</a:t>
            </a:r>
            <a:r>
              <a:rPr lang="en-US" sz="2400" dirty="0"/>
              <a:t> de base </a:t>
            </a:r>
            <a:r>
              <a:rPr lang="en-US" sz="2400" dirty="0" err="1"/>
              <a:t>más</a:t>
            </a:r>
            <a:r>
              <a:rPr lang="en-US" sz="2400" dirty="0"/>
              <a:t> </a:t>
            </a:r>
            <a:r>
              <a:rPr lang="en-US" sz="2400" dirty="0" err="1"/>
              <a:t>desplazamiento</a:t>
            </a:r>
            <a:r>
              <a:rPr lang="en-US" sz="2400" dirty="0"/>
              <a:t> </a:t>
            </a:r>
            <a:r>
              <a:rPr lang="en-US" sz="2400" dirty="0" err="1"/>
              <a:t>escalado</a:t>
            </a:r>
            <a:r>
              <a:rPr lang="en-US" sz="2400" dirty="0"/>
              <a:t> (</a:t>
            </a:r>
            <a:r>
              <a:rPr lang="en-US" sz="2400" dirty="0" err="1"/>
              <a:t>multiplicado</a:t>
            </a:r>
            <a:r>
              <a:rPr lang="en-US" sz="2400" dirty="0"/>
              <a:t> </a:t>
            </a:r>
            <a:r>
              <a:rPr lang="en-US" sz="2400" dirty="0" err="1"/>
              <a:t>por</a:t>
            </a:r>
            <a:r>
              <a:rPr lang="en-US" sz="2400" dirty="0"/>
              <a:t> </a:t>
            </a:r>
            <a:r>
              <a:rPr lang="en-US" sz="2400" dirty="0" err="1"/>
              <a:t>una</a:t>
            </a:r>
            <a:r>
              <a:rPr lang="en-US" sz="2400" dirty="0"/>
              <a:t> </a:t>
            </a:r>
            <a:r>
              <a:rPr lang="en-US" sz="2400" dirty="0" err="1"/>
              <a:t>constante</a:t>
            </a:r>
            <a:r>
              <a:rPr lang="en-US" sz="2400" dirty="0"/>
              <a:t>). </a:t>
            </a:r>
            <a:r>
              <a:rPr lang="en-US" sz="2400" dirty="0" err="1"/>
              <a:t>Usa</a:t>
            </a:r>
            <a:r>
              <a:rPr lang="en-US" sz="2400" dirty="0"/>
              <a:t> un </a:t>
            </a:r>
            <a:r>
              <a:rPr lang="en-US" sz="2400" dirty="0" err="1"/>
              <a:t>registro</a:t>
            </a:r>
            <a:r>
              <a:rPr lang="en-US" sz="2400" dirty="0"/>
              <a:t> o valor base + un </a:t>
            </a:r>
            <a:r>
              <a:rPr lang="en-US" sz="2400" dirty="0" err="1"/>
              <a:t>registro</a:t>
            </a:r>
            <a:r>
              <a:rPr lang="en-US" sz="2400" dirty="0"/>
              <a:t> </a:t>
            </a:r>
            <a:r>
              <a:rPr lang="en-US" sz="2400" dirty="0" err="1"/>
              <a:t>índice</a:t>
            </a:r>
            <a:r>
              <a:rPr lang="en-US" sz="2400" dirty="0"/>
              <a:t> * </a:t>
            </a:r>
            <a:r>
              <a:rPr lang="en-US" sz="2400" dirty="0" err="1"/>
              <a:t>una</a:t>
            </a:r>
            <a:r>
              <a:rPr lang="en-US" sz="2400" dirty="0"/>
              <a:t> </a:t>
            </a:r>
            <a:r>
              <a:rPr lang="en-US" sz="2400" dirty="0" err="1"/>
              <a:t>constante</a:t>
            </a:r>
            <a:r>
              <a:rPr lang="en-US" sz="2400" dirty="0"/>
              <a:t>. </a:t>
            </a:r>
          </a:p>
          <a:p>
            <a:endParaRPr lang="en-US" sz="2400" dirty="0"/>
          </a:p>
          <a:p>
            <a:pPr marL="594360" lvl="2" indent="0">
              <a:buNone/>
            </a:pPr>
            <a:r>
              <a:rPr lang="en-US" sz="3300" b="1" dirty="0"/>
              <a:t>MOV R5, </a:t>
            </a:r>
            <a:r>
              <a:rPr lang="en-US" sz="3300" b="1" dirty="0">
                <a:solidFill>
                  <a:schemeClr val="accent1">
                    <a:lumMod val="75000"/>
                  </a:schemeClr>
                </a:solidFill>
              </a:rPr>
              <a:t>1000(R3*2)   </a:t>
            </a:r>
            <a:r>
              <a:rPr lang="en-US" sz="3300" b="1" dirty="0">
                <a:solidFill>
                  <a:srgbClr val="7030A0"/>
                </a:solidFill>
              </a:rPr>
              <a:t>; </a:t>
            </a:r>
            <a:r>
              <a:rPr lang="en-US" sz="3300" b="1" dirty="0">
                <a:solidFill>
                  <a:srgbClr val="7030A0"/>
                </a:solidFill>
                <a:sym typeface="Wingdings" pitchFamily="2" charset="2"/>
              </a:rPr>
              <a:t>R5M(1000+[R3]*2)</a:t>
            </a:r>
          </a:p>
          <a:p>
            <a:pPr marL="594360" lvl="2" indent="0">
              <a:buNone/>
            </a:pPr>
            <a:r>
              <a:rPr lang="en-US" sz="3300" b="1" dirty="0"/>
              <a:t>MOV R5, </a:t>
            </a:r>
            <a:r>
              <a:rPr lang="en-US" sz="3300" b="1" dirty="0">
                <a:solidFill>
                  <a:schemeClr val="accent1">
                    <a:lumMod val="75000"/>
                  </a:schemeClr>
                </a:solidFill>
              </a:rPr>
              <a:t>R7(R3*4)       </a:t>
            </a:r>
            <a:r>
              <a:rPr lang="en-US" sz="3300" b="1" dirty="0">
                <a:solidFill>
                  <a:srgbClr val="7030A0"/>
                </a:solidFill>
              </a:rPr>
              <a:t>; </a:t>
            </a:r>
            <a:r>
              <a:rPr lang="en-US" sz="3300" b="1" dirty="0">
                <a:solidFill>
                  <a:srgbClr val="7030A0"/>
                </a:solidFill>
                <a:sym typeface="Wingdings" pitchFamily="2" charset="2"/>
              </a:rPr>
              <a:t>R5M([R7]  +[R3]*4)</a:t>
            </a:r>
          </a:p>
          <a:p>
            <a:pPr marL="1714500" lvl="5" indent="0">
              <a:buNone/>
            </a:pPr>
            <a:endParaRPr lang="en-US" sz="1300" b="1" dirty="0">
              <a:solidFill>
                <a:srgbClr val="FFC000"/>
              </a:solidFill>
              <a:sym typeface="Wingdings" pitchFamily="2" charset="2"/>
            </a:endParaRPr>
          </a:p>
          <a:p>
            <a:r>
              <a:rPr lang="es-ES" sz="2400" b="1" dirty="0">
                <a:solidFill>
                  <a:schemeClr val="accent1">
                    <a:lumMod val="75000"/>
                  </a:schemeClr>
                </a:solidFill>
              </a:rPr>
              <a:t>Ventajas</a:t>
            </a:r>
            <a:r>
              <a:rPr lang="es-ES" sz="2400" dirty="0"/>
              <a:t>: </a:t>
            </a:r>
            <a:r>
              <a:rPr lang="es-ES" sz="2500" dirty="0"/>
              <a:t>i) Elimina la necesidad de calcular el índice por aparte.</a:t>
            </a:r>
            <a:endParaRPr lang="es-ES" sz="2400" dirty="0"/>
          </a:p>
          <a:p>
            <a:r>
              <a:rPr lang="es-ES" sz="2400" b="1" dirty="0">
                <a:solidFill>
                  <a:schemeClr val="accent1">
                    <a:lumMod val="75000"/>
                  </a:schemeClr>
                </a:solidFill>
              </a:rPr>
              <a:t>Desventajas</a:t>
            </a:r>
            <a:r>
              <a:rPr lang="es-ES" sz="2400" dirty="0"/>
              <a:t>: i) Requiere mayor control del programador. Fácil de confundirse. </a:t>
            </a:r>
          </a:p>
          <a:p>
            <a:r>
              <a:rPr lang="es-ES" sz="2400" b="1" dirty="0">
                <a:solidFill>
                  <a:schemeClr val="accent1">
                    <a:lumMod val="75000"/>
                  </a:schemeClr>
                </a:solidFill>
              </a:rPr>
              <a:t>Uso</a:t>
            </a:r>
            <a:r>
              <a:rPr lang="es-ES" sz="2400" dirty="0"/>
              <a:t>: </a:t>
            </a:r>
            <a:r>
              <a:rPr lang="es-NI" sz="2400" dirty="0"/>
              <a:t>Recorrer arreglos de diferentes tipos de datos en memorias </a:t>
            </a:r>
            <a:r>
              <a:rPr lang="es-NI" sz="2400" dirty="0" err="1"/>
              <a:t>direccionables</a:t>
            </a:r>
            <a:r>
              <a:rPr lang="es-NI" sz="2400" dirty="0"/>
              <a:t> por byte. </a:t>
            </a:r>
          </a:p>
          <a:p>
            <a:endParaRPr lang="en-US" sz="4400" b="1" dirty="0">
              <a:solidFill>
                <a:srgbClr val="FFC000"/>
              </a:solidFill>
            </a:endParaRPr>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Tree>
    <p:extLst>
      <p:ext uri="{BB962C8B-B14F-4D97-AF65-F5344CB8AC3E}">
        <p14:creationId xmlns:p14="http://schemas.microsoft.com/office/powerpoint/2010/main" val="34817621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err="1"/>
              <a:t>Modos</a:t>
            </a:r>
            <a:r>
              <a:rPr lang="en-US" dirty="0"/>
              <a:t> </a:t>
            </a:r>
            <a:r>
              <a:rPr lang="en-US" dirty="0" err="1"/>
              <a:t>Compuestos</a:t>
            </a:r>
            <a:r>
              <a:rPr lang="en-US" dirty="0"/>
              <a:t> o </a:t>
            </a:r>
            <a:r>
              <a:rPr lang="en-US" dirty="0" err="1"/>
              <a:t>Desplazados</a:t>
            </a:r>
            <a:endParaRPr lang="es-NI" dirty="0"/>
          </a:p>
        </p:txBody>
      </p:sp>
      <p:sp>
        <p:nvSpPr>
          <p:cNvPr id="3" name="2 Marcador de contenido"/>
          <p:cNvSpPr>
            <a:spLocks noGrp="1"/>
          </p:cNvSpPr>
          <p:nvPr>
            <p:ph idx="1"/>
          </p:nvPr>
        </p:nvSpPr>
        <p:spPr>
          <a:xfrm>
            <a:off x="92366" y="1203598"/>
            <a:ext cx="8938910" cy="1224136"/>
          </a:xfrm>
        </p:spPr>
        <p:txBody>
          <a:bodyPr>
            <a:normAutofit fontScale="77500" lnSpcReduction="20000"/>
          </a:bodyPr>
          <a:lstStyle/>
          <a:p>
            <a:r>
              <a:rPr lang="en-US" sz="2600" b="1" dirty="0">
                <a:solidFill>
                  <a:srgbClr val="7030A0"/>
                </a:solidFill>
              </a:rPr>
              <a:t>N. </a:t>
            </a:r>
            <a:r>
              <a:rPr lang="en-US" sz="2600" b="1" dirty="0" err="1">
                <a:solidFill>
                  <a:srgbClr val="7030A0"/>
                </a:solidFill>
              </a:rPr>
              <a:t>Relativo</a:t>
            </a:r>
            <a:r>
              <a:rPr lang="en-US" sz="2600" dirty="0">
                <a:solidFill>
                  <a:srgbClr val="7030A0"/>
                </a:solidFill>
              </a:rPr>
              <a:t>: </a:t>
            </a:r>
            <a:r>
              <a:rPr lang="es-ES" sz="2700" dirty="0"/>
              <a:t>Este modo es una variante del modo base-desplazamiento</a:t>
            </a:r>
            <a:r>
              <a:rPr lang="en-US" sz="2700" dirty="0"/>
              <a:t>. La base </a:t>
            </a:r>
            <a:r>
              <a:rPr lang="en-US" sz="2700" dirty="0" err="1"/>
              <a:t>es</a:t>
            </a:r>
            <a:r>
              <a:rPr lang="en-US" sz="2700" dirty="0"/>
              <a:t> </a:t>
            </a:r>
            <a:r>
              <a:rPr lang="en-US" sz="2700" dirty="0" err="1"/>
              <a:t>siempre</a:t>
            </a:r>
            <a:r>
              <a:rPr lang="en-US" sz="2700" dirty="0"/>
              <a:t> un </a:t>
            </a:r>
            <a:r>
              <a:rPr lang="en-US" sz="2700" dirty="0" err="1"/>
              <a:t>registro</a:t>
            </a:r>
            <a:r>
              <a:rPr lang="en-US" sz="2700" dirty="0"/>
              <a:t> y el </a:t>
            </a:r>
            <a:r>
              <a:rPr lang="en-US" sz="2700" dirty="0" err="1"/>
              <a:t>desplazamiento</a:t>
            </a:r>
            <a:r>
              <a:rPr lang="en-US" sz="2700" dirty="0"/>
              <a:t> </a:t>
            </a:r>
            <a:r>
              <a:rPr lang="en-US" sz="2700" dirty="0" err="1"/>
              <a:t>puede</a:t>
            </a:r>
            <a:r>
              <a:rPr lang="en-US" sz="2700" dirty="0"/>
              <a:t> </a:t>
            </a:r>
            <a:r>
              <a:rPr lang="en-US" sz="2700" dirty="0" err="1"/>
              <a:t>ser</a:t>
            </a:r>
            <a:r>
              <a:rPr lang="en-US" sz="2700" dirty="0"/>
              <a:t> un valor o un </a:t>
            </a:r>
            <a:r>
              <a:rPr lang="en-US" sz="2700" dirty="0" err="1"/>
              <a:t>cálculo</a:t>
            </a:r>
            <a:r>
              <a:rPr lang="en-US" sz="2700" dirty="0"/>
              <a:t> </a:t>
            </a:r>
            <a:r>
              <a:rPr lang="en-US" sz="2700" dirty="0" err="1"/>
              <a:t>registro</a:t>
            </a:r>
            <a:r>
              <a:rPr lang="en-US" sz="2700" dirty="0"/>
              <a:t>-valor. El </a:t>
            </a:r>
            <a:r>
              <a:rPr lang="en-US" sz="2700" dirty="0" err="1"/>
              <a:t>resultado</a:t>
            </a:r>
            <a:r>
              <a:rPr lang="en-US" sz="2700" dirty="0"/>
              <a:t> de la </a:t>
            </a:r>
            <a:r>
              <a:rPr lang="en-US" sz="2700" dirty="0" err="1"/>
              <a:t>operación</a:t>
            </a:r>
            <a:r>
              <a:rPr lang="en-US" sz="2700" dirty="0"/>
              <a:t> </a:t>
            </a:r>
            <a:r>
              <a:rPr lang="en-US" sz="2700" dirty="0" err="1"/>
              <a:t>normalmente</a:t>
            </a:r>
            <a:r>
              <a:rPr lang="en-US" sz="2700" dirty="0"/>
              <a:t> </a:t>
            </a:r>
            <a:r>
              <a:rPr lang="en-US" sz="2700" dirty="0" err="1"/>
              <a:t>actualiza</a:t>
            </a:r>
            <a:r>
              <a:rPr lang="en-US" sz="2700" dirty="0"/>
              <a:t> el valor del </a:t>
            </a:r>
            <a:r>
              <a:rPr lang="en-US" sz="2700" dirty="0" err="1"/>
              <a:t>registro</a:t>
            </a:r>
            <a:r>
              <a:rPr lang="en-US" sz="2700" dirty="0"/>
              <a:t> base.</a:t>
            </a:r>
          </a:p>
          <a:p>
            <a:endParaRPr lang="en-US" sz="2700" dirty="0"/>
          </a:p>
          <a:p>
            <a:endParaRPr lang="en-US" sz="2700" dirty="0"/>
          </a:p>
          <a:p>
            <a:endParaRPr lang="en-US" sz="2700" dirty="0"/>
          </a:p>
          <a:p>
            <a:endParaRPr lang="en-US" sz="2700" dirty="0"/>
          </a:p>
          <a:p>
            <a:endParaRPr lang="en-US" sz="2700" dirty="0"/>
          </a:p>
          <a:p>
            <a:endParaRPr lang="en-US" dirty="0"/>
          </a:p>
          <a:p>
            <a:endParaRPr lang="en-US" dirty="0"/>
          </a:p>
          <a:p>
            <a:endParaRPr lang="en-US" dirty="0"/>
          </a:p>
          <a:p>
            <a:endParaRPr lang="en-US" dirty="0"/>
          </a:p>
          <a:p>
            <a:pPr marL="1257300" lvl="3" indent="0">
              <a:buNone/>
            </a:pPr>
            <a:endParaRPr lang="en-US" sz="3200" b="1" dirty="0"/>
          </a:p>
          <a:p>
            <a:pPr marL="1257300" lvl="3" indent="0">
              <a:buNone/>
            </a:pPr>
            <a:endParaRPr lang="en-US" sz="3200" b="1" dirty="0"/>
          </a:p>
          <a:p>
            <a:pPr marL="1257300" lvl="3" indent="0">
              <a:buNone/>
            </a:pPr>
            <a:endParaRPr lang="en-US" sz="3200" b="1" dirty="0"/>
          </a:p>
          <a:p>
            <a:pPr marL="1257300" lvl="3" indent="0">
              <a:buNone/>
            </a:pPr>
            <a:endParaRPr lang="en-US" sz="3200" b="1" dirty="0"/>
          </a:p>
        </p:txBody>
      </p:sp>
      <p:sp>
        <p:nvSpPr>
          <p:cNvPr id="4"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6"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5"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7"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1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aphicFrame>
        <p:nvGraphicFramePr>
          <p:cNvPr id="14" name="13 Objeto"/>
          <p:cNvGraphicFramePr>
            <a:graphicFrameLocks noChangeAspect="1"/>
          </p:cNvGraphicFramePr>
          <p:nvPr>
            <p:extLst>
              <p:ext uri="{D42A27DB-BD31-4B8C-83A1-F6EECF244321}">
                <p14:modId xmlns:p14="http://schemas.microsoft.com/office/powerpoint/2010/main" val="1371365650"/>
              </p:ext>
            </p:extLst>
          </p:nvPr>
        </p:nvGraphicFramePr>
        <p:xfrm>
          <a:off x="3655037" y="2419783"/>
          <a:ext cx="5381459" cy="2592288"/>
        </p:xfrm>
        <a:graphic>
          <a:graphicData uri="http://schemas.openxmlformats.org/presentationml/2006/ole">
            <mc:AlternateContent xmlns:mc="http://schemas.openxmlformats.org/markup-compatibility/2006">
              <mc:Choice xmlns:v="urn:schemas-microsoft-com:vml" Requires="v">
                <p:oleObj spid="_x0000_s13373" r:id="rId3" imgW="5294376" imgH="2548128" progId="ShapewareVISIO20">
                  <p:embed/>
                </p:oleObj>
              </mc:Choice>
              <mc:Fallback>
                <p:oleObj r:id="rId3" imgW="5294376" imgH="2548128" progId="ShapewareVISIO20">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5037" y="2419783"/>
                        <a:ext cx="5381459" cy="2592288"/>
                      </a:xfrm>
                      <a:prstGeom prst="rect">
                        <a:avLst/>
                      </a:prstGeom>
                      <a:noFill/>
                    </p:spPr>
                  </p:pic>
                </p:oleObj>
              </mc:Fallback>
            </mc:AlternateContent>
          </a:graphicData>
        </a:graphic>
      </p:graphicFrame>
      <p:sp>
        <p:nvSpPr>
          <p:cNvPr id="15" name="14 CuadroTexto"/>
          <p:cNvSpPr txBox="1"/>
          <p:nvPr/>
        </p:nvSpPr>
        <p:spPr>
          <a:xfrm>
            <a:off x="467544" y="2643758"/>
            <a:ext cx="2448272" cy="1938992"/>
          </a:xfrm>
          <a:prstGeom prst="rect">
            <a:avLst/>
          </a:prstGeom>
          <a:noFill/>
        </p:spPr>
        <p:txBody>
          <a:bodyPr wrap="square" rtlCol="0">
            <a:spAutoFit/>
          </a:bodyPr>
          <a:lstStyle/>
          <a:p>
            <a:r>
              <a:rPr lang="es-NI" sz="2000" spc="150" dirty="0">
                <a:solidFill>
                  <a:schemeClr val="tx2"/>
                </a:solidFill>
                <a:latin typeface="+mn-lt"/>
                <a:cs typeface="+mn-cs"/>
              </a:rPr>
              <a:t>El más usado es el modo </a:t>
            </a:r>
            <a:r>
              <a:rPr lang="es-NI" sz="2000" b="1" spc="150" dirty="0">
                <a:solidFill>
                  <a:srgbClr val="7030A0"/>
                </a:solidFill>
                <a:latin typeface="+mn-lt"/>
                <a:cs typeface="+mn-cs"/>
              </a:rPr>
              <a:t>Relativo al PC </a:t>
            </a:r>
            <a:r>
              <a:rPr lang="es-NI" sz="2000" spc="150" dirty="0">
                <a:solidFill>
                  <a:schemeClr val="tx2"/>
                </a:solidFill>
                <a:latin typeface="+mn-lt"/>
                <a:cs typeface="+mn-cs"/>
              </a:rPr>
              <a:t>que se emplea en las instrucciones de salto.</a:t>
            </a:r>
          </a:p>
        </p:txBody>
      </p:sp>
    </p:spTree>
    <p:extLst>
      <p:ext uri="{BB962C8B-B14F-4D97-AF65-F5344CB8AC3E}">
        <p14:creationId xmlns:p14="http://schemas.microsoft.com/office/powerpoint/2010/main" val="41504528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NI" dirty="0"/>
              <a:t>Codificación del operando</a:t>
            </a:r>
          </a:p>
        </p:txBody>
      </p:sp>
      <p:sp>
        <p:nvSpPr>
          <p:cNvPr id="2" name="1 Marcador de contenido"/>
          <p:cNvSpPr>
            <a:spLocks noGrp="1"/>
          </p:cNvSpPr>
          <p:nvPr>
            <p:ph idx="1"/>
          </p:nvPr>
        </p:nvSpPr>
        <p:spPr/>
        <p:txBody>
          <a:bodyPr>
            <a:normAutofit/>
          </a:bodyPr>
          <a:lstStyle/>
          <a:p>
            <a:r>
              <a:rPr lang="es-NI" dirty="0"/>
              <a:t>La codificación del  operando es similar a la del CO. </a:t>
            </a:r>
          </a:p>
          <a:p>
            <a:r>
              <a:rPr lang="es-NI" dirty="0"/>
              <a:t>Se codifican el Modo de Direccionamiento y los valores se expresan </a:t>
            </a:r>
            <a:r>
              <a:rPr lang="es-NI" i="1" dirty="0"/>
              <a:t>per se </a:t>
            </a:r>
            <a:r>
              <a:rPr lang="es-NI" dirty="0"/>
              <a:t>en binario.</a:t>
            </a:r>
          </a:p>
          <a:p>
            <a:r>
              <a:rPr lang="es-NI" dirty="0"/>
              <a:t>Se prefiere emplear la técnica de bloque fijo para todos los campos por cuanto es más fácil de emplear y  los modos de direccionamiento suelen ser muy pocos.</a:t>
            </a:r>
          </a:p>
          <a:p>
            <a:r>
              <a:rPr lang="es-NI" dirty="0"/>
              <a:t>Algunas arquitecturas estructuran internamente los bits de codificación de modo por orden. </a:t>
            </a:r>
          </a:p>
          <a:p>
            <a:pPr lvl="1"/>
            <a:r>
              <a:rPr lang="es-NI" dirty="0"/>
              <a:t>Un ejemplo interesante es el bit de indirecto que usa la PDP 11 </a:t>
            </a:r>
          </a:p>
        </p:txBody>
      </p:sp>
    </p:spTree>
    <p:extLst>
      <p:ext uri="{BB962C8B-B14F-4D97-AF65-F5344CB8AC3E}">
        <p14:creationId xmlns:p14="http://schemas.microsoft.com/office/powerpoint/2010/main" val="42252626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NI" dirty="0"/>
              <a:t>Codificación del operando</a:t>
            </a:r>
          </a:p>
        </p:txBody>
      </p:sp>
      <p:sp>
        <p:nvSpPr>
          <p:cNvPr id="2" name="1 Marcador de contenido"/>
          <p:cNvSpPr>
            <a:spLocks noGrp="1"/>
          </p:cNvSpPr>
          <p:nvPr>
            <p:ph idx="1"/>
          </p:nvPr>
        </p:nvSpPr>
        <p:spPr/>
        <p:txBody>
          <a:bodyPr/>
          <a:lstStyle/>
          <a:p>
            <a:r>
              <a:rPr lang="es-ES" dirty="0">
                <a:solidFill>
                  <a:srgbClr val="7030A0"/>
                </a:solidFill>
              </a:rPr>
              <a:t>Ejemplo de estructuración interna de código</a:t>
            </a:r>
            <a:r>
              <a:rPr lang="es-ES" dirty="0"/>
              <a:t>: Uso del </a:t>
            </a:r>
            <a:r>
              <a:rPr lang="es-ES" b="1" i="1" dirty="0"/>
              <a:t>bit de indirecto</a:t>
            </a:r>
            <a:r>
              <a:rPr lang="es-ES" dirty="0"/>
              <a:t> en la arquitectura PDP.</a:t>
            </a:r>
          </a:p>
          <a:p>
            <a:pPr lvl="1"/>
            <a:r>
              <a:rPr lang="es-ES" dirty="0"/>
              <a:t>Este bit se emplea para diferenciar los modos directos de su correspondiente indirecto sólo en un bit (el </a:t>
            </a:r>
            <a:r>
              <a:rPr lang="es-ES" dirty="0" err="1">
                <a:solidFill>
                  <a:srgbClr val="0070C0"/>
                </a:solidFill>
              </a:rPr>
              <a:t>lsb</a:t>
            </a:r>
            <a:r>
              <a:rPr lang="es-ES" dirty="0">
                <a:solidFill>
                  <a:srgbClr val="0070C0"/>
                </a:solidFill>
              </a:rPr>
              <a:t> </a:t>
            </a:r>
            <a:r>
              <a:rPr lang="es-ES" dirty="0"/>
              <a:t>del campo de MD) </a:t>
            </a:r>
          </a:p>
          <a:p>
            <a:pPr lvl="1"/>
            <a:r>
              <a:rPr lang="es-ES" dirty="0"/>
              <a:t>Si el bit de indirecto es 1 el modo en cuestión es indirecto. Por ejemplo, supongamos que se define la combinación </a:t>
            </a:r>
            <a:r>
              <a:rPr lang="es-ES" b="1" dirty="0">
                <a:solidFill>
                  <a:srgbClr val="7030A0"/>
                </a:solidFill>
              </a:rPr>
              <a:t>000</a:t>
            </a:r>
            <a:r>
              <a:rPr lang="es-ES" dirty="0">
                <a:solidFill>
                  <a:srgbClr val="7030A0"/>
                </a:solidFill>
              </a:rPr>
              <a:t> </a:t>
            </a:r>
            <a:r>
              <a:rPr lang="es-ES" dirty="0"/>
              <a:t>para el modo </a:t>
            </a:r>
            <a:r>
              <a:rPr lang="es-ES" b="1" dirty="0">
                <a:solidFill>
                  <a:srgbClr val="7030A0"/>
                </a:solidFill>
              </a:rPr>
              <a:t>Directo de Registro</a:t>
            </a:r>
            <a:r>
              <a:rPr lang="es-ES" dirty="0"/>
              <a:t>, entonces la combinación </a:t>
            </a:r>
            <a:r>
              <a:rPr lang="es-ES" b="1" dirty="0">
                <a:solidFill>
                  <a:srgbClr val="7030A0"/>
                </a:solidFill>
              </a:rPr>
              <a:t>001</a:t>
            </a:r>
            <a:r>
              <a:rPr lang="es-ES" dirty="0">
                <a:solidFill>
                  <a:srgbClr val="7030A0"/>
                </a:solidFill>
              </a:rPr>
              <a:t> </a:t>
            </a:r>
            <a:r>
              <a:rPr lang="es-ES" dirty="0"/>
              <a:t>deberá corresponder al modo </a:t>
            </a:r>
            <a:r>
              <a:rPr lang="es-ES" b="1" dirty="0">
                <a:solidFill>
                  <a:srgbClr val="7030A0"/>
                </a:solidFill>
              </a:rPr>
              <a:t>Indirecto de Registros</a:t>
            </a:r>
            <a:r>
              <a:rPr lang="es-ES" dirty="0"/>
              <a:t>. </a:t>
            </a:r>
          </a:p>
          <a:p>
            <a:pPr lvl="1"/>
            <a:r>
              <a:rPr lang="es-ES" dirty="0"/>
              <a:t>Esta técnica simplifica mucho la implementación de la Unidad de Control.</a:t>
            </a:r>
            <a:endParaRPr lang="es-NI" dirty="0"/>
          </a:p>
        </p:txBody>
      </p:sp>
    </p:spTree>
    <p:extLst>
      <p:ext uri="{BB962C8B-B14F-4D97-AF65-F5344CB8AC3E}">
        <p14:creationId xmlns:p14="http://schemas.microsoft.com/office/powerpoint/2010/main" val="360642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 name="91 Conector recto"/>
          <p:cNvCxnSpPr/>
          <p:nvPr/>
        </p:nvCxnSpPr>
        <p:spPr>
          <a:xfrm flipV="1">
            <a:off x="6916727" y="2803569"/>
            <a:ext cx="1" cy="1382686"/>
          </a:xfrm>
          <a:prstGeom prst="line">
            <a:avLst/>
          </a:prstGeom>
          <a:ln>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91" name="90 Conector recto"/>
          <p:cNvCxnSpPr/>
          <p:nvPr/>
        </p:nvCxnSpPr>
        <p:spPr>
          <a:xfrm flipV="1">
            <a:off x="6915281" y="2767621"/>
            <a:ext cx="1" cy="1382686"/>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14359" name="14358 Conector recto"/>
          <p:cNvCxnSpPr/>
          <p:nvPr/>
        </p:nvCxnSpPr>
        <p:spPr>
          <a:xfrm flipV="1">
            <a:off x="5525932" y="2762207"/>
            <a:ext cx="1" cy="1382686"/>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3" name="2 Título"/>
          <p:cNvSpPr>
            <a:spLocks noGrp="1"/>
          </p:cNvSpPr>
          <p:nvPr>
            <p:ph type="title"/>
          </p:nvPr>
        </p:nvSpPr>
        <p:spPr>
          <a:xfrm>
            <a:off x="457200" y="267494"/>
            <a:ext cx="8229600" cy="742950"/>
          </a:xfrm>
        </p:spPr>
        <p:txBody>
          <a:bodyPr>
            <a:normAutofit/>
          </a:bodyPr>
          <a:lstStyle/>
          <a:p>
            <a:r>
              <a:rPr lang="es-NI" dirty="0"/>
              <a:t>Codificación de la Instrucción</a:t>
            </a:r>
          </a:p>
        </p:txBody>
      </p:sp>
      <p:sp>
        <p:nvSpPr>
          <p:cNvPr id="2" name="1 Marcador de contenido"/>
          <p:cNvSpPr>
            <a:spLocks noGrp="1"/>
          </p:cNvSpPr>
          <p:nvPr>
            <p:ph idx="1"/>
          </p:nvPr>
        </p:nvSpPr>
        <p:spPr>
          <a:xfrm>
            <a:off x="251520" y="1276361"/>
            <a:ext cx="8646699" cy="2218551"/>
          </a:xfrm>
        </p:spPr>
        <p:txBody>
          <a:bodyPr>
            <a:normAutofit fontScale="85000" lnSpcReduction="20000"/>
          </a:bodyPr>
          <a:lstStyle/>
          <a:p>
            <a:r>
              <a:rPr lang="es-ES" dirty="0">
                <a:solidFill>
                  <a:srgbClr val="7030A0"/>
                </a:solidFill>
              </a:rPr>
              <a:t>Ejemplo de codificación de instrucción</a:t>
            </a:r>
            <a:r>
              <a:rPr lang="es-ES" dirty="0"/>
              <a:t>: </a:t>
            </a:r>
            <a:r>
              <a:rPr lang="es-ES" dirty="0">
                <a:solidFill>
                  <a:srgbClr val="0070C0"/>
                </a:solidFill>
              </a:rPr>
              <a:t>Formato R de PDP-11</a:t>
            </a:r>
          </a:p>
          <a:p>
            <a:r>
              <a:rPr lang="es-ES" dirty="0"/>
              <a:t>Este formato se emplea para modos basados en registro.</a:t>
            </a:r>
          </a:p>
          <a:p>
            <a:r>
              <a:rPr lang="es-ES" dirty="0"/>
              <a:t>Sintaxis: OP F, D</a:t>
            </a:r>
          </a:p>
          <a:p>
            <a:r>
              <a:rPr lang="es-ES" dirty="0">
                <a:solidFill>
                  <a:srgbClr val="0070C0"/>
                </a:solidFill>
              </a:rPr>
              <a:t>Ejemplo</a:t>
            </a:r>
            <a:r>
              <a:rPr lang="es-ES" dirty="0"/>
              <a:t>:  </a:t>
            </a:r>
            <a:r>
              <a:rPr lang="es-ES" b="1" dirty="0">
                <a:solidFill>
                  <a:srgbClr val="9900FF"/>
                </a:solidFill>
              </a:rPr>
              <a:t>ADD (R5), R3</a:t>
            </a:r>
          </a:p>
          <a:p>
            <a:r>
              <a:rPr lang="es-ES" b="1" dirty="0">
                <a:solidFill>
                  <a:schemeClr val="accent1">
                    <a:lumMod val="75000"/>
                  </a:schemeClr>
                </a:solidFill>
              </a:rPr>
              <a:t>Suponga CO(ADD) = </a:t>
            </a:r>
            <a:r>
              <a:rPr lang="es-ES" b="1" dirty="0">
                <a:solidFill>
                  <a:srgbClr val="0070C0"/>
                </a:solidFill>
              </a:rPr>
              <a:t>0010</a:t>
            </a:r>
          </a:p>
          <a:p>
            <a:r>
              <a:rPr lang="es-ES" b="1" dirty="0">
                <a:solidFill>
                  <a:schemeClr val="accent1">
                    <a:lumMod val="75000"/>
                  </a:schemeClr>
                </a:solidFill>
              </a:rPr>
              <a:t>Los Modos se codifican:</a:t>
            </a:r>
          </a:p>
          <a:p>
            <a:pPr marL="365760" lvl="1" indent="0">
              <a:buNone/>
            </a:pPr>
            <a:r>
              <a:rPr lang="es-ES" dirty="0"/>
              <a:t> </a:t>
            </a:r>
            <a:endParaRPr lang="es-NI" dirty="0"/>
          </a:p>
        </p:txBody>
      </p:sp>
      <p:graphicFrame>
        <p:nvGraphicFramePr>
          <p:cNvPr id="4" name="3 Tabla"/>
          <p:cNvGraphicFramePr>
            <a:graphicFrameLocks noGrp="1"/>
          </p:cNvGraphicFramePr>
          <p:nvPr>
            <p:extLst>
              <p:ext uri="{D42A27DB-BD31-4B8C-83A1-F6EECF244321}">
                <p14:modId xmlns:p14="http://schemas.microsoft.com/office/powerpoint/2010/main" val="1713325877"/>
              </p:ext>
            </p:extLst>
          </p:nvPr>
        </p:nvGraphicFramePr>
        <p:xfrm>
          <a:off x="755576" y="3060556"/>
          <a:ext cx="2736304" cy="1887458"/>
        </p:xfrm>
        <a:graphic>
          <a:graphicData uri="http://schemas.openxmlformats.org/drawingml/2006/table">
            <a:tbl>
              <a:tblPr>
                <a:tableStyleId>{5C22544A-7EE6-4342-B048-85BDC9FD1C3A}</a:tableStyleId>
              </a:tblPr>
              <a:tblGrid>
                <a:gridCol w="1697758">
                  <a:extLst>
                    <a:ext uri="{9D8B030D-6E8A-4147-A177-3AD203B41FA5}">
                      <a16:colId xmlns:a16="http://schemas.microsoft.com/office/drawing/2014/main" val="20000"/>
                    </a:ext>
                  </a:extLst>
                </a:gridCol>
                <a:gridCol w="462482">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tblGrid>
              <a:tr h="190500">
                <a:tc rowSpan="2">
                  <a:txBody>
                    <a:bodyPr/>
                    <a:lstStyle/>
                    <a:p>
                      <a:pPr algn="ctr" fontAlgn="ctr"/>
                      <a:r>
                        <a:rPr lang="es-NI" sz="1100" u="none" strike="noStrike" dirty="0">
                          <a:solidFill>
                            <a:schemeClr val="bg1"/>
                          </a:solidFill>
                          <a:effectLst/>
                        </a:rPr>
                        <a:t>Modo de Direccionamiento</a:t>
                      </a:r>
                      <a:endParaRPr lang="es-NI" sz="1100" b="1" i="0" u="none" strike="noStrike" dirty="0">
                        <a:solidFill>
                          <a:schemeClr val="bg1"/>
                        </a:solidFill>
                        <a:effectLst/>
                        <a:latin typeface="Calibri"/>
                      </a:endParaRPr>
                    </a:p>
                  </a:txBody>
                  <a:tcPr marL="9525" marR="9525" marT="9525" marB="0" anchor="ctr">
                    <a:solidFill>
                      <a:schemeClr val="accent2">
                        <a:lumMod val="75000"/>
                      </a:schemeClr>
                    </a:solidFill>
                  </a:tcPr>
                </a:tc>
                <a:tc gridSpan="2">
                  <a:txBody>
                    <a:bodyPr/>
                    <a:lstStyle/>
                    <a:p>
                      <a:pPr algn="ctr" fontAlgn="b"/>
                      <a:r>
                        <a:rPr lang="es-NI" sz="1100" u="none" strike="noStrike" dirty="0">
                          <a:solidFill>
                            <a:schemeClr val="bg1"/>
                          </a:solidFill>
                          <a:effectLst/>
                        </a:rPr>
                        <a:t>Código del MD</a:t>
                      </a:r>
                      <a:endParaRPr lang="es-NI" sz="1100" b="1" i="0" u="none" strike="noStrike" dirty="0">
                        <a:solidFill>
                          <a:schemeClr val="bg1"/>
                        </a:solidFill>
                        <a:effectLst/>
                        <a:latin typeface="Calibri"/>
                      </a:endParaRPr>
                    </a:p>
                  </a:txBody>
                  <a:tcPr marL="9525" marR="9525" marT="9525" marB="0" anchor="b">
                    <a:solidFill>
                      <a:schemeClr val="accent2">
                        <a:lumMod val="75000"/>
                      </a:schemeClr>
                    </a:solidFill>
                  </a:tcPr>
                </a:tc>
                <a:tc hMerge="1">
                  <a:txBody>
                    <a:bodyPr/>
                    <a:lstStyle/>
                    <a:p>
                      <a:endParaRPr lang="es-NI"/>
                    </a:p>
                  </a:txBody>
                  <a:tcPr/>
                </a:tc>
                <a:extLst>
                  <a:ext uri="{0D108BD9-81ED-4DB2-BD59-A6C34878D82A}">
                    <a16:rowId xmlns:a16="http://schemas.microsoft.com/office/drawing/2014/main" val="10000"/>
                  </a:ext>
                </a:extLst>
              </a:tr>
              <a:tr h="200025">
                <a:tc vMerge="1">
                  <a:txBody>
                    <a:bodyPr/>
                    <a:lstStyle/>
                    <a:p>
                      <a:endParaRPr lang="es-NI"/>
                    </a:p>
                  </a:txBody>
                  <a:tcPr/>
                </a:tc>
                <a:tc>
                  <a:txBody>
                    <a:bodyPr/>
                    <a:lstStyle/>
                    <a:p>
                      <a:pPr algn="l" fontAlgn="b"/>
                      <a:r>
                        <a:rPr lang="es-NI" sz="1100" u="none" strike="noStrike" dirty="0">
                          <a:solidFill>
                            <a:schemeClr val="bg1"/>
                          </a:solidFill>
                          <a:effectLst/>
                        </a:rPr>
                        <a:t> Base</a:t>
                      </a:r>
                      <a:endParaRPr lang="es-NI" sz="1100" b="1" i="0" u="none" strike="noStrike" dirty="0">
                        <a:solidFill>
                          <a:schemeClr val="bg1"/>
                        </a:solidFill>
                        <a:effectLst/>
                        <a:latin typeface="Calibri"/>
                      </a:endParaRPr>
                    </a:p>
                  </a:txBody>
                  <a:tcPr marL="9525" marR="9525" marT="9525" marB="0" anchor="b">
                    <a:solidFill>
                      <a:schemeClr val="accent2">
                        <a:lumMod val="75000"/>
                      </a:schemeClr>
                    </a:solidFill>
                  </a:tcPr>
                </a:tc>
                <a:tc>
                  <a:txBody>
                    <a:bodyPr/>
                    <a:lstStyle/>
                    <a:p>
                      <a:pPr algn="l" fontAlgn="b"/>
                      <a:r>
                        <a:rPr lang="es-NI" sz="1100" u="none" strike="noStrike" dirty="0">
                          <a:solidFill>
                            <a:schemeClr val="bg1"/>
                          </a:solidFill>
                          <a:effectLst/>
                        </a:rPr>
                        <a:t>Indirecto</a:t>
                      </a:r>
                      <a:endParaRPr lang="es-NI" sz="1100" b="1" i="0" u="none" strike="noStrike" dirty="0">
                        <a:solidFill>
                          <a:schemeClr val="bg1"/>
                        </a:solidFill>
                        <a:effectLst/>
                        <a:latin typeface="Calibri"/>
                      </a:endParaRPr>
                    </a:p>
                  </a:txBody>
                  <a:tcPr marL="9525" marR="9525" marT="9525" marB="0" anchor="b">
                    <a:solidFill>
                      <a:schemeClr val="accent2">
                        <a:lumMod val="75000"/>
                      </a:schemeClr>
                    </a:solidFill>
                  </a:tcPr>
                </a:tc>
                <a:extLst>
                  <a:ext uri="{0D108BD9-81ED-4DB2-BD59-A6C34878D82A}">
                    <a16:rowId xmlns:a16="http://schemas.microsoft.com/office/drawing/2014/main" val="10001"/>
                  </a:ext>
                </a:extLst>
              </a:tr>
              <a:tr h="190500">
                <a:tc>
                  <a:txBody>
                    <a:bodyPr/>
                    <a:lstStyle/>
                    <a:p>
                      <a:pPr algn="l" fontAlgn="b"/>
                      <a:r>
                        <a:rPr lang="es-NI" sz="1100" u="none" strike="noStrike" dirty="0">
                          <a:effectLst/>
                        </a:rPr>
                        <a:t>Registro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a:effectLst/>
                        </a:rPr>
                        <a:t>00</a:t>
                      </a:r>
                      <a:endParaRPr lang="es-NI" sz="1100" b="0" i="0" u="none" strike="noStrike">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a:effectLst/>
                        </a:rPr>
                        <a:t>0</a:t>
                      </a:r>
                      <a:endParaRPr lang="es-NI" sz="1100" b="0" i="0" u="none" strike="noStrike">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2"/>
                  </a:ext>
                </a:extLst>
              </a:tr>
              <a:tr h="190500">
                <a:tc>
                  <a:txBody>
                    <a:bodyPr/>
                    <a:lstStyle/>
                    <a:p>
                      <a:pPr algn="l" fontAlgn="b"/>
                      <a:r>
                        <a:rPr lang="es-NI" sz="1100" u="none" strike="noStrike" dirty="0">
                          <a:effectLst/>
                        </a:rPr>
                        <a:t>Registro Indirecto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dirty="0">
                          <a:effectLst/>
                        </a:rPr>
                        <a:t>00</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3"/>
                  </a:ext>
                </a:extLst>
              </a:tr>
              <a:tr h="190500">
                <a:tc>
                  <a:txBody>
                    <a:bodyPr/>
                    <a:lstStyle/>
                    <a:p>
                      <a:pPr algn="l" fontAlgn="b"/>
                      <a:r>
                        <a:rPr lang="es-NI" sz="1100" u="none" strike="noStrike" dirty="0" err="1">
                          <a:effectLst/>
                        </a:rPr>
                        <a:t>AutoIncremento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dirty="0">
                          <a:effectLst/>
                        </a:rPr>
                        <a:t>01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0</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4"/>
                  </a:ext>
                </a:extLst>
              </a:tr>
              <a:tr h="190103">
                <a:tc>
                  <a:txBody>
                    <a:bodyPr/>
                    <a:lstStyle/>
                    <a:p>
                      <a:pPr algn="l" fontAlgn="b"/>
                      <a:r>
                        <a:rPr lang="es-NI" sz="1100" u="none" strike="noStrike" dirty="0" err="1">
                          <a:effectLst/>
                        </a:rPr>
                        <a:t>AutoIncremento</a:t>
                      </a:r>
                      <a:r>
                        <a:rPr lang="es-NI" sz="1100" u="none" strike="noStrike" dirty="0">
                          <a:effectLst/>
                        </a:rPr>
                        <a:t> indirecto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a:effectLst/>
                        </a:rPr>
                        <a:t>01</a:t>
                      </a:r>
                      <a:endParaRPr lang="es-NI" sz="1100" b="0" i="0" u="none" strike="noStrike">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5"/>
                  </a:ext>
                </a:extLst>
              </a:tr>
              <a:tr h="190500">
                <a:tc>
                  <a:txBody>
                    <a:bodyPr/>
                    <a:lstStyle/>
                    <a:p>
                      <a:pPr algn="l" fontAlgn="b"/>
                      <a:r>
                        <a:rPr lang="es-NI" sz="1100" u="none" strike="noStrike" dirty="0" err="1">
                          <a:effectLst/>
                        </a:rPr>
                        <a:t>Autodecremento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a:effectLst/>
                        </a:rPr>
                        <a:t>10</a:t>
                      </a:r>
                      <a:endParaRPr lang="es-NI" sz="1100" b="0" i="0" u="none" strike="noStrike">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0</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6"/>
                  </a:ext>
                </a:extLst>
              </a:tr>
              <a:tr h="169540">
                <a:tc>
                  <a:txBody>
                    <a:bodyPr/>
                    <a:lstStyle/>
                    <a:p>
                      <a:pPr algn="l" fontAlgn="b"/>
                      <a:r>
                        <a:rPr lang="es-NI" sz="1100" u="none" strike="noStrike" dirty="0" err="1">
                          <a:effectLst/>
                        </a:rPr>
                        <a:t>Autodecremento</a:t>
                      </a:r>
                      <a:r>
                        <a:rPr lang="es-NI" sz="1100" u="none" strike="noStrike" dirty="0">
                          <a:effectLst/>
                        </a:rPr>
                        <a:t> Indirecto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a:effectLst/>
                        </a:rPr>
                        <a:t>10</a:t>
                      </a:r>
                      <a:endParaRPr lang="es-NI" sz="1100" b="0" i="0" u="none" strike="noStrike">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7"/>
                  </a:ext>
                </a:extLst>
              </a:tr>
              <a:tr h="190500">
                <a:tc>
                  <a:txBody>
                    <a:bodyPr/>
                    <a:lstStyle/>
                    <a:p>
                      <a:pPr algn="l" fontAlgn="b"/>
                      <a:r>
                        <a:rPr lang="es-NI" sz="1100" u="none" strike="noStrike" dirty="0">
                          <a:effectLst/>
                        </a:rPr>
                        <a:t>Índice</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dirty="0">
                          <a:effectLst/>
                        </a:rPr>
                        <a:t>11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0</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8"/>
                  </a:ext>
                </a:extLst>
              </a:tr>
              <a:tr h="148555">
                <a:tc>
                  <a:txBody>
                    <a:bodyPr/>
                    <a:lstStyle/>
                    <a:p>
                      <a:pPr algn="l" fontAlgn="b"/>
                      <a:r>
                        <a:rPr lang="es-NI" sz="1100" u="none" strike="noStrike" dirty="0">
                          <a:effectLst/>
                        </a:rPr>
                        <a:t>Índice Indirecto</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s-NI" sz="1100" u="none" strike="noStrike" dirty="0">
                          <a:effectLst/>
                        </a:rPr>
                        <a:t>11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l" fontAlgn="b"/>
                      <a:r>
                        <a:rPr lang="es-NI" sz="1100" u="none" strike="noStrike" dirty="0">
                          <a:effectLst/>
                        </a:rPr>
                        <a:t>1</a:t>
                      </a:r>
                      <a:endParaRPr lang="es-NI" sz="11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9"/>
                  </a:ext>
                </a:extLst>
              </a:tr>
            </a:tbl>
          </a:graphicData>
        </a:graphic>
      </p:graphicFrame>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NI"/>
          </a:p>
        </p:txBody>
      </p:sp>
      <p:grpSp>
        <p:nvGrpSpPr>
          <p:cNvPr id="11" name="10 Grupo"/>
          <p:cNvGrpSpPr/>
          <p:nvPr/>
        </p:nvGrpSpPr>
        <p:grpSpPr>
          <a:xfrm>
            <a:off x="4578377" y="1995686"/>
            <a:ext cx="3739927" cy="735982"/>
            <a:chOff x="4572000" y="2123800"/>
            <a:chExt cx="3739927" cy="735982"/>
          </a:xfrm>
        </p:grpSpPr>
        <p:sp>
          <p:nvSpPr>
            <p:cNvPr id="9" name="8 Rectángulo"/>
            <p:cNvSpPr/>
            <p:nvPr/>
          </p:nvSpPr>
          <p:spPr>
            <a:xfrm>
              <a:off x="4572000" y="2123800"/>
              <a:ext cx="928019"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a:t>
              </a:r>
              <a:endParaRPr lang="es-NI" dirty="0"/>
            </a:p>
          </p:txBody>
        </p:sp>
        <p:sp>
          <p:nvSpPr>
            <p:cNvPr id="13" name="12 Rectángulo"/>
            <p:cNvSpPr/>
            <p:nvPr/>
          </p:nvSpPr>
          <p:spPr>
            <a:xfrm>
              <a:off x="5509002" y="2124249"/>
              <a:ext cx="695195"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MD</a:t>
              </a:r>
              <a:r>
                <a:rPr lang="en-US" baseline="-25000" dirty="0" err="1"/>
                <a:t>f</a:t>
              </a:r>
              <a:endParaRPr lang="es-NI" baseline="-25000" dirty="0"/>
            </a:p>
          </p:txBody>
        </p:sp>
        <p:sp>
          <p:nvSpPr>
            <p:cNvPr id="14" name="13 Rectángulo"/>
            <p:cNvSpPr/>
            <p:nvPr/>
          </p:nvSpPr>
          <p:spPr>
            <a:xfrm>
              <a:off x="6206488" y="2124249"/>
              <a:ext cx="698430"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a:t>
              </a:r>
              <a:r>
                <a:rPr lang="en-US" baseline="-25000" dirty="0" err="1"/>
                <a:t>f</a:t>
              </a:r>
              <a:endParaRPr lang="es-NI" baseline="-25000" dirty="0"/>
            </a:p>
          </p:txBody>
        </p:sp>
        <p:sp>
          <p:nvSpPr>
            <p:cNvPr id="37" name="36 Rectángulo"/>
            <p:cNvSpPr/>
            <p:nvPr/>
          </p:nvSpPr>
          <p:spPr>
            <a:xfrm>
              <a:off x="4572000" y="2499742"/>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38" name="37 Rectángulo"/>
            <p:cNvSpPr/>
            <p:nvPr/>
          </p:nvSpPr>
          <p:spPr>
            <a:xfrm>
              <a:off x="4801501" y="2499742"/>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39" name="38 Rectángulo"/>
            <p:cNvSpPr/>
            <p:nvPr/>
          </p:nvSpPr>
          <p:spPr>
            <a:xfrm>
              <a:off x="5038726" y="2499742"/>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0" name="39 Rectángulo"/>
            <p:cNvSpPr/>
            <p:nvPr/>
          </p:nvSpPr>
          <p:spPr>
            <a:xfrm>
              <a:off x="5268227" y="2499742"/>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1" name="40 Rectángulo"/>
            <p:cNvSpPr/>
            <p:nvPr/>
          </p:nvSpPr>
          <p:spPr>
            <a:xfrm>
              <a:off x="5507970" y="2499742"/>
              <a:ext cx="231792"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2" name="41 Rectángulo"/>
            <p:cNvSpPr/>
            <p:nvPr/>
          </p:nvSpPr>
          <p:spPr>
            <a:xfrm>
              <a:off x="5737471" y="2499742"/>
              <a:ext cx="231792"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3" name="42 Rectángulo"/>
            <p:cNvSpPr/>
            <p:nvPr/>
          </p:nvSpPr>
          <p:spPr>
            <a:xfrm>
              <a:off x="5974696" y="2499742"/>
              <a:ext cx="231792"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4" name="43 Rectángulo"/>
            <p:cNvSpPr/>
            <p:nvPr/>
          </p:nvSpPr>
          <p:spPr>
            <a:xfrm>
              <a:off x="6204197" y="2499742"/>
              <a:ext cx="231792"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5" name="44 Rectángulo"/>
            <p:cNvSpPr/>
            <p:nvPr/>
          </p:nvSpPr>
          <p:spPr>
            <a:xfrm>
              <a:off x="6443625" y="2499742"/>
              <a:ext cx="231792"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6" name="45 Rectángulo"/>
            <p:cNvSpPr/>
            <p:nvPr/>
          </p:nvSpPr>
          <p:spPr>
            <a:xfrm>
              <a:off x="6673126" y="2499742"/>
              <a:ext cx="231792"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7" name="46 Rectángulo"/>
            <p:cNvSpPr/>
            <p:nvPr/>
          </p:nvSpPr>
          <p:spPr>
            <a:xfrm>
              <a:off x="6910351" y="2499742"/>
              <a:ext cx="231792"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8" name="47 Rectángulo"/>
            <p:cNvSpPr/>
            <p:nvPr/>
          </p:nvSpPr>
          <p:spPr>
            <a:xfrm>
              <a:off x="7139852" y="2499742"/>
              <a:ext cx="231792"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49" name="48 Rectángulo"/>
            <p:cNvSpPr/>
            <p:nvPr/>
          </p:nvSpPr>
          <p:spPr>
            <a:xfrm>
              <a:off x="7375684" y="2499742"/>
              <a:ext cx="231792"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50" name="49 Rectángulo"/>
            <p:cNvSpPr/>
            <p:nvPr/>
          </p:nvSpPr>
          <p:spPr>
            <a:xfrm>
              <a:off x="7605185" y="2499742"/>
              <a:ext cx="231792"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51" name="50 Rectángulo"/>
            <p:cNvSpPr/>
            <p:nvPr/>
          </p:nvSpPr>
          <p:spPr>
            <a:xfrm>
              <a:off x="7844613" y="2499742"/>
              <a:ext cx="231792"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52" name="51 Rectángulo"/>
            <p:cNvSpPr/>
            <p:nvPr/>
          </p:nvSpPr>
          <p:spPr>
            <a:xfrm>
              <a:off x="8074114" y="2499742"/>
              <a:ext cx="231792"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53" name="52 Rectángulo"/>
            <p:cNvSpPr/>
            <p:nvPr/>
          </p:nvSpPr>
          <p:spPr>
            <a:xfrm>
              <a:off x="6908060" y="2123800"/>
              <a:ext cx="695195"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MD</a:t>
              </a:r>
              <a:r>
                <a:rPr lang="en-US" baseline="-25000" dirty="0" err="1"/>
                <a:t>d</a:t>
              </a:r>
              <a:endParaRPr lang="es-NI" baseline="-25000" dirty="0"/>
            </a:p>
          </p:txBody>
        </p:sp>
        <p:sp>
          <p:nvSpPr>
            <p:cNvPr id="54" name="53 Rectángulo"/>
            <p:cNvSpPr/>
            <p:nvPr/>
          </p:nvSpPr>
          <p:spPr>
            <a:xfrm>
              <a:off x="7613497" y="2123800"/>
              <a:ext cx="698430"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t>
              </a:r>
              <a:r>
                <a:rPr lang="en-US" baseline="-25000" dirty="0"/>
                <a:t>d</a:t>
              </a:r>
              <a:endParaRPr lang="es-NI" baseline="-25000" dirty="0"/>
            </a:p>
          </p:txBody>
        </p:sp>
      </p:grpSp>
      <p:grpSp>
        <p:nvGrpSpPr>
          <p:cNvPr id="12" name="11 Grupo"/>
          <p:cNvGrpSpPr/>
          <p:nvPr/>
        </p:nvGrpSpPr>
        <p:grpSpPr>
          <a:xfrm>
            <a:off x="4582685" y="2371628"/>
            <a:ext cx="928019" cy="360040"/>
            <a:chOff x="4700248" y="4371950"/>
            <a:chExt cx="928019" cy="360040"/>
          </a:xfrm>
        </p:grpSpPr>
        <p:sp>
          <p:nvSpPr>
            <p:cNvPr id="10" name="9 Rectángulo"/>
            <p:cNvSpPr/>
            <p:nvPr/>
          </p:nvSpPr>
          <p:spPr>
            <a:xfrm>
              <a:off x="4700248" y="4371950"/>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16" name="15 Rectángulo"/>
            <p:cNvSpPr/>
            <p:nvPr/>
          </p:nvSpPr>
          <p:spPr>
            <a:xfrm>
              <a:off x="4929749" y="4371950"/>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17" name="16 Rectángulo"/>
            <p:cNvSpPr/>
            <p:nvPr/>
          </p:nvSpPr>
          <p:spPr>
            <a:xfrm>
              <a:off x="5166974" y="4371950"/>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s-NI" dirty="0"/>
            </a:p>
          </p:txBody>
        </p:sp>
        <p:sp>
          <p:nvSpPr>
            <p:cNvPr id="18" name="17 Rectángulo"/>
            <p:cNvSpPr/>
            <p:nvPr/>
          </p:nvSpPr>
          <p:spPr>
            <a:xfrm>
              <a:off x="5396475" y="4371950"/>
              <a:ext cx="231792" cy="360040"/>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grpSp>
      <p:grpSp>
        <p:nvGrpSpPr>
          <p:cNvPr id="15" name="14 Grupo"/>
          <p:cNvGrpSpPr/>
          <p:nvPr/>
        </p:nvGrpSpPr>
        <p:grpSpPr>
          <a:xfrm>
            <a:off x="5520322" y="2371628"/>
            <a:ext cx="698518" cy="360040"/>
            <a:chOff x="5636218" y="4371950"/>
            <a:chExt cx="698518" cy="360040"/>
          </a:xfrm>
        </p:grpSpPr>
        <p:sp>
          <p:nvSpPr>
            <p:cNvPr id="23" name="22 Rectángulo"/>
            <p:cNvSpPr/>
            <p:nvPr/>
          </p:nvSpPr>
          <p:spPr>
            <a:xfrm>
              <a:off x="5636218" y="4371950"/>
              <a:ext cx="231792"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24" name="23 Rectángulo"/>
            <p:cNvSpPr/>
            <p:nvPr/>
          </p:nvSpPr>
          <p:spPr>
            <a:xfrm>
              <a:off x="5865719" y="4371950"/>
              <a:ext cx="231792"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25" name="24 Rectángulo"/>
            <p:cNvSpPr/>
            <p:nvPr/>
          </p:nvSpPr>
          <p:spPr>
            <a:xfrm>
              <a:off x="6102944" y="4371950"/>
              <a:ext cx="231792"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s-NI" dirty="0"/>
            </a:p>
          </p:txBody>
        </p:sp>
      </p:grpSp>
      <p:grpSp>
        <p:nvGrpSpPr>
          <p:cNvPr id="14336" name="14335 Grupo"/>
          <p:cNvGrpSpPr/>
          <p:nvPr/>
        </p:nvGrpSpPr>
        <p:grpSpPr>
          <a:xfrm>
            <a:off x="6220992" y="2371628"/>
            <a:ext cx="700721" cy="360040"/>
            <a:chOff x="6332445" y="4371950"/>
            <a:chExt cx="700721" cy="360040"/>
          </a:xfrm>
        </p:grpSpPr>
        <p:sp>
          <p:nvSpPr>
            <p:cNvPr id="26" name="25 Rectángulo"/>
            <p:cNvSpPr/>
            <p:nvPr/>
          </p:nvSpPr>
          <p:spPr>
            <a:xfrm>
              <a:off x="6332445" y="4371950"/>
              <a:ext cx="231792"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s-NI" dirty="0"/>
            </a:p>
          </p:txBody>
        </p:sp>
        <p:sp>
          <p:nvSpPr>
            <p:cNvPr id="27" name="26 Rectángulo"/>
            <p:cNvSpPr/>
            <p:nvPr/>
          </p:nvSpPr>
          <p:spPr>
            <a:xfrm>
              <a:off x="6571873" y="4371950"/>
              <a:ext cx="231792"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28" name="27 Rectángulo"/>
            <p:cNvSpPr/>
            <p:nvPr/>
          </p:nvSpPr>
          <p:spPr>
            <a:xfrm>
              <a:off x="6801374" y="4371950"/>
              <a:ext cx="231792" cy="36004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s-NI" dirty="0"/>
            </a:p>
          </p:txBody>
        </p:sp>
      </p:grpSp>
      <p:grpSp>
        <p:nvGrpSpPr>
          <p:cNvPr id="14337" name="14336 Grupo"/>
          <p:cNvGrpSpPr/>
          <p:nvPr/>
        </p:nvGrpSpPr>
        <p:grpSpPr>
          <a:xfrm>
            <a:off x="6922749" y="2371628"/>
            <a:ext cx="697125" cy="360040"/>
            <a:chOff x="7038599" y="4371950"/>
            <a:chExt cx="697125" cy="360040"/>
          </a:xfrm>
        </p:grpSpPr>
        <p:sp>
          <p:nvSpPr>
            <p:cNvPr id="29" name="28 Rectángulo"/>
            <p:cNvSpPr/>
            <p:nvPr/>
          </p:nvSpPr>
          <p:spPr>
            <a:xfrm>
              <a:off x="7038599" y="4371950"/>
              <a:ext cx="231792"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30" name="29 Rectángulo"/>
            <p:cNvSpPr/>
            <p:nvPr/>
          </p:nvSpPr>
          <p:spPr>
            <a:xfrm>
              <a:off x="7268100" y="4371950"/>
              <a:ext cx="231792"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31" name="30 Rectángulo"/>
            <p:cNvSpPr/>
            <p:nvPr/>
          </p:nvSpPr>
          <p:spPr>
            <a:xfrm>
              <a:off x="7503932" y="4371950"/>
              <a:ext cx="231792" cy="36004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NI" dirty="0"/>
                <a:t>0</a:t>
              </a:r>
            </a:p>
          </p:txBody>
        </p:sp>
      </p:grpSp>
      <p:grpSp>
        <p:nvGrpSpPr>
          <p:cNvPr id="14338" name="14337 Grupo"/>
          <p:cNvGrpSpPr/>
          <p:nvPr/>
        </p:nvGrpSpPr>
        <p:grpSpPr>
          <a:xfrm>
            <a:off x="7626418" y="2369434"/>
            <a:ext cx="700721" cy="360040"/>
            <a:chOff x="7733433" y="4371950"/>
            <a:chExt cx="700721" cy="360040"/>
          </a:xfrm>
        </p:grpSpPr>
        <p:sp>
          <p:nvSpPr>
            <p:cNvPr id="32" name="31 Rectángulo"/>
            <p:cNvSpPr/>
            <p:nvPr/>
          </p:nvSpPr>
          <p:spPr>
            <a:xfrm>
              <a:off x="7733433" y="4371950"/>
              <a:ext cx="231792"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s-NI" dirty="0"/>
            </a:p>
          </p:txBody>
        </p:sp>
        <p:sp>
          <p:nvSpPr>
            <p:cNvPr id="33" name="32 Rectángulo"/>
            <p:cNvSpPr/>
            <p:nvPr/>
          </p:nvSpPr>
          <p:spPr>
            <a:xfrm>
              <a:off x="7972861" y="4371950"/>
              <a:ext cx="231792"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s-NI" dirty="0"/>
            </a:p>
          </p:txBody>
        </p:sp>
        <p:sp>
          <p:nvSpPr>
            <p:cNvPr id="34" name="33 Rectángulo"/>
            <p:cNvSpPr/>
            <p:nvPr/>
          </p:nvSpPr>
          <p:spPr>
            <a:xfrm>
              <a:off x="8202362" y="4371950"/>
              <a:ext cx="231792" cy="360040"/>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s-NI" dirty="0"/>
            </a:p>
          </p:txBody>
        </p:sp>
      </p:grpSp>
      <p:sp>
        <p:nvSpPr>
          <p:cNvPr id="14339" name="14338 Abrir llave"/>
          <p:cNvSpPr/>
          <p:nvPr/>
        </p:nvSpPr>
        <p:spPr>
          <a:xfrm rot="16200000">
            <a:off x="4870991" y="2486526"/>
            <a:ext cx="351774" cy="919036"/>
          </a:xfrm>
          <a:prstGeom prst="leftBrace">
            <a:avLst>
              <a:gd name="adj1" fmla="val 8333"/>
              <a:gd name="adj2" fmla="val 53461"/>
            </a:avLst>
          </a:prstGeom>
          <a:ln w="12700">
            <a:solidFill>
              <a:srgbClr val="66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4340" name="14339 CuadroTexto"/>
          <p:cNvSpPr txBox="1"/>
          <p:nvPr/>
        </p:nvSpPr>
        <p:spPr>
          <a:xfrm>
            <a:off x="4586888" y="3074498"/>
            <a:ext cx="965928" cy="276999"/>
          </a:xfrm>
          <a:prstGeom prst="rect">
            <a:avLst/>
          </a:prstGeom>
          <a:noFill/>
        </p:spPr>
        <p:txBody>
          <a:bodyPr wrap="square" rtlCol="0">
            <a:spAutoFit/>
          </a:bodyPr>
          <a:lstStyle/>
          <a:p>
            <a:r>
              <a:rPr lang="en-US" sz="1200" dirty="0">
                <a:solidFill>
                  <a:srgbClr val="7030A0"/>
                </a:solidFill>
              </a:rPr>
              <a:t>CO (4 bits)</a:t>
            </a:r>
            <a:endParaRPr lang="es-NI" sz="1200" dirty="0">
              <a:solidFill>
                <a:srgbClr val="7030A0"/>
              </a:solidFill>
            </a:endParaRPr>
          </a:p>
        </p:txBody>
      </p:sp>
      <p:cxnSp>
        <p:nvCxnSpPr>
          <p:cNvPr id="14348" name="14347 Conector recto de flecha"/>
          <p:cNvCxnSpPr>
            <a:endCxn id="25" idx="2"/>
          </p:cNvCxnSpPr>
          <p:nvPr/>
        </p:nvCxnSpPr>
        <p:spPr>
          <a:xfrm flipV="1">
            <a:off x="6096969" y="2731668"/>
            <a:ext cx="5975" cy="626653"/>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69" name="68 CuadroTexto"/>
          <p:cNvSpPr txBox="1"/>
          <p:nvPr/>
        </p:nvSpPr>
        <p:spPr>
          <a:xfrm>
            <a:off x="5920216" y="3358320"/>
            <a:ext cx="833344" cy="461665"/>
          </a:xfrm>
          <a:prstGeom prst="rect">
            <a:avLst/>
          </a:prstGeom>
          <a:solidFill>
            <a:srgbClr val="92D050"/>
          </a:solidFill>
          <a:ln>
            <a:solidFill>
              <a:srgbClr val="008000"/>
            </a:solidFill>
          </a:ln>
        </p:spPr>
        <p:txBody>
          <a:bodyPr wrap="square" rtlCol="0">
            <a:spAutoFit/>
          </a:bodyPr>
          <a:lstStyle/>
          <a:p>
            <a:r>
              <a:rPr lang="en-US" sz="1200" dirty="0">
                <a:solidFill>
                  <a:srgbClr val="008000"/>
                </a:solidFill>
              </a:rPr>
              <a:t>Bit de </a:t>
            </a:r>
            <a:r>
              <a:rPr lang="en-US" sz="1200" dirty="0" err="1">
                <a:solidFill>
                  <a:srgbClr val="008000"/>
                </a:solidFill>
              </a:rPr>
              <a:t>indirecto</a:t>
            </a:r>
            <a:endParaRPr lang="es-NI" sz="1200" dirty="0">
              <a:solidFill>
                <a:srgbClr val="008000"/>
              </a:solidFill>
            </a:endParaRPr>
          </a:p>
        </p:txBody>
      </p:sp>
      <p:grpSp>
        <p:nvGrpSpPr>
          <p:cNvPr id="14354" name="14353 Grupo"/>
          <p:cNvGrpSpPr/>
          <p:nvPr/>
        </p:nvGrpSpPr>
        <p:grpSpPr>
          <a:xfrm>
            <a:off x="5545782" y="2770158"/>
            <a:ext cx="441266" cy="588163"/>
            <a:chOff x="5545782" y="2770158"/>
            <a:chExt cx="441266" cy="588163"/>
          </a:xfrm>
        </p:grpSpPr>
        <p:sp>
          <p:nvSpPr>
            <p:cNvPr id="64" name="63 Abrir llave"/>
            <p:cNvSpPr/>
            <p:nvPr/>
          </p:nvSpPr>
          <p:spPr>
            <a:xfrm rot="16200000">
              <a:off x="5590528" y="2725412"/>
              <a:ext cx="351774" cy="441266"/>
            </a:xfrm>
            <a:prstGeom prst="leftBrace">
              <a:avLst>
                <a:gd name="adj1" fmla="val 8333"/>
                <a:gd name="adj2" fmla="val 53461"/>
              </a:avLst>
            </a:prstGeom>
            <a:ln w="12700">
              <a:solidFill>
                <a:srgbClr val="008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cxnSp>
          <p:nvCxnSpPr>
            <p:cNvPr id="14350" name="14349 Conector recto"/>
            <p:cNvCxnSpPr/>
            <p:nvPr/>
          </p:nvCxnSpPr>
          <p:spPr>
            <a:xfrm flipV="1">
              <a:off x="5781687" y="3121933"/>
              <a:ext cx="0" cy="236388"/>
            </a:xfrm>
            <a:prstGeom prst="line">
              <a:avLst/>
            </a:prstGeom>
            <a:ln w="1270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73" name="72 CuadroTexto"/>
          <p:cNvSpPr txBox="1"/>
          <p:nvPr/>
        </p:nvSpPr>
        <p:spPr>
          <a:xfrm>
            <a:off x="5062157" y="3358321"/>
            <a:ext cx="833344" cy="461665"/>
          </a:xfrm>
          <a:prstGeom prst="rect">
            <a:avLst/>
          </a:prstGeom>
          <a:solidFill>
            <a:srgbClr val="92D050"/>
          </a:solidFill>
          <a:ln>
            <a:solidFill>
              <a:srgbClr val="008000"/>
            </a:solidFill>
          </a:ln>
        </p:spPr>
        <p:txBody>
          <a:bodyPr wrap="square" rtlCol="0">
            <a:spAutoFit/>
          </a:bodyPr>
          <a:lstStyle/>
          <a:p>
            <a:r>
              <a:rPr lang="en-US" sz="1200" dirty="0">
                <a:solidFill>
                  <a:srgbClr val="008000"/>
                </a:solidFill>
              </a:rPr>
              <a:t>Base MD </a:t>
            </a:r>
            <a:r>
              <a:rPr lang="en-US" sz="1200" dirty="0" err="1">
                <a:solidFill>
                  <a:srgbClr val="008000"/>
                </a:solidFill>
              </a:rPr>
              <a:t>Registro</a:t>
            </a:r>
            <a:endParaRPr lang="es-NI" sz="1200" dirty="0">
              <a:solidFill>
                <a:srgbClr val="008000"/>
              </a:solidFill>
            </a:endParaRPr>
          </a:p>
        </p:txBody>
      </p:sp>
      <p:sp>
        <p:nvSpPr>
          <p:cNvPr id="78" name="77 Abrir llave"/>
          <p:cNvSpPr/>
          <p:nvPr/>
        </p:nvSpPr>
        <p:spPr>
          <a:xfrm rot="16200000">
            <a:off x="6404088" y="2614725"/>
            <a:ext cx="351774" cy="662640"/>
          </a:xfrm>
          <a:prstGeom prst="leftBrace">
            <a:avLst>
              <a:gd name="adj1" fmla="val 8333"/>
              <a:gd name="adj2" fmla="val 53461"/>
            </a:avLst>
          </a:prstGeom>
          <a:ln w="12700">
            <a:solidFill>
              <a:srgbClr val="008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80" name="79 CuadroTexto"/>
          <p:cNvSpPr txBox="1"/>
          <p:nvPr/>
        </p:nvSpPr>
        <p:spPr>
          <a:xfrm>
            <a:off x="6210574" y="3867894"/>
            <a:ext cx="1248161" cy="276999"/>
          </a:xfrm>
          <a:prstGeom prst="rect">
            <a:avLst/>
          </a:prstGeom>
          <a:solidFill>
            <a:srgbClr val="92D050"/>
          </a:solidFill>
          <a:ln>
            <a:solidFill>
              <a:srgbClr val="008000"/>
            </a:solidFill>
          </a:ln>
        </p:spPr>
        <p:txBody>
          <a:bodyPr wrap="square" rtlCol="0">
            <a:spAutoFit/>
          </a:bodyPr>
          <a:lstStyle/>
          <a:p>
            <a:pPr algn="ctr"/>
            <a:r>
              <a:rPr lang="en-US" sz="1200" dirty="0" err="1">
                <a:solidFill>
                  <a:srgbClr val="008000"/>
                </a:solidFill>
              </a:rPr>
              <a:t>Rf</a:t>
            </a:r>
            <a:r>
              <a:rPr lang="en-US" sz="1200" dirty="0">
                <a:solidFill>
                  <a:srgbClr val="008000"/>
                </a:solidFill>
              </a:rPr>
              <a:t> = R5 = 101</a:t>
            </a:r>
            <a:endParaRPr lang="es-NI" sz="1200" dirty="0">
              <a:solidFill>
                <a:srgbClr val="008000"/>
              </a:solidFill>
            </a:endParaRPr>
          </a:p>
        </p:txBody>
      </p:sp>
      <p:cxnSp>
        <p:nvCxnSpPr>
          <p:cNvPr id="14356" name="14355 Conector angular"/>
          <p:cNvCxnSpPr>
            <a:stCxn id="80" idx="0"/>
            <a:endCxn id="78" idx="1"/>
          </p:cNvCxnSpPr>
          <p:nvPr/>
        </p:nvCxnSpPr>
        <p:spPr>
          <a:xfrm rot="16200000" flipV="1">
            <a:off x="6345801" y="3379040"/>
            <a:ext cx="745962" cy="231746"/>
          </a:xfrm>
          <a:prstGeom prst="bentConnector3">
            <a:avLst>
              <a:gd name="adj1" fmla="val 76477"/>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84" name="83 Abrir llave"/>
          <p:cNvSpPr/>
          <p:nvPr/>
        </p:nvSpPr>
        <p:spPr>
          <a:xfrm rot="16200000">
            <a:off x="6042377" y="3651530"/>
            <a:ext cx="351774" cy="1384867"/>
          </a:xfrm>
          <a:prstGeom prst="leftBrace">
            <a:avLst>
              <a:gd name="adj1" fmla="val 8333"/>
              <a:gd name="adj2" fmla="val 53461"/>
            </a:avLst>
          </a:prstGeom>
          <a:ln w="28575">
            <a:solidFill>
              <a:srgbClr val="008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85" name="84 CuadroTexto"/>
          <p:cNvSpPr txBox="1"/>
          <p:nvPr/>
        </p:nvSpPr>
        <p:spPr>
          <a:xfrm>
            <a:off x="5639325" y="4534712"/>
            <a:ext cx="1248161" cy="430887"/>
          </a:xfrm>
          <a:prstGeom prst="rect">
            <a:avLst/>
          </a:prstGeom>
          <a:solidFill>
            <a:srgbClr val="92D050"/>
          </a:solidFill>
          <a:ln>
            <a:solidFill>
              <a:srgbClr val="008000"/>
            </a:solidFill>
          </a:ln>
        </p:spPr>
        <p:txBody>
          <a:bodyPr wrap="square" rtlCol="0">
            <a:spAutoFit/>
          </a:bodyPr>
          <a:lstStyle/>
          <a:p>
            <a:pPr algn="ctr"/>
            <a:r>
              <a:rPr lang="en-US" sz="1100" b="1" dirty="0">
                <a:solidFill>
                  <a:srgbClr val="008000"/>
                </a:solidFill>
              </a:rPr>
              <a:t>Operando </a:t>
            </a:r>
            <a:r>
              <a:rPr lang="en-US" sz="1100" b="1" dirty="0" err="1">
                <a:solidFill>
                  <a:srgbClr val="008000"/>
                </a:solidFill>
              </a:rPr>
              <a:t>Fuente</a:t>
            </a:r>
            <a:r>
              <a:rPr lang="en-US" sz="1100" b="1" dirty="0">
                <a:solidFill>
                  <a:srgbClr val="008000"/>
                </a:solidFill>
              </a:rPr>
              <a:t> (6 bits)</a:t>
            </a:r>
            <a:endParaRPr lang="es-NI" sz="1100" b="1" dirty="0">
              <a:solidFill>
                <a:srgbClr val="008000"/>
              </a:solidFill>
            </a:endParaRPr>
          </a:p>
        </p:txBody>
      </p:sp>
      <p:sp>
        <p:nvSpPr>
          <p:cNvPr id="86" name="85 Abrir llave"/>
          <p:cNvSpPr/>
          <p:nvPr/>
        </p:nvSpPr>
        <p:spPr>
          <a:xfrm rot="16200000">
            <a:off x="7449060" y="3637756"/>
            <a:ext cx="351774" cy="1404391"/>
          </a:xfrm>
          <a:prstGeom prst="leftBrace">
            <a:avLst>
              <a:gd name="adj1" fmla="val 8333"/>
              <a:gd name="adj2" fmla="val 53461"/>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87" name="86 CuadroTexto"/>
          <p:cNvSpPr txBox="1"/>
          <p:nvPr/>
        </p:nvSpPr>
        <p:spPr>
          <a:xfrm>
            <a:off x="7068255" y="4529086"/>
            <a:ext cx="1248161" cy="430887"/>
          </a:xfrm>
          <a:prstGeom prst="rect">
            <a:avLst/>
          </a:prstGeom>
          <a:solidFill>
            <a:srgbClr val="99CCFF"/>
          </a:solidFill>
          <a:ln>
            <a:solidFill>
              <a:srgbClr val="0070C0"/>
            </a:solidFill>
          </a:ln>
        </p:spPr>
        <p:txBody>
          <a:bodyPr wrap="square" rtlCol="0">
            <a:spAutoFit/>
          </a:bodyPr>
          <a:lstStyle/>
          <a:p>
            <a:pPr algn="ctr"/>
            <a:r>
              <a:rPr lang="en-US" sz="1100" b="1" dirty="0">
                <a:solidFill>
                  <a:srgbClr val="0070C0"/>
                </a:solidFill>
              </a:rPr>
              <a:t>Operando </a:t>
            </a:r>
            <a:r>
              <a:rPr lang="en-US" sz="1100" b="1" dirty="0" err="1">
                <a:solidFill>
                  <a:srgbClr val="0070C0"/>
                </a:solidFill>
              </a:rPr>
              <a:t>Destino</a:t>
            </a:r>
            <a:r>
              <a:rPr lang="en-US" sz="1100" b="1" dirty="0">
                <a:solidFill>
                  <a:srgbClr val="0070C0"/>
                </a:solidFill>
              </a:rPr>
              <a:t> (6 bits)</a:t>
            </a:r>
            <a:endParaRPr lang="es-NI" sz="1100" b="1" dirty="0">
              <a:solidFill>
                <a:srgbClr val="0070C0"/>
              </a:solidFill>
            </a:endParaRPr>
          </a:p>
        </p:txBody>
      </p:sp>
      <p:cxnSp>
        <p:nvCxnSpPr>
          <p:cNvPr id="93" name="92 Conector recto"/>
          <p:cNvCxnSpPr/>
          <p:nvPr/>
        </p:nvCxnSpPr>
        <p:spPr>
          <a:xfrm flipV="1">
            <a:off x="8327138" y="2751912"/>
            <a:ext cx="1" cy="1382686"/>
          </a:xfrm>
          <a:prstGeom prst="line">
            <a:avLst/>
          </a:prstGeom>
          <a:ln>
            <a:solidFill>
              <a:srgbClr val="00B0F0"/>
            </a:solidFill>
            <a:prstDash val="sysDash"/>
          </a:ln>
        </p:spPr>
        <p:style>
          <a:lnRef idx="1">
            <a:schemeClr val="accent1"/>
          </a:lnRef>
          <a:fillRef idx="0">
            <a:schemeClr val="accent1"/>
          </a:fillRef>
          <a:effectRef idx="0">
            <a:schemeClr val="accent1"/>
          </a:effectRef>
          <a:fontRef idx="minor">
            <a:schemeClr val="tx1"/>
          </a:fontRef>
        </p:style>
      </p:cxnSp>
      <p:grpSp>
        <p:nvGrpSpPr>
          <p:cNvPr id="94" name="93 Grupo"/>
          <p:cNvGrpSpPr/>
          <p:nvPr/>
        </p:nvGrpSpPr>
        <p:grpSpPr>
          <a:xfrm>
            <a:off x="6931617" y="2760395"/>
            <a:ext cx="441266" cy="588163"/>
            <a:chOff x="5545782" y="2770158"/>
            <a:chExt cx="441266" cy="588163"/>
          </a:xfrm>
        </p:grpSpPr>
        <p:sp>
          <p:nvSpPr>
            <p:cNvPr id="95" name="94 Abrir llave"/>
            <p:cNvSpPr/>
            <p:nvPr/>
          </p:nvSpPr>
          <p:spPr>
            <a:xfrm rot="16200000">
              <a:off x="5590528" y="2725412"/>
              <a:ext cx="351774" cy="441266"/>
            </a:xfrm>
            <a:prstGeom prst="leftBrace">
              <a:avLst>
                <a:gd name="adj1" fmla="val 8333"/>
                <a:gd name="adj2" fmla="val 53461"/>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cxnSp>
          <p:nvCxnSpPr>
            <p:cNvPr id="96" name="95 Conector recto"/>
            <p:cNvCxnSpPr/>
            <p:nvPr/>
          </p:nvCxnSpPr>
          <p:spPr>
            <a:xfrm flipV="1">
              <a:off x="5781687" y="3121933"/>
              <a:ext cx="0" cy="236388"/>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97" name="96 CuadroTexto"/>
          <p:cNvSpPr txBox="1"/>
          <p:nvPr/>
        </p:nvSpPr>
        <p:spPr>
          <a:xfrm>
            <a:off x="6956211" y="3336315"/>
            <a:ext cx="833344" cy="461665"/>
          </a:xfrm>
          <a:prstGeom prst="rect">
            <a:avLst/>
          </a:prstGeom>
          <a:solidFill>
            <a:srgbClr val="99CCFF"/>
          </a:solidFill>
          <a:ln>
            <a:solidFill>
              <a:srgbClr val="0070C0"/>
            </a:solidFill>
          </a:ln>
        </p:spPr>
        <p:txBody>
          <a:bodyPr wrap="square" rtlCol="0">
            <a:spAutoFit/>
          </a:bodyPr>
          <a:lstStyle/>
          <a:p>
            <a:r>
              <a:rPr lang="en-US" sz="1200" dirty="0">
                <a:solidFill>
                  <a:srgbClr val="0070C0"/>
                </a:solidFill>
              </a:rPr>
              <a:t>Base MD </a:t>
            </a:r>
            <a:r>
              <a:rPr lang="en-US" sz="1200" dirty="0" err="1">
                <a:solidFill>
                  <a:srgbClr val="0070C0"/>
                </a:solidFill>
              </a:rPr>
              <a:t>Registro</a:t>
            </a:r>
            <a:endParaRPr lang="es-NI" sz="1200" dirty="0">
              <a:solidFill>
                <a:srgbClr val="0070C0"/>
              </a:solidFill>
            </a:endParaRPr>
          </a:p>
        </p:txBody>
      </p:sp>
      <p:sp>
        <p:nvSpPr>
          <p:cNvPr id="98" name="97 CuadroTexto"/>
          <p:cNvSpPr txBox="1"/>
          <p:nvPr/>
        </p:nvSpPr>
        <p:spPr>
          <a:xfrm>
            <a:off x="7572306" y="3843511"/>
            <a:ext cx="1248161" cy="276999"/>
          </a:xfrm>
          <a:prstGeom prst="rect">
            <a:avLst/>
          </a:prstGeom>
          <a:solidFill>
            <a:srgbClr val="99CCFF"/>
          </a:solidFill>
          <a:ln>
            <a:solidFill>
              <a:srgbClr val="0070C0"/>
            </a:solidFill>
          </a:ln>
        </p:spPr>
        <p:txBody>
          <a:bodyPr wrap="square" rtlCol="0">
            <a:spAutoFit/>
          </a:bodyPr>
          <a:lstStyle/>
          <a:p>
            <a:pPr algn="ctr"/>
            <a:r>
              <a:rPr lang="en-US" sz="1200" dirty="0">
                <a:solidFill>
                  <a:srgbClr val="0070C0"/>
                </a:solidFill>
              </a:rPr>
              <a:t>Rd = R3 = 011</a:t>
            </a:r>
            <a:endParaRPr lang="es-NI" sz="1200" dirty="0">
              <a:solidFill>
                <a:srgbClr val="0070C0"/>
              </a:solidFill>
            </a:endParaRPr>
          </a:p>
        </p:txBody>
      </p:sp>
      <p:sp>
        <p:nvSpPr>
          <p:cNvPr id="99" name="98 Abrir llave"/>
          <p:cNvSpPr/>
          <p:nvPr/>
        </p:nvSpPr>
        <p:spPr>
          <a:xfrm rot="16200000">
            <a:off x="7808121" y="2606947"/>
            <a:ext cx="351774" cy="662640"/>
          </a:xfrm>
          <a:prstGeom prst="leftBrace">
            <a:avLst>
              <a:gd name="adj1" fmla="val 8333"/>
              <a:gd name="adj2" fmla="val 53461"/>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cxnSp>
        <p:nvCxnSpPr>
          <p:cNvPr id="100" name="99 Conector angular"/>
          <p:cNvCxnSpPr/>
          <p:nvPr/>
        </p:nvCxnSpPr>
        <p:spPr>
          <a:xfrm rot="16200000" flipV="1">
            <a:off x="7754950" y="3353485"/>
            <a:ext cx="745962" cy="231746"/>
          </a:xfrm>
          <a:prstGeom prst="bentConnector3">
            <a:avLst>
              <a:gd name="adj1" fmla="val 79846"/>
            </a:avLst>
          </a:prstGeom>
          <a:ln w="127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01" name="100 CuadroTexto"/>
          <p:cNvSpPr txBox="1"/>
          <p:nvPr/>
        </p:nvSpPr>
        <p:spPr>
          <a:xfrm>
            <a:off x="7197948" y="3045391"/>
            <a:ext cx="613571" cy="246221"/>
          </a:xfrm>
          <a:prstGeom prst="rect">
            <a:avLst/>
          </a:prstGeom>
          <a:solidFill>
            <a:srgbClr val="99CCFF"/>
          </a:solidFill>
          <a:ln>
            <a:solidFill>
              <a:srgbClr val="0070C0"/>
            </a:solidFill>
          </a:ln>
        </p:spPr>
        <p:txBody>
          <a:bodyPr wrap="square" rtlCol="0">
            <a:spAutoFit/>
          </a:bodyPr>
          <a:lstStyle/>
          <a:p>
            <a:pPr algn="ctr"/>
            <a:r>
              <a:rPr lang="en-US" sz="1000" dirty="0" err="1">
                <a:solidFill>
                  <a:srgbClr val="0070C0"/>
                </a:solidFill>
              </a:rPr>
              <a:t>Directo</a:t>
            </a:r>
            <a:endParaRPr lang="es-NI" sz="1000" dirty="0">
              <a:solidFill>
                <a:srgbClr val="0070C0"/>
              </a:solidFill>
            </a:endParaRPr>
          </a:p>
        </p:txBody>
      </p:sp>
      <p:cxnSp>
        <p:nvCxnSpPr>
          <p:cNvPr id="14362" name="14361 Conector recto de flecha"/>
          <p:cNvCxnSpPr>
            <a:stCxn id="101" idx="0"/>
            <a:endCxn id="31" idx="2"/>
          </p:cNvCxnSpPr>
          <p:nvPr/>
        </p:nvCxnSpPr>
        <p:spPr>
          <a:xfrm flipH="1" flipV="1">
            <a:off x="7503978" y="2731668"/>
            <a:ext cx="756" cy="313723"/>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04" name="103 CuadroTexto"/>
          <p:cNvSpPr txBox="1"/>
          <p:nvPr/>
        </p:nvSpPr>
        <p:spPr>
          <a:xfrm>
            <a:off x="5558358" y="4505452"/>
            <a:ext cx="1403394" cy="600164"/>
          </a:xfrm>
          <a:prstGeom prst="rect">
            <a:avLst/>
          </a:prstGeom>
          <a:solidFill>
            <a:srgbClr val="99FF99"/>
          </a:solidFill>
          <a:ln>
            <a:solidFill>
              <a:srgbClr val="008000"/>
            </a:solidFill>
          </a:ln>
        </p:spPr>
        <p:txBody>
          <a:bodyPr wrap="square" rtlCol="0">
            <a:spAutoFit/>
          </a:bodyPr>
          <a:lstStyle/>
          <a:p>
            <a:pPr algn="ctr"/>
            <a:r>
              <a:rPr lang="en-US" sz="1100" b="1" dirty="0">
                <a:solidFill>
                  <a:srgbClr val="008000"/>
                </a:solidFill>
              </a:rPr>
              <a:t>Op. </a:t>
            </a:r>
            <a:r>
              <a:rPr lang="en-US" sz="1100" b="1" dirty="0" err="1">
                <a:solidFill>
                  <a:srgbClr val="008000"/>
                </a:solidFill>
              </a:rPr>
              <a:t>Fuente</a:t>
            </a:r>
            <a:r>
              <a:rPr lang="en-US" sz="1100" b="1" dirty="0">
                <a:solidFill>
                  <a:srgbClr val="008000"/>
                </a:solidFill>
              </a:rPr>
              <a:t>: </a:t>
            </a:r>
            <a:r>
              <a:rPr lang="en-US" sz="1100" b="1" dirty="0">
                <a:solidFill>
                  <a:srgbClr val="9900FF"/>
                </a:solidFill>
              </a:rPr>
              <a:t>(R5) </a:t>
            </a:r>
            <a:r>
              <a:rPr lang="en-US" sz="1100" b="1" dirty="0">
                <a:solidFill>
                  <a:srgbClr val="008000"/>
                </a:solidFill>
              </a:rPr>
              <a:t>MD</a:t>
            </a:r>
            <a:r>
              <a:rPr lang="en-US" sz="1100" b="1" dirty="0">
                <a:solidFill>
                  <a:srgbClr val="9900FF"/>
                </a:solidFill>
              </a:rPr>
              <a:t> </a:t>
            </a:r>
            <a:r>
              <a:rPr lang="en-US" sz="1100" b="1" dirty="0" err="1">
                <a:solidFill>
                  <a:srgbClr val="008000"/>
                </a:solidFill>
              </a:rPr>
              <a:t>Indirecto</a:t>
            </a:r>
            <a:r>
              <a:rPr lang="en-US" sz="1100" b="1" dirty="0">
                <a:solidFill>
                  <a:srgbClr val="008000"/>
                </a:solidFill>
              </a:rPr>
              <a:t> de </a:t>
            </a:r>
            <a:r>
              <a:rPr lang="en-US" sz="1100" b="1" dirty="0" err="1">
                <a:solidFill>
                  <a:srgbClr val="008000"/>
                </a:solidFill>
              </a:rPr>
              <a:t>Registro</a:t>
            </a:r>
            <a:r>
              <a:rPr lang="en-US" sz="1100" b="1" dirty="0">
                <a:solidFill>
                  <a:srgbClr val="008000"/>
                </a:solidFill>
              </a:rPr>
              <a:t> = </a:t>
            </a:r>
            <a:r>
              <a:rPr lang="en-US" sz="1100" b="1" dirty="0">
                <a:solidFill>
                  <a:srgbClr val="9900FF"/>
                </a:solidFill>
              </a:rPr>
              <a:t>001</a:t>
            </a:r>
            <a:endParaRPr lang="es-NI" sz="1100" b="1" dirty="0">
              <a:solidFill>
                <a:srgbClr val="9900FF"/>
              </a:solidFill>
            </a:endParaRPr>
          </a:p>
        </p:txBody>
      </p:sp>
      <p:sp>
        <p:nvSpPr>
          <p:cNvPr id="105" name="104 CuadroTexto"/>
          <p:cNvSpPr txBox="1"/>
          <p:nvPr/>
        </p:nvSpPr>
        <p:spPr>
          <a:xfrm>
            <a:off x="7025309" y="4481989"/>
            <a:ext cx="1499816" cy="646331"/>
          </a:xfrm>
          <a:prstGeom prst="rect">
            <a:avLst/>
          </a:prstGeom>
          <a:solidFill>
            <a:srgbClr val="99CCFF"/>
          </a:solidFill>
          <a:ln>
            <a:solidFill>
              <a:srgbClr val="0070C0"/>
            </a:solidFill>
          </a:ln>
        </p:spPr>
        <p:txBody>
          <a:bodyPr wrap="square" rtlCol="0">
            <a:spAutoFit/>
          </a:bodyPr>
          <a:lstStyle/>
          <a:p>
            <a:pPr algn="ctr"/>
            <a:r>
              <a:rPr lang="en-US" sz="1200" b="1" dirty="0" err="1">
                <a:solidFill>
                  <a:srgbClr val="0070C0"/>
                </a:solidFill>
              </a:rPr>
              <a:t>Op.Destino</a:t>
            </a:r>
            <a:r>
              <a:rPr lang="en-US" sz="1200" b="1" dirty="0">
                <a:solidFill>
                  <a:srgbClr val="0070C0"/>
                </a:solidFill>
              </a:rPr>
              <a:t>: </a:t>
            </a:r>
            <a:r>
              <a:rPr lang="en-US" sz="1200" b="1" dirty="0">
                <a:solidFill>
                  <a:srgbClr val="9900FF"/>
                </a:solidFill>
              </a:rPr>
              <a:t>R3</a:t>
            </a:r>
          </a:p>
          <a:p>
            <a:pPr algn="ctr"/>
            <a:r>
              <a:rPr lang="en-US" sz="1200" b="1" dirty="0">
                <a:solidFill>
                  <a:srgbClr val="0070C0"/>
                </a:solidFill>
              </a:rPr>
              <a:t>MD </a:t>
            </a:r>
            <a:r>
              <a:rPr lang="en-US" sz="1200" b="1" dirty="0" err="1">
                <a:solidFill>
                  <a:srgbClr val="0070C0"/>
                </a:solidFill>
              </a:rPr>
              <a:t>Directo</a:t>
            </a:r>
            <a:r>
              <a:rPr lang="en-US" sz="1200" b="1" dirty="0">
                <a:solidFill>
                  <a:srgbClr val="0070C0"/>
                </a:solidFill>
              </a:rPr>
              <a:t> de </a:t>
            </a:r>
            <a:r>
              <a:rPr lang="en-US" sz="1200" b="1" dirty="0" err="1">
                <a:solidFill>
                  <a:srgbClr val="0070C0"/>
                </a:solidFill>
              </a:rPr>
              <a:t>Registro</a:t>
            </a:r>
            <a:r>
              <a:rPr lang="en-US" sz="1200" b="1" dirty="0">
                <a:solidFill>
                  <a:srgbClr val="0070C0"/>
                </a:solidFill>
              </a:rPr>
              <a:t> = </a:t>
            </a:r>
            <a:r>
              <a:rPr lang="en-US" sz="1200" b="1" dirty="0">
                <a:solidFill>
                  <a:srgbClr val="9900FF"/>
                </a:solidFill>
              </a:rPr>
              <a:t>000</a:t>
            </a:r>
            <a:endParaRPr lang="es-NI" sz="1200" b="1" dirty="0">
              <a:solidFill>
                <a:srgbClr val="9900FF"/>
              </a:solidFill>
            </a:endParaRPr>
          </a:p>
        </p:txBody>
      </p:sp>
    </p:spTree>
    <p:extLst>
      <p:ext uri="{BB962C8B-B14F-4D97-AF65-F5344CB8AC3E}">
        <p14:creationId xmlns:p14="http://schemas.microsoft.com/office/powerpoint/2010/main" val="344269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33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34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435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8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2"/>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9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8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8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p:cTn id="60" dur="500" fill="hold"/>
                                        <p:tgtEl>
                                          <p:spTgt spid="12"/>
                                        </p:tgtEl>
                                        <p:attrNameLst>
                                          <p:attrName>ppt_w</p:attrName>
                                        </p:attrNameLst>
                                      </p:cBhvr>
                                      <p:tavLst>
                                        <p:tav tm="0">
                                          <p:val>
                                            <p:fltVal val="0"/>
                                          </p:val>
                                        </p:tav>
                                        <p:tav tm="100000">
                                          <p:val>
                                            <p:strVal val="#ppt_w"/>
                                          </p:val>
                                        </p:tav>
                                      </p:tavLst>
                                    </p:anim>
                                    <p:anim calcmode="lin" valueType="num">
                                      <p:cBhvr>
                                        <p:cTn id="61" dur="500" fill="hold"/>
                                        <p:tgtEl>
                                          <p:spTgt spid="12"/>
                                        </p:tgtEl>
                                        <p:attrNameLst>
                                          <p:attrName>ppt_h</p:attrName>
                                        </p:attrNameLst>
                                      </p:cBhvr>
                                      <p:tavLst>
                                        <p:tav tm="0">
                                          <p:val>
                                            <p:fltVal val="0"/>
                                          </p:val>
                                        </p:tav>
                                        <p:tav tm="100000">
                                          <p:val>
                                            <p:strVal val="#ppt_h"/>
                                          </p:val>
                                        </p:tav>
                                      </p:tavLst>
                                    </p:anim>
                                    <p:animEffect transition="in" filter="fade">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p:cTn id="71" dur="500" fill="hold"/>
                                        <p:tgtEl>
                                          <p:spTgt spid="4"/>
                                        </p:tgtEl>
                                        <p:attrNameLst>
                                          <p:attrName>ppt_w</p:attrName>
                                        </p:attrNameLst>
                                      </p:cBhvr>
                                      <p:tavLst>
                                        <p:tav tm="0">
                                          <p:val>
                                            <p:fltVal val="0"/>
                                          </p:val>
                                        </p:tav>
                                        <p:tav tm="100000">
                                          <p:val>
                                            <p:strVal val="#ppt_w"/>
                                          </p:val>
                                        </p:tav>
                                      </p:tavLst>
                                    </p:anim>
                                    <p:anim calcmode="lin" valueType="num">
                                      <p:cBhvr>
                                        <p:cTn id="72" dur="500" fill="hold"/>
                                        <p:tgtEl>
                                          <p:spTgt spid="4"/>
                                        </p:tgtEl>
                                        <p:attrNameLst>
                                          <p:attrName>ppt_h</p:attrName>
                                        </p:attrNameLst>
                                      </p:cBhvr>
                                      <p:tavLst>
                                        <p:tav tm="0">
                                          <p:val>
                                            <p:fltVal val="0"/>
                                          </p:val>
                                        </p:tav>
                                        <p:tav tm="100000">
                                          <p:val>
                                            <p:strVal val="#ppt_h"/>
                                          </p:val>
                                        </p:tav>
                                      </p:tavLst>
                                    </p:anim>
                                    <p:animEffect transition="in" filter="fade">
                                      <p:cBhvr>
                                        <p:cTn id="73" dur="500"/>
                                        <p:tgtEl>
                                          <p:spTgt spid="4"/>
                                        </p:tgtEl>
                                      </p:cBhvr>
                                    </p:animEffect>
                                  </p:childTnLst>
                                </p:cTn>
                              </p:par>
                              <p:par>
                                <p:cTn id="74" presetID="1" presetClass="entr" presetSubtype="0" fill="hold" grpId="0" nodeType="withEffect">
                                  <p:stCondLst>
                                    <p:cond delay="0"/>
                                  </p:stCondLst>
                                  <p:childTnLst>
                                    <p:set>
                                      <p:cBhvr>
                                        <p:cTn id="75"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104"/>
                                        </p:tgtEl>
                                        <p:attrNameLst>
                                          <p:attrName>style.visibility</p:attrName>
                                        </p:attrNameLst>
                                      </p:cBhvr>
                                      <p:to>
                                        <p:strVal val="visible"/>
                                      </p:to>
                                    </p:set>
                                    <p:anim calcmode="lin" valueType="num">
                                      <p:cBhvr>
                                        <p:cTn id="80" dur="500" fill="hold"/>
                                        <p:tgtEl>
                                          <p:spTgt spid="104"/>
                                        </p:tgtEl>
                                        <p:attrNameLst>
                                          <p:attrName>ppt_w</p:attrName>
                                        </p:attrNameLst>
                                      </p:cBhvr>
                                      <p:tavLst>
                                        <p:tav tm="0">
                                          <p:val>
                                            <p:fltVal val="0"/>
                                          </p:val>
                                        </p:tav>
                                        <p:tav tm="100000">
                                          <p:val>
                                            <p:strVal val="#ppt_w"/>
                                          </p:val>
                                        </p:tav>
                                      </p:tavLst>
                                    </p:anim>
                                    <p:anim calcmode="lin" valueType="num">
                                      <p:cBhvr>
                                        <p:cTn id="81" dur="500" fill="hold"/>
                                        <p:tgtEl>
                                          <p:spTgt spid="104"/>
                                        </p:tgtEl>
                                        <p:attrNameLst>
                                          <p:attrName>ppt_h</p:attrName>
                                        </p:attrNameLst>
                                      </p:cBhvr>
                                      <p:tavLst>
                                        <p:tav tm="0">
                                          <p:val>
                                            <p:fltVal val="0"/>
                                          </p:val>
                                        </p:tav>
                                        <p:tav tm="100000">
                                          <p:val>
                                            <p:strVal val="#ppt_h"/>
                                          </p:val>
                                        </p:tav>
                                      </p:tavLst>
                                    </p:anim>
                                    <p:animEffect transition="in" filter="fade">
                                      <p:cBhvr>
                                        <p:cTn id="82" dur="500"/>
                                        <p:tgtEl>
                                          <p:spTgt spid="104"/>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 calcmode="lin" valueType="num">
                                      <p:cBhvr>
                                        <p:cTn id="87" dur="500" fill="hold"/>
                                        <p:tgtEl>
                                          <p:spTgt spid="15"/>
                                        </p:tgtEl>
                                        <p:attrNameLst>
                                          <p:attrName>ppt_w</p:attrName>
                                        </p:attrNameLst>
                                      </p:cBhvr>
                                      <p:tavLst>
                                        <p:tav tm="0">
                                          <p:val>
                                            <p:fltVal val="0"/>
                                          </p:val>
                                        </p:tav>
                                        <p:tav tm="100000">
                                          <p:val>
                                            <p:strVal val="#ppt_w"/>
                                          </p:val>
                                        </p:tav>
                                      </p:tavLst>
                                    </p:anim>
                                    <p:anim calcmode="lin" valueType="num">
                                      <p:cBhvr>
                                        <p:cTn id="88" dur="500" fill="hold"/>
                                        <p:tgtEl>
                                          <p:spTgt spid="15"/>
                                        </p:tgtEl>
                                        <p:attrNameLst>
                                          <p:attrName>ppt_h</p:attrName>
                                        </p:attrNameLst>
                                      </p:cBhvr>
                                      <p:tavLst>
                                        <p:tav tm="0">
                                          <p:val>
                                            <p:fltVal val="0"/>
                                          </p:val>
                                        </p:tav>
                                        <p:tav tm="100000">
                                          <p:val>
                                            <p:strVal val="#ppt_h"/>
                                          </p:val>
                                        </p:tav>
                                      </p:tavLst>
                                    </p:anim>
                                    <p:animEffect transition="in" filter="fade">
                                      <p:cBhvr>
                                        <p:cTn id="89" dur="500"/>
                                        <p:tgtEl>
                                          <p:spTgt spid="15"/>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1435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73"/>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14348"/>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9"/>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nodeType="clickEffect">
                                  <p:stCondLst>
                                    <p:cond delay="0"/>
                                  </p:stCondLst>
                                  <p:childTnLst>
                                    <p:set>
                                      <p:cBhvr>
                                        <p:cTn id="105" dur="1" fill="hold">
                                          <p:stCondLst>
                                            <p:cond delay="0"/>
                                          </p:stCondLst>
                                        </p:cTn>
                                        <p:tgtEl>
                                          <p:spTgt spid="14336"/>
                                        </p:tgtEl>
                                        <p:attrNameLst>
                                          <p:attrName>style.visibility</p:attrName>
                                        </p:attrNameLst>
                                      </p:cBhvr>
                                      <p:to>
                                        <p:strVal val="visible"/>
                                      </p:to>
                                    </p:set>
                                    <p:anim calcmode="lin" valueType="num">
                                      <p:cBhvr>
                                        <p:cTn id="106" dur="500" fill="hold"/>
                                        <p:tgtEl>
                                          <p:spTgt spid="14336"/>
                                        </p:tgtEl>
                                        <p:attrNameLst>
                                          <p:attrName>ppt_w</p:attrName>
                                        </p:attrNameLst>
                                      </p:cBhvr>
                                      <p:tavLst>
                                        <p:tav tm="0">
                                          <p:val>
                                            <p:fltVal val="0"/>
                                          </p:val>
                                        </p:tav>
                                        <p:tav tm="100000">
                                          <p:val>
                                            <p:strVal val="#ppt_w"/>
                                          </p:val>
                                        </p:tav>
                                      </p:tavLst>
                                    </p:anim>
                                    <p:anim calcmode="lin" valueType="num">
                                      <p:cBhvr>
                                        <p:cTn id="107" dur="500" fill="hold"/>
                                        <p:tgtEl>
                                          <p:spTgt spid="14336"/>
                                        </p:tgtEl>
                                        <p:attrNameLst>
                                          <p:attrName>ppt_h</p:attrName>
                                        </p:attrNameLst>
                                      </p:cBhvr>
                                      <p:tavLst>
                                        <p:tav tm="0">
                                          <p:val>
                                            <p:fltVal val="0"/>
                                          </p:val>
                                        </p:tav>
                                        <p:tav tm="100000">
                                          <p:val>
                                            <p:strVal val="#ppt_h"/>
                                          </p:val>
                                        </p:tav>
                                      </p:tavLst>
                                    </p:anim>
                                    <p:animEffect transition="in" filter="fade">
                                      <p:cBhvr>
                                        <p:cTn id="108" dur="500"/>
                                        <p:tgtEl>
                                          <p:spTgt spid="14336"/>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435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0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53" presetClass="entr" presetSubtype="16" fill="hold" nodeType="clickEffect">
                                  <p:stCondLst>
                                    <p:cond delay="0"/>
                                  </p:stCondLst>
                                  <p:childTnLst>
                                    <p:set>
                                      <p:cBhvr>
                                        <p:cTn id="124" dur="1" fill="hold">
                                          <p:stCondLst>
                                            <p:cond delay="0"/>
                                          </p:stCondLst>
                                        </p:cTn>
                                        <p:tgtEl>
                                          <p:spTgt spid="14337"/>
                                        </p:tgtEl>
                                        <p:attrNameLst>
                                          <p:attrName>style.visibility</p:attrName>
                                        </p:attrNameLst>
                                      </p:cBhvr>
                                      <p:to>
                                        <p:strVal val="visible"/>
                                      </p:to>
                                    </p:set>
                                    <p:anim calcmode="lin" valueType="num">
                                      <p:cBhvr>
                                        <p:cTn id="125" dur="500" fill="hold"/>
                                        <p:tgtEl>
                                          <p:spTgt spid="14337"/>
                                        </p:tgtEl>
                                        <p:attrNameLst>
                                          <p:attrName>ppt_w</p:attrName>
                                        </p:attrNameLst>
                                      </p:cBhvr>
                                      <p:tavLst>
                                        <p:tav tm="0">
                                          <p:val>
                                            <p:fltVal val="0"/>
                                          </p:val>
                                        </p:tav>
                                        <p:tav tm="100000">
                                          <p:val>
                                            <p:strVal val="#ppt_w"/>
                                          </p:val>
                                        </p:tav>
                                      </p:tavLst>
                                    </p:anim>
                                    <p:anim calcmode="lin" valueType="num">
                                      <p:cBhvr>
                                        <p:cTn id="126" dur="500" fill="hold"/>
                                        <p:tgtEl>
                                          <p:spTgt spid="14337"/>
                                        </p:tgtEl>
                                        <p:attrNameLst>
                                          <p:attrName>ppt_h</p:attrName>
                                        </p:attrNameLst>
                                      </p:cBhvr>
                                      <p:tavLst>
                                        <p:tav tm="0">
                                          <p:val>
                                            <p:fltVal val="0"/>
                                          </p:val>
                                        </p:tav>
                                        <p:tav tm="100000">
                                          <p:val>
                                            <p:strVal val="#ppt_h"/>
                                          </p:val>
                                        </p:tav>
                                      </p:tavLst>
                                    </p:anim>
                                    <p:animEffect transition="in" filter="fade">
                                      <p:cBhvr>
                                        <p:cTn id="127" dur="500"/>
                                        <p:tgtEl>
                                          <p:spTgt spid="14337"/>
                                        </p:tgtEl>
                                      </p:cBhvr>
                                    </p:animEffec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nodeType="clickEffect">
                                  <p:stCondLst>
                                    <p:cond delay="0"/>
                                  </p:stCondLst>
                                  <p:childTnLst>
                                    <p:set>
                                      <p:cBhvr>
                                        <p:cTn id="131" dur="1" fill="hold">
                                          <p:stCondLst>
                                            <p:cond delay="0"/>
                                          </p:stCondLst>
                                        </p:cTn>
                                        <p:tgtEl>
                                          <p:spTgt spid="94"/>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97"/>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14362"/>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101"/>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53" presetClass="entr" presetSubtype="16" fill="hold" nodeType="clickEffect">
                                  <p:stCondLst>
                                    <p:cond delay="0"/>
                                  </p:stCondLst>
                                  <p:childTnLst>
                                    <p:set>
                                      <p:cBhvr>
                                        <p:cTn id="143" dur="1" fill="hold">
                                          <p:stCondLst>
                                            <p:cond delay="0"/>
                                          </p:stCondLst>
                                        </p:cTn>
                                        <p:tgtEl>
                                          <p:spTgt spid="14338"/>
                                        </p:tgtEl>
                                        <p:attrNameLst>
                                          <p:attrName>style.visibility</p:attrName>
                                        </p:attrNameLst>
                                      </p:cBhvr>
                                      <p:to>
                                        <p:strVal val="visible"/>
                                      </p:to>
                                    </p:set>
                                    <p:anim calcmode="lin" valueType="num">
                                      <p:cBhvr>
                                        <p:cTn id="144" dur="500" fill="hold"/>
                                        <p:tgtEl>
                                          <p:spTgt spid="14338"/>
                                        </p:tgtEl>
                                        <p:attrNameLst>
                                          <p:attrName>ppt_w</p:attrName>
                                        </p:attrNameLst>
                                      </p:cBhvr>
                                      <p:tavLst>
                                        <p:tav tm="0">
                                          <p:val>
                                            <p:fltVal val="0"/>
                                          </p:val>
                                        </p:tav>
                                        <p:tav tm="100000">
                                          <p:val>
                                            <p:strVal val="#ppt_w"/>
                                          </p:val>
                                        </p:tav>
                                      </p:tavLst>
                                    </p:anim>
                                    <p:anim calcmode="lin" valueType="num">
                                      <p:cBhvr>
                                        <p:cTn id="145" dur="500" fill="hold"/>
                                        <p:tgtEl>
                                          <p:spTgt spid="14338"/>
                                        </p:tgtEl>
                                        <p:attrNameLst>
                                          <p:attrName>ppt_h</p:attrName>
                                        </p:attrNameLst>
                                      </p:cBhvr>
                                      <p:tavLst>
                                        <p:tav tm="0">
                                          <p:val>
                                            <p:fltVal val="0"/>
                                          </p:val>
                                        </p:tav>
                                        <p:tav tm="100000">
                                          <p:val>
                                            <p:strVal val="#ppt_h"/>
                                          </p:val>
                                        </p:tav>
                                      </p:tavLst>
                                    </p:anim>
                                    <p:animEffect transition="in" filter="fade">
                                      <p:cBhvr>
                                        <p:cTn id="146" dur="500"/>
                                        <p:tgtEl>
                                          <p:spTgt spid="14338"/>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98"/>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0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4339" grpId="0" animBg="1"/>
      <p:bldP spid="14340" grpId="0"/>
      <p:bldP spid="69" grpId="0" animBg="1"/>
      <p:bldP spid="73" grpId="0" animBg="1"/>
      <p:bldP spid="78" grpId="0" animBg="1"/>
      <p:bldP spid="80" grpId="0" animBg="1"/>
      <p:bldP spid="84" grpId="0" animBg="1"/>
      <p:bldP spid="85" grpId="0" animBg="1"/>
      <p:bldP spid="86" grpId="0" animBg="1"/>
      <p:bldP spid="87" grpId="0" animBg="1"/>
      <p:bldP spid="97" grpId="0" animBg="1"/>
      <p:bldP spid="98" grpId="0" animBg="1"/>
      <p:bldP spid="99" grpId="0" animBg="1"/>
      <p:bldP spid="101" grpId="0" animBg="1"/>
      <p:bldP spid="104" grpId="0" animBg="1"/>
      <p:bldP spid="105"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dad">
  <a:themeElements>
    <a:clrScheme name="Claridad">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Clásico de Office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dad">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4856</TotalTime>
  <Words>4594</Words>
  <Application>Microsoft Office PowerPoint</Application>
  <PresentationFormat>Presentación en pantalla (16:9)</PresentationFormat>
  <Paragraphs>783</Paragraphs>
  <Slides>59</Slides>
  <Notes>1</Notes>
  <HiddenSlides>0</HiddenSlides>
  <MMClips>0</MMClips>
  <ScaleCrop>false</ScaleCrop>
  <HeadingPairs>
    <vt:vector size="8" baseType="variant">
      <vt:variant>
        <vt:lpstr>Fuentes usadas</vt:lpstr>
      </vt:variant>
      <vt:variant>
        <vt:i4>11</vt:i4>
      </vt:variant>
      <vt:variant>
        <vt:lpstr>Tema</vt:lpstr>
      </vt:variant>
      <vt:variant>
        <vt:i4>1</vt:i4>
      </vt:variant>
      <vt:variant>
        <vt:lpstr>Servidores OLE incrustados</vt:lpstr>
      </vt:variant>
      <vt:variant>
        <vt:i4>3</vt:i4>
      </vt:variant>
      <vt:variant>
        <vt:lpstr>Títulos de diapositiva</vt:lpstr>
      </vt:variant>
      <vt:variant>
        <vt:i4>59</vt:i4>
      </vt:variant>
    </vt:vector>
  </HeadingPairs>
  <TitlesOfParts>
    <vt:vector size="74" baseType="lpstr">
      <vt:lpstr>Arial</vt:lpstr>
      <vt:lpstr>Calibri</vt:lpstr>
      <vt:lpstr>Candara</vt:lpstr>
      <vt:lpstr>Edwardian Script ITC</vt:lpstr>
      <vt:lpstr>Garamond</vt:lpstr>
      <vt:lpstr>Kunstler Script</vt:lpstr>
      <vt:lpstr>Symbol</vt:lpstr>
      <vt:lpstr>Times New Roman</vt:lpstr>
      <vt:lpstr>Vladimir Script</vt:lpstr>
      <vt:lpstr>Wingdings</vt:lpstr>
      <vt:lpstr>Wingdings 2</vt:lpstr>
      <vt:lpstr>Claridad</vt:lpstr>
      <vt:lpstr>Visio</vt:lpstr>
      <vt:lpstr>Ecuación</vt:lpstr>
      <vt:lpstr>ShapewareVISIO20</vt:lpstr>
      <vt:lpstr>diseÑo del  Conjunto de Instrucciones</vt:lpstr>
      <vt:lpstr>Conjunto de Instrucciones</vt:lpstr>
      <vt:lpstr>Características del Conjunto de Instrucciones</vt:lpstr>
      <vt:lpstr>Instrucción</vt:lpstr>
      <vt:lpstr>Tipos de Instrucciones</vt:lpstr>
      <vt:lpstr>Formato de Instrucción</vt:lpstr>
      <vt:lpstr>Formato de Instrucción</vt:lpstr>
      <vt:lpstr>Formato de Instrucción</vt:lpstr>
      <vt:lpstr>Codificación de la Operación</vt:lpstr>
      <vt:lpstr>Código de Bloque Fijo</vt:lpstr>
      <vt:lpstr>Código de Bloque Fijo</vt:lpstr>
      <vt:lpstr>Código de Bloque Fijo</vt:lpstr>
      <vt:lpstr>Código de Bloque Fijo</vt:lpstr>
      <vt:lpstr>Código de Bloque Fijo</vt:lpstr>
      <vt:lpstr>Código de Bloque Fijo</vt:lpstr>
      <vt:lpstr>Código de Bloque Extendido</vt:lpstr>
      <vt:lpstr>Código de Bloque Extendido</vt:lpstr>
      <vt:lpstr>Código de Bloque Extendido</vt:lpstr>
      <vt:lpstr>Código de Bloque Extendido</vt:lpstr>
      <vt:lpstr>Técnica de Huffman</vt:lpstr>
      <vt:lpstr>Técnica de Huffman</vt:lpstr>
      <vt:lpstr>Técnica de Huffman</vt:lpstr>
      <vt:lpstr>Presentación de PowerPoint</vt:lpstr>
      <vt:lpstr>Técnica de Huffman</vt:lpstr>
      <vt:lpstr>Técnica de Huffman</vt:lpstr>
      <vt:lpstr>Técnica de Huffman</vt:lpstr>
      <vt:lpstr>Técnica de Huffman</vt:lpstr>
      <vt:lpstr>Técnica de Huffman</vt:lpstr>
      <vt:lpstr>Técnica de Huffman</vt:lpstr>
      <vt:lpstr>Técnica de Huffman</vt:lpstr>
      <vt:lpstr>Campos de Dirección</vt:lpstr>
      <vt:lpstr>Campos de Dirección</vt:lpstr>
      <vt:lpstr>Modos de Direccionamiento</vt:lpstr>
      <vt:lpstr>Modos Básicos</vt:lpstr>
      <vt:lpstr>Modos Básicos</vt:lpstr>
      <vt:lpstr>Modos Básicos</vt:lpstr>
      <vt:lpstr>Modos Básicos</vt:lpstr>
      <vt:lpstr>Modos Básicos</vt:lpstr>
      <vt:lpstr>Modos Básicos</vt:lpstr>
      <vt:lpstr>Modos Básicos</vt:lpstr>
      <vt:lpstr>Modos Básicos</vt:lpstr>
      <vt:lpstr>Modos Básicos</vt:lpstr>
      <vt:lpstr>Modos Básicos</vt:lpstr>
      <vt:lpstr>Modos Básicos</vt:lpstr>
      <vt:lpstr>Modos Básicos</vt:lpstr>
      <vt:lpstr>Modos Básicos</vt:lpstr>
      <vt:lpstr>Modos Básicos</vt:lpstr>
      <vt:lpstr>Modos Compuestos o Desplazados</vt:lpstr>
      <vt:lpstr>Modos Compuestos o Desplazados</vt:lpstr>
      <vt:lpstr>Modos Compuestos o Desplazados</vt:lpstr>
      <vt:lpstr>Modos Compuestos o Desplazados</vt:lpstr>
      <vt:lpstr>Modos Compuestos o Desplazados</vt:lpstr>
      <vt:lpstr>Modos Compuestos o desplazados</vt:lpstr>
      <vt:lpstr>Modos Compuestos o Desplazados</vt:lpstr>
      <vt:lpstr>Modos Compuestos o Desplazados</vt:lpstr>
      <vt:lpstr>Modos Compuestos o Desplazados</vt:lpstr>
      <vt:lpstr>Codificación del operando</vt:lpstr>
      <vt:lpstr>Codificación del operando</vt:lpstr>
      <vt:lpstr>Codificación de la Instrucción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ING. MARLOVIO JOSE SEVILLA HERNANDEZ</dc:creator>
  <cp:lastModifiedBy>UNI-ADMON</cp:lastModifiedBy>
  <cp:revision>318</cp:revision>
  <dcterms:created xsi:type="dcterms:W3CDTF">2010-05-23T14:28:12Z</dcterms:created>
  <dcterms:modified xsi:type="dcterms:W3CDTF">2025-10-14T21:27:06Z</dcterms:modified>
</cp:coreProperties>
</file>