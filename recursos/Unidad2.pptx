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2" r:id="rId10"/>
    <p:sldId id="261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4" r:id="rId27"/>
    <p:sldId id="281" r:id="rId28"/>
    <p:sldId id="294" r:id="rId29"/>
    <p:sldId id="282" r:id="rId30"/>
    <p:sldId id="286" r:id="rId31"/>
    <p:sldId id="287" r:id="rId32"/>
    <p:sldId id="288" r:id="rId33"/>
    <p:sldId id="289" r:id="rId34"/>
    <p:sldId id="283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2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8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1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NI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8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5"/>
            <a:ext cx="4040188" cy="394176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1444295"/>
            <a:ext cx="4041775" cy="394176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3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4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3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5944937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5939012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4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30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499273" y="5944937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5939012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4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dirty="0"/>
              <a:t>Haga clic para modificar el estilo de texto del patrón</a:t>
            </a:r>
          </a:p>
          <a:p>
            <a:pPr lvl="1" eaLnBrk="1" latinLnBrk="0" hangingPunct="1"/>
            <a:r>
              <a:rPr kumimoji="0" lang="es-ES" dirty="0"/>
              <a:t>Segundo nivel</a:t>
            </a:r>
          </a:p>
          <a:p>
            <a:pPr lvl="2" eaLnBrk="1" latinLnBrk="0" hangingPunct="1"/>
            <a:r>
              <a:rPr kumimoji="0" lang="es-ES" dirty="0"/>
              <a:t>Tercer nivel</a:t>
            </a:r>
          </a:p>
          <a:p>
            <a:pPr lvl="3" eaLnBrk="1" latinLnBrk="0" hangingPunct="1"/>
            <a:r>
              <a:rPr kumimoji="0" lang="es-ES" dirty="0"/>
              <a:t>Cuarto nivel</a:t>
            </a:r>
          </a:p>
          <a:p>
            <a:pPr lvl="4" eaLnBrk="1" latinLnBrk="0" hangingPunct="1"/>
            <a:r>
              <a:rPr kumimoji="0" lang="es-ES" dirty="0"/>
              <a:t>Quinto nivel</a:t>
            </a:r>
            <a:endParaRPr kumimoji="0" lang="en-US" dirty="0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9E85250-8B1C-4044-88CB-FECC9DFF872D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4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NI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7003FB2-0E89-4757-9954-261BF2CEB87F}" type="slidenum">
              <a:rPr lang="es-NI" smtClean="0"/>
              <a:t>‹Nº›</a:t>
            </a:fld>
            <a:endParaRPr lang="es-NI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179512" y="6405475"/>
            <a:ext cx="321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Xdc</a:t>
            </a:r>
            <a:r>
              <a:rPr lang="en-US" dirty="0"/>
              <a:t>. 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1787218"/>
            <a:ext cx="4680520" cy="3111808"/>
          </a:xfrm>
        </p:spPr>
        <p:txBody>
          <a:bodyPr>
            <a:noAutofit/>
          </a:bodyPr>
          <a:lstStyle/>
          <a:p>
            <a:r>
              <a:rPr lang="en-US" sz="4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Unidad</a:t>
            </a:r>
            <a:r>
              <a:rPr lang="en-US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 </a:t>
            </a:r>
            <a:r>
              <a:rPr lang="en-US" sz="4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Organización</a:t>
            </a:r>
            <a:r>
              <a:rPr lang="en-US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 CPU</a:t>
            </a:r>
            <a:endParaRPr lang="es-NI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11760" y="199727"/>
            <a:ext cx="6336704" cy="1433518"/>
          </a:xfrm>
        </p:spPr>
        <p:txBody>
          <a:bodyPr>
            <a:normAutofit/>
          </a:bodyPr>
          <a:lstStyle/>
          <a:p>
            <a:r>
              <a:rPr lang="en-US" b="1" dirty="0">
                <a:latin typeface="Candara" pitchFamily="34" charset="0"/>
              </a:rPr>
              <a:t>Universidad Nacional de </a:t>
            </a:r>
            <a:r>
              <a:rPr lang="en-US" b="1" dirty="0" err="1">
                <a:latin typeface="Candara" pitchFamily="34" charset="0"/>
              </a:rPr>
              <a:t>Ingeniería</a:t>
            </a:r>
            <a:endParaRPr lang="en-US" sz="2400" b="1" dirty="0">
              <a:solidFill>
                <a:schemeClr val="accent4">
                  <a:lumMod val="40000"/>
                  <a:lumOff val="60000"/>
                </a:schemeClr>
              </a:solidFill>
              <a:latin typeface="Candara" pitchFamily="34" charset="0"/>
            </a:endParaRPr>
          </a:p>
          <a:p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Arquitectura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 de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Máquinas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Computadoras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itchFamily="34" charset="0"/>
              </a:rPr>
              <a:t> II</a:t>
            </a:r>
            <a:endParaRPr lang="es-NI" sz="2400" b="1" dirty="0">
              <a:solidFill>
                <a:schemeClr val="accent1">
                  <a:lumMod val="60000"/>
                  <a:lumOff val="40000"/>
                </a:schemeClr>
              </a:solidFill>
              <a:latin typeface="Candara" pitchFamily="34" charset="0"/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8640"/>
            <a:ext cx="1872208" cy="1444606"/>
          </a:xfrm>
          <a:prstGeom prst="rect">
            <a:avLst/>
          </a:prstGeom>
        </p:spPr>
      </p:pic>
      <p:sp>
        <p:nvSpPr>
          <p:cNvPr id="5" name="4 CuadroTexto"/>
          <p:cNvSpPr txBox="1"/>
          <p:nvPr/>
        </p:nvSpPr>
        <p:spPr>
          <a:xfrm>
            <a:off x="2483768" y="6403014"/>
            <a:ext cx="5976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/>
              <a:t>Docente:Ing</a:t>
            </a:r>
            <a:r>
              <a:rPr lang="en-US" sz="1600" dirty="0"/>
              <a:t>. Israel Polanco Moreno</a:t>
            </a:r>
            <a:endParaRPr lang="es-NI" sz="1600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787217"/>
            <a:ext cx="3391024" cy="30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1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2.1. El </a:t>
            </a:r>
            <a:r>
              <a:rPr lang="en-US" dirty="0" err="1"/>
              <a:t>Procesador</a:t>
            </a:r>
            <a:r>
              <a:rPr lang="en-US" dirty="0"/>
              <a:t> </a:t>
            </a:r>
          </a:p>
          <a:p>
            <a:r>
              <a:rPr lang="en-US" dirty="0"/>
              <a:t>2.2. 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endParaRPr lang="en-US" dirty="0"/>
          </a:p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estructurar</a:t>
            </a:r>
            <a:r>
              <a:rPr lang="en-US" dirty="0"/>
              <a:t> el </a:t>
            </a:r>
            <a:r>
              <a:rPr lang="en-US" dirty="0" err="1"/>
              <a:t>procesador</a:t>
            </a:r>
            <a:endParaRPr lang="en-US" dirty="0"/>
          </a:p>
          <a:p>
            <a:r>
              <a:rPr lang="en-US" dirty="0"/>
              <a:t>2.4.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básica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n-US" dirty="0"/>
          </a:p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n-US" dirty="0"/>
          </a:p>
          <a:p>
            <a:pPr lvl="1"/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acumulador</a:t>
            </a:r>
            <a:endParaRPr lang="en-US" dirty="0"/>
          </a:p>
          <a:p>
            <a:pPr lvl="1"/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pila</a:t>
            </a:r>
            <a:endParaRPr lang="en-US" dirty="0"/>
          </a:p>
          <a:p>
            <a:pPr lvl="1"/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registros</a:t>
            </a:r>
            <a:endParaRPr lang="en-US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Organización</a:t>
            </a:r>
            <a:r>
              <a:rPr lang="en-US" dirty="0"/>
              <a:t> del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89897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?, </a:t>
            </a: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el </a:t>
            </a:r>
            <a:r>
              <a:rPr lang="en-US" dirty="0" err="1"/>
              <a:t>trabajo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r>
              <a:rPr lang="en-US" dirty="0"/>
              <a:t>?</a:t>
            </a:r>
          </a:p>
          <a:p>
            <a:r>
              <a:rPr lang="en-US" dirty="0"/>
              <a:t>&gt;&gt; </a:t>
            </a:r>
            <a:r>
              <a:rPr lang="en-US" dirty="0" err="1">
                <a:solidFill>
                  <a:srgbClr val="FF0000"/>
                </a:solidFill>
              </a:rPr>
              <a:t>Ejecutar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instrucciones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lo </a:t>
            </a:r>
            <a:r>
              <a:rPr lang="en-US" dirty="0" err="1"/>
              <a:t>hace</a:t>
            </a:r>
            <a:r>
              <a:rPr lang="en-US" dirty="0"/>
              <a:t>?</a:t>
            </a:r>
          </a:p>
          <a:p>
            <a:r>
              <a:rPr lang="en-US" dirty="0"/>
              <a:t>&gt;&gt; </a:t>
            </a:r>
            <a:r>
              <a:rPr lang="en-US" dirty="0" err="1">
                <a:solidFill>
                  <a:srgbClr val="FF0000"/>
                </a:solidFill>
              </a:rPr>
              <a:t>Procedimiento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ADD AX, [10]</a:t>
            </a:r>
            <a:endParaRPr lang="es-NI" dirty="0">
              <a:solidFill>
                <a:srgbClr val="FF0000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2.1. El </a:t>
            </a:r>
            <a:r>
              <a:rPr lang="en-US" dirty="0" err="1"/>
              <a:t>procesador</a:t>
            </a:r>
            <a:endParaRPr lang="es-NI" dirty="0"/>
          </a:p>
        </p:txBody>
      </p:sp>
      <p:pic>
        <p:nvPicPr>
          <p:cNvPr id="1026" name="Picture 2" descr="http://www.geekalerts.com/u/walle-lapto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297834"/>
            <a:ext cx="3312368" cy="414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86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7715200" cy="518457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Procedimiento</a:t>
            </a:r>
            <a:r>
              <a:rPr lang="en-US" dirty="0"/>
              <a:t> </a:t>
            </a:r>
            <a:r>
              <a:rPr lang="en-US" dirty="0" err="1"/>
              <a:t>bien</a:t>
            </a:r>
            <a:r>
              <a:rPr lang="en-US" dirty="0"/>
              <a:t> </a:t>
            </a:r>
            <a:r>
              <a:rPr lang="en-US" dirty="0" err="1"/>
              <a:t>establecido</a:t>
            </a:r>
            <a:endParaRPr lang="en-US" dirty="0"/>
          </a:p>
          <a:p>
            <a:r>
              <a:rPr lang="en-US" dirty="0" err="1"/>
              <a:t>Fases</a:t>
            </a:r>
            <a:r>
              <a:rPr lang="en-US" dirty="0"/>
              <a:t>(o sub </a:t>
            </a:r>
            <a:r>
              <a:rPr lang="en-US" dirty="0" err="1"/>
              <a:t>ciclos</a:t>
            </a:r>
            <a:r>
              <a:rPr lang="en-US" dirty="0"/>
              <a:t>): </a:t>
            </a:r>
            <a:r>
              <a:rPr lang="en-US" dirty="0" err="1"/>
              <a:t>búsqueda</a:t>
            </a:r>
            <a:r>
              <a:rPr lang="en-US" dirty="0"/>
              <a:t>  y </a:t>
            </a:r>
            <a:r>
              <a:rPr lang="en-US" dirty="0" err="1"/>
              <a:t>ejecución</a:t>
            </a:r>
            <a:r>
              <a:rPr lang="en-US" dirty="0"/>
              <a:t> (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fase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etapas</a:t>
            </a:r>
            <a:r>
              <a:rPr lang="en-US" dirty="0"/>
              <a:t> o </a:t>
            </a:r>
            <a:r>
              <a:rPr lang="en-US" dirty="0" err="1"/>
              <a:t>actividades</a:t>
            </a:r>
            <a:r>
              <a:rPr lang="en-US" dirty="0"/>
              <a:t>)</a:t>
            </a:r>
          </a:p>
          <a:p>
            <a:endParaRPr lang="en-US" sz="1900" dirty="0"/>
          </a:p>
          <a:p>
            <a:pPr lvl="1" hangingPunct="0"/>
            <a:r>
              <a:rPr lang="es-ES" dirty="0"/>
              <a:t>FASE FETCH</a:t>
            </a:r>
            <a:endParaRPr lang="es-NI" dirty="0"/>
          </a:p>
          <a:p>
            <a:pPr lvl="3"/>
            <a:r>
              <a:rPr lang="es-ES" dirty="0"/>
              <a:t>Cargar la siguiente instrucción</a:t>
            </a:r>
            <a:endParaRPr lang="es-NI" dirty="0"/>
          </a:p>
          <a:p>
            <a:pPr lvl="3"/>
            <a:r>
              <a:rPr lang="es-ES" dirty="0"/>
              <a:t>Incrementar el secuenciador</a:t>
            </a:r>
            <a:endParaRPr lang="es-NI" dirty="0"/>
          </a:p>
          <a:p>
            <a:pPr lvl="3"/>
            <a:r>
              <a:rPr lang="es-ES" dirty="0"/>
              <a:t>Interpretar la Instrucción</a:t>
            </a:r>
          </a:p>
          <a:p>
            <a:pPr lvl="3"/>
            <a:endParaRPr lang="es-NI" dirty="0"/>
          </a:p>
          <a:p>
            <a:pPr lvl="1" hangingPunct="0"/>
            <a:r>
              <a:rPr lang="es-ES" dirty="0"/>
              <a:t>FASE EXECUTE</a:t>
            </a:r>
            <a:endParaRPr lang="es-NI" dirty="0"/>
          </a:p>
          <a:p>
            <a:pPr lvl="3"/>
            <a:r>
              <a:rPr lang="es-ES" dirty="0"/>
              <a:t>Cargar los operandos</a:t>
            </a:r>
            <a:endParaRPr lang="es-NI" dirty="0"/>
          </a:p>
          <a:p>
            <a:pPr lvl="3"/>
            <a:r>
              <a:rPr lang="es-ES" dirty="0"/>
              <a:t>Ejecutar la operación</a:t>
            </a:r>
            <a:endParaRPr lang="es-NI" dirty="0"/>
          </a:p>
          <a:p>
            <a:pPr lvl="3"/>
            <a:r>
              <a:rPr lang="es-ES" dirty="0"/>
              <a:t>Guardar el resultado </a:t>
            </a:r>
            <a:endParaRPr lang="es-NI" dirty="0"/>
          </a:p>
          <a:p>
            <a:pPr lvl="3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endParaRPr lang="es-NI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780928"/>
            <a:ext cx="20574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854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1583290"/>
            <a:ext cx="8229600" cy="1557678"/>
          </a:xfrm>
        </p:spPr>
        <p:txBody>
          <a:bodyPr>
            <a:normAutofit/>
          </a:bodyPr>
          <a:lstStyle/>
          <a:p>
            <a:r>
              <a:rPr lang="en-US" dirty="0"/>
              <a:t>CPU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construido</a:t>
            </a:r>
            <a:r>
              <a:rPr lang="en-US" dirty="0"/>
              <a:t> con </a:t>
            </a:r>
            <a:r>
              <a:rPr lang="en-US" dirty="0" err="1"/>
              <a:t>electrónica</a:t>
            </a:r>
            <a:r>
              <a:rPr lang="en-US" dirty="0"/>
              <a:t> digital</a:t>
            </a:r>
          </a:p>
          <a:p>
            <a:r>
              <a:rPr lang="en-US" dirty="0" err="1"/>
              <a:t>Basado</a:t>
            </a:r>
            <a:r>
              <a:rPr lang="en-US" dirty="0"/>
              <a:t> en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conocemos</a:t>
            </a:r>
            <a:r>
              <a:rPr lang="en-US" dirty="0"/>
              <a:t>:</a:t>
            </a:r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2783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21" name="20 Grupo"/>
          <p:cNvGrpSpPr/>
          <p:nvPr/>
        </p:nvGrpSpPr>
        <p:grpSpPr>
          <a:xfrm>
            <a:off x="1114955" y="3573016"/>
            <a:ext cx="1296144" cy="612648"/>
            <a:chOff x="1115616" y="3356992"/>
            <a:chExt cx="1296144" cy="612648"/>
          </a:xfrm>
        </p:grpSpPr>
        <p:cxnSp>
          <p:nvCxnSpPr>
            <p:cNvPr id="18" name="17 Conector recto"/>
            <p:cNvCxnSpPr/>
            <p:nvPr/>
          </p:nvCxnSpPr>
          <p:spPr>
            <a:xfrm>
              <a:off x="1115616" y="3501008"/>
              <a:ext cx="360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115616" y="3861048"/>
              <a:ext cx="360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>
              <a:off x="2051720" y="3645024"/>
              <a:ext cx="360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9 Retraso"/>
            <p:cNvSpPr/>
            <p:nvPr/>
          </p:nvSpPr>
          <p:spPr>
            <a:xfrm>
              <a:off x="1475656" y="3356992"/>
              <a:ext cx="612648" cy="612648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grpSp>
        <p:nvGrpSpPr>
          <p:cNvPr id="27" name="26 Grupo"/>
          <p:cNvGrpSpPr/>
          <p:nvPr/>
        </p:nvGrpSpPr>
        <p:grpSpPr>
          <a:xfrm rot="16200000">
            <a:off x="1385608" y="4886500"/>
            <a:ext cx="791428" cy="1116124"/>
            <a:chOff x="1619672" y="4797152"/>
            <a:chExt cx="791427" cy="1116124"/>
          </a:xfrm>
        </p:grpSpPr>
        <p:sp>
          <p:nvSpPr>
            <p:cNvPr id="22" name="21 Operación manual"/>
            <p:cNvSpPr/>
            <p:nvPr/>
          </p:nvSpPr>
          <p:spPr>
            <a:xfrm>
              <a:off x="1619672" y="5121188"/>
              <a:ext cx="791427" cy="468052"/>
            </a:xfrm>
            <a:prstGeom prst="flowChartManualOperati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  <a:endParaRPr lang="es-NI" dirty="0"/>
            </a:p>
          </p:txBody>
        </p:sp>
        <p:cxnSp>
          <p:nvCxnSpPr>
            <p:cNvPr id="24" name="23 Conector recto"/>
            <p:cNvCxnSpPr/>
            <p:nvPr/>
          </p:nvCxnSpPr>
          <p:spPr>
            <a:xfrm>
              <a:off x="1781319" y="4797152"/>
              <a:ext cx="0" cy="3240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"/>
            <p:cNvCxnSpPr/>
            <p:nvPr/>
          </p:nvCxnSpPr>
          <p:spPr>
            <a:xfrm>
              <a:off x="2195736" y="4797152"/>
              <a:ext cx="0" cy="3240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5 Conector recto"/>
            <p:cNvCxnSpPr/>
            <p:nvPr/>
          </p:nvCxnSpPr>
          <p:spPr>
            <a:xfrm>
              <a:off x="2006378" y="5589240"/>
              <a:ext cx="0" cy="3240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108" y="3317758"/>
            <a:ext cx="9525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5" name="44 Grupo"/>
          <p:cNvGrpSpPr/>
          <p:nvPr/>
        </p:nvGrpSpPr>
        <p:grpSpPr>
          <a:xfrm>
            <a:off x="2699792" y="3380640"/>
            <a:ext cx="1296144" cy="1080119"/>
            <a:chOff x="4932040" y="3573016"/>
            <a:chExt cx="1296144" cy="1080119"/>
          </a:xfrm>
        </p:grpSpPr>
        <p:grpSp>
          <p:nvGrpSpPr>
            <p:cNvPr id="31" name="30 Grupo"/>
            <p:cNvGrpSpPr/>
            <p:nvPr/>
          </p:nvGrpSpPr>
          <p:grpSpPr>
            <a:xfrm>
              <a:off x="4932040" y="3573016"/>
              <a:ext cx="1296144" cy="864096"/>
              <a:chOff x="4932040" y="3573016"/>
              <a:chExt cx="1296144" cy="864096"/>
            </a:xfrm>
          </p:grpSpPr>
          <p:sp>
            <p:nvSpPr>
              <p:cNvPr id="28" name="27 Proceso alternativo"/>
              <p:cNvSpPr/>
              <p:nvPr/>
            </p:nvSpPr>
            <p:spPr>
              <a:xfrm>
                <a:off x="5364088" y="3573016"/>
                <a:ext cx="432048" cy="864096"/>
              </a:xfrm>
              <a:prstGeom prst="flowChartAlternateProcess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MUX</a:t>
                </a:r>
                <a:endParaRPr lang="es-NI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"/>
              <p:cNvCxnSpPr/>
              <p:nvPr/>
            </p:nvCxnSpPr>
            <p:spPr>
              <a:xfrm>
                <a:off x="4932040" y="3789040"/>
                <a:ext cx="432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33 Conector recto"/>
              <p:cNvCxnSpPr/>
              <p:nvPr/>
            </p:nvCxnSpPr>
            <p:spPr>
              <a:xfrm>
                <a:off x="4932040" y="3941440"/>
                <a:ext cx="432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34 Conector recto"/>
              <p:cNvCxnSpPr/>
              <p:nvPr/>
            </p:nvCxnSpPr>
            <p:spPr>
              <a:xfrm>
                <a:off x="4932040" y="4077072"/>
                <a:ext cx="432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35 Conector recto"/>
              <p:cNvCxnSpPr/>
              <p:nvPr/>
            </p:nvCxnSpPr>
            <p:spPr>
              <a:xfrm>
                <a:off x="4932040" y="4246240"/>
                <a:ext cx="432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36 Conector recto"/>
              <p:cNvCxnSpPr/>
              <p:nvPr/>
            </p:nvCxnSpPr>
            <p:spPr>
              <a:xfrm>
                <a:off x="5796136" y="4005516"/>
                <a:ext cx="43204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32 Conector recto"/>
            <p:cNvCxnSpPr/>
            <p:nvPr/>
          </p:nvCxnSpPr>
          <p:spPr>
            <a:xfrm>
              <a:off x="5652120" y="4437112"/>
              <a:ext cx="0" cy="21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46 Conector recto"/>
            <p:cNvCxnSpPr/>
            <p:nvPr/>
          </p:nvCxnSpPr>
          <p:spPr>
            <a:xfrm>
              <a:off x="5508104" y="4437112"/>
              <a:ext cx="0" cy="21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43 Grupo"/>
          <p:cNvGrpSpPr/>
          <p:nvPr/>
        </p:nvGrpSpPr>
        <p:grpSpPr>
          <a:xfrm>
            <a:off x="4499992" y="3356993"/>
            <a:ext cx="1296144" cy="1081096"/>
            <a:chOff x="6732240" y="3549369"/>
            <a:chExt cx="1296144" cy="1081096"/>
          </a:xfrm>
        </p:grpSpPr>
        <p:sp>
          <p:nvSpPr>
            <p:cNvPr id="38" name="37 Proceso alternativo"/>
            <p:cNvSpPr/>
            <p:nvPr/>
          </p:nvSpPr>
          <p:spPr>
            <a:xfrm>
              <a:off x="7164288" y="3549369"/>
              <a:ext cx="432048" cy="864096"/>
            </a:xfrm>
            <a:prstGeom prst="flowChartAlternateProcess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DEMUX</a:t>
              </a:r>
              <a:endParaRPr lang="es-NI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38 Conector recto"/>
            <p:cNvCxnSpPr/>
            <p:nvPr/>
          </p:nvCxnSpPr>
          <p:spPr>
            <a:xfrm>
              <a:off x="7596336" y="3765393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39 Conector recto"/>
            <p:cNvCxnSpPr/>
            <p:nvPr/>
          </p:nvCxnSpPr>
          <p:spPr>
            <a:xfrm>
              <a:off x="7596336" y="3917793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40 Conector recto"/>
            <p:cNvCxnSpPr/>
            <p:nvPr/>
          </p:nvCxnSpPr>
          <p:spPr>
            <a:xfrm>
              <a:off x="7596336" y="4053425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>
              <a:off x="7596336" y="4222593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>
              <a:off x="6732240" y="4005064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47 Conector recto"/>
            <p:cNvCxnSpPr/>
            <p:nvPr/>
          </p:nvCxnSpPr>
          <p:spPr>
            <a:xfrm>
              <a:off x="7452320" y="4414442"/>
              <a:ext cx="0" cy="21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48 Conector recto"/>
            <p:cNvCxnSpPr/>
            <p:nvPr/>
          </p:nvCxnSpPr>
          <p:spPr>
            <a:xfrm>
              <a:off x="7308304" y="4414442"/>
              <a:ext cx="0" cy="216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51 Grupo"/>
          <p:cNvGrpSpPr/>
          <p:nvPr/>
        </p:nvGrpSpPr>
        <p:grpSpPr>
          <a:xfrm>
            <a:off x="2796736" y="4823820"/>
            <a:ext cx="1080120" cy="1261921"/>
            <a:chOff x="3079440" y="4831375"/>
            <a:chExt cx="1080120" cy="1261921"/>
          </a:xfrm>
        </p:grpSpPr>
        <p:sp>
          <p:nvSpPr>
            <p:cNvPr id="17" name="16 Rectángulo"/>
            <p:cNvSpPr/>
            <p:nvPr/>
          </p:nvSpPr>
          <p:spPr>
            <a:xfrm rot="5400000">
              <a:off x="3317842" y="4913872"/>
              <a:ext cx="603316" cy="10801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Encoder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50" name="49 Conector recto"/>
            <p:cNvCxnSpPr/>
            <p:nvPr/>
          </p:nvCxnSpPr>
          <p:spPr>
            <a:xfrm>
              <a:off x="3275856" y="4831375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53 Conector recto"/>
            <p:cNvCxnSpPr/>
            <p:nvPr/>
          </p:nvCxnSpPr>
          <p:spPr>
            <a:xfrm>
              <a:off x="3491880" y="4831375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54 Conector recto"/>
            <p:cNvCxnSpPr/>
            <p:nvPr/>
          </p:nvCxnSpPr>
          <p:spPr>
            <a:xfrm>
              <a:off x="3707904" y="4831375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55 Conector recto"/>
            <p:cNvCxnSpPr/>
            <p:nvPr/>
          </p:nvCxnSpPr>
          <p:spPr>
            <a:xfrm>
              <a:off x="3923928" y="4831375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56 Conector recto"/>
            <p:cNvCxnSpPr/>
            <p:nvPr/>
          </p:nvCxnSpPr>
          <p:spPr>
            <a:xfrm>
              <a:off x="3491880" y="5760583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57 Conector recto"/>
            <p:cNvCxnSpPr/>
            <p:nvPr/>
          </p:nvCxnSpPr>
          <p:spPr>
            <a:xfrm>
              <a:off x="3707904" y="5760583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50 Grupo"/>
          <p:cNvGrpSpPr/>
          <p:nvPr/>
        </p:nvGrpSpPr>
        <p:grpSpPr>
          <a:xfrm>
            <a:off x="4608004" y="4822008"/>
            <a:ext cx="1080120" cy="1263733"/>
            <a:chOff x="4912066" y="4822006"/>
            <a:chExt cx="1080120" cy="1263733"/>
          </a:xfrm>
        </p:grpSpPr>
        <p:sp>
          <p:nvSpPr>
            <p:cNvPr id="59" name="58 Rectángulo"/>
            <p:cNvSpPr/>
            <p:nvPr/>
          </p:nvSpPr>
          <p:spPr>
            <a:xfrm rot="5400000">
              <a:off x="5150468" y="4911308"/>
              <a:ext cx="603316" cy="10801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Decoder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0" name="59 Conector recto"/>
            <p:cNvCxnSpPr/>
            <p:nvPr/>
          </p:nvCxnSpPr>
          <p:spPr>
            <a:xfrm>
              <a:off x="5108482" y="5753026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60 Conector recto"/>
            <p:cNvCxnSpPr/>
            <p:nvPr/>
          </p:nvCxnSpPr>
          <p:spPr>
            <a:xfrm>
              <a:off x="5324506" y="4822006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"/>
            <p:cNvCxnSpPr/>
            <p:nvPr/>
          </p:nvCxnSpPr>
          <p:spPr>
            <a:xfrm>
              <a:off x="5540530" y="4822006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"/>
            <p:cNvCxnSpPr/>
            <p:nvPr/>
          </p:nvCxnSpPr>
          <p:spPr>
            <a:xfrm>
              <a:off x="5756554" y="5753026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63 Conector recto"/>
            <p:cNvCxnSpPr/>
            <p:nvPr/>
          </p:nvCxnSpPr>
          <p:spPr>
            <a:xfrm>
              <a:off x="5324506" y="5751214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64 Conector recto"/>
            <p:cNvCxnSpPr/>
            <p:nvPr/>
          </p:nvCxnSpPr>
          <p:spPr>
            <a:xfrm>
              <a:off x="5540530" y="5751214"/>
              <a:ext cx="0" cy="3327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66 Grupo"/>
          <p:cNvGrpSpPr/>
          <p:nvPr/>
        </p:nvGrpSpPr>
        <p:grpSpPr>
          <a:xfrm>
            <a:off x="6300192" y="4941169"/>
            <a:ext cx="1244416" cy="1125462"/>
            <a:chOff x="6300192" y="4823818"/>
            <a:chExt cx="1244416" cy="1125462"/>
          </a:xfrm>
        </p:grpSpPr>
        <p:sp>
          <p:nvSpPr>
            <p:cNvPr id="16" name="15 Rectángulo"/>
            <p:cNvSpPr/>
            <p:nvPr/>
          </p:nvSpPr>
          <p:spPr>
            <a:xfrm rot="5400000">
              <a:off x="6670372" y="4752694"/>
              <a:ext cx="504056" cy="1244416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REGISTRO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6" name="65 Conector recto"/>
            <p:cNvCxnSpPr>
              <a:endCxn id="16" idx="1"/>
            </p:cNvCxnSpPr>
            <p:nvPr/>
          </p:nvCxnSpPr>
          <p:spPr>
            <a:xfrm>
              <a:off x="6922400" y="4823818"/>
              <a:ext cx="0" cy="2990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69 Conector recto"/>
            <p:cNvCxnSpPr/>
            <p:nvPr/>
          </p:nvCxnSpPr>
          <p:spPr>
            <a:xfrm>
              <a:off x="6948264" y="5650224"/>
              <a:ext cx="0" cy="2990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268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icroproces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351892"/>
            <a:ext cx="2857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3845024"/>
          </a:xfrm>
        </p:spPr>
        <p:txBody>
          <a:bodyPr/>
          <a:lstStyle/>
          <a:p>
            <a:pPr algn="just"/>
            <a:r>
              <a:rPr lang="en-US" dirty="0" err="1"/>
              <a:t>Analicemos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el CPU en el </a:t>
            </a: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, </a:t>
            </a:r>
            <a:r>
              <a:rPr lang="en-US" dirty="0" err="1"/>
              <a:t>definamos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constructivos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Analicemos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se </a:t>
            </a:r>
            <a:r>
              <a:rPr lang="en-US" dirty="0" err="1"/>
              <a:t>interconectan</a:t>
            </a:r>
            <a:r>
              <a:rPr lang="en-US" dirty="0"/>
              <a:t> entre </a:t>
            </a:r>
            <a:r>
              <a:rPr lang="en-US" dirty="0" err="1"/>
              <a:t>sí</a:t>
            </a:r>
            <a:r>
              <a:rPr lang="en-US" dirty="0"/>
              <a:t> para </a:t>
            </a:r>
            <a:r>
              <a:rPr lang="en-US" dirty="0" err="1"/>
              <a:t>funcionar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ESTRUCTURA</a:t>
            </a:r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02247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Cargar la siguiente instrucción</a:t>
            </a:r>
            <a:endParaRPr lang="es-NI" dirty="0">
              <a:solidFill>
                <a:srgbClr val="FF0000"/>
              </a:solidFill>
            </a:endParaRPr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3690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363272" cy="498574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Para </a:t>
            </a:r>
            <a:r>
              <a:rPr lang="en-US" dirty="0" err="1"/>
              <a:t>cargar</a:t>
            </a:r>
            <a:r>
              <a:rPr lang="en-US" dirty="0"/>
              <a:t>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saber </a:t>
            </a:r>
            <a:r>
              <a:rPr lang="en-US" dirty="0" err="1"/>
              <a:t>dónde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: </a:t>
            </a:r>
            <a:r>
              <a:rPr lang="en-US" dirty="0" err="1"/>
              <a:t>Memoria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Se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conocer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de la </a:t>
            </a:r>
            <a:r>
              <a:rPr lang="en-US" dirty="0" err="1"/>
              <a:t>localidad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la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pPr lvl="1" algn="just"/>
            <a:r>
              <a:rPr lang="en-US" dirty="0" err="1">
                <a:solidFill>
                  <a:srgbClr val="0070C0"/>
                </a:solidFill>
              </a:rPr>
              <a:t>Uso</a:t>
            </a:r>
            <a:r>
              <a:rPr lang="en-US" dirty="0">
                <a:solidFill>
                  <a:srgbClr val="0070C0"/>
                </a:solidFill>
              </a:rPr>
              <a:t> de un </a:t>
            </a:r>
            <a:r>
              <a:rPr lang="en-US" dirty="0" err="1">
                <a:solidFill>
                  <a:srgbClr val="0070C0"/>
                </a:solidFill>
              </a:rPr>
              <a:t>registo</a:t>
            </a:r>
            <a:r>
              <a:rPr lang="en-US" dirty="0">
                <a:solidFill>
                  <a:srgbClr val="0070C0"/>
                </a:solidFill>
              </a:rPr>
              <a:t> para </a:t>
            </a:r>
            <a:r>
              <a:rPr lang="en-US" dirty="0" err="1">
                <a:solidFill>
                  <a:srgbClr val="0070C0"/>
                </a:solidFill>
              </a:rPr>
              <a:t>llevar</a:t>
            </a:r>
            <a:r>
              <a:rPr lang="en-US" dirty="0">
                <a:solidFill>
                  <a:srgbClr val="0070C0"/>
                </a:solidFill>
              </a:rPr>
              <a:t> control de la </a:t>
            </a:r>
            <a:r>
              <a:rPr lang="en-US" dirty="0" err="1">
                <a:solidFill>
                  <a:srgbClr val="0070C0"/>
                </a:solidFill>
              </a:rPr>
              <a:t>dirección</a:t>
            </a:r>
            <a:r>
              <a:rPr lang="en-US" dirty="0">
                <a:solidFill>
                  <a:srgbClr val="0070C0"/>
                </a:solidFill>
              </a:rPr>
              <a:t> de la </a:t>
            </a:r>
            <a:r>
              <a:rPr lang="en-US" dirty="0" err="1">
                <a:solidFill>
                  <a:srgbClr val="0070C0"/>
                </a:solidFill>
              </a:rPr>
              <a:t>próxima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instrucción</a:t>
            </a:r>
            <a:r>
              <a:rPr lang="en-US" dirty="0">
                <a:solidFill>
                  <a:srgbClr val="0070C0"/>
                </a:solidFill>
              </a:rPr>
              <a:t>: PC</a:t>
            </a:r>
          </a:p>
          <a:p>
            <a:pPr lvl="1" algn="just"/>
            <a:endParaRPr lang="en-US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Saber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interactuar</a:t>
            </a:r>
            <a:r>
              <a:rPr lang="en-US" dirty="0"/>
              <a:t> con la </a:t>
            </a:r>
            <a:r>
              <a:rPr lang="en-US" dirty="0" err="1"/>
              <a:t>memoria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Estructura</a:t>
            </a:r>
            <a:r>
              <a:rPr lang="en-US" dirty="0"/>
              <a:t> de </a:t>
            </a:r>
            <a:r>
              <a:rPr lang="en-US" dirty="0" err="1"/>
              <a:t>interconexión</a:t>
            </a:r>
            <a:r>
              <a:rPr lang="en-US" dirty="0"/>
              <a:t>:</a:t>
            </a:r>
          </a:p>
          <a:p>
            <a:pPr lvl="1" algn="just"/>
            <a:r>
              <a:rPr lang="en-US" dirty="0" err="1"/>
              <a:t>Conexión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Buses</a:t>
            </a:r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sp>
        <p:nvSpPr>
          <p:cNvPr id="6" name="6 Rectángulo"/>
          <p:cNvSpPr/>
          <p:nvPr/>
        </p:nvSpPr>
        <p:spPr>
          <a:xfrm>
            <a:off x="6084168" y="3717032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96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1972816"/>
          </a:xfrm>
        </p:spPr>
        <p:txBody>
          <a:bodyPr/>
          <a:lstStyle/>
          <a:p>
            <a:r>
              <a:rPr lang="en-US" dirty="0" err="1"/>
              <a:t>Interactuar</a:t>
            </a:r>
            <a:r>
              <a:rPr lang="en-US" dirty="0"/>
              <a:t> con la </a:t>
            </a:r>
            <a:r>
              <a:rPr lang="en-US" dirty="0" err="1"/>
              <a:t>memoria</a:t>
            </a:r>
            <a:endParaRPr lang="en-US" dirty="0"/>
          </a:p>
          <a:p>
            <a:pPr lvl="1"/>
            <a:r>
              <a:rPr lang="en-US" dirty="0"/>
              <a:t>Leer </a:t>
            </a:r>
            <a:r>
              <a:rPr lang="en-US" dirty="0" err="1"/>
              <a:t>instrucciones</a:t>
            </a:r>
            <a:r>
              <a:rPr lang="en-US" dirty="0"/>
              <a:t> o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Escribir</a:t>
            </a:r>
            <a:r>
              <a:rPr lang="en-US" dirty="0"/>
              <a:t> los </a:t>
            </a:r>
            <a:r>
              <a:rPr lang="en-US" dirty="0" err="1"/>
              <a:t>resultados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12783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sp>
        <p:nvSpPr>
          <p:cNvPr id="4" name="3 Rectángulo"/>
          <p:cNvSpPr/>
          <p:nvPr/>
        </p:nvSpPr>
        <p:spPr>
          <a:xfrm>
            <a:off x="683568" y="3145331"/>
            <a:ext cx="2088232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CPU</a:t>
            </a:r>
            <a:endParaRPr lang="es-NI" sz="4000" dirty="0"/>
          </a:p>
        </p:txBody>
      </p:sp>
      <p:sp>
        <p:nvSpPr>
          <p:cNvPr id="5" name="4 Rectángulo"/>
          <p:cNvSpPr/>
          <p:nvPr/>
        </p:nvSpPr>
        <p:spPr>
          <a:xfrm>
            <a:off x="5436096" y="3140968"/>
            <a:ext cx="2808312" cy="295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Memoria</a:t>
            </a:r>
            <a:endParaRPr lang="es-NI" sz="2800" dirty="0"/>
          </a:p>
        </p:txBody>
      </p:sp>
      <p:sp>
        <p:nvSpPr>
          <p:cNvPr id="6" name="5 Rectángulo"/>
          <p:cNvSpPr/>
          <p:nvPr/>
        </p:nvSpPr>
        <p:spPr>
          <a:xfrm>
            <a:off x="5436096" y="3289347"/>
            <a:ext cx="504056" cy="93610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@</a:t>
            </a:r>
            <a:endParaRPr lang="es-NI" dirty="0">
              <a:solidFill>
                <a:sysClr val="windowText" lastClr="000000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436096" y="4297460"/>
            <a:ext cx="504056" cy="93610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  <a:endParaRPr lang="es-NI" dirty="0">
              <a:solidFill>
                <a:sysClr val="windowText" lastClr="000000"/>
              </a:solidFill>
            </a:endParaRPr>
          </a:p>
        </p:txBody>
      </p:sp>
      <p:sp>
        <p:nvSpPr>
          <p:cNvPr id="8" name="7 Flecha derecha"/>
          <p:cNvSpPr/>
          <p:nvPr/>
        </p:nvSpPr>
        <p:spPr>
          <a:xfrm>
            <a:off x="2802028" y="3505372"/>
            <a:ext cx="2592288" cy="57606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 de </a:t>
            </a:r>
            <a:r>
              <a:rPr lang="en-US" dirty="0" err="1"/>
              <a:t>Direcciones</a:t>
            </a:r>
            <a:endParaRPr lang="es-NI" dirty="0"/>
          </a:p>
        </p:txBody>
      </p:sp>
      <p:sp>
        <p:nvSpPr>
          <p:cNvPr id="9" name="8 Flecha izquierda y derecha"/>
          <p:cNvSpPr/>
          <p:nvPr/>
        </p:nvSpPr>
        <p:spPr>
          <a:xfrm>
            <a:off x="2771800" y="4617133"/>
            <a:ext cx="2622516" cy="468052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 de </a:t>
            </a:r>
            <a:r>
              <a:rPr lang="en-US" dirty="0" err="1"/>
              <a:t>Datos</a:t>
            </a:r>
            <a:endParaRPr lang="es-NI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2771800" y="5521595"/>
            <a:ext cx="2664296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3275856" y="522234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</a:t>
            </a:r>
            <a:endParaRPr lang="es-NI" dirty="0"/>
          </a:p>
        </p:txBody>
      </p:sp>
      <p:cxnSp>
        <p:nvCxnSpPr>
          <p:cNvPr id="14" name="13 Conector recto de flecha"/>
          <p:cNvCxnSpPr/>
          <p:nvPr/>
        </p:nvCxnSpPr>
        <p:spPr>
          <a:xfrm flipH="1">
            <a:off x="2771800" y="5953643"/>
            <a:ext cx="2664296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259431" y="560382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MFC</a:t>
            </a:r>
            <a:endParaRPr lang="es-NI" dirty="0"/>
          </a:p>
        </p:txBody>
      </p:sp>
      <p:sp>
        <p:nvSpPr>
          <p:cNvPr id="16" name="15 Rectángulo"/>
          <p:cNvSpPr/>
          <p:nvPr/>
        </p:nvSpPr>
        <p:spPr>
          <a:xfrm>
            <a:off x="2267744" y="3325352"/>
            <a:ext cx="504056" cy="93610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MAR</a:t>
            </a:r>
            <a:endParaRPr lang="es-NI" dirty="0">
              <a:solidFill>
                <a:sysClr val="windowText" lastClr="000000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267744" y="4420002"/>
            <a:ext cx="504056" cy="93610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MDR</a:t>
            </a:r>
            <a:endParaRPr lang="es-NI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36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/>
      <p:bldP spid="15" grpId="0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12777"/>
            <a:ext cx="8229600" cy="2088232"/>
          </a:xfrm>
        </p:spPr>
        <p:txBody>
          <a:bodyPr>
            <a:normAutofit fontScale="92500"/>
          </a:bodyPr>
          <a:lstStyle/>
          <a:p>
            <a:pPr algn="just"/>
            <a:r>
              <a:rPr lang="es-ES" dirty="0"/>
              <a:t>Llevar control de la secuencia de instrucciones</a:t>
            </a:r>
          </a:p>
          <a:p>
            <a:pPr lvl="1" algn="just"/>
            <a:r>
              <a:rPr lang="es-ES" dirty="0"/>
              <a:t>Registro que apunte a la dirección de la próxima instrucción: PC (contador de programa)</a:t>
            </a:r>
          </a:p>
          <a:p>
            <a:pPr lvl="1" algn="just"/>
            <a:r>
              <a:rPr lang="es-ES" dirty="0"/>
              <a:t>Se carga con dirección inicial de cada programa cuando este inicia a ejecución.</a:t>
            </a:r>
          </a:p>
          <a:p>
            <a:pPr lvl="1" algn="just"/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1475656" y="3501009"/>
            <a:ext cx="4752528" cy="2952328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r>
                <a:rPr lang="en-US" sz="32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8" y="3414470"/>
              <a:ext cx="504056" cy="936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4128" y="4509120"/>
              <a:ext cx="504056" cy="93610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2339752" y="3861048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4211960" y="3573017"/>
            <a:ext cx="648072" cy="230425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cxnSp>
        <p:nvCxnSpPr>
          <p:cNvPr id="24" name="23 Conector angular"/>
          <p:cNvCxnSpPr/>
          <p:nvPr/>
        </p:nvCxnSpPr>
        <p:spPr>
          <a:xfrm>
            <a:off x="3347864" y="4095075"/>
            <a:ext cx="100811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angular"/>
          <p:cNvCxnSpPr/>
          <p:nvPr/>
        </p:nvCxnSpPr>
        <p:spPr>
          <a:xfrm>
            <a:off x="4716016" y="4098547"/>
            <a:ext cx="100811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90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Incrementar el secuenciador</a:t>
            </a:r>
            <a:endParaRPr lang="es-NI" dirty="0">
              <a:solidFill>
                <a:srgbClr val="FF0000"/>
              </a:solidFill>
            </a:endParaRPr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36648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12778"/>
            <a:ext cx="8229600" cy="1584176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dirty="0"/>
              <a:t>Incrementar secuenciador</a:t>
            </a:r>
          </a:p>
          <a:p>
            <a:pPr lvl="1" algn="just"/>
            <a:r>
              <a:rPr lang="es-ES" dirty="0"/>
              <a:t>Sumador de PC, para que cuando se traiga la instrucción actual,  se incremente su valor en 1 para que apunte a la siguiente instrucción.</a:t>
            </a:r>
          </a:p>
          <a:p>
            <a:pPr lvl="1" algn="just"/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2195736" y="3212976"/>
            <a:ext cx="4752528" cy="2952328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r>
                <a:rPr lang="en-US" sz="32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8" y="3414470"/>
              <a:ext cx="504056" cy="936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4128" y="4509120"/>
              <a:ext cx="504056" cy="93610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3059832" y="3573016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4932040" y="3284983"/>
            <a:ext cx="648072" cy="230425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Operación manual"/>
          <p:cNvSpPr/>
          <p:nvPr/>
        </p:nvSpPr>
        <p:spPr>
          <a:xfrm>
            <a:off x="3131843" y="4549340"/>
            <a:ext cx="1296143" cy="648072"/>
          </a:xfrm>
          <a:prstGeom prst="flowChartManualOperat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Adder</a:t>
            </a:r>
            <a:endParaRPr lang="es-NI" sz="1600" dirty="0"/>
          </a:p>
        </p:txBody>
      </p:sp>
      <p:cxnSp>
        <p:nvCxnSpPr>
          <p:cNvPr id="11" name="10 Conector recto de flecha"/>
          <p:cNvCxnSpPr>
            <a:stCxn id="7" idx="2"/>
          </p:cNvCxnSpPr>
          <p:nvPr/>
        </p:nvCxnSpPr>
        <p:spPr>
          <a:xfrm>
            <a:off x="3563888" y="4041068"/>
            <a:ext cx="0" cy="508273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4283968" y="4149079"/>
            <a:ext cx="0" cy="364258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4139952" y="3861047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s-NI" dirty="0"/>
          </a:p>
        </p:txBody>
      </p:sp>
      <p:cxnSp>
        <p:nvCxnSpPr>
          <p:cNvPr id="16" name="15 Conector angular"/>
          <p:cNvCxnSpPr>
            <a:stCxn id="9" idx="2"/>
            <a:endCxn id="7" idx="1"/>
          </p:cNvCxnSpPr>
          <p:nvPr/>
        </p:nvCxnSpPr>
        <p:spPr>
          <a:xfrm rot="5400000" flipH="1">
            <a:off x="2724688" y="4142188"/>
            <a:ext cx="1390372" cy="720081"/>
          </a:xfrm>
          <a:prstGeom prst="bentConnector4">
            <a:avLst>
              <a:gd name="adj1" fmla="val -16442"/>
              <a:gd name="adj2" fmla="val 131746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/>
          <p:nvPr/>
        </p:nvCxnSpPr>
        <p:spPr>
          <a:xfrm>
            <a:off x="4067944" y="3807043"/>
            <a:ext cx="100811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angular"/>
          <p:cNvCxnSpPr/>
          <p:nvPr/>
        </p:nvCxnSpPr>
        <p:spPr>
          <a:xfrm>
            <a:off x="5436096" y="3810514"/>
            <a:ext cx="1008112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33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Interpretar la Instrucción</a:t>
            </a:r>
            <a:endParaRPr lang="es-NI" dirty="0">
              <a:solidFill>
                <a:srgbClr val="FF0000"/>
              </a:solidFill>
            </a:endParaRPr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52081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412777"/>
            <a:ext cx="3960440" cy="5184575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Interpretar la instrucción</a:t>
            </a:r>
          </a:p>
          <a:p>
            <a:pPr lvl="1" algn="just"/>
            <a:r>
              <a:rPr lang="es-ES" dirty="0"/>
              <a:t>Necesidad de resguardar la instrucción: IR (</a:t>
            </a:r>
            <a:r>
              <a:rPr lang="es-ES" dirty="0" err="1"/>
              <a:t>Instruction</a:t>
            </a:r>
            <a:r>
              <a:rPr lang="es-ES" dirty="0"/>
              <a:t> </a:t>
            </a:r>
            <a:r>
              <a:rPr lang="es-ES" dirty="0" err="1"/>
              <a:t>Register</a:t>
            </a:r>
            <a:r>
              <a:rPr lang="es-ES" dirty="0"/>
              <a:t>)</a:t>
            </a:r>
          </a:p>
          <a:p>
            <a:pPr lvl="1" algn="just"/>
            <a:endParaRPr lang="es-ES" dirty="0"/>
          </a:p>
          <a:p>
            <a:pPr lvl="1" algn="just"/>
            <a:r>
              <a:rPr lang="es-ES" dirty="0"/>
              <a:t>Saber qué operación realizar (</a:t>
            </a:r>
            <a:r>
              <a:rPr lang="es-ES" dirty="0" err="1"/>
              <a:t>p.e</a:t>
            </a:r>
            <a:r>
              <a:rPr lang="es-ES" dirty="0"/>
              <a:t>. Suma, Resta, AND, </a:t>
            </a:r>
            <a:r>
              <a:rPr lang="es-ES" dirty="0" err="1"/>
              <a:t>etc</a:t>
            </a:r>
            <a:r>
              <a:rPr lang="es-ES" dirty="0"/>
              <a:t>) y con qué operandos: Decodificador.</a:t>
            </a:r>
          </a:p>
          <a:p>
            <a:pPr lvl="1" algn="just"/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4644008" y="1340769"/>
            <a:ext cx="4320480" cy="5256584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r>
                <a:rPr lang="en-US" sz="32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7" y="3414470"/>
              <a:ext cx="504056" cy="558043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3598" y="4012955"/>
              <a:ext cx="504056" cy="5191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5148064" y="1700808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6732240" y="1412776"/>
            <a:ext cx="648072" cy="482453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Operación manual"/>
          <p:cNvSpPr/>
          <p:nvPr/>
        </p:nvSpPr>
        <p:spPr>
          <a:xfrm>
            <a:off x="5220075" y="2677133"/>
            <a:ext cx="1296143" cy="648072"/>
          </a:xfrm>
          <a:prstGeom prst="flowChartManualOperat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Adder</a:t>
            </a:r>
            <a:endParaRPr lang="es-NI" sz="1600" dirty="0"/>
          </a:p>
        </p:txBody>
      </p:sp>
      <p:cxnSp>
        <p:nvCxnSpPr>
          <p:cNvPr id="11" name="10 Conector recto de flecha"/>
          <p:cNvCxnSpPr>
            <a:stCxn id="7" idx="2"/>
          </p:cNvCxnSpPr>
          <p:nvPr/>
        </p:nvCxnSpPr>
        <p:spPr>
          <a:xfrm>
            <a:off x="5652120" y="2168862"/>
            <a:ext cx="0" cy="508273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6372200" y="2276873"/>
            <a:ext cx="0" cy="364258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6228184" y="198884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s-NI" dirty="0"/>
          </a:p>
        </p:txBody>
      </p:sp>
      <p:cxnSp>
        <p:nvCxnSpPr>
          <p:cNvPr id="16" name="15 Conector angular"/>
          <p:cNvCxnSpPr>
            <a:stCxn id="9" idx="2"/>
            <a:endCxn id="7" idx="1"/>
          </p:cNvCxnSpPr>
          <p:nvPr/>
        </p:nvCxnSpPr>
        <p:spPr>
          <a:xfrm rot="5400000" flipH="1">
            <a:off x="4812920" y="2269982"/>
            <a:ext cx="1390372" cy="720081"/>
          </a:xfrm>
          <a:prstGeom prst="bentConnector4">
            <a:avLst>
              <a:gd name="adj1" fmla="val -16442"/>
              <a:gd name="adj2" fmla="val 131746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7884368" y="396906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12" name="11 Conector recto de flecha"/>
          <p:cNvCxnSpPr>
            <a:endCxn id="6" idx="1"/>
          </p:cNvCxnSpPr>
          <p:nvPr/>
        </p:nvCxnSpPr>
        <p:spPr>
          <a:xfrm>
            <a:off x="7236298" y="3069202"/>
            <a:ext cx="1269477" cy="29923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>
            <a:stCxn id="17" idx="1"/>
          </p:cNvCxnSpPr>
          <p:nvPr/>
        </p:nvCxnSpPr>
        <p:spPr>
          <a:xfrm flipH="1">
            <a:off x="7236296" y="4203086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7" idx="3"/>
          </p:cNvCxnSpPr>
          <p:nvPr/>
        </p:nvCxnSpPr>
        <p:spPr>
          <a:xfrm>
            <a:off x="6156176" y="1934834"/>
            <a:ext cx="720080" cy="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endCxn id="5" idx="1"/>
          </p:cNvCxnSpPr>
          <p:nvPr/>
        </p:nvCxnSpPr>
        <p:spPr>
          <a:xfrm>
            <a:off x="7236296" y="2068111"/>
            <a:ext cx="1269958" cy="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Rectángulo"/>
          <p:cNvSpPr/>
          <p:nvPr/>
        </p:nvSpPr>
        <p:spPr>
          <a:xfrm>
            <a:off x="7884368" y="4653137"/>
            <a:ext cx="1008112" cy="3600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DECODER</a:t>
            </a:r>
            <a:endParaRPr lang="es-NI" sz="1200" b="1" dirty="0"/>
          </a:p>
        </p:txBody>
      </p:sp>
      <p:sp>
        <p:nvSpPr>
          <p:cNvPr id="40" name="39 Rectángulo"/>
          <p:cNvSpPr/>
          <p:nvPr/>
        </p:nvSpPr>
        <p:spPr>
          <a:xfrm>
            <a:off x="7884368" y="5014645"/>
            <a:ext cx="1008112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Unidad</a:t>
            </a:r>
            <a:r>
              <a:rPr lang="en-US" sz="1600" b="1" dirty="0">
                <a:solidFill>
                  <a:srgbClr val="00B050"/>
                </a:solidFill>
              </a:rPr>
              <a:t> de Control</a:t>
            </a:r>
            <a:endParaRPr lang="es-NI" sz="1600" b="1" dirty="0">
              <a:solidFill>
                <a:srgbClr val="00B050"/>
              </a:solidFill>
            </a:endParaRPr>
          </a:p>
        </p:txBody>
      </p:sp>
      <p:cxnSp>
        <p:nvCxnSpPr>
          <p:cNvPr id="42" name="41 Conector recto de flecha"/>
          <p:cNvCxnSpPr>
            <a:stCxn id="17" idx="2"/>
            <a:endCxn id="39" idx="0"/>
          </p:cNvCxnSpPr>
          <p:nvPr/>
        </p:nvCxnSpPr>
        <p:spPr>
          <a:xfrm>
            <a:off x="8388424" y="4437112"/>
            <a:ext cx="0" cy="21602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3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  <p:bldP spid="39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Cargar los operandos</a:t>
            </a:r>
            <a:endParaRPr lang="es-NI" dirty="0">
              <a:solidFill>
                <a:srgbClr val="FF0000"/>
              </a:solidFill>
            </a:endParaRPr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602220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s2.mm.bing.net/images/thumbnail.aspx?q=4609608742077413&amp;id=c43a636d927a349931b694584e6246f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36296" y="4653136"/>
            <a:ext cx="1906586" cy="194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600201"/>
            <a:ext cx="7355160" cy="4985741"/>
          </a:xfrm>
        </p:spPr>
        <p:txBody>
          <a:bodyPr>
            <a:normAutofit/>
          </a:bodyPr>
          <a:lstStyle/>
          <a:p>
            <a:r>
              <a:rPr lang="en-US" dirty="0" err="1"/>
              <a:t>Cargar</a:t>
            </a:r>
            <a:r>
              <a:rPr lang="en-US" dirty="0"/>
              <a:t> los operandos:</a:t>
            </a:r>
          </a:p>
          <a:p>
            <a:pPr lvl="1"/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en 3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partes</a:t>
            </a:r>
            <a:r>
              <a:rPr lang="en-US" dirty="0"/>
              <a:t>:</a:t>
            </a: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Instrucción</a:t>
            </a:r>
            <a:r>
              <a:rPr lang="en-US" dirty="0"/>
              <a:t>: 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dirty="0" err="1"/>
              <a:t>número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dirty="0"/>
              <a:t> de forma </a:t>
            </a:r>
            <a:r>
              <a:rPr lang="en-US" dirty="0" err="1"/>
              <a:t>inmediata</a:t>
            </a:r>
            <a:r>
              <a:rPr lang="en-US" dirty="0"/>
              <a:t>: ADD AX, 5 </a:t>
            </a:r>
            <a:r>
              <a:rPr lang="en-US" dirty="0">
                <a:sym typeface="Wingdings" pitchFamily="2" charset="2"/>
              </a:rPr>
              <a:t> En IR.</a:t>
            </a:r>
          </a:p>
          <a:p>
            <a:pPr lvl="2"/>
            <a:endParaRPr lang="en-US" dirty="0"/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Memoria</a:t>
            </a:r>
            <a:r>
              <a:rPr lang="en-US" dirty="0"/>
              <a:t>: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localidad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: se </a:t>
            </a:r>
            <a:r>
              <a:rPr lang="en-US" dirty="0" err="1"/>
              <a:t>traen</a:t>
            </a:r>
            <a:r>
              <a:rPr lang="en-US" dirty="0"/>
              <a:t> de forma similar a </a:t>
            </a:r>
            <a:r>
              <a:rPr lang="en-US" dirty="0" err="1"/>
              <a:t>como</a:t>
            </a:r>
            <a:r>
              <a:rPr lang="en-US" dirty="0"/>
              <a:t> se </a:t>
            </a:r>
            <a:r>
              <a:rPr lang="en-US" dirty="0" err="1"/>
              <a:t>trajo</a:t>
            </a:r>
            <a:r>
              <a:rPr lang="en-US" dirty="0"/>
              <a:t> la </a:t>
            </a:r>
            <a:r>
              <a:rPr lang="en-US" dirty="0" err="1"/>
              <a:t>instrucción</a:t>
            </a:r>
            <a:r>
              <a:rPr lang="en-US" dirty="0"/>
              <a:t>.</a:t>
            </a:r>
          </a:p>
          <a:p>
            <a:pPr lvl="2"/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En un </a:t>
            </a:r>
            <a:r>
              <a:rPr lang="en-US" dirty="0" err="1">
                <a:solidFill>
                  <a:srgbClr val="FF0000"/>
                </a:solidFill>
              </a:rPr>
              <a:t>registro</a:t>
            </a:r>
            <a:r>
              <a:rPr lang="en-US" dirty="0"/>
              <a:t>.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del CPU,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tanto</a:t>
            </a:r>
            <a:r>
              <a:rPr lang="en-US" dirty="0"/>
              <a:t> el CPU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registros</a:t>
            </a:r>
            <a:r>
              <a:rPr lang="en-US" dirty="0"/>
              <a:t> para los operandos: </a:t>
            </a:r>
            <a:r>
              <a:rPr lang="en-US" dirty="0" err="1"/>
              <a:t>Registros</a:t>
            </a:r>
            <a:r>
              <a:rPr lang="en-US" dirty="0"/>
              <a:t> de </a:t>
            </a:r>
            <a:r>
              <a:rPr lang="en-US" dirty="0" err="1"/>
              <a:t>propósito</a:t>
            </a:r>
            <a:r>
              <a:rPr lang="en-US" dirty="0"/>
              <a:t> general. </a:t>
            </a:r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41873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1376774"/>
            <a:ext cx="3960440" cy="5184575"/>
          </a:xfrm>
        </p:spPr>
        <p:txBody>
          <a:bodyPr>
            <a:normAutofit/>
          </a:bodyPr>
          <a:lstStyle/>
          <a:p>
            <a:r>
              <a:rPr lang="es-ES" dirty="0"/>
              <a:t>Los registros de propósito general se emplean para almacenar operandos.</a:t>
            </a:r>
          </a:p>
          <a:p>
            <a:r>
              <a:rPr lang="es-ES" dirty="0"/>
              <a:t>Distintas formas de nombrarlos. Usaremos R0 … Rn</a:t>
            </a:r>
          </a:p>
          <a:p>
            <a:pPr lvl="1"/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4644008" y="1340769"/>
            <a:ext cx="4320480" cy="5256584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r>
                <a:rPr lang="en-US" sz="32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7" y="3414470"/>
              <a:ext cx="504056" cy="558043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3598" y="4012955"/>
              <a:ext cx="504056" cy="5191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5148064" y="1700808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6732240" y="1412776"/>
            <a:ext cx="648072" cy="482453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Operación manual"/>
          <p:cNvSpPr/>
          <p:nvPr/>
        </p:nvSpPr>
        <p:spPr>
          <a:xfrm>
            <a:off x="5220075" y="2677133"/>
            <a:ext cx="1296143" cy="648072"/>
          </a:xfrm>
          <a:prstGeom prst="flowChartManualOperat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Adder</a:t>
            </a:r>
            <a:endParaRPr lang="es-NI" sz="1600" dirty="0"/>
          </a:p>
        </p:txBody>
      </p:sp>
      <p:cxnSp>
        <p:nvCxnSpPr>
          <p:cNvPr id="11" name="10 Conector recto de flecha"/>
          <p:cNvCxnSpPr>
            <a:stCxn id="7" idx="2"/>
          </p:cNvCxnSpPr>
          <p:nvPr/>
        </p:nvCxnSpPr>
        <p:spPr>
          <a:xfrm>
            <a:off x="5652120" y="2168862"/>
            <a:ext cx="0" cy="508273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6372200" y="2276873"/>
            <a:ext cx="0" cy="364258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6228184" y="198884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s-NI" dirty="0"/>
          </a:p>
        </p:txBody>
      </p:sp>
      <p:cxnSp>
        <p:nvCxnSpPr>
          <p:cNvPr id="16" name="15 Conector angular"/>
          <p:cNvCxnSpPr>
            <a:stCxn id="9" idx="2"/>
            <a:endCxn id="7" idx="1"/>
          </p:cNvCxnSpPr>
          <p:nvPr/>
        </p:nvCxnSpPr>
        <p:spPr>
          <a:xfrm rot="5400000" flipH="1">
            <a:off x="4812920" y="2269982"/>
            <a:ext cx="1390372" cy="720081"/>
          </a:xfrm>
          <a:prstGeom prst="bentConnector4">
            <a:avLst>
              <a:gd name="adj1" fmla="val -16442"/>
              <a:gd name="adj2" fmla="val 131746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7884368" y="396906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12" name="11 Conector recto de flecha"/>
          <p:cNvCxnSpPr>
            <a:endCxn id="6" idx="1"/>
          </p:cNvCxnSpPr>
          <p:nvPr/>
        </p:nvCxnSpPr>
        <p:spPr>
          <a:xfrm>
            <a:off x="7236298" y="3069202"/>
            <a:ext cx="1269477" cy="29923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>
            <a:stCxn id="17" idx="1"/>
          </p:cNvCxnSpPr>
          <p:nvPr/>
        </p:nvCxnSpPr>
        <p:spPr>
          <a:xfrm flipH="1">
            <a:off x="7236296" y="4203086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7" idx="3"/>
          </p:cNvCxnSpPr>
          <p:nvPr/>
        </p:nvCxnSpPr>
        <p:spPr>
          <a:xfrm>
            <a:off x="6156176" y="1934834"/>
            <a:ext cx="720080" cy="0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endCxn id="5" idx="1"/>
          </p:cNvCxnSpPr>
          <p:nvPr/>
        </p:nvCxnSpPr>
        <p:spPr>
          <a:xfrm>
            <a:off x="7236296" y="2068111"/>
            <a:ext cx="1269958" cy="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Rectángulo"/>
          <p:cNvSpPr/>
          <p:nvPr/>
        </p:nvSpPr>
        <p:spPr>
          <a:xfrm>
            <a:off x="7884368" y="4653137"/>
            <a:ext cx="1008112" cy="3600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DECODER</a:t>
            </a:r>
            <a:endParaRPr lang="es-NI" sz="1200" b="1" dirty="0"/>
          </a:p>
        </p:txBody>
      </p:sp>
      <p:sp>
        <p:nvSpPr>
          <p:cNvPr id="40" name="39 Rectángulo"/>
          <p:cNvSpPr/>
          <p:nvPr/>
        </p:nvSpPr>
        <p:spPr>
          <a:xfrm>
            <a:off x="7884368" y="5014645"/>
            <a:ext cx="1008112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Unidad</a:t>
            </a:r>
            <a:r>
              <a:rPr lang="en-US" sz="1600" b="1" dirty="0">
                <a:solidFill>
                  <a:srgbClr val="00B050"/>
                </a:solidFill>
              </a:rPr>
              <a:t> de Control</a:t>
            </a:r>
            <a:endParaRPr lang="es-NI" sz="1600" b="1" dirty="0">
              <a:solidFill>
                <a:srgbClr val="00B050"/>
              </a:solidFill>
            </a:endParaRPr>
          </a:p>
        </p:txBody>
      </p:sp>
      <p:cxnSp>
        <p:nvCxnSpPr>
          <p:cNvPr id="42" name="41 Conector recto de flecha"/>
          <p:cNvCxnSpPr>
            <a:stCxn id="17" idx="2"/>
            <a:endCxn id="39" idx="0"/>
          </p:cNvCxnSpPr>
          <p:nvPr/>
        </p:nvCxnSpPr>
        <p:spPr>
          <a:xfrm>
            <a:off x="8388424" y="4437112"/>
            <a:ext cx="0" cy="21602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Rectángulo"/>
          <p:cNvSpPr/>
          <p:nvPr/>
        </p:nvSpPr>
        <p:spPr>
          <a:xfrm>
            <a:off x="5220072" y="4397337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5220072" y="3887435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R0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5220072" y="5301209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Rn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436098" y="4833157"/>
            <a:ext cx="461665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…</a:t>
            </a:r>
            <a:endParaRPr lang="es-NI" dirty="0"/>
          </a:p>
        </p:txBody>
      </p:sp>
      <p:cxnSp>
        <p:nvCxnSpPr>
          <p:cNvPr id="27" name="26 Conector recto de flecha"/>
          <p:cNvCxnSpPr/>
          <p:nvPr/>
        </p:nvCxnSpPr>
        <p:spPr>
          <a:xfrm flipH="1">
            <a:off x="6228184" y="4121460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flipH="1">
            <a:off x="6228184" y="4581128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flipH="1">
            <a:off x="6228184" y="5517232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 uiExpand="1" animBg="1"/>
      <p:bldP spid="24" grpId="0" uiExpand="1" animBg="1"/>
      <p:bldP spid="25" grpId="0" uiExpand="1" animBg="1"/>
      <p:bldP spid="10" grpId="0" uiExpan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Ejecutar la operación</a:t>
            </a:r>
            <a:endParaRPr lang="es-NI" dirty="0">
              <a:solidFill>
                <a:srgbClr val="FF0000"/>
              </a:solidFill>
            </a:endParaRPr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899116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s2.mm.bing.net/images/thumbnail.aspx?q=4609608742077413&amp;id=c43a636d927a349931b694584e6246f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48266" y="4449802"/>
            <a:ext cx="2105853" cy="214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4985741"/>
          </a:xfrm>
        </p:spPr>
        <p:txBody>
          <a:bodyPr>
            <a:normAutofit lnSpcReduction="10000"/>
          </a:bodyPr>
          <a:lstStyle/>
          <a:p>
            <a:r>
              <a:rPr lang="en-US" sz="3200" dirty="0" err="1"/>
              <a:t>Ejecutar</a:t>
            </a:r>
            <a:r>
              <a:rPr lang="en-US" sz="3200" dirty="0"/>
              <a:t> la </a:t>
            </a:r>
            <a:r>
              <a:rPr lang="en-US" sz="3200" dirty="0" err="1"/>
              <a:t>operación</a:t>
            </a:r>
            <a:r>
              <a:rPr lang="en-US" sz="3200" dirty="0"/>
              <a:t>:</a:t>
            </a:r>
          </a:p>
          <a:p>
            <a:pPr lvl="1"/>
            <a:r>
              <a:rPr lang="en-US" sz="2800" dirty="0"/>
              <a:t>PC </a:t>
            </a:r>
            <a:r>
              <a:rPr lang="en-US" sz="2800" dirty="0" err="1"/>
              <a:t>tiene</a:t>
            </a:r>
            <a:r>
              <a:rPr lang="en-US" sz="2800" dirty="0"/>
              <a:t> un </a:t>
            </a:r>
            <a:r>
              <a:rPr lang="en-US" sz="2800" dirty="0" err="1">
                <a:solidFill>
                  <a:srgbClr val="FF0000"/>
                </a:solidFill>
              </a:rPr>
              <a:t>sumador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para </a:t>
            </a:r>
            <a:r>
              <a:rPr lang="en-US" sz="2800" dirty="0" err="1"/>
              <a:t>incrementarlo</a:t>
            </a:r>
            <a:r>
              <a:rPr lang="en-US" sz="2800" dirty="0"/>
              <a:t> a fin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siempre</a:t>
            </a:r>
            <a:r>
              <a:rPr lang="en-US" sz="2800" dirty="0"/>
              <a:t> </a:t>
            </a:r>
            <a:r>
              <a:rPr lang="en-US" sz="2800" dirty="0" err="1"/>
              <a:t>apunte</a:t>
            </a:r>
            <a:r>
              <a:rPr lang="en-US" sz="2800" dirty="0"/>
              <a:t> a la </a:t>
            </a:r>
            <a:r>
              <a:rPr lang="en-US" sz="2800" dirty="0" err="1"/>
              <a:t>próxima</a:t>
            </a:r>
            <a:r>
              <a:rPr lang="en-US" sz="2800" dirty="0"/>
              <a:t> </a:t>
            </a:r>
            <a:r>
              <a:rPr lang="en-US" sz="2800" dirty="0" err="1"/>
              <a:t>instrucción</a:t>
            </a:r>
            <a:r>
              <a:rPr lang="en-US" sz="2800" dirty="0"/>
              <a:t>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 err="1"/>
              <a:t>Ese</a:t>
            </a:r>
            <a:r>
              <a:rPr lang="en-US" sz="2800" dirty="0"/>
              <a:t> </a:t>
            </a:r>
            <a:r>
              <a:rPr lang="en-US" sz="2800" dirty="0" err="1"/>
              <a:t>mismo</a:t>
            </a:r>
            <a:r>
              <a:rPr lang="en-US" sz="2800" dirty="0"/>
              <a:t> </a:t>
            </a:r>
            <a:r>
              <a:rPr lang="en-US" sz="2800" dirty="0" err="1"/>
              <a:t>sumador</a:t>
            </a:r>
            <a:r>
              <a:rPr lang="en-US" sz="2800" dirty="0"/>
              <a:t> se </a:t>
            </a:r>
            <a:r>
              <a:rPr lang="en-US" sz="2800" dirty="0" err="1"/>
              <a:t>puede</a:t>
            </a:r>
            <a:r>
              <a:rPr lang="en-US" sz="2800" dirty="0"/>
              <a:t> extender para </a:t>
            </a:r>
            <a:r>
              <a:rPr lang="en-US" sz="2800" dirty="0" err="1"/>
              <a:t>realizar</a:t>
            </a:r>
            <a:r>
              <a:rPr lang="en-US" sz="2800" dirty="0"/>
              <a:t> </a:t>
            </a:r>
            <a:r>
              <a:rPr lang="en-US" sz="2800" dirty="0" err="1"/>
              <a:t>otras</a:t>
            </a:r>
            <a:r>
              <a:rPr lang="en-US" sz="2800" dirty="0"/>
              <a:t> </a:t>
            </a:r>
            <a:r>
              <a:rPr lang="en-US" sz="2800" dirty="0" err="1"/>
              <a:t>operaciones</a:t>
            </a:r>
            <a:r>
              <a:rPr lang="en-US" sz="2800" dirty="0"/>
              <a:t>:</a:t>
            </a:r>
          </a:p>
          <a:p>
            <a:pPr lvl="2"/>
            <a:r>
              <a:rPr lang="en-US" sz="2800" dirty="0" err="1"/>
              <a:t>Aritméticas</a:t>
            </a:r>
            <a:endParaRPr lang="en-US" sz="2800" dirty="0"/>
          </a:p>
          <a:p>
            <a:pPr lvl="2"/>
            <a:r>
              <a:rPr lang="en-US" sz="2800" dirty="0" err="1"/>
              <a:t>Lógicas</a:t>
            </a:r>
            <a:endParaRPr lang="en-US" sz="2800" dirty="0"/>
          </a:p>
          <a:p>
            <a:pPr lvl="2"/>
            <a:endParaRPr lang="en-US" sz="2800" dirty="0"/>
          </a:p>
          <a:p>
            <a:pPr lvl="2"/>
            <a:r>
              <a:rPr lang="en-US" sz="2800" dirty="0"/>
              <a:t>ALU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72192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1608567"/>
            <a:ext cx="3672408" cy="498878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ALU: Órgano de cálculo de la arquitectura Von Neumann.</a:t>
            </a:r>
          </a:p>
          <a:p>
            <a:endParaRPr lang="es-ES" dirty="0"/>
          </a:p>
          <a:p>
            <a:r>
              <a:rPr lang="es-ES" dirty="0"/>
              <a:t>Dos entradas X, Y. Una salida: Z</a:t>
            </a:r>
          </a:p>
          <a:p>
            <a:pPr lvl="1"/>
            <a:r>
              <a:rPr lang="es-ES" dirty="0"/>
              <a:t> Z </a:t>
            </a:r>
            <a:r>
              <a:rPr lang="es-ES" dirty="0">
                <a:sym typeface="Wingdings" pitchFamily="2" charset="2"/>
              </a:rPr>
              <a:t> X </a:t>
            </a:r>
            <a:r>
              <a:rPr lang="es-ES" dirty="0" err="1">
                <a:sym typeface="Wingdings" pitchFamily="2" charset="2"/>
              </a:rPr>
              <a:t>op</a:t>
            </a:r>
            <a:r>
              <a:rPr lang="es-ES" dirty="0">
                <a:sym typeface="Wingdings" pitchFamily="2" charset="2"/>
              </a:rPr>
              <a:t> Y.</a:t>
            </a:r>
          </a:p>
          <a:p>
            <a:endParaRPr lang="es-ES" dirty="0"/>
          </a:p>
          <a:p>
            <a:r>
              <a:rPr lang="es-ES" dirty="0"/>
              <a:t>En nuestro ejemplo: uso de registros de retención de datos Y </a:t>
            </a:r>
            <a:r>
              <a:rPr lang="es-ES" dirty="0" err="1"/>
              <a:t>y</a:t>
            </a:r>
            <a:r>
              <a:rPr lang="es-ES" dirty="0"/>
              <a:t> Z. Se usa el Bus como contenedor para X.</a:t>
            </a:r>
          </a:p>
          <a:p>
            <a:pPr lvl="1"/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4644008" y="1340769"/>
            <a:ext cx="4320480" cy="5256584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r>
                <a:rPr lang="en-US" sz="20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7" y="3333584"/>
              <a:ext cx="504056" cy="558043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3598" y="3932070"/>
              <a:ext cx="504056" cy="5191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7871034" y="394149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6732240" y="1412776"/>
            <a:ext cx="648072" cy="482453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Operación manual"/>
          <p:cNvSpPr/>
          <p:nvPr/>
        </p:nvSpPr>
        <p:spPr>
          <a:xfrm>
            <a:off x="4937267" y="4609534"/>
            <a:ext cx="1296143" cy="648072"/>
          </a:xfrm>
          <a:prstGeom prst="flowChartManualOperat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ALU</a:t>
            </a:r>
            <a:endParaRPr lang="es-NI" sz="1600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5292080" y="4221089"/>
            <a:ext cx="0" cy="364258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7892052" y="456536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12" name="11 Conector recto de flecha"/>
          <p:cNvCxnSpPr>
            <a:endCxn id="6" idx="1"/>
          </p:cNvCxnSpPr>
          <p:nvPr/>
        </p:nvCxnSpPr>
        <p:spPr>
          <a:xfrm>
            <a:off x="7236298" y="2925187"/>
            <a:ext cx="1269477" cy="29923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>
            <a:stCxn id="17" idx="1"/>
          </p:cNvCxnSpPr>
          <p:nvPr/>
        </p:nvCxnSpPr>
        <p:spPr>
          <a:xfrm flipH="1">
            <a:off x="7243980" y="4799386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endCxn id="5" idx="1"/>
          </p:cNvCxnSpPr>
          <p:nvPr/>
        </p:nvCxnSpPr>
        <p:spPr>
          <a:xfrm>
            <a:off x="7236296" y="1924091"/>
            <a:ext cx="1269958" cy="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Rectángulo"/>
          <p:cNvSpPr/>
          <p:nvPr/>
        </p:nvSpPr>
        <p:spPr>
          <a:xfrm>
            <a:off x="7884368" y="5249435"/>
            <a:ext cx="1008112" cy="3600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DECODER</a:t>
            </a:r>
            <a:endParaRPr lang="es-NI" sz="1200" b="1" dirty="0"/>
          </a:p>
        </p:txBody>
      </p:sp>
      <p:sp>
        <p:nvSpPr>
          <p:cNvPr id="40" name="39 Rectángulo"/>
          <p:cNvSpPr/>
          <p:nvPr/>
        </p:nvSpPr>
        <p:spPr>
          <a:xfrm>
            <a:off x="7884368" y="5610944"/>
            <a:ext cx="1008112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Unidad</a:t>
            </a:r>
            <a:r>
              <a:rPr lang="en-US" sz="1600" b="1" dirty="0">
                <a:solidFill>
                  <a:srgbClr val="00B050"/>
                </a:solidFill>
              </a:rPr>
              <a:t> de Control</a:t>
            </a:r>
            <a:endParaRPr lang="es-NI" sz="1600" b="1" dirty="0">
              <a:solidFill>
                <a:srgbClr val="00B050"/>
              </a:solidFill>
            </a:endParaRPr>
          </a:p>
        </p:txBody>
      </p:sp>
      <p:cxnSp>
        <p:nvCxnSpPr>
          <p:cNvPr id="42" name="41 Conector recto de flecha"/>
          <p:cNvCxnSpPr>
            <a:stCxn id="17" idx="2"/>
            <a:endCxn id="39" idx="0"/>
          </p:cNvCxnSpPr>
          <p:nvPr/>
        </p:nvCxnSpPr>
        <p:spPr>
          <a:xfrm flipH="1">
            <a:off x="8388424" y="5033411"/>
            <a:ext cx="7684" cy="21602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Rectángulo"/>
          <p:cNvSpPr/>
          <p:nvPr/>
        </p:nvSpPr>
        <p:spPr>
          <a:xfrm>
            <a:off x="5220072" y="2273100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5220072" y="1763199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R0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5220072" y="3104964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Rn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436098" y="2708920"/>
            <a:ext cx="461665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…</a:t>
            </a:r>
            <a:endParaRPr lang="es-NI" dirty="0"/>
          </a:p>
        </p:txBody>
      </p:sp>
      <p:cxnSp>
        <p:nvCxnSpPr>
          <p:cNvPr id="27" name="26 Conector recto de flecha"/>
          <p:cNvCxnSpPr/>
          <p:nvPr/>
        </p:nvCxnSpPr>
        <p:spPr>
          <a:xfrm flipH="1">
            <a:off x="6228184" y="1997224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flipH="1">
            <a:off x="6228184" y="2456892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flipH="1">
            <a:off x="6228184" y="3320988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>
            <a:stCxn id="7" idx="1"/>
          </p:cNvCxnSpPr>
          <p:nvPr/>
        </p:nvCxnSpPr>
        <p:spPr>
          <a:xfrm flipH="1">
            <a:off x="7228612" y="4175517"/>
            <a:ext cx="642422" cy="430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Rectángulo"/>
          <p:cNvSpPr/>
          <p:nvPr/>
        </p:nvSpPr>
        <p:spPr>
          <a:xfrm>
            <a:off x="4860031" y="3717033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43" name="42 Conector recto de flecha"/>
          <p:cNvCxnSpPr>
            <a:endCxn id="33" idx="3"/>
          </p:cNvCxnSpPr>
          <p:nvPr/>
        </p:nvCxnSpPr>
        <p:spPr>
          <a:xfrm flipH="1" flipV="1">
            <a:off x="5868145" y="3951058"/>
            <a:ext cx="1008113" cy="18002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"/>
          <p:cNvSpPr/>
          <p:nvPr/>
        </p:nvSpPr>
        <p:spPr>
          <a:xfrm>
            <a:off x="5081280" y="5452089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48" name="47 Conector angular"/>
          <p:cNvCxnSpPr>
            <a:stCxn id="9" idx="2"/>
            <a:endCxn id="46" idx="0"/>
          </p:cNvCxnSpPr>
          <p:nvPr/>
        </p:nvCxnSpPr>
        <p:spPr>
          <a:xfrm rot="5400000">
            <a:off x="5488098" y="5354847"/>
            <a:ext cx="194483" cy="1"/>
          </a:xfrm>
          <a:prstGeom prst="bentConnector3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>
            <a:endCxn id="46" idx="3"/>
          </p:cNvCxnSpPr>
          <p:nvPr/>
        </p:nvCxnSpPr>
        <p:spPr>
          <a:xfrm flipH="1">
            <a:off x="6089392" y="5686114"/>
            <a:ext cx="786864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/>
          <p:nvPr/>
        </p:nvCxnSpPr>
        <p:spPr>
          <a:xfrm rot="10800000" flipV="1">
            <a:off x="5897764" y="4305796"/>
            <a:ext cx="978497" cy="303737"/>
          </a:xfrm>
          <a:prstGeom prst="bentConnector3">
            <a:avLst>
              <a:gd name="adj1" fmla="val 100259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5954962" y="4293096"/>
            <a:ext cx="34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6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33" grpId="0" animBg="1"/>
      <p:bldP spid="46" grpId="0" animBg="1"/>
      <p:bldP spid="5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Guardar el resultado </a:t>
            </a:r>
            <a:endParaRPr lang="es-NI" dirty="0">
              <a:solidFill>
                <a:srgbClr val="FF0000"/>
              </a:solidFill>
            </a:endParaRPr>
          </a:p>
          <a:p>
            <a:pPr lvl="2"/>
            <a:r>
              <a:rPr lang="es-ES" dirty="0"/>
              <a:t>Verificar si hay solicitudes de interrupción</a:t>
            </a:r>
            <a:endParaRPr lang="es-NI" dirty="0"/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28370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1522" y="1427301"/>
            <a:ext cx="4001457" cy="5242060"/>
          </a:xfrm>
        </p:spPr>
        <p:txBody>
          <a:bodyPr>
            <a:noAutofit/>
          </a:bodyPr>
          <a:lstStyle/>
          <a:p>
            <a:r>
              <a:rPr lang="es-ES" sz="2000" dirty="0"/>
              <a:t>Resultado de la operación en Z en nuestro caso.</a:t>
            </a:r>
          </a:p>
          <a:p>
            <a:endParaRPr lang="es-ES" sz="2000" dirty="0"/>
          </a:p>
          <a:p>
            <a:r>
              <a:rPr lang="es-ES" sz="2000" dirty="0"/>
              <a:t>Debe guardarse en donde define la instrucción: Registro o en Memoria.</a:t>
            </a:r>
            <a:endParaRPr lang="es-ES" sz="2000" dirty="0">
              <a:sym typeface="Wingdings" pitchFamily="2" charset="2"/>
            </a:endParaRPr>
          </a:p>
          <a:p>
            <a:endParaRPr lang="es-ES" sz="2000" dirty="0"/>
          </a:p>
          <a:p>
            <a:r>
              <a:rPr lang="es-ES" sz="2000" dirty="0"/>
              <a:t>Resultados afectan el estado de la máquina: se deben almacenar códigos y banderas de condición que se actualicen con los cálculos.</a:t>
            </a:r>
          </a:p>
          <a:p>
            <a:pPr lvl="1"/>
            <a:r>
              <a:rPr lang="es-ES" sz="1800" dirty="0"/>
              <a:t>PSW.</a:t>
            </a:r>
          </a:p>
          <a:p>
            <a:pPr lvl="1"/>
            <a:r>
              <a:rPr lang="es-ES" sz="1800" b="1" dirty="0"/>
              <a:t>FLAGS</a:t>
            </a:r>
            <a:r>
              <a:rPr lang="es-ES" sz="1800" dirty="0"/>
              <a:t>: Z, N o </a:t>
            </a:r>
            <a:r>
              <a:rPr lang="es-ES" sz="1800"/>
              <a:t>S, C,  </a:t>
            </a:r>
            <a:r>
              <a:rPr lang="es-ES" sz="1800" dirty="0"/>
              <a:t>V</a:t>
            </a:r>
          </a:p>
          <a:p>
            <a:pPr lvl="1"/>
            <a:endParaRPr lang="es-NI" sz="1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  <p:grpSp>
        <p:nvGrpSpPr>
          <p:cNvPr id="31" name="30 Grupo"/>
          <p:cNvGrpSpPr/>
          <p:nvPr/>
        </p:nvGrpSpPr>
        <p:grpSpPr>
          <a:xfrm>
            <a:off x="4283968" y="1340769"/>
            <a:ext cx="4680520" cy="5256584"/>
            <a:chOff x="1475656" y="3284984"/>
            <a:chExt cx="4752528" cy="2952328"/>
          </a:xfrm>
        </p:grpSpPr>
        <p:sp>
          <p:nvSpPr>
            <p:cNvPr id="4" name="3 Rectángulo"/>
            <p:cNvSpPr/>
            <p:nvPr/>
          </p:nvSpPr>
          <p:spPr>
            <a:xfrm>
              <a:off x="1475656" y="3284984"/>
              <a:ext cx="4752528" cy="2952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40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endParaRPr lang="en-US" sz="3200" dirty="0"/>
            </a:p>
            <a:p>
              <a:pPr algn="ctr"/>
              <a:r>
                <a:rPr lang="en-US" sz="2000" dirty="0"/>
                <a:t>CPU</a:t>
              </a:r>
              <a:endParaRPr lang="es-NI" sz="3200" dirty="0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5724127" y="3333584"/>
              <a:ext cx="504056" cy="558043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MAR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5723598" y="3932070"/>
              <a:ext cx="504056" cy="5191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MDR</a:t>
              </a:r>
              <a:endParaRPr lang="es-NI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7871034" y="394149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8" name="7 Flecha arriba y abajo"/>
          <p:cNvSpPr/>
          <p:nvPr/>
        </p:nvSpPr>
        <p:spPr>
          <a:xfrm>
            <a:off x="6732240" y="1412776"/>
            <a:ext cx="648072" cy="4824536"/>
          </a:xfrm>
          <a:prstGeom prst="upDown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Operación manual"/>
          <p:cNvSpPr/>
          <p:nvPr/>
        </p:nvSpPr>
        <p:spPr>
          <a:xfrm>
            <a:off x="4937267" y="4609534"/>
            <a:ext cx="1296143" cy="648072"/>
          </a:xfrm>
          <a:prstGeom prst="flowChartManualOperati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ALU</a:t>
            </a:r>
            <a:endParaRPr lang="es-NI" sz="1600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5292080" y="4221089"/>
            <a:ext cx="0" cy="364258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7892052" y="4565360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12" name="11 Conector recto de flecha"/>
          <p:cNvCxnSpPr>
            <a:endCxn id="6" idx="1"/>
          </p:cNvCxnSpPr>
          <p:nvPr/>
        </p:nvCxnSpPr>
        <p:spPr>
          <a:xfrm>
            <a:off x="7236298" y="2925188"/>
            <a:ext cx="1231251" cy="29922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>
            <a:stCxn id="17" idx="1"/>
          </p:cNvCxnSpPr>
          <p:nvPr/>
        </p:nvCxnSpPr>
        <p:spPr>
          <a:xfrm flipH="1">
            <a:off x="7243980" y="4799386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endCxn id="5" idx="1"/>
          </p:cNvCxnSpPr>
          <p:nvPr/>
        </p:nvCxnSpPr>
        <p:spPr>
          <a:xfrm>
            <a:off x="7236296" y="1924091"/>
            <a:ext cx="1231772" cy="4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Rectángulo"/>
          <p:cNvSpPr/>
          <p:nvPr/>
        </p:nvSpPr>
        <p:spPr>
          <a:xfrm>
            <a:off x="7884368" y="5249435"/>
            <a:ext cx="1008112" cy="3600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DECODER</a:t>
            </a:r>
            <a:endParaRPr lang="es-NI" sz="1200" b="1" dirty="0"/>
          </a:p>
        </p:txBody>
      </p:sp>
      <p:sp>
        <p:nvSpPr>
          <p:cNvPr id="40" name="39 Rectángulo"/>
          <p:cNvSpPr/>
          <p:nvPr/>
        </p:nvSpPr>
        <p:spPr>
          <a:xfrm>
            <a:off x="7884368" y="5610944"/>
            <a:ext cx="1008112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Unidad</a:t>
            </a:r>
            <a:r>
              <a:rPr lang="en-US" sz="1600" b="1" dirty="0">
                <a:solidFill>
                  <a:srgbClr val="00B050"/>
                </a:solidFill>
              </a:rPr>
              <a:t> de Control</a:t>
            </a:r>
            <a:endParaRPr lang="es-NI" sz="1600" b="1" dirty="0">
              <a:solidFill>
                <a:srgbClr val="00B050"/>
              </a:solidFill>
            </a:endParaRPr>
          </a:p>
        </p:txBody>
      </p:sp>
      <p:cxnSp>
        <p:nvCxnSpPr>
          <p:cNvPr id="42" name="41 Conector recto de flecha"/>
          <p:cNvCxnSpPr>
            <a:stCxn id="17" idx="2"/>
            <a:endCxn id="39" idx="0"/>
          </p:cNvCxnSpPr>
          <p:nvPr/>
        </p:nvCxnSpPr>
        <p:spPr>
          <a:xfrm flipH="1">
            <a:off x="8388424" y="5033411"/>
            <a:ext cx="7684" cy="21602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Rectángulo"/>
          <p:cNvSpPr/>
          <p:nvPr/>
        </p:nvSpPr>
        <p:spPr>
          <a:xfrm>
            <a:off x="5220072" y="2273100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R1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5220072" y="1763199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R0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5220072" y="3104964"/>
            <a:ext cx="1008112" cy="4680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Rn</a:t>
            </a:r>
            <a:endParaRPr lang="es-NI" dirty="0">
              <a:solidFill>
                <a:schemeClr val="tx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436098" y="2708920"/>
            <a:ext cx="461665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/>
              <a:t>…</a:t>
            </a:r>
            <a:endParaRPr lang="es-NI" dirty="0"/>
          </a:p>
        </p:txBody>
      </p:sp>
      <p:cxnSp>
        <p:nvCxnSpPr>
          <p:cNvPr id="27" name="26 Conector recto de flecha"/>
          <p:cNvCxnSpPr/>
          <p:nvPr/>
        </p:nvCxnSpPr>
        <p:spPr>
          <a:xfrm flipH="1">
            <a:off x="6228184" y="1997224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flipH="1">
            <a:off x="6228184" y="2456892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flipH="1">
            <a:off x="6228184" y="3320988"/>
            <a:ext cx="648072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>
            <a:stCxn id="7" idx="1"/>
          </p:cNvCxnSpPr>
          <p:nvPr/>
        </p:nvCxnSpPr>
        <p:spPr>
          <a:xfrm flipH="1">
            <a:off x="7228612" y="4175517"/>
            <a:ext cx="642422" cy="4300"/>
          </a:xfrm>
          <a:prstGeom prst="straightConnector1">
            <a:avLst/>
          </a:prstGeom>
          <a:ln w="381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Rectángulo"/>
          <p:cNvSpPr/>
          <p:nvPr/>
        </p:nvSpPr>
        <p:spPr>
          <a:xfrm>
            <a:off x="4860031" y="3717033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43" name="42 Conector recto de flecha"/>
          <p:cNvCxnSpPr>
            <a:endCxn id="33" idx="3"/>
          </p:cNvCxnSpPr>
          <p:nvPr/>
        </p:nvCxnSpPr>
        <p:spPr>
          <a:xfrm flipH="1" flipV="1">
            <a:off x="5868145" y="3951058"/>
            <a:ext cx="1008113" cy="18002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"/>
          <p:cNvSpPr/>
          <p:nvPr/>
        </p:nvSpPr>
        <p:spPr>
          <a:xfrm>
            <a:off x="5081280" y="5452089"/>
            <a:ext cx="1008112" cy="4680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48" name="47 Conector angular"/>
          <p:cNvCxnSpPr>
            <a:stCxn id="9" idx="2"/>
            <a:endCxn id="46" idx="0"/>
          </p:cNvCxnSpPr>
          <p:nvPr/>
        </p:nvCxnSpPr>
        <p:spPr>
          <a:xfrm rot="5400000">
            <a:off x="5488098" y="5354847"/>
            <a:ext cx="194483" cy="1"/>
          </a:xfrm>
          <a:prstGeom prst="bentConnector3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>
            <a:endCxn id="46" idx="3"/>
          </p:cNvCxnSpPr>
          <p:nvPr/>
        </p:nvCxnSpPr>
        <p:spPr>
          <a:xfrm flipH="1">
            <a:off x="6089392" y="5686114"/>
            <a:ext cx="786864" cy="0"/>
          </a:xfrm>
          <a:prstGeom prst="straightConnector1">
            <a:avLst/>
          </a:prstGeom>
          <a:ln w="38100">
            <a:solidFill>
              <a:srgbClr val="FFFF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/>
          <p:nvPr/>
        </p:nvCxnSpPr>
        <p:spPr>
          <a:xfrm rot="10800000" flipV="1">
            <a:off x="5897764" y="4305796"/>
            <a:ext cx="978497" cy="303737"/>
          </a:xfrm>
          <a:prstGeom prst="bentConnector3">
            <a:avLst>
              <a:gd name="adj1" fmla="val 100259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5954962" y="4293096"/>
            <a:ext cx="34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s-NI" dirty="0"/>
          </a:p>
        </p:txBody>
      </p:sp>
      <p:sp>
        <p:nvSpPr>
          <p:cNvPr id="34" name="33 Rectángulo"/>
          <p:cNvSpPr/>
          <p:nvPr/>
        </p:nvSpPr>
        <p:spPr>
          <a:xfrm>
            <a:off x="4828633" y="6003287"/>
            <a:ext cx="1008112" cy="4680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FLAGS</a:t>
            </a:r>
            <a:endParaRPr lang="es-NI" dirty="0">
              <a:solidFill>
                <a:schemeClr val="tx1"/>
              </a:solidFill>
            </a:endParaRPr>
          </a:p>
        </p:txBody>
      </p:sp>
      <p:cxnSp>
        <p:nvCxnSpPr>
          <p:cNvPr id="14" name="13 Conector angular"/>
          <p:cNvCxnSpPr>
            <a:stCxn id="9" idx="1"/>
            <a:endCxn id="34" idx="1"/>
          </p:cNvCxnSpPr>
          <p:nvPr/>
        </p:nvCxnSpPr>
        <p:spPr>
          <a:xfrm rot="10800000" flipV="1">
            <a:off x="4828633" y="4933569"/>
            <a:ext cx="238246" cy="1303744"/>
          </a:xfrm>
          <a:prstGeom prst="bentConnector3">
            <a:avLst>
              <a:gd name="adj1" fmla="val 195951"/>
            </a:avLst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7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643192" cy="4709120"/>
          </a:xfrm>
        </p:spPr>
        <p:txBody>
          <a:bodyPr>
            <a:normAutofit/>
          </a:bodyPr>
          <a:lstStyle/>
          <a:p>
            <a:pPr hangingPunct="0"/>
            <a:r>
              <a:rPr lang="es-ES" dirty="0"/>
              <a:t>FASE FETCH</a:t>
            </a:r>
            <a:endParaRPr lang="es-NI" dirty="0"/>
          </a:p>
          <a:p>
            <a:pPr lvl="2"/>
            <a:r>
              <a:rPr lang="es-ES" dirty="0"/>
              <a:t>Cargar la siguiente instrucción</a:t>
            </a:r>
            <a:endParaRPr lang="es-NI" dirty="0"/>
          </a:p>
          <a:p>
            <a:pPr lvl="2"/>
            <a:r>
              <a:rPr lang="es-ES" dirty="0"/>
              <a:t>Incrementar el secuenciador</a:t>
            </a:r>
            <a:endParaRPr lang="es-NI" dirty="0"/>
          </a:p>
          <a:p>
            <a:pPr lvl="2"/>
            <a:r>
              <a:rPr lang="es-ES" dirty="0"/>
              <a:t>Interpretar la Instrucción</a:t>
            </a:r>
            <a:endParaRPr lang="es-NI" dirty="0"/>
          </a:p>
          <a:p>
            <a:pPr hangingPunct="0"/>
            <a:r>
              <a:rPr lang="es-ES" dirty="0"/>
              <a:t>FASE EXECUTE</a:t>
            </a:r>
            <a:endParaRPr lang="es-NI" dirty="0"/>
          </a:p>
          <a:p>
            <a:pPr lvl="2"/>
            <a:r>
              <a:rPr lang="es-ES" dirty="0"/>
              <a:t>Cargar los operandos</a:t>
            </a:r>
            <a:endParaRPr lang="es-NI" dirty="0"/>
          </a:p>
          <a:p>
            <a:pPr lvl="2"/>
            <a:r>
              <a:rPr lang="es-ES" dirty="0"/>
              <a:t>Ejecutar la operación</a:t>
            </a:r>
            <a:endParaRPr lang="es-NI" dirty="0"/>
          </a:p>
          <a:p>
            <a:pPr lvl="2"/>
            <a:r>
              <a:rPr lang="es-ES" dirty="0"/>
              <a:t>Guardar el resultado </a:t>
            </a:r>
            <a:endParaRPr lang="es-NI" dirty="0"/>
          </a:p>
          <a:p>
            <a:pPr lvl="2"/>
            <a:r>
              <a:rPr lang="es-ES" dirty="0">
                <a:solidFill>
                  <a:srgbClr val="FF0000"/>
                </a:solidFill>
              </a:rPr>
              <a:t>Verificar si hay solicitudes de interrupción</a:t>
            </a:r>
            <a:endParaRPr lang="es-NI" dirty="0">
              <a:solidFill>
                <a:srgbClr val="FF0000"/>
              </a:solidFill>
            </a:endParaRPr>
          </a:p>
          <a:p>
            <a:endParaRPr lang="es-NI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85895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ts2.mm.bing.net/images/thumbnail.aspx?q=4609608742077413&amp;id=c43a636d927a349931b694584e6246f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64288" y="4449802"/>
            <a:ext cx="1933872" cy="214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600202"/>
            <a:ext cx="7139136" cy="43490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dirty="0" err="1"/>
              <a:t>Verificar</a:t>
            </a:r>
            <a:r>
              <a:rPr lang="en-US" sz="3200" dirty="0"/>
              <a:t> </a:t>
            </a:r>
            <a:r>
              <a:rPr lang="en-US" sz="3200" dirty="0" err="1"/>
              <a:t>si</a:t>
            </a:r>
            <a:r>
              <a:rPr lang="en-US" sz="3200" dirty="0"/>
              <a:t> hay solicitudes de </a:t>
            </a:r>
            <a:r>
              <a:rPr lang="en-US" sz="3200" dirty="0" err="1"/>
              <a:t>Interrupción</a:t>
            </a:r>
            <a:r>
              <a:rPr lang="en-US" sz="3200" dirty="0"/>
              <a:t>:</a:t>
            </a:r>
          </a:p>
          <a:p>
            <a:pPr lvl="1" algn="just"/>
            <a:r>
              <a:rPr lang="en-US" sz="2800" dirty="0"/>
              <a:t>Las </a:t>
            </a:r>
            <a:r>
              <a:rPr lang="en-US" sz="2800" dirty="0" err="1"/>
              <a:t>Interrupciones</a:t>
            </a:r>
            <a:r>
              <a:rPr lang="en-US" sz="2800" dirty="0"/>
              <a:t> son </a:t>
            </a:r>
            <a:r>
              <a:rPr lang="en-US" sz="2800" dirty="0" err="1"/>
              <a:t>mecanismos</a:t>
            </a:r>
            <a:r>
              <a:rPr lang="en-US" sz="2800" dirty="0"/>
              <a:t> </a:t>
            </a:r>
            <a:r>
              <a:rPr lang="en-US" sz="2800" dirty="0" err="1"/>
              <a:t>diseñados</a:t>
            </a:r>
            <a:r>
              <a:rPr lang="en-US" sz="2800" dirty="0"/>
              <a:t> para </a:t>
            </a:r>
            <a:r>
              <a:rPr lang="en-US" sz="2800" dirty="0" err="1"/>
              <a:t>permitir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los </a:t>
            </a:r>
            <a:r>
              <a:rPr lang="en-US" sz="2800" dirty="0" err="1"/>
              <a:t>dispositivos</a:t>
            </a:r>
            <a:r>
              <a:rPr lang="en-US" sz="2800" dirty="0"/>
              <a:t> </a:t>
            </a:r>
            <a:r>
              <a:rPr lang="en-US" sz="2800" dirty="0" err="1"/>
              <a:t>periféricos</a:t>
            </a:r>
            <a:r>
              <a:rPr lang="en-US" sz="2800" dirty="0"/>
              <a:t> </a:t>
            </a:r>
            <a:r>
              <a:rPr lang="en-US" sz="2800" dirty="0" err="1"/>
              <a:t>soliciten</a:t>
            </a:r>
            <a:r>
              <a:rPr lang="en-US" sz="2800" dirty="0"/>
              <a:t> </a:t>
            </a:r>
            <a:r>
              <a:rPr lang="en-US" sz="2800" dirty="0" err="1"/>
              <a:t>servicio</a:t>
            </a:r>
            <a:r>
              <a:rPr lang="en-US" sz="2800" dirty="0"/>
              <a:t> al CPU a </a:t>
            </a:r>
            <a:r>
              <a:rPr lang="en-US" sz="2800" dirty="0" err="1"/>
              <a:t>través</a:t>
            </a:r>
            <a:r>
              <a:rPr lang="en-US" sz="2800" dirty="0"/>
              <a:t> de la </a:t>
            </a:r>
            <a:r>
              <a:rPr lang="en-US" sz="2800" dirty="0" err="1"/>
              <a:t>señal</a:t>
            </a:r>
            <a:r>
              <a:rPr lang="en-US" sz="2800" dirty="0"/>
              <a:t> de control INT.</a:t>
            </a:r>
          </a:p>
          <a:p>
            <a:pPr lvl="1" algn="just"/>
            <a:endParaRPr lang="en-US" sz="2800" dirty="0"/>
          </a:p>
          <a:p>
            <a:pPr lvl="1" algn="just"/>
            <a:r>
              <a:rPr lang="en-US" sz="2800" dirty="0"/>
              <a:t>Al </a:t>
            </a:r>
            <a:r>
              <a:rPr lang="en-US" sz="2800" dirty="0" err="1"/>
              <a:t>finalizar</a:t>
            </a:r>
            <a:r>
              <a:rPr lang="en-US" sz="2800" dirty="0"/>
              <a:t>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instrucción</a:t>
            </a:r>
            <a:r>
              <a:rPr lang="en-US" sz="2800" dirty="0"/>
              <a:t>, el CPU </a:t>
            </a:r>
            <a:r>
              <a:rPr lang="en-US" sz="2800" dirty="0" err="1"/>
              <a:t>verifica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se </a:t>
            </a:r>
            <a:r>
              <a:rPr lang="en-US" sz="2800" dirty="0" err="1"/>
              <a:t>solicitan</a:t>
            </a:r>
            <a:r>
              <a:rPr lang="en-US" sz="2800" dirty="0"/>
              <a:t> </a:t>
            </a:r>
            <a:r>
              <a:rPr lang="en-US" sz="2800" dirty="0" err="1"/>
              <a:t>interrupciones</a:t>
            </a:r>
            <a:r>
              <a:rPr lang="en-US" sz="2800" dirty="0"/>
              <a:t>, y de </a:t>
            </a:r>
            <a:r>
              <a:rPr lang="en-US" sz="2800" dirty="0" err="1"/>
              <a:t>ser</a:t>
            </a:r>
            <a:r>
              <a:rPr lang="en-US" sz="2800" dirty="0"/>
              <a:t> </a:t>
            </a:r>
            <a:r>
              <a:rPr lang="en-US" sz="2800" dirty="0" err="1"/>
              <a:t>así</a:t>
            </a:r>
            <a:r>
              <a:rPr lang="en-US" sz="2800" dirty="0"/>
              <a:t>, les da </a:t>
            </a:r>
            <a:r>
              <a:rPr lang="en-US" sz="2800" dirty="0" err="1"/>
              <a:t>servicio</a:t>
            </a:r>
            <a:r>
              <a:rPr lang="en-US" sz="2800" dirty="0"/>
              <a:t> </a:t>
            </a:r>
            <a:r>
              <a:rPr lang="en-US" sz="2800" dirty="0" err="1"/>
              <a:t>ejecutando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rutina</a:t>
            </a:r>
            <a:r>
              <a:rPr lang="en-US" sz="2800" dirty="0"/>
              <a:t> de </a:t>
            </a:r>
            <a:r>
              <a:rPr lang="en-US" sz="2800" dirty="0" err="1"/>
              <a:t>servicio</a:t>
            </a:r>
            <a:r>
              <a:rPr lang="en-US" sz="2800" dirty="0"/>
              <a:t> de </a:t>
            </a:r>
            <a:r>
              <a:rPr lang="en-US" sz="2800" dirty="0" err="1"/>
              <a:t>interrupción</a:t>
            </a:r>
            <a:r>
              <a:rPr lang="en-US" sz="2800" dirty="0"/>
              <a:t>, </a:t>
            </a:r>
            <a:r>
              <a:rPr lang="en-US" sz="2800" dirty="0" err="1"/>
              <a:t>previa</a:t>
            </a:r>
            <a:r>
              <a:rPr lang="en-US" sz="2800" dirty="0"/>
              <a:t> </a:t>
            </a:r>
            <a:r>
              <a:rPr lang="en-US" sz="2800" dirty="0" err="1"/>
              <a:t>salvaguarda</a:t>
            </a:r>
            <a:r>
              <a:rPr lang="en-US" sz="2800" dirty="0"/>
              <a:t> del </a:t>
            </a:r>
            <a:r>
              <a:rPr lang="en-US" sz="2800" dirty="0" err="1"/>
              <a:t>estado</a:t>
            </a:r>
            <a:r>
              <a:rPr lang="en-US" sz="2800" dirty="0"/>
              <a:t> de la </a:t>
            </a:r>
            <a:r>
              <a:rPr lang="en-US" sz="2800" dirty="0" err="1"/>
              <a:t>máquina</a:t>
            </a:r>
            <a:r>
              <a:rPr lang="en-US" sz="2800" dirty="0"/>
              <a:t>.</a:t>
            </a:r>
          </a:p>
          <a:p>
            <a:pPr lvl="2" algn="just"/>
            <a:endParaRPr lang="en-U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2.3. </a:t>
            </a:r>
            <a:r>
              <a:rPr lang="en-US" dirty="0" err="1"/>
              <a:t>Elementos</a:t>
            </a:r>
            <a:r>
              <a:rPr lang="en-US" dirty="0"/>
              <a:t> para </a:t>
            </a:r>
            <a:r>
              <a:rPr lang="en-US" dirty="0" err="1"/>
              <a:t>construir</a:t>
            </a:r>
            <a:r>
              <a:rPr lang="en-US" dirty="0"/>
              <a:t> el CPU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83710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Autofit/>
          </a:bodyPr>
          <a:lstStyle/>
          <a:p>
            <a:r>
              <a:rPr lang="en-US" sz="4000" dirty="0"/>
              <a:t>2.4. </a:t>
            </a:r>
            <a:r>
              <a:rPr lang="en-US" sz="4000" dirty="0" err="1"/>
              <a:t>Estructura</a:t>
            </a:r>
            <a:r>
              <a:rPr lang="en-US" sz="4000" dirty="0"/>
              <a:t> </a:t>
            </a:r>
            <a:r>
              <a:rPr lang="en-US" sz="4000" dirty="0" err="1"/>
              <a:t>básica</a:t>
            </a:r>
            <a:r>
              <a:rPr lang="en-US" sz="4000" dirty="0"/>
              <a:t> del CPU</a:t>
            </a:r>
            <a:br>
              <a:rPr lang="en-US" sz="4000" dirty="0"/>
            </a:br>
            <a:endParaRPr lang="es-NI" sz="4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896855"/>
              </p:ext>
            </p:extLst>
          </p:nvPr>
        </p:nvGraphicFramePr>
        <p:xfrm>
          <a:off x="1979712" y="980729"/>
          <a:ext cx="6264696" cy="5771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Visio" r:id="rId3" imgW="5882948" imgH="5425593" progId="Visio.Drawing.11">
                  <p:embed/>
                </p:oleObj>
              </mc:Choice>
              <mc:Fallback>
                <p:oleObj name="Visio" r:id="rId3" imgW="5882948" imgH="542559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980729"/>
                        <a:ext cx="6264696" cy="5771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87390" y="1340769"/>
            <a:ext cx="553998" cy="41764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dirty="0" err="1"/>
              <a:t>Ejecución</a:t>
            </a:r>
            <a:r>
              <a:rPr lang="en-US" sz="2400" dirty="0"/>
              <a:t> de la </a:t>
            </a:r>
            <a:r>
              <a:rPr lang="en-US" sz="2400" dirty="0" err="1"/>
              <a:t>instrucción</a:t>
            </a:r>
            <a:endParaRPr lang="es-NI" sz="2400" dirty="0"/>
          </a:p>
        </p:txBody>
      </p:sp>
    </p:spTree>
    <p:extLst>
      <p:ext uri="{BB962C8B-B14F-4D97-AF65-F5344CB8AC3E}">
        <p14:creationId xmlns:p14="http://schemas.microsoft.com/office/powerpoint/2010/main" val="201335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 vistas o </a:t>
            </a:r>
            <a:r>
              <a:rPr lang="en-US" dirty="0" err="1"/>
              <a:t>secciones</a:t>
            </a:r>
            <a:r>
              <a:rPr lang="en-US" dirty="0"/>
              <a:t>: </a:t>
            </a:r>
            <a:r>
              <a:rPr lang="en-US" dirty="0" err="1"/>
              <a:t>Datapath</a:t>
            </a:r>
            <a:r>
              <a:rPr lang="en-US" dirty="0"/>
              <a:t> y Control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2.4. </a:t>
            </a:r>
            <a:r>
              <a:rPr lang="en-US" sz="4400" dirty="0" err="1"/>
              <a:t>Estructura</a:t>
            </a:r>
            <a:r>
              <a:rPr lang="en-US" sz="4400" dirty="0"/>
              <a:t> </a:t>
            </a:r>
            <a:r>
              <a:rPr lang="en-US" sz="4400" dirty="0" err="1"/>
              <a:t>básica</a:t>
            </a:r>
            <a:r>
              <a:rPr lang="en-US" sz="4400" dirty="0"/>
              <a:t> del CPU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52293"/>
              </p:ext>
            </p:extLst>
          </p:nvPr>
        </p:nvGraphicFramePr>
        <p:xfrm>
          <a:off x="899592" y="2060848"/>
          <a:ext cx="7200800" cy="4731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Visio" r:id="rId3" imgW="3939159" imgH="2579751" progId="Visio.Drawing.11">
                  <p:embed/>
                </p:oleObj>
              </mc:Choice>
              <mc:Fallback>
                <p:oleObj name="Visio" r:id="rId3" imgW="3939159" imgH="257975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060848"/>
                        <a:ext cx="7200800" cy="47319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975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galeon.com/parponk/imagenes/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6" y="1484785"/>
            <a:ext cx="5419941" cy="449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58200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Marcador de contenido">
            <a:extLst>
              <a:ext uri="{FF2B5EF4-FFF2-40B4-BE49-F238E27FC236}">
                <a16:creationId xmlns:a16="http://schemas.microsoft.com/office/drawing/2014/main" id="{E25FDE61-B6E2-4C09-A97C-289987EBE5C6}"/>
              </a:ext>
            </a:extLst>
          </p:cNvPr>
          <p:cNvSpPr txBox="1">
            <a:spLocks/>
          </p:cNvSpPr>
          <p:nvPr/>
        </p:nvSpPr>
        <p:spPr>
          <a:xfrm>
            <a:off x="502874" y="1412776"/>
            <a:ext cx="8229600" cy="497200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/>
              <a:t>Históricamente han existido diferentes arquitecturas desde la perspectiva de cómo tratan los operandos:</a:t>
            </a:r>
            <a:endParaRPr lang="es-NI"/>
          </a:p>
          <a:p>
            <a:pPr lvl="1"/>
            <a:r>
              <a:rPr lang="en-US" b="1">
                <a:solidFill>
                  <a:srgbClr val="FF0000"/>
                </a:solidFill>
              </a:rPr>
              <a:t>Arquitectura de acumulador: </a:t>
            </a:r>
            <a:r>
              <a:rPr lang="en-US"/>
              <a:t>un solo registro en el CPU &gt;&gt; el acumulador.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Arquitectura de pila: </a:t>
            </a:r>
            <a:r>
              <a:rPr lang="en-US"/>
              <a:t>No se almacenan operandos dentro del CPU sino en la memoria en una estructura de datos Pila.</a:t>
            </a:r>
          </a:p>
          <a:p>
            <a:pPr lvl="1"/>
            <a:r>
              <a:rPr lang="en-US" b="1">
                <a:solidFill>
                  <a:srgbClr val="FF0000"/>
                </a:solidFill>
              </a:rPr>
              <a:t>Arquitectura de registros: </a:t>
            </a:r>
            <a:r>
              <a:rPr lang="en-US"/>
              <a:t>Se cuentan con varios registros internos al CPU para almacenamiento de operandos.</a:t>
            </a:r>
          </a:p>
          <a:p>
            <a:pPr lvl="2"/>
            <a:r>
              <a:rPr lang="en-US"/>
              <a:t>Dos opciones: 2 direcciones y 3 direcciones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4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97200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acumulador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/>
              <a:t>un solo </a:t>
            </a:r>
            <a:r>
              <a:rPr lang="en-US" dirty="0" err="1"/>
              <a:t>registro</a:t>
            </a:r>
            <a:r>
              <a:rPr lang="en-US" dirty="0"/>
              <a:t> en el CPU &gt;&gt; el </a:t>
            </a:r>
            <a:r>
              <a:rPr lang="en-US" dirty="0" err="1"/>
              <a:t>acumulador</a:t>
            </a:r>
            <a:r>
              <a:rPr lang="en-US" dirty="0"/>
              <a:t>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603657"/>
              </p:ext>
            </p:extLst>
          </p:nvPr>
        </p:nvGraphicFramePr>
        <p:xfrm>
          <a:off x="3347864" y="2420889"/>
          <a:ext cx="5184576" cy="4328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Visio" r:id="rId3" imgW="4023360" imgH="3358342" progId="Visio.Drawing.11">
                  <p:embed/>
                </p:oleObj>
              </mc:Choice>
              <mc:Fallback>
                <p:oleObj name="Visio" r:id="rId3" imgW="4023360" imgH="335834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420889"/>
                        <a:ext cx="5184576" cy="43284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056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97200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acumulador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 err="1"/>
              <a:t>Instrucciones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Dirección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87371"/>
              </p:ext>
            </p:extLst>
          </p:nvPr>
        </p:nvGraphicFramePr>
        <p:xfrm>
          <a:off x="1475656" y="2636913"/>
          <a:ext cx="7128792" cy="3312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6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INSTRUCCION</a:t>
                      </a:r>
                      <a:endParaRPr lang="es-NI" sz="16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9705" algn="ctr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OPERACIÓN REALIZADA</a:t>
                      </a:r>
                      <a:endParaRPr lang="es-NI" sz="16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72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LOAD X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LOAD (m)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LOAD n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STORE  X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STORE (m)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ADD X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ADD (m)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ADD n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NI" sz="16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M(X)  ; X es una variable de memoria (M)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M(m)  ; m es una dirección de M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n        ; n es un número entero.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M(X)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 ; X es una variable de M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M(m)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; m es una dirección de M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(</a:t>
                      </a: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) + M(X) ; X es una variable de M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(</a:t>
                      </a: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) + M(m) ; m es una dirección de M</a:t>
                      </a:r>
                      <a:endParaRPr lang="es-NI" sz="1600" dirty="0">
                        <a:effectLst/>
                      </a:endParaRPr>
                    </a:p>
                    <a:p>
                      <a:pPr marL="179705">
                        <a:spcAft>
                          <a:spcPts val="0"/>
                        </a:spcAft>
                      </a:pP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 </a:t>
                      </a:r>
                      <a:r>
                        <a:rPr lang="es-ES" sz="1600" dirty="0">
                          <a:effectLst/>
                          <a:sym typeface="Wingdings"/>
                        </a:rPr>
                        <a:t></a:t>
                      </a:r>
                      <a:r>
                        <a:rPr lang="es-ES" sz="1600" dirty="0">
                          <a:effectLst/>
                        </a:rPr>
                        <a:t> (</a:t>
                      </a:r>
                      <a:r>
                        <a:rPr lang="es-ES" sz="1600" dirty="0" err="1">
                          <a:effectLst/>
                        </a:rPr>
                        <a:t>Acc</a:t>
                      </a:r>
                      <a:r>
                        <a:rPr lang="es-ES" sz="1600" dirty="0">
                          <a:effectLst/>
                        </a:rPr>
                        <a:t>) + n       ; n es un número entero.</a:t>
                      </a:r>
                      <a:endParaRPr lang="es-NI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NI" sz="16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0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tack&lt;Stone&g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6" y="3573017"/>
            <a:ext cx="2000757" cy="3078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484785"/>
            <a:ext cx="7056784" cy="46085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pila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</a:p>
          <a:p>
            <a:pPr lvl="1"/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area de </a:t>
            </a:r>
            <a:r>
              <a:rPr lang="en-US" dirty="0" err="1"/>
              <a:t>Pila</a:t>
            </a:r>
            <a:r>
              <a:rPr lang="en-US" dirty="0"/>
              <a:t>. </a:t>
            </a:r>
            <a:r>
              <a:rPr lang="en-US" dirty="0" err="1"/>
              <a:t>Suelen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de </a:t>
            </a:r>
            <a:r>
              <a:rPr lang="en-US" dirty="0" err="1"/>
              <a:t>empuje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abajo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registro</a:t>
            </a:r>
            <a:r>
              <a:rPr lang="en-US" dirty="0"/>
              <a:t> para control de </a:t>
            </a:r>
            <a:r>
              <a:rPr lang="en-US" dirty="0" err="1"/>
              <a:t>dinámica</a:t>
            </a:r>
            <a:r>
              <a:rPr lang="en-US" dirty="0"/>
              <a:t> de la </a:t>
            </a:r>
            <a:r>
              <a:rPr lang="en-US" dirty="0" err="1"/>
              <a:t>pila</a:t>
            </a:r>
            <a:r>
              <a:rPr lang="en-US" dirty="0"/>
              <a:t>: SP</a:t>
            </a:r>
          </a:p>
          <a:p>
            <a:pPr lvl="1"/>
            <a:r>
              <a:rPr lang="en-US" dirty="0" err="1"/>
              <a:t>Instrucciones</a:t>
            </a:r>
            <a:r>
              <a:rPr lang="en-US" dirty="0"/>
              <a:t> para </a:t>
            </a:r>
            <a:r>
              <a:rPr lang="en-US" dirty="0" err="1"/>
              <a:t>operaciones</a:t>
            </a:r>
            <a:r>
              <a:rPr lang="en-US" dirty="0"/>
              <a:t> de </a:t>
            </a:r>
            <a:r>
              <a:rPr lang="en-US" dirty="0" err="1"/>
              <a:t>Pila</a:t>
            </a:r>
            <a:r>
              <a:rPr lang="en-US" dirty="0"/>
              <a:t>: PUSH y POP</a:t>
            </a:r>
          </a:p>
          <a:p>
            <a:pPr lvl="1"/>
            <a:r>
              <a:rPr lang="en-US" dirty="0" err="1"/>
              <a:t>Operaciones</a:t>
            </a:r>
            <a:r>
              <a:rPr lang="en-US" dirty="0"/>
              <a:t> se </a:t>
            </a:r>
            <a:r>
              <a:rPr lang="en-US" dirty="0" err="1"/>
              <a:t>hacen</a:t>
            </a:r>
            <a:r>
              <a:rPr lang="en-US" dirty="0"/>
              <a:t> con los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arriba</a:t>
            </a:r>
            <a:r>
              <a:rPr lang="en-US" dirty="0"/>
              <a:t> en la </a:t>
            </a:r>
            <a:r>
              <a:rPr lang="en-US" dirty="0" err="1"/>
              <a:t>pila</a:t>
            </a:r>
            <a:r>
              <a:rPr lang="en-US" dirty="0"/>
              <a:t> (TOS y NOS) y el </a:t>
            </a:r>
            <a:r>
              <a:rPr lang="en-US" dirty="0" err="1"/>
              <a:t>resultado</a:t>
            </a:r>
            <a:r>
              <a:rPr lang="en-US" dirty="0"/>
              <a:t> se </a:t>
            </a:r>
            <a:r>
              <a:rPr lang="en-US" dirty="0" err="1"/>
              <a:t>guarda</a:t>
            </a:r>
            <a:r>
              <a:rPr lang="en-US" dirty="0"/>
              <a:t> en la </a:t>
            </a:r>
            <a:r>
              <a:rPr lang="en-US" dirty="0" err="1"/>
              <a:t>pila</a:t>
            </a:r>
            <a:r>
              <a:rPr lang="en-US" dirty="0"/>
              <a:t>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20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484785"/>
            <a:ext cx="8424936" cy="46085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pila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 err="1"/>
              <a:t>Uso</a:t>
            </a:r>
            <a:r>
              <a:rPr lang="en-US" dirty="0"/>
              <a:t> de SP para </a:t>
            </a:r>
            <a:r>
              <a:rPr lang="en-US" dirty="0" err="1"/>
              <a:t>controlar</a:t>
            </a:r>
            <a:r>
              <a:rPr lang="en-US" dirty="0"/>
              <a:t> NOS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563609"/>
              </p:ext>
            </p:extLst>
          </p:nvPr>
        </p:nvGraphicFramePr>
        <p:xfrm>
          <a:off x="2627784" y="2204865"/>
          <a:ext cx="5616624" cy="4034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Visio" r:id="rId3" imgW="4149852" imgH="3464052" progId="Visio.Drawing.11">
                  <p:embed/>
                </p:oleObj>
              </mc:Choice>
              <mc:Fallback>
                <p:oleObj name="Visio" r:id="rId3" imgW="4149852" imgH="346405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204865"/>
                        <a:ext cx="5616624" cy="4034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244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484785"/>
            <a:ext cx="8424936" cy="4608512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pila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 err="1"/>
              <a:t>Instrucciones</a:t>
            </a:r>
            <a:r>
              <a:rPr lang="en-US" dirty="0"/>
              <a:t> de 0 </a:t>
            </a:r>
            <a:r>
              <a:rPr lang="en-US" dirty="0" err="1"/>
              <a:t>direcciones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5 Rectángulo"/>
          <p:cNvSpPr/>
          <p:nvPr/>
        </p:nvSpPr>
        <p:spPr>
          <a:xfrm>
            <a:off x="1043608" y="2564906"/>
            <a:ext cx="7416824" cy="3477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2000" b="1" dirty="0"/>
              <a:t>Instrucción               	Operación</a:t>
            </a:r>
            <a:endParaRPr lang="es-NI" sz="2000" dirty="0"/>
          </a:p>
          <a:p>
            <a:r>
              <a:rPr lang="es-ES" sz="2000" dirty="0"/>
              <a:t> </a:t>
            </a:r>
            <a:endParaRPr lang="es-NI" sz="2000" dirty="0"/>
          </a:p>
          <a:p>
            <a:r>
              <a:rPr lang="es-ES" sz="2000" dirty="0"/>
              <a:t>	PUSH   X               	TOS 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M(X)</a:t>
            </a:r>
            <a:endParaRPr lang="es-NI" sz="2000" dirty="0"/>
          </a:p>
          <a:p>
            <a:r>
              <a:rPr lang="es-ES" sz="2000" dirty="0"/>
              <a:t>	</a:t>
            </a:r>
            <a:r>
              <a:rPr lang="en-US" sz="2000" dirty="0"/>
              <a:t>PUSH   (m)		TOS  </a:t>
            </a:r>
            <a:r>
              <a:rPr lang="es-ES" sz="2000" dirty="0">
                <a:sym typeface="Wingdings"/>
              </a:rPr>
              <a:t></a:t>
            </a:r>
            <a:r>
              <a:rPr lang="en-US" sz="2000" dirty="0"/>
              <a:t> M(m)</a:t>
            </a:r>
            <a:endParaRPr lang="es-NI" sz="2000" dirty="0"/>
          </a:p>
          <a:p>
            <a:r>
              <a:rPr lang="es-ES" sz="2000" dirty="0"/>
              <a:t>	PUSH   n               	TOS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n</a:t>
            </a:r>
            <a:endParaRPr lang="es-NI" sz="2000" dirty="0"/>
          </a:p>
          <a:p>
            <a:r>
              <a:rPr lang="es-ES" sz="2000" dirty="0"/>
              <a:t>	POP     Z     		M(Z)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TOS</a:t>
            </a:r>
            <a:endParaRPr lang="es-NI" sz="2000" dirty="0"/>
          </a:p>
          <a:p>
            <a:r>
              <a:rPr lang="es-ES" sz="2000" dirty="0"/>
              <a:t>	POP   (m)		M(m)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TOS</a:t>
            </a:r>
            <a:endParaRPr lang="es-NI" sz="2000" dirty="0"/>
          </a:p>
          <a:p>
            <a:r>
              <a:rPr lang="es-ES" sz="2000" dirty="0"/>
              <a:t>	ADD 			(TOS’) = (NOS) +  (TOS)</a:t>
            </a:r>
            <a:endParaRPr lang="es-NI" sz="2000" dirty="0"/>
          </a:p>
          <a:p>
            <a:r>
              <a:rPr lang="es-ES" sz="2000" dirty="0"/>
              <a:t>	SUB 			(TOS’) = (NOS)  -  (TOS)</a:t>
            </a:r>
            <a:endParaRPr lang="es-NI" sz="2000" dirty="0"/>
          </a:p>
          <a:p>
            <a:r>
              <a:rPr lang="es-ES" sz="2000" dirty="0"/>
              <a:t>	MUL 			(TOS’) = (NOS)  *  (TOS)</a:t>
            </a:r>
            <a:endParaRPr lang="es-NI" sz="2000" dirty="0"/>
          </a:p>
          <a:p>
            <a:r>
              <a:rPr lang="es-ES" sz="2000" dirty="0"/>
              <a:t>	</a:t>
            </a:r>
            <a:r>
              <a:rPr lang="en-US" sz="2000" dirty="0"/>
              <a:t>DIV 			(TOS’) = (NOS)  /  (TOS)</a:t>
            </a:r>
            <a:endParaRPr lang="es-NI" sz="2000" dirty="0"/>
          </a:p>
        </p:txBody>
      </p:sp>
      <p:sp>
        <p:nvSpPr>
          <p:cNvPr id="7" name="6 Rectángulo"/>
          <p:cNvSpPr/>
          <p:nvPr/>
        </p:nvSpPr>
        <p:spPr>
          <a:xfrm>
            <a:off x="2627784" y="6237312"/>
            <a:ext cx="6156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TOS: Top of the stack.    NOS: Next on the stack.     </a:t>
            </a:r>
            <a:endParaRPr lang="es-NI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 animBg="1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376264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registros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 err="1"/>
              <a:t>Registros</a:t>
            </a:r>
            <a:r>
              <a:rPr lang="en-US" dirty="0"/>
              <a:t> </a:t>
            </a:r>
            <a:r>
              <a:rPr lang="en-US" dirty="0" err="1"/>
              <a:t>proveen</a:t>
            </a:r>
            <a:r>
              <a:rPr lang="en-US" dirty="0"/>
              <a:t> </a:t>
            </a:r>
            <a:r>
              <a:rPr lang="en-US" dirty="0" err="1"/>
              <a:t>almacenamiento</a:t>
            </a:r>
            <a:r>
              <a:rPr lang="en-US" dirty="0"/>
              <a:t> de operandos.</a:t>
            </a:r>
          </a:p>
          <a:p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01783"/>
              </p:ext>
            </p:extLst>
          </p:nvPr>
        </p:nvGraphicFramePr>
        <p:xfrm>
          <a:off x="3707904" y="2492897"/>
          <a:ext cx="5040560" cy="419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Visio" r:id="rId3" imgW="4149852" imgH="3464052" progId="Visio.Drawing.11">
                  <p:embed/>
                </p:oleObj>
              </mc:Choice>
              <mc:Fallback>
                <p:oleObj name="Visio" r:id="rId3" imgW="4149852" imgH="346405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2492897"/>
                        <a:ext cx="5040560" cy="41908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356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39248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registros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dirty="0"/>
              <a:t>Dos </a:t>
            </a:r>
            <a:r>
              <a:rPr lang="en-US" dirty="0" err="1"/>
              <a:t>arquitecturas</a:t>
            </a:r>
            <a:r>
              <a:rPr lang="en-US" dirty="0"/>
              <a:t>: </a:t>
            </a:r>
            <a:r>
              <a:rPr lang="en-US" dirty="0" err="1"/>
              <a:t>Instrucciones</a:t>
            </a:r>
            <a:r>
              <a:rPr lang="en-US" dirty="0"/>
              <a:t> de 2 </a:t>
            </a:r>
            <a:r>
              <a:rPr lang="en-US" dirty="0" err="1"/>
              <a:t>direcciones</a:t>
            </a:r>
            <a:r>
              <a:rPr lang="en-US" dirty="0"/>
              <a:t> y de 3 </a:t>
            </a:r>
            <a:r>
              <a:rPr lang="en-US" dirty="0" err="1"/>
              <a:t>direcciones</a:t>
            </a:r>
            <a:r>
              <a:rPr lang="en-US" dirty="0"/>
              <a:t>.</a:t>
            </a:r>
          </a:p>
          <a:p>
            <a:r>
              <a:rPr lang="en-US" dirty="0"/>
              <a:t>Dos </a:t>
            </a:r>
            <a:r>
              <a:rPr lang="en-US" dirty="0" err="1"/>
              <a:t>direcciones</a:t>
            </a:r>
            <a:r>
              <a:rPr lang="en-US" dirty="0"/>
              <a:t>: Solo se </a:t>
            </a:r>
            <a:r>
              <a:rPr lang="en-US" dirty="0" err="1"/>
              <a:t>definen</a:t>
            </a:r>
            <a:r>
              <a:rPr lang="en-US" dirty="0"/>
              <a:t> 2 operandos. Uno de </a:t>
            </a:r>
            <a:r>
              <a:rPr lang="en-US" dirty="0" err="1"/>
              <a:t>ellos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fuente</a:t>
            </a:r>
            <a:r>
              <a:rPr lang="en-US" dirty="0"/>
              <a:t> y </a:t>
            </a:r>
            <a:r>
              <a:rPr lang="en-US" dirty="0" err="1"/>
              <a:t>destino</a:t>
            </a:r>
            <a:r>
              <a:rPr lang="en-US" dirty="0"/>
              <a:t> a la </a:t>
            </a:r>
            <a:r>
              <a:rPr lang="en-US" dirty="0" err="1"/>
              <a:t>vez</a:t>
            </a:r>
            <a:r>
              <a:rPr lang="en-US" dirty="0"/>
              <a:t> (</a:t>
            </a:r>
            <a:r>
              <a:rPr lang="en-US" dirty="0" err="1"/>
              <a:t>lectura</a:t>
            </a:r>
            <a:r>
              <a:rPr lang="en-US" dirty="0"/>
              <a:t> </a:t>
            </a:r>
            <a:r>
              <a:rPr lang="en-US" dirty="0" err="1"/>
              <a:t>destructiva</a:t>
            </a:r>
            <a:r>
              <a:rPr lang="en-US" dirty="0"/>
              <a:t>)</a:t>
            </a:r>
          </a:p>
          <a:p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direcciones</a:t>
            </a:r>
            <a:r>
              <a:rPr lang="en-US" dirty="0"/>
              <a:t>: Se </a:t>
            </a:r>
            <a:r>
              <a:rPr lang="en-US" dirty="0" err="1"/>
              <a:t>definen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los operandos: dos operandos </a:t>
            </a:r>
            <a:r>
              <a:rPr lang="en-US" dirty="0" err="1"/>
              <a:t>fuentes</a:t>
            </a:r>
            <a:r>
              <a:rPr lang="en-US" dirty="0"/>
              <a:t> y un operando </a:t>
            </a:r>
            <a:r>
              <a:rPr lang="en-US" dirty="0" err="1"/>
              <a:t>destino</a:t>
            </a:r>
            <a:endParaRPr lang="en-US" dirty="0"/>
          </a:p>
          <a:p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83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39248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registros</a:t>
            </a:r>
            <a:r>
              <a:rPr lang="en-US" b="1" dirty="0">
                <a:solidFill>
                  <a:srgbClr val="FF0000"/>
                </a:solidFill>
              </a:rPr>
              <a:t> de dos </a:t>
            </a:r>
            <a:r>
              <a:rPr lang="en-US" b="1" dirty="0" err="1">
                <a:solidFill>
                  <a:srgbClr val="FF0000"/>
                </a:solidFill>
              </a:rPr>
              <a:t>direcciones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5" name="4 Rectángulo"/>
          <p:cNvSpPr/>
          <p:nvPr/>
        </p:nvSpPr>
        <p:spPr>
          <a:xfrm>
            <a:off x="827584" y="2276873"/>
            <a:ext cx="7488832" cy="31700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2000" dirty="0"/>
              <a:t>MOV </a:t>
            </a:r>
            <a:r>
              <a:rPr lang="es-ES" sz="2000" dirty="0" err="1"/>
              <a:t>Rd</a:t>
            </a:r>
            <a:r>
              <a:rPr lang="es-ES" sz="2000" dirty="0"/>
              <a:t>, Rf    	; </a:t>
            </a:r>
            <a:r>
              <a:rPr lang="es-ES" sz="2000" dirty="0" err="1"/>
              <a:t>Rd</a:t>
            </a:r>
            <a:r>
              <a:rPr lang="es-ES" sz="2000" dirty="0"/>
              <a:t> 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Rf</a:t>
            </a:r>
            <a:endParaRPr lang="es-NI" sz="2000" dirty="0"/>
          </a:p>
          <a:p>
            <a:r>
              <a:rPr lang="es-ES" sz="2000" dirty="0"/>
              <a:t>MOV </a:t>
            </a:r>
            <a:r>
              <a:rPr lang="es-ES" sz="2000" dirty="0" err="1"/>
              <a:t>Rd</a:t>
            </a:r>
            <a:r>
              <a:rPr lang="es-ES" sz="2000" dirty="0"/>
              <a:t>, n   	; </a:t>
            </a:r>
            <a:r>
              <a:rPr lang="es-ES" sz="2000" dirty="0" err="1"/>
              <a:t>Rd</a:t>
            </a:r>
            <a:r>
              <a:rPr lang="es-ES" sz="2000" dirty="0"/>
              <a:t> 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n  |  n es un número</a:t>
            </a:r>
            <a:endParaRPr lang="es-NI" sz="2000" dirty="0"/>
          </a:p>
          <a:p>
            <a:r>
              <a:rPr lang="es-ES" sz="2000" dirty="0"/>
              <a:t>MOV </a:t>
            </a:r>
            <a:r>
              <a:rPr lang="es-ES" sz="2000" dirty="0" err="1"/>
              <a:t>Rd</a:t>
            </a:r>
            <a:r>
              <a:rPr lang="es-ES" sz="2000" dirty="0"/>
              <a:t>, X	; </a:t>
            </a:r>
            <a:r>
              <a:rPr lang="es-ES" sz="2000" dirty="0" err="1"/>
              <a:t>Rd</a:t>
            </a:r>
            <a:r>
              <a:rPr lang="es-ES" sz="2000" dirty="0"/>
              <a:t>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 M(X)     ; X es una variable en M</a:t>
            </a:r>
            <a:endParaRPr lang="es-NI" sz="2000" dirty="0"/>
          </a:p>
          <a:p>
            <a:r>
              <a:rPr lang="es-ES" sz="2000" dirty="0"/>
              <a:t>MOV </a:t>
            </a:r>
            <a:r>
              <a:rPr lang="es-ES" sz="2000" dirty="0" err="1"/>
              <a:t>Rd</a:t>
            </a:r>
            <a:r>
              <a:rPr lang="es-ES" sz="2000" dirty="0"/>
              <a:t>, (m)   	; </a:t>
            </a:r>
            <a:r>
              <a:rPr lang="es-ES" sz="2000" dirty="0" err="1"/>
              <a:t>Rd</a:t>
            </a:r>
            <a:r>
              <a:rPr lang="es-ES" sz="2000" dirty="0"/>
              <a:t> 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M(m)   ;  m es una dirección en M</a:t>
            </a:r>
            <a:endParaRPr lang="es-NI" sz="2000" dirty="0"/>
          </a:p>
          <a:p>
            <a:r>
              <a:rPr lang="es-ES" sz="2000" dirty="0"/>
              <a:t>MOV  X, Rf	; M(X)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Rf     ;  X es una variable en M</a:t>
            </a:r>
            <a:endParaRPr lang="es-NI" sz="2000" dirty="0"/>
          </a:p>
          <a:p>
            <a:r>
              <a:rPr lang="es-ES" sz="2000" dirty="0"/>
              <a:t>MOV (m), Rf	; M(m) </a:t>
            </a:r>
            <a:r>
              <a:rPr lang="es-ES" sz="2000" dirty="0">
                <a:sym typeface="Wingdings"/>
              </a:rPr>
              <a:t></a:t>
            </a:r>
            <a:r>
              <a:rPr lang="es-ES" sz="2000" dirty="0"/>
              <a:t>  Rf     ;  m es una dirección en M</a:t>
            </a:r>
            <a:endParaRPr lang="es-NI" sz="2000" dirty="0"/>
          </a:p>
          <a:p>
            <a:r>
              <a:rPr lang="en-US" sz="2000" dirty="0"/>
              <a:t>ADD  </a:t>
            </a:r>
            <a:r>
              <a:rPr lang="en-US" sz="2000" dirty="0" err="1"/>
              <a:t>Rf</a:t>
            </a:r>
            <a:r>
              <a:rPr lang="en-US" sz="2000" dirty="0"/>
              <a:t>, Rd  	; Rd  </a:t>
            </a:r>
            <a:r>
              <a:rPr lang="es-ES" sz="2000" dirty="0">
                <a:sym typeface="Wingdings"/>
              </a:rPr>
              <a:t></a:t>
            </a:r>
            <a:r>
              <a:rPr lang="en-US" sz="2000" dirty="0"/>
              <a:t>  </a:t>
            </a:r>
            <a:r>
              <a:rPr lang="en-US" sz="2000" dirty="0" err="1"/>
              <a:t>Rf</a:t>
            </a:r>
            <a:r>
              <a:rPr lang="en-US" sz="2000" dirty="0"/>
              <a:t> + Rd     </a:t>
            </a:r>
            <a:endParaRPr lang="es-NI" sz="2000" dirty="0"/>
          </a:p>
          <a:p>
            <a:r>
              <a:rPr lang="en-US" sz="2000" dirty="0"/>
              <a:t>SUB  </a:t>
            </a:r>
            <a:r>
              <a:rPr lang="en-US" sz="2000" dirty="0" err="1"/>
              <a:t>Rf</a:t>
            </a:r>
            <a:r>
              <a:rPr lang="en-US" sz="2000" dirty="0"/>
              <a:t>, Rd  	; Rd  </a:t>
            </a:r>
            <a:r>
              <a:rPr lang="es-ES" sz="2000" dirty="0">
                <a:sym typeface="Wingdings"/>
              </a:rPr>
              <a:t></a:t>
            </a:r>
            <a:r>
              <a:rPr lang="en-US" sz="2000" dirty="0"/>
              <a:t>  </a:t>
            </a:r>
            <a:r>
              <a:rPr lang="en-US" sz="2000" dirty="0" err="1"/>
              <a:t>Rf</a:t>
            </a:r>
            <a:r>
              <a:rPr lang="en-US" sz="2000" dirty="0"/>
              <a:t> - Rd</a:t>
            </a:r>
            <a:endParaRPr lang="es-NI" sz="2000" dirty="0"/>
          </a:p>
          <a:p>
            <a:r>
              <a:rPr lang="en-US" sz="2000" dirty="0"/>
              <a:t>MUL </a:t>
            </a:r>
            <a:r>
              <a:rPr lang="en-US" sz="2000" dirty="0" err="1"/>
              <a:t>Rf</a:t>
            </a:r>
            <a:r>
              <a:rPr lang="en-US" sz="2000" dirty="0"/>
              <a:t>, Rd  	; Rd  </a:t>
            </a:r>
            <a:r>
              <a:rPr lang="es-ES" sz="2000" dirty="0">
                <a:sym typeface="Wingdings"/>
              </a:rPr>
              <a:t></a:t>
            </a:r>
            <a:r>
              <a:rPr lang="en-US" sz="2000" dirty="0"/>
              <a:t>  </a:t>
            </a:r>
            <a:r>
              <a:rPr lang="en-US" sz="2000" dirty="0" err="1"/>
              <a:t>Rf</a:t>
            </a:r>
            <a:r>
              <a:rPr lang="en-US" sz="2000" dirty="0"/>
              <a:t> * Rd</a:t>
            </a:r>
            <a:endParaRPr lang="es-NI" sz="2000" dirty="0"/>
          </a:p>
          <a:p>
            <a:r>
              <a:rPr lang="en-US" sz="2000" dirty="0"/>
              <a:t>DIV   </a:t>
            </a:r>
            <a:r>
              <a:rPr lang="en-US" sz="2000" dirty="0" err="1"/>
              <a:t>Rf</a:t>
            </a:r>
            <a:r>
              <a:rPr lang="en-US" sz="2000" dirty="0"/>
              <a:t>, Rd  	; Rd  </a:t>
            </a:r>
            <a:r>
              <a:rPr lang="es-ES" sz="2000" dirty="0">
                <a:sym typeface="Wingdings"/>
              </a:rPr>
              <a:t></a:t>
            </a:r>
            <a:r>
              <a:rPr lang="en-US" sz="2000" dirty="0"/>
              <a:t>  </a:t>
            </a:r>
            <a:r>
              <a:rPr lang="en-US" sz="2000" dirty="0" err="1"/>
              <a:t>Rf</a:t>
            </a:r>
            <a:r>
              <a:rPr lang="en-US" sz="2000" dirty="0"/>
              <a:t> / Rd</a:t>
            </a:r>
            <a:endParaRPr lang="es-NI" sz="2000" dirty="0"/>
          </a:p>
        </p:txBody>
      </p:sp>
    </p:spTree>
    <p:extLst>
      <p:ext uri="{BB962C8B-B14F-4D97-AF65-F5344CB8AC3E}">
        <p14:creationId xmlns:p14="http://schemas.microsoft.com/office/powerpoint/2010/main" val="98564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392488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Arquitectura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registros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tres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direcciones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2.5. </a:t>
            </a:r>
            <a:r>
              <a:rPr lang="en-US" dirty="0" err="1"/>
              <a:t>Arquitecturas</a:t>
            </a:r>
            <a:r>
              <a:rPr lang="en-US" dirty="0"/>
              <a:t> del </a:t>
            </a:r>
            <a:r>
              <a:rPr lang="en-US" dirty="0" err="1"/>
              <a:t>procesador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87624" y="2060848"/>
            <a:ext cx="7344816" cy="2062103"/>
          </a:xfrm>
          <a:prstGeom prst="rect">
            <a:avLst/>
          </a:prstGeom>
          <a:ln/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ADD </a:t>
            </a:r>
            <a:r>
              <a:rPr kumimoji="0" lang="es-E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Rd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Rf1, Rf2</a:t>
            </a:r>
            <a:r>
              <a:rPr kumimoji="0" lang="es-E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    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; </a:t>
            </a:r>
            <a:r>
              <a:rPr kumimoji="0" lang="es-E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Rd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Rf1 + Rf2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SUB Rd, Rf1, Rf2        ; Rd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Rf1 - Rf2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     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MUL Rd, Rf1, Rf2       ; Rd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Rf1 * Rf2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DIV  Rd, Rf1, Rf2        ; Rd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Rf1 / Rf2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  <a:sym typeface="Wingdings" pitchFamily="2" charset="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22144" y="4365104"/>
            <a:ext cx="7344816" cy="2062103"/>
          </a:xfrm>
          <a:prstGeom prst="rect">
            <a:avLst/>
          </a:prstGeom>
          <a:ln/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Load </a:t>
            </a:r>
            <a:r>
              <a:rPr kumimoji="0" lang="es-E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Rd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, n 		</a:t>
            </a:r>
            <a:r>
              <a:rPr kumimoji="0" lang="es-E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     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; </a:t>
            </a:r>
            <a:r>
              <a:rPr kumimoji="0" lang="es-E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Rd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NI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n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Load Rd, m	       ; Rd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M(m)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Load Rd,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Rf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	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       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; Rd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[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Rf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]</a:t>
            </a:r>
            <a:endParaRPr kumimoji="0" lang="es-NI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Store m,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Rf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		       ; M(m) </a:t>
            </a:r>
            <a:r>
              <a:rPr kumimoji="0" 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  <a:sym typeface="Wingdings" pitchFamily="2" charset="2"/>
              </a:rPr>
              <a:t>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Rf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8333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3514395"/>
          </a:xfrm>
        </p:spPr>
        <p:txBody>
          <a:bodyPr>
            <a:normAutofit/>
          </a:bodyPr>
          <a:lstStyle/>
          <a:p>
            <a:r>
              <a:rPr lang="en-US" sz="4800" dirty="0" err="1"/>
              <a:t>Muchas</a:t>
            </a:r>
            <a:r>
              <a:rPr lang="en-US" sz="4800" dirty="0"/>
              <a:t> gracias</a:t>
            </a:r>
            <a:endParaRPr lang="es-NI" sz="48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Preguntas</a:t>
            </a:r>
            <a:r>
              <a:rPr lang="en-US" dirty="0"/>
              <a:t>…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103347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601</TotalTime>
  <Words>1979</Words>
  <Application>Microsoft Office PowerPoint</Application>
  <PresentationFormat>Presentación en pantalla (4:3)</PresentationFormat>
  <Paragraphs>390</Paragraphs>
  <Slides>38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9" baseType="lpstr">
      <vt:lpstr>Arial</vt:lpstr>
      <vt:lpstr>Calibri</vt:lpstr>
      <vt:lpstr>Candara</vt:lpstr>
      <vt:lpstr>Lucida Sans Unicode</vt:lpstr>
      <vt:lpstr>Times New Roman</vt:lpstr>
      <vt:lpstr>Verdana</vt:lpstr>
      <vt:lpstr>Wingdings</vt:lpstr>
      <vt:lpstr>Wingdings 2</vt:lpstr>
      <vt:lpstr>Wingdings 3</vt:lpstr>
      <vt:lpstr>Concurrencia</vt:lpstr>
      <vt:lpstr>Visio</vt:lpstr>
      <vt:lpstr>Unidad 2: Organización del CPU</vt:lpstr>
      <vt:lpstr>Organización del CPU</vt:lpstr>
      <vt:lpstr>2.1. El procesador</vt:lpstr>
      <vt:lpstr>2.2. Ciclo de instrucción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2.3. Elementos para construir el CPU</vt:lpstr>
      <vt:lpstr>2.4. Estructura básica del CPU </vt:lpstr>
      <vt:lpstr>2.4. Estructura básica del CPU</vt:lpstr>
      <vt:lpstr>2.5. Arquitecturas del procesador</vt:lpstr>
      <vt:lpstr>Presentación de PowerPoint</vt:lpstr>
      <vt:lpstr>2.5. Arquitecturas del procesador</vt:lpstr>
      <vt:lpstr>2.5. Arquitecturas del procesador</vt:lpstr>
      <vt:lpstr>2.5. Arquitecturas del procesador</vt:lpstr>
      <vt:lpstr>2.5. Arquitecturas del procesador</vt:lpstr>
      <vt:lpstr>2.5. Arquitecturas del procesador</vt:lpstr>
      <vt:lpstr>2.5. Arquitecturas del procesador</vt:lpstr>
      <vt:lpstr>2.5. Arquitecturas del procesador</vt:lpstr>
      <vt:lpstr>2.5. Arquitecturas del procesador</vt:lpstr>
      <vt:lpstr>2.5. Arquitecturas del procesador</vt:lpstr>
      <vt:lpstr>Preguntas…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2: Organización del CPU</dc:title>
  <dc:creator>ING. MARLOVIO JOSE SEVILLA HERNANDEZ</dc:creator>
  <cp:lastModifiedBy>UNI-ADMON</cp:lastModifiedBy>
  <cp:revision>51</cp:revision>
  <dcterms:created xsi:type="dcterms:W3CDTF">2012-09-24T22:31:29Z</dcterms:created>
  <dcterms:modified xsi:type="dcterms:W3CDTF">2025-08-14T17:28:22Z</dcterms:modified>
</cp:coreProperties>
</file>