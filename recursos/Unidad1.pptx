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67" r:id="rId3"/>
    <p:sldId id="262" r:id="rId4"/>
    <p:sldId id="274" r:id="rId5"/>
    <p:sldId id="268" r:id="rId6"/>
    <p:sldId id="269" r:id="rId7"/>
    <p:sldId id="270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Título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2" name="21 Subtítulo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20" name="1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  <p:sp>
        <p:nvSpPr>
          <p:cNvPr id="8" name="7 Elipse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  <p:sp>
        <p:nvSpPr>
          <p:cNvPr id="10" name="9 Rectángulo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Elipse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  <p:sp>
        <p:nvSpPr>
          <p:cNvPr id="6" name="5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  <p:sp>
        <p:nvSpPr>
          <p:cNvPr id="8" name="7 Rectángulo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9" name="8 Proceso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Proceso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ircular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Elipse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Anillo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31E3375-B91B-4FDD-ADD0-B6599CF94E87}" type="datetimeFigureOut">
              <a:rPr lang="es-NI" smtClean="0"/>
              <a:t>14/8/2025</a:t>
            </a:fld>
            <a:endParaRPr lang="es-NI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s-NI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158F89A-21B2-497C-AD6D-245C2289E984}" type="slidenum">
              <a:rPr lang="es-NI" smtClean="0"/>
              <a:t>‹Nº›</a:t>
            </a:fld>
            <a:endParaRPr lang="es-NI"/>
          </a:p>
        </p:txBody>
      </p:sp>
      <p:sp>
        <p:nvSpPr>
          <p:cNvPr id="15" name="14 Rectángulo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63853" y="332656"/>
            <a:ext cx="7406640" cy="1472184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/>
              <a:t>Arquitectura</a:t>
            </a:r>
            <a:r>
              <a:rPr lang="en-US" sz="4400" dirty="0"/>
              <a:t> de </a:t>
            </a:r>
            <a:r>
              <a:rPr lang="en-US" sz="4400" dirty="0" err="1"/>
              <a:t>Máquinas</a:t>
            </a:r>
            <a:r>
              <a:rPr lang="en-US" sz="4400" dirty="0"/>
              <a:t> </a:t>
            </a:r>
            <a:r>
              <a:rPr lang="en-US" sz="4400" dirty="0" err="1"/>
              <a:t>Computadoras</a:t>
            </a:r>
            <a:r>
              <a:rPr lang="en-US" sz="4400" dirty="0"/>
              <a:t> II</a:t>
            </a:r>
            <a:endParaRPr lang="es-NI" sz="44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15852" y="6165304"/>
            <a:ext cx="6112296" cy="504056"/>
          </a:xfrm>
        </p:spPr>
        <p:txBody>
          <a:bodyPr>
            <a:normAutofit/>
          </a:bodyPr>
          <a:lstStyle/>
          <a:p>
            <a:pPr algn="r"/>
            <a:r>
              <a:rPr lang="es-NI" sz="2400" dirty="0">
                <a:solidFill>
                  <a:schemeClr val="tx1"/>
                </a:solidFill>
              </a:rPr>
              <a:t>Docente: Ing. Israel Polanco Moreno</a:t>
            </a:r>
          </a:p>
        </p:txBody>
      </p:sp>
      <p:sp>
        <p:nvSpPr>
          <p:cNvPr id="4" name="2 Subtítulo"/>
          <p:cNvSpPr txBox="1">
            <a:spLocks/>
          </p:cNvSpPr>
          <p:nvPr/>
        </p:nvSpPr>
        <p:spPr>
          <a:xfrm>
            <a:off x="1260940" y="4653136"/>
            <a:ext cx="7406640" cy="1008112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/>
            <a:r>
              <a:rPr lang="en-US" sz="2800" b="1" dirty="0" err="1">
                <a:solidFill>
                  <a:srgbClr val="0070C0"/>
                </a:solidFill>
              </a:rPr>
              <a:t>Unidad</a:t>
            </a:r>
            <a:r>
              <a:rPr lang="en-US" sz="2800" b="1" dirty="0">
                <a:solidFill>
                  <a:srgbClr val="0070C0"/>
                </a:solidFill>
              </a:rPr>
              <a:t> I</a:t>
            </a:r>
            <a:r>
              <a:rPr lang="es-NI" sz="2800" b="1" dirty="0">
                <a:solidFill>
                  <a:srgbClr val="0070C0"/>
                </a:solidFill>
              </a:rPr>
              <a:t>: Introducción a la arquitectura y organización de la computadora.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060846"/>
            <a:ext cx="3315660" cy="248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60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Clase</a:t>
            </a:r>
            <a:r>
              <a:rPr lang="en-US" dirty="0"/>
              <a:t> C01.</a:t>
            </a:r>
            <a:endParaRPr lang="es-NI" dirty="0"/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403648" y="1628800"/>
            <a:ext cx="7488832" cy="4525963"/>
          </a:xfrm>
        </p:spPr>
        <p:txBody>
          <a:bodyPr>
            <a:normAutofit/>
          </a:bodyPr>
          <a:lstStyle/>
          <a:p>
            <a:r>
              <a:rPr lang="es-ES" sz="2800" dirty="0"/>
              <a:t>1.1 Arquitectura y Organización  de Computadoras</a:t>
            </a:r>
          </a:p>
          <a:p>
            <a:r>
              <a:rPr lang="es-ES" sz="2800" dirty="0"/>
              <a:t>1.2 Evolución de las computadoras</a:t>
            </a:r>
          </a:p>
          <a:p>
            <a:r>
              <a:rPr lang="es-NI" sz="2800" dirty="0"/>
              <a:t>1.3 Máquina Secuencial de Programa Almacenado.</a:t>
            </a:r>
          </a:p>
          <a:p>
            <a:r>
              <a:rPr lang="es-NI" sz="2800" dirty="0"/>
              <a:t>1.4 Organización de la Computadora.</a:t>
            </a:r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370690"/>
            <a:ext cx="1386356" cy="130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5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1.1. </a:t>
            </a:r>
            <a:r>
              <a:rPr lang="en-US" dirty="0" err="1"/>
              <a:t>Arquitectura</a:t>
            </a:r>
            <a:r>
              <a:rPr lang="en-US" dirty="0"/>
              <a:t> y </a:t>
            </a:r>
            <a:r>
              <a:rPr lang="en-US" dirty="0" err="1"/>
              <a:t>Organización</a:t>
            </a:r>
            <a:r>
              <a:rPr lang="en-US" dirty="0"/>
              <a:t> de </a:t>
            </a:r>
            <a:r>
              <a:rPr lang="en-US" dirty="0" err="1"/>
              <a:t>Computadoras</a:t>
            </a:r>
            <a:endParaRPr lang="es-NI" dirty="0"/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Vistas</a:t>
            </a:r>
          </a:p>
          <a:p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constructivo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{</a:t>
            </a:r>
            <a:r>
              <a:rPr lang="en-US" dirty="0" err="1">
                <a:solidFill>
                  <a:srgbClr val="FF0000"/>
                </a:solidFill>
              </a:rPr>
              <a:t>Planificación</a:t>
            </a:r>
            <a:r>
              <a:rPr lang="en-US" dirty="0">
                <a:solidFill>
                  <a:srgbClr val="FF0000"/>
                </a:solidFill>
              </a:rPr>
              <a:t>,  </a:t>
            </a:r>
            <a:r>
              <a:rPr lang="en-US" dirty="0" err="1">
                <a:solidFill>
                  <a:srgbClr val="FF0000"/>
                </a:solidFill>
              </a:rPr>
              <a:t>Diseño</a:t>
            </a:r>
            <a:r>
              <a:rPr lang="en-US" dirty="0">
                <a:solidFill>
                  <a:srgbClr val="FF0000"/>
                </a:solidFill>
              </a:rPr>
              <a:t>}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{</a:t>
            </a:r>
            <a:r>
              <a:rPr lang="en-US" dirty="0" err="1">
                <a:solidFill>
                  <a:srgbClr val="0070C0"/>
                </a:solidFill>
                <a:sym typeface="Wingdings" pitchFamily="2" charset="2"/>
              </a:rPr>
              <a:t>Implementación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}</a:t>
            </a:r>
          </a:p>
          <a:p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Arquitectura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: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Atributos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visibles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al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programador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Organización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Implementación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en-US" dirty="0" err="1">
                <a:solidFill>
                  <a:srgbClr val="0070C0"/>
                </a:solidFill>
              </a:rPr>
              <a:t>Componentes</a:t>
            </a:r>
            <a:r>
              <a:rPr lang="en-US" dirty="0">
                <a:solidFill>
                  <a:srgbClr val="0070C0"/>
                </a:solidFill>
              </a:rPr>
              <a:t> y </a:t>
            </a:r>
            <a:r>
              <a:rPr lang="en-US" dirty="0" err="1">
                <a:solidFill>
                  <a:srgbClr val="0070C0"/>
                </a:solidFill>
              </a:rPr>
              <a:t>su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interconexión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lvl="1"/>
            <a:r>
              <a:rPr lang="en-US" dirty="0" err="1">
                <a:solidFill>
                  <a:srgbClr val="7030A0"/>
                </a:solidFill>
              </a:rPr>
              <a:t>Funcional</a:t>
            </a:r>
            <a:r>
              <a:rPr lang="en-US" dirty="0">
                <a:solidFill>
                  <a:srgbClr val="7030A0"/>
                </a:solidFill>
              </a:rPr>
              <a:t>: </a:t>
            </a:r>
            <a:r>
              <a:rPr lang="en-US" dirty="0" err="1">
                <a:solidFill>
                  <a:srgbClr val="7030A0"/>
                </a:solidFill>
              </a:rPr>
              <a:t>función</a:t>
            </a:r>
            <a:r>
              <a:rPr lang="en-US" dirty="0">
                <a:solidFill>
                  <a:srgbClr val="7030A0"/>
                </a:solidFill>
              </a:rPr>
              <a:t> de </a:t>
            </a:r>
            <a:r>
              <a:rPr lang="en-US" dirty="0" err="1">
                <a:solidFill>
                  <a:srgbClr val="7030A0"/>
                </a:solidFill>
              </a:rPr>
              <a:t>cada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 err="1">
                <a:solidFill>
                  <a:srgbClr val="7030A0"/>
                </a:solidFill>
              </a:rPr>
              <a:t>componente</a:t>
            </a:r>
            <a:endParaRPr lang="en-US" dirty="0">
              <a:solidFill>
                <a:srgbClr val="7030A0"/>
              </a:solidFill>
            </a:endParaRPr>
          </a:p>
          <a:p>
            <a:pPr lvl="1"/>
            <a:r>
              <a:rPr lang="en-US" dirty="0" err="1">
                <a:solidFill>
                  <a:srgbClr val="7030A0"/>
                </a:solidFill>
              </a:rPr>
              <a:t>Estructural</a:t>
            </a:r>
            <a:r>
              <a:rPr lang="en-US" dirty="0">
                <a:solidFill>
                  <a:srgbClr val="7030A0"/>
                </a:solidFill>
              </a:rPr>
              <a:t>: </a:t>
            </a:r>
            <a:r>
              <a:rPr lang="en-US" dirty="0" err="1">
                <a:solidFill>
                  <a:srgbClr val="7030A0"/>
                </a:solidFill>
              </a:rPr>
              <a:t>Posición</a:t>
            </a:r>
            <a:r>
              <a:rPr lang="en-US" dirty="0">
                <a:solidFill>
                  <a:srgbClr val="7030A0"/>
                </a:solidFill>
              </a:rPr>
              <a:t> e </a:t>
            </a:r>
            <a:r>
              <a:rPr lang="en-US" dirty="0" err="1">
                <a:solidFill>
                  <a:srgbClr val="7030A0"/>
                </a:solidFill>
              </a:rPr>
              <a:t>interconexión</a:t>
            </a:r>
            <a:endParaRPr lang="es-NI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2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A130D-EEAB-465B-96F9-6994BB4E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5EE96-AEA5-4E7B-91F6-298E137AE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4960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1.2. </a:t>
            </a:r>
            <a:r>
              <a:rPr lang="en-US" dirty="0" err="1"/>
              <a:t>Evolución</a:t>
            </a:r>
            <a:r>
              <a:rPr lang="en-US" dirty="0"/>
              <a:t> de </a:t>
            </a:r>
            <a:r>
              <a:rPr lang="en-US" dirty="0" err="1"/>
              <a:t>Computadoras</a:t>
            </a:r>
            <a:endParaRPr lang="es-NI" dirty="0"/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</a:t>
            </a:r>
            <a:endParaRPr lang="es-NI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5370690"/>
            <a:ext cx="1386356" cy="130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720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s-NI" dirty="0"/>
              <a:t>1.3 Máquina Secuencial de Programa Almacenado.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403648" y="1700808"/>
            <a:ext cx="7498080" cy="4800600"/>
          </a:xfrm>
        </p:spPr>
        <p:txBody>
          <a:bodyPr>
            <a:normAutofit fontScale="70000" lnSpcReduction="20000"/>
          </a:bodyPr>
          <a:lstStyle/>
          <a:p>
            <a:pPr lvl="0" algn="just"/>
            <a:r>
              <a:rPr lang="es-NI" b="1" dirty="0">
                <a:solidFill>
                  <a:srgbClr val="7030A0"/>
                </a:solidFill>
              </a:rPr>
              <a:t>Programa almacenado</a:t>
            </a:r>
            <a:r>
              <a:rPr lang="es-NI" dirty="0">
                <a:solidFill>
                  <a:srgbClr val="7030A0"/>
                </a:solidFill>
              </a:rPr>
              <a:t>: Definición de instrucciones simples con las que se pueda programar cualquier tarea de cálculo de la máquina  en forma de una secuencia de instrucciones y la posibilidad de cargar estos programas en la misma memoria que se cargan los datos.</a:t>
            </a:r>
          </a:p>
          <a:p>
            <a:pPr lvl="0" algn="just"/>
            <a:r>
              <a:rPr lang="es-NI" b="1" dirty="0">
                <a:solidFill>
                  <a:srgbClr val="FF0000"/>
                </a:solidFill>
              </a:rPr>
              <a:t>Máquina secuencial</a:t>
            </a:r>
            <a:r>
              <a:rPr lang="es-NI" dirty="0">
                <a:solidFill>
                  <a:srgbClr val="FF0000"/>
                </a:solidFill>
              </a:rPr>
              <a:t>: Una vez cargados el programa y los datos en la memoria, para realizar la tarea de cómputo, basta lograr que la máquina realice el programa ejecutando instrucción tras instrucción desde la memoria gracias a un secuenciador o dispositivo de control.</a:t>
            </a:r>
          </a:p>
          <a:p>
            <a:pPr lvl="0" algn="just"/>
            <a:r>
              <a:rPr lang="es-NI" dirty="0">
                <a:solidFill>
                  <a:srgbClr val="0070C0"/>
                </a:solidFill>
              </a:rPr>
              <a:t>La implementación de tal máquina requiere </a:t>
            </a:r>
            <a:r>
              <a:rPr lang="es-NI" b="1" dirty="0">
                <a:solidFill>
                  <a:srgbClr val="0070C0"/>
                </a:solidFill>
              </a:rPr>
              <a:t>cinco unidades funcionales</a:t>
            </a:r>
            <a:r>
              <a:rPr lang="es-NI" dirty="0">
                <a:solidFill>
                  <a:srgbClr val="0070C0"/>
                </a:solidFill>
              </a:rPr>
              <a:t> (actualización del concepto de Babbage): Un </a:t>
            </a:r>
            <a:r>
              <a:rPr lang="es-NI" i="1" dirty="0">
                <a:solidFill>
                  <a:srgbClr val="0070C0"/>
                </a:solidFill>
              </a:rPr>
              <a:t>órgano de cálculo</a:t>
            </a:r>
            <a:r>
              <a:rPr lang="es-NI" dirty="0">
                <a:solidFill>
                  <a:srgbClr val="0070C0"/>
                </a:solidFill>
              </a:rPr>
              <a:t> que ejecute las instrucciones, la </a:t>
            </a:r>
            <a:r>
              <a:rPr lang="es-NI" i="1" dirty="0">
                <a:solidFill>
                  <a:srgbClr val="0070C0"/>
                </a:solidFill>
              </a:rPr>
              <a:t>memoria</a:t>
            </a:r>
            <a:r>
              <a:rPr lang="es-NI" dirty="0">
                <a:solidFill>
                  <a:srgbClr val="0070C0"/>
                </a:solidFill>
              </a:rPr>
              <a:t>, el </a:t>
            </a:r>
            <a:r>
              <a:rPr lang="es-NI" i="1" dirty="0">
                <a:solidFill>
                  <a:srgbClr val="0070C0"/>
                </a:solidFill>
              </a:rPr>
              <a:t>control</a:t>
            </a:r>
            <a:r>
              <a:rPr lang="es-NI" dirty="0">
                <a:solidFill>
                  <a:srgbClr val="0070C0"/>
                </a:solidFill>
              </a:rPr>
              <a:t>, y finalmente unidades de </a:t>
            </a:r>
            <a:r>
              <a:rPr lang="es-NI" i="1" dirty="0">
                <a:solidFill>
                  <a:srgbClr val="0070C0"/>
                </a:solidFill>
              </a:rPr>
              <a:t>entrada</a:t>
            </a:r>
            <a:r>
              <a:rPr lang="es-NI" dirty="0">
                <a:solidFill>
                  <a:srgbClr val="0070C0"/>
                </a:solidFill>
              </a:rPr>
              <a:t> y </a:t>
            </a:r>
            <a:r>
              <a:rPr lang="es-NI" i="1" dirty="0">
                <a:solidFill>
                  <a:srgbClr val="0070C0"/>
                </a:solidFill>
              </a:rPr>
              <a:t>salida</a:t>
            </a:r>
            <a:r>
              <a:rPr lang="es-NI" dirty="0">
                <a:solidFill>
                  <a:srgbClr val="0070C0"/>
                </a:solidFill>
              </a:rPr>
              <a:t> que permitan a la computadora obtener los datos y programas del mundo exterior y entregar los resultados de los cálculos.</a:t>
            </a:r>
          </a:p>
          <a:p>
            <a:pPr algn="just"/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47326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043608" y="274638"/>
            <a:ext cx="7890080" cy="1143000"/>
          </a:xfrm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s-NI" dirty="0"/>
              <a:t>1.3 Máquina Secuencial de Programa Almacenado.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graphicFrame>
        <p:nvGraphicFramePr>
          <p:cNvPr id="6" name="5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309897"/>
              </p:ext>
            </p:extLst>
          </p:nvPr>
        </p:nvGraphicFramePr>
        <p:xfrm>
          <a:off x="732796" y="2420893"/>
          <a:ext cx="8340367" cy="3600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Visio" r:id="rId3" imgW="6698512" imgH="1713918" progId="Visio.Drawing.11">
                  <p:embed/>
                </p:oleObj>
              </mc:Choice>
              <mc:Fallback>
                <p:oleObj name="Visio" r:id="rId3" imgW="6698512" imgH="171391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6" y="2420893"/>
                        <a:ext cx="8340367" cy="36003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515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043608" y="274638"/>
            <a:ext cx="7890080" cy="1143000"/>
          </a:xfrm>
        </p:spPr>
        <p:txBody>
          <a:bodyPr>
            <a:normAutofit fontScale="90000"/>
          </a:bodyPr>
          <a:lstStyle/>
          <a:p>
            <a:r>
              <a:rPr lang="es-NI" dirty="0"/>
              <a:t>1.4 Organización de la Computadora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1115616" y="1772816"/>
            <a:ext cx="7776864" cy="4666523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7030A0"/>
                </a:solidFill>
              </a:rPr>
              <a:t>Dos </a:t>
            </a:r>
            <a:r>
              <a:rPr lang="en-US" dirty="0" err="1">
                <a:solidFill>
                  <a:srgbClr val="7030A0"/>
                </a:solidFill>
              </a:rPr>
              <a:t>Enfoques</a:t>
            </a:r>
            <a:r>
              <a:rPr lang="en-US" dirty="0">
                <a:solidFill>
                  <a:srgbClr val="7030A0"/>
                </a:solidFill>
              </a:rPr>
              <a:t>:</a:t>
            </a:r>
          </a:p>
          <a:p>
            <a:pPr algn="just"/>
            <a:endParaRPr lang="en-US" sz="1800" dirty="0"/>
          </a:p>
          <a:p>
            <a:pPr lvl="1" algn="just"/>
            <a:r>
              <a:rPr lang="en-US" dirty="0" err="1">
                <a:solidFill>
                  <a:srgbClr val="FF0000"/>
                </a:solidFill>
              </a:rPr>
              <a:t>Funcional</a:t>
            </a:r>
            <a:r>
              <a:rPr lang="en-US" dirty="0">
                <a:solidFill>
                  <a:srgbClr val="FF0000"/>
                </a:solidFill>
              </a:rPr>
              <a:t>:  </a:t>
            </a:r>
            <a:r>
              <a:rPr lang="en-US" dirty="0" err="1">
                <a:solidFill>
                  <a:srgbClr val="FF0000"/>
                </a:solidFill>
              </a:rPr>
              <a:t>Orientado</a:t>
            </a:r>
            <a:r>
              <a:rPr lang="en-US" dirty="0">
                <a:solidFill>
                  <a:srgbClr val="FF0000"/>
                </a:solidFill>
              </a:rPr>
              <a:t> a </a:t>
            </a:r>
            <a:r>
              <a:rPr lang="en-US" dirty="0" err="1">
                <a:solidFill>
                  <a:srgbClr val="FF0000"/>
                </a:solidFill>
              </a:rPr>
              <a:t>las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diferentes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funciones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requeridas</a:t>
            </a:r>
            <a:r>
              <a:rPr lang="en-US" dirty="0">
                <a:solidFill>
                  <a:srgbClr val="FF0000"/>
                </a:solidFill>
              </a:rPr>
              <a:t> para el </a:t>
            </a:r>
            <a:r>
              <a:rPr lang="en-US" dirty="0" err="1">
                <a:solidFill>
                  <a:srgbClr val="FF0000"/>
                </a:solidFill>
              </a:rPr>
              <a:t>objetivo</a:t>
            </a:r>
            <a:r>
              <a:rPr lang="en-US" dirty="0">
                <a:solidFill>
                  <a:srgbClr val="FF0000"/>
                </a:solidFill>
              </a:rPr>
              <a:t> de la </a:t>
            </a:r>
            <a:r>
              <a:rPr lang="en-US" dirty="0" err="1">
                <a:solidFill>
                  <a:srgbClr val="FF0000"/>
                </a:solidFill>
              </a:rPr>
              <a:t>computadora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lvl="1" algn="just"/>
            <a:endParaRPr lang="en-US" sz="1800" dirty="0"/>
          </a:p>
          <a:p>
            <a:pPr lvl="1" algn="just"/>
            <a:r>
              <a:rPr lang="en-US" dirty="0" err="1">
                <a:solidFill>
                  <a:srgbClr val="0070C0"/>
                </a:solidFill>
              </a:rPr>
              <a:t>Estructural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Orientado</a:t>
            </a:r>
            <a:r>
              <a:rPr lang="en-US" dirty="0">
                <a:solidFill>
                  <a:srgbClr val="0070C0"/>
                </a:solidFill>
              </a:rPr>
              <a:t> a </a:t>
            </a:r>
            <a:r>
              <a:rPr lang="en-US" dirty="0" err="1">
                <a:solidFill>
                  <a:srgbClr val="0070C0"/>
                </a:solidFill>
              </a:rPr>
              <a:t>definir</a:t>
            </a:r>
            <a:r>
              <a:rPr lang="en-US" dirty="0">
                <a:solidFill>
                  <a:srgbClr val="0070C0"/>
                </a:solidFill>
              </a:rPr>
              <a:t> los </a:t>
            </a:r>
            <a:r>
              <a:rPr lang="en-US" dirty="0" err="1">
                <a:solidFill>
                  <a:srgbClr val="0070C0"/>
                </a:solidFill>
              </a:rPr>
              <a:t>componentes</a:t>
            </a:r>
            <a:r>
              <a:rPr lang="en-US" dirty="0">
                <a:solidFill>
                  <a:srgbClr val="0070C0"/>
                </a:solidFill>
              </a:rPr>
              <a:t> o </a:t>
            </a:r>
            <a:r>
              <a:rPr lang="en-US" dirty="0" err="1">
                <a:solidFill>
                  <a:srgbClr val="0070C0"/>
                </a:solidFill>
              </a:rPr>
              <a:t>partes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que</a:t>
            </a:r>
            <a:r>
              <a:rPr lang="en-US" dirty="0">
                <a:solidFill>
                  <a:srgbClr val="0070C0"/>
                </a:solidFill>
              </a:rPr>
              <a:t> la </a:t>
            </a:r>
            <a:r>
              <a:rPr lang="en-US" dirty="0" err="1">
                <a:solidFill>
                  <a:srgbClr val="0070C0"/>
                </a:solidFill>
              </a:rPr>
              <a:t>integran</a:t>
            </a:r>
            <a:r>
              <a:rPr lang="en-US" dirty="0">
                <a:solidFill>
                  <a:srgbClr val="0070C0"/>
                </a:solidFill>
              </a:rPr>
              <a:t> y </a:t>
            </a:r>
            <a:r>
              <a:rPr lang="en-US" dirty="0" err="1">
                <a:solidFill>
                  <a:srgbClr val="0070C0"/>
                </a:solidFill>
              </a:rPr>
              <a:t>sus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interconexiones</a:t>
            </a:r>
            <a:endParaRPr lang="es-NI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34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043608" y="188640"/>
            <a:ext cx="7890080" cy="1143000"/>
          </a:xfrm>
        </p:spPr>
        <p:txBody>
          <a:bodyPr>
            <a:normAutofit fontScale="90000"/>
          </a:bodyPr>
          <a:lstStyle/>
          <a:p>
            <a:r>
              <a:rPr lang="es-NI" dirty="0"/>
              <a:t>1.4 Organización de la Computadora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971600" y="1700808"/>
            <a:ext cx="7715200" cy="4306483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7030A0"/>
                </a:solidFill>
              </a:rPr>
              <a:t>Enfoque</a:t>
            </a:r>
            <a:r>
              <a:rPr lang="en-US" sz="2800" dirty="0">
                <a:solidFill>
                  <a:srgbClr val="7030A0"/>
                </a:solidFill>
              </a:rPr>
              <a:t> </a:t>
            </a:r>
            <a:r>
              <a:rPr lang="en-US" sz="2800" dirty="0" err="1">
                <a:solidFill>
                  <a:srgbClr val="7030A0"/>
                </a:solidFill>
              </a:rPr>
              <a:t>funcional</a:t>
            </a:r>
            <a:r>
              <a:rPr lang="en-US" sz="2800" dirty="0">
                <a:solidFill>
                  <a:srgbClr val="7030A0"/>
                </a:solidFill>
              </a:rPr>
              <a:t>:</a:t>
            </a:r>
          </a:p>
          <a:p>
            <a:pPr lvl="1"/>
            <a:r>
              <a:rPr lang="es-NI" sz="2400" dirty="0">
                <a:solidFill>
                  <a:srgbClr val="FF0000"/>
                </a:solidFill>
              </a:rPr>
              <a:t>Procesamiento de datos</a:t>
            </a:r>
          </a:p>
          <a:p>
            <a:pPr lvl="1"/>
            <a:r>
              <a:rPr lang="es-NI" sz="2400" dirty="0">
                <a:solidFill>
                  <a:srgbClr val="FF0000"/>
                </a:solidFill>
              </a:rPr>
              <a:t>Almacenamiento de Datos</a:t>
            </a:r>
          </a:p>
          <a:p>
            <a:pPr lvl="1"/>
            <a:r>
              <a:rPr lang="es-NI" sz="2400" dirty="0">
                <a:solidFill>
                  <a:srgbClr val="FF0000"/>
                </a:solidFill>
              </a:rPr>
              <a:t>Traslado de datos</a:t>
            </a:r>
          </a:p>
          <a:p>
            <a:pPr lvl="1"/>
            <a:r>
              <a:rPr lang="es-NI" sz="2400" dirty="0">
                <a:solidFill>
                  <a:srgbClr val="FF0000"/>
                </a:solidFill>
              </a:rPr>
              <a:t>Operaciones de control</a:t>
            </a:r>
          </a:p>
        </p:txBody>
      </p:sp>
      <p:pic>
        <p:nvPicPr>
          <p:cNvPr id="4" name="3 Imagen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284984"/>
            <a:ext cx="6840759" cy="32403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953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1043608" y="274638"/>
            <a:ext cx="7890080" cy="1143000"/>
          </a:xfrm>
        </p:spPr>
        <p:txBody>
          <a:bodyPr>
            <a:normAutofit fontScale="90000"/>
          </a:bodyPr>
          <a:lstStyle/>
          <a:p>
            <a:r>
              <a:rPr lang="es-NI" dirty="0"/>
              <a:t>1.4 Organización de la Computadora</a:t>
            </a:r>
          </a:p>
        </p:txBody>
      </p:sp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914400" y="1700808"/>
            <a:ext cx="8229600" cy="4306483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7030A0"/>
                </a:solidFill>
              </a:rPr>
              <a:t>Enfoque</a:t>
            </a:r>
            <a:r>
              <a:rPr lang="en-US" sz="2800" dirty="0">
                <a:solidFill>
                  <a:srgbClr val="7030A0"/>
                </a:solidFill>
              </a:rPr>
              <a:t> </a:t>
            </a:r>
            <a:r>
              <a:rPr lang="en-US" sz="2800" dirty="0" err="1">
                <a:solidFill>
                  <a:srgbClr val="7030A0"/>
                </a:solidFill>
              </a:rPr>
              <a:t>Estructural</a:t>
            </a:r>
            <a:r>
              <a:rPr lang="en-US" sz="2800" dirty="0">
                <a:solidFill>
                  <a:srgbClr val="7030A0"/>
                </a:solidFill>
              </a:rPr>
              <a:t>:</a:t>
            </a:r>
          </a:p>
          <a:p>
            <a:pPr lvl="1"/>
            <a:r>
              <a:rPr lang="en-US" sz="2400" dirty="0" err="1">
                <a:solidFill>
                  <a:srgbClr val="FF0000"/>
                </a:solidFill>
              </a:rPr>
              <a:t>Procesador</a:t>
            </a:r>
            <a:r>
              <a:rPr lang="en-US" sz="2400" dirty="0">
                <a:solidFill>
                  <a:srgbClr val="FF0000"/>
                </a:solidFill>
              </a:rPr>
              <a:t> o CPU</a:t>
            </a:r>
            <a:endParaRPr lang="es-NI" sz="2400" dirty="0">
              <a:solidFill>
                <a:srgbClr val="FF0000"/>
              </a:solidFill>
            </a:endParaRPr>
          </a:p>
          <a:p>
            <a:pPr lvl="1"/>
            <a:r>
              <a:rPr lang="es-NI" sz="2400" dirty="0">
                <a:solidFill>
                  <a:srgbClr val="FF0000"/>
                </a:solidFill>
              </a:rPr>
              <a:t>Memoria</a:t>
            </a:r>
          </a:p>
          <a:p>
            <a:pPr lvl="1"/>
            <a:r>
              <a:rPr lang="es-NI" sz="2400" dirty="0">
                <a:solidFill>
                  <a:srgbClr val="FF0000"/>
                </a:solidFill>
              </a:rPr>
              <a:t>Entrada - Salida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NI"/>
          </a:p>
        </p:txBody>
      </p:sp>
      <p:sp>
        <p:nvSpPr>
          <p:cNvPr id="4" name="Rectángulo 3"/>
          <p:cNvSpPr/>
          <p:nvPr/>
        </p:nvSpPr>
        <p:spPr>
          <a:xfrm>
            <a:off x="4988648" y="3012013"/>
            <a:ext cx="1800200" cy="936104"/>
          </a:xfrm>
          <a:prstGeom prst="rect">
            <a:avLst/>
          </a:prstGeom>
          <a:solidFill>
            <a:srgbClr val="00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/>
              <a:t>CPU</a:t>
            </a:r>
          </a:p>
        </p:txBody>
      </p:sp>
      <p:sp>
        <p:nvSpPr>
          <p:cNvPr id="7" name="Flecha izquierda y derecha 6"/>
          <p:cNvSpPr/>
          <p:nvPr/>
        </p:nvSpPr>
        <p:spPr>
          <a:xfrm>
            <a:off x="3851920" y="4409776"/>
            <a:ext cx="4392488" cy="720080"/>
          </a:xfrm>
          <a:prstGeom prst="leftRight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8" name="Rectángulo 7"/>
          <p:cNvSpPr/>
          <p:nvPr/>
        </p:nvSpPr>
        <p:spPr>
          <a:xfrm>
            <a:off x="4321894" y="5591515"/>
            <a:ext cx="1800200" cy="936104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/>
              <a:t>MEMORIA</a:t>
            </a:r>
          </a:p>
        </p:txBody>
      </p:sp>
      <p:sp>
        <p:nvSpPr>
          <p:cNvPr id="9" name="Rectángulo 8"/>
          <p:cNvSpPr/>
          <p:nvPr/>
        </p:nvSpPr>
        <p:spPr>
          <a:xfrm>
            <a:off x="6268860" y="5591515"/>
            <a:ext cx="1800200" cy="93610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/>
              <a:t>E / S</a:t>
            </a:r>
          </a:p>
        </p:txBody>
      </p:sp>
      <p:sp>
        <p:nvSpPr>
          <p:cNvPr id="10" name="Flecha arriba y abajo 9"/>
          <p:cNvSpPr/>
          <p:nvPr/>
        </p:nvSpPr>
        <p:spPr>
          <a:xfrm>
            <a:off x="5760132" y="3987708"/>
            <a:ext cx="396044" cy="560966"/>
          </a:xfrm>
          <a:prstGeom prst="up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1" name="Flecha arriba y abajo 10"/>
          <p:cNvSpPr/>
          <p:nvPr/>
        </p:nvSpPr>
        <p:spPr>
          <a:xfrm>
            <a:off x="5031938" y="4978839"/>
            <a:ext cx="380112" cy="560966"/>
          </a:xfrm>
          <a:prstGeom prst="up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13" name="Flecha arriba y abajo 12"/>
          <p:cNvSpPr/>
          <p:nvPr/>
        </p:nvSpPr>
        <p:spPr>
          <a:xfrm>
            <a:off x="6897913" y="4990958"/>
            <a:ext cx="380112" cy="560966"/>
          </a:xfrm>
          <a:prstGeom prst="upDownArrow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63271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io">
  <a:themeElements>
    <a:clrScheme name="Solsti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540</TotalTime>
  <Words>346</Words>
  <Application>Microsoft Office PowerPoint</Application>
  <PresentationFormat>Presentación en pantalla (4:3)</PresentationFormat>
  <Paragraphs>42</Paragraphs>
  <Slides>10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Gill Sans MT</vt:lpstr>
      <vt:lpstr>Verdana</vt:lpstr>
      <vt:lpstr>Wingdings</vt:lpstr>
      <vt:lpstr>Wingdings 2</vt:lpstr>
      <vt:lpstr>Solsticio</vt:lpstr>
      <vt:lpstr>Visio</vt:lpstr>
      <vt:lpstr>Arquitectura de Máquinas Computadoras II</vt:lpstr>
      <vt:lpstr>Clase C01.</vt:lpstr>
      <vt:lpstr>1.1. Arquitectura y Organización de Computadoras</vt:lpstr>
      <vt:lpstr>Presentación de PowerPoint</vt:lpstr>
      <vt:lpstr>1.2. Evolución de Computadoras</vt:lpstr>
      <vt:lpstr>1.3 Máquina Secuencial de Programa Almacenado.</vt:lpstr>
      <vt:lpstr>1.3 Máquina Secuencial de Programa Almacenado.</vt:lpstr>
      <vt:lpstr>1.4 Organización de la Computadora</vt:lpstr>
      <vt:lpstr>1.4 Organización de la Computadora</vt:lpstr>
      <vt:lpstr>1.4 Organización de la Computadora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Máquinas Computadoras II</dc:title>
  <dc:creator>ING. MARLOVIO JOSE SEVILLA HERNANDEZ</dc:creator>
  <cp:lastModifiedBy>UNI-ADMON</cp:lastModifiedBy>
  <cp:revision>23</cp:revision>
  <dcterms:created xsi:type="dcterms:W3CDTF">2012-09-10T19:41:40Z</dcterms:created>
  <dcterms:modified xsi:type="dcterms:W3CDTF">2025-08-14T17:28:48Z</dcterms:modified>
</cp:coreProperties>
</file>